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673" r:id="rId2"/>
    <p:sldId id="450" r:id="rId3"/>
    <p:sldId id="451" r:id="rId4"/>
    <p:sldId id="444" r:id="rId5"/>
    <p:sldId id="445" r:id="rId6"/>
    <p:sldId id="449" r:id="rId7"/>
    <p:sldId id="452" r:id="rId8"/>
    <p:sldId id="533" r:id="rId9"/>
    <p:sldId id="534" r:id="rId10"/>
    <p:sldId id="535" r:id="rId11"/>
    <p:sldId id="675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595" r:id="rId25"/>
    <p:sldId id="596" r:id="rId26"/>
    <p:sldId id="597" r:id="rId27"/>
    <p:sldId id="598" r:id="rId28"/>
    <p:sldId id="599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27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635A250-D0F2-46CC-AF92-6C4BC34436B2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7029B8-3C80-4E00-8B8E-D38CEA4550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9F6308-3720-427D-84F0-AD98B81E275C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BF05751-A09F-4223-B8AA-CCBDACBA249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730F5A-268E-42B2-8902-48FF25272E4F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E8E8A2-188F-430F-9256-276E4D09BDEE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405808-5425-40AA-AF79-60DEEC2354A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00138" y="676275"/>
            <a:ext cx="4610100" cy="3457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4359275"/>
            <a:ext cx="5011738" cy="413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80819D-5BCB-4280-8BD8-8C353644BECA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2A2087A-C6B6-4B09-ADF7-370F7C70E63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25317C-DEA1-4A43-8207-88B6251B3896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0FB5A7C-CBEA-41F2-A238-286D024B97B8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DA7BE65-96A9-4D54-8B50-C06FE8D2334A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DA01541-D6C2-4B06-AED9-8ED03F0E4B8A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7AF4E0E-3CD4-46D3-92B0-DB0E31093395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8E9EC47-3CCE-4504-AEAA-C92B9600CB8C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A24D0CA-3B60-43DB-9284-73958ADF8C16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B696FE2-5813-43F3-BE71-5AF76AD45D1F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5657A3-2529-4690-A86C-70D5C8CDA2CD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702F57-9367-43D8-897B-81584E83B366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F7375B8-BFBE-4CE8-91DE-3C031BEFF1E3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7C7879A-6F24-4610-A001-305A647AB73F}" type="slidenum">
              <a:rPr lang="en-US" altLang="en-US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6C1AC4-AA39-4BEA-9DFE-9D81B89AFF23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58C509-389C-477E-95F4-5A4DBB7C5E4C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57A4C7-BE54-480A-AD09-94B5471D3EF7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019AB3-82DC-4820-82A8-A8BFFBA34564}" type="slidenum">
              <a:rPr lang="en-US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FCDEA-5876-4654-8575-A5C9D9C4C43D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F5131-C459-436C-8E7E-FD6688107D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4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3C6C4-E211-470B-8360-4E2BB9AC9021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779C0-1839-4B54-87A9-DF1DFB414C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51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9F81F-1731-49F6-B44C-DCE17E6A9720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3A3AB-54DB-4803-B72D-8DDFEC9A64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79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D9C90-882A-4469-A893-80CD06EC62B3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64D15-0397-4197-AE76-2373C9951A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57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B9D6A-16B0-462A-B53B-05DFB89AAFB9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9B04E-71ED-4474-809E-F8892402D5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84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2F0B6-B9AD-4822-BF33-3EDF84ACE1E3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7FEFE-619D-4ACD-92CB-483242E5F7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0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1F6D2-70DA-4735-AA0B-20B01C8ED3DF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599CF-1EB3-4FA0-9B09-C65DC218FA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42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71808-E9B7-4C6E-AA43-88F1C25DE303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3BE4A-0299-4718-9BC2-B12C755118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28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F02C9-0017-4E78-AD74-B12BB4114548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1AD70C-D7A7-473A-9046-20278E54BC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270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242FF-0BC1-4116-BFF7-B861215459FB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D334C5-C2FF-4F64-98BE-F2982475DF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996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1C17B-56BA-46DB-BF32-C6F6948A25D9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DDC08-DA9B-4754-B605-45AD45E3AB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337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DIP Lecs By Dr M.Almas Anjum College of E&amp;ME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CCA8B-DB7A-46B8-AF28-244B29166E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8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C2524B9-95FB-43BC-BB71-C2709B29D80A}" type="datetimeFigureOut">
              <a:rPr lang="en-US"/>
              <a:pPr>
                <a:defRPr/>
              </a:pPr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2636381-58F6-45AE-93CB-F77E754B1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Digital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6893A77-F1ED-4765-B057-4E4A21E4DB4B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Digital Image</a:t>
            </a:r>
          </a:p>
        </p:txBody>
      </p:sp>
      <p:grpSp>
        <p:nvGrpSpPr>
          <p:cNvPr id="37892" name="Group 12"/>
          <p:cNvGrpSpPr>
            <a:grpSpLocks/>
          </p:cNvGrpSpPr>
          <p:nvPr/>
        </p:nvGrpSpPr>
        <p:grpSpPr bwMode="auto">
          <a:xfrm>
            <a:off x="2743200" y="2133600"/>
            <a:ext cx="5257800" cy="3121025"/>
            <a:chOff x="1464" y="2747"/>
            <a:chExt cx="2871" cy="1454"/>
          </a:xfrm>
        </p:grpSpPr>
        <p:pic>
          <p:nvPicPr>
            <p:cNvPr id="3789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4" y="2747"/>
              <a:ext cx="2871" cy="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6" name="Rectangle 6"/>
            <p:cNvSpPr>
              <a:spLocks noChangeArrowheads="1"/>
            </p:cNvSpPr>
            <p:nvPr/>
          </p:nvSpPr>
          <p:spPr bwMode="auto">
            <a:xfrm>
              <a:off x="2225" y="3153"/>
              <a:ext cx="128" cy="12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897" name="Rectangle 7"/>
            <p:cNvSpPr>
              <a:spLocks noChangeArrowheads="1"/>
            </p:cNvSpPr>
            <p:nvPr/>
          </p:nvSpPr>
          <p:spPr bwMode="auto">
            <a:xfrm>
              <a:off x="2840" y="2773"/>
              <a:ext cx="1460" cy="140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898" name="Line 8"/>
            <p:cNvSpPr>
              <a:spLocks noChangeShapeType="1"/>
            </p:cNvSpPr>
            <p:nvPr/>
          </p:nvSpPr>
          <p:spPr bwMode="auto">
            <a:xfrm flipV="1">
              <a:off x="2348" y="3108"/>
              <a:ext cx="484" cy="1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7899" name="Rectangle 9"/>
            <p:cNvSpPr>
              <a:spLocks noChangeArrowheads="1"/>
            </p:cNvSpPr>
            <p:nvPr/>
          </p:nvSpPr>
          <p:spPr bwMode="auto">
            <a:xfrm>
              <a:off x="3225" y="3137"/>
              <a:ext cx="56" cy="57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00" name="Text Box 10"/>
            <p:cNvSpPr txBox="1">
              <a:spLocks noChangeArrowheads="1"/>
            </p:cNvSpPr>
            <p:nvPr/>
          </p:nvSpPr>
          <p:spPr bwMode="auto">
            <a:xfrm>
              <a:off x="3414" y="2965"/>
              <a:ext cx="30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1000">
                  <a:solidFill>
                    <a:srgbClr val="CC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1 pixel</a:t>
              </a:r>
              <a:endParaRPr lang="en-US" altLang="en-US" sz="1000">
                <a:solidFill>
                  <a:srgbClr val="CC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7901" name="Line 11"/>
            <p:cNvSpPr>
              <a:spLocks noChangeShapeType="1"/>
            </p:cNvSpPr>
            <p:nvPr/>
          </p:nvSpPr>
          <p:spPr bwMode="auto">
            <a:xfrm flipH="1">
              <a:off x="3296" y="3052"/>
              <a:ext cx="168" cy="9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08589" name="Text Box 13"/>
          <p:cNvSpPr txBox="1">
            <a:spLocks noChangeArrowheads="1"/>
          </p:cNvSpPr>
          <p:nvPr/>
        </p:nvSpPr>
        <p:spPr bwMode="auto">
          <a:xfrm>
            <a:off x="398463" y="2336800"/>
            <a:ext cx="2209800" cy="132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lIns="91365" tIns="45683" rIns="91365" bIns="45683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a grid of squares, each of which contains a single color</a:t>
            </a:r>
          </a:p>
        </p:txBody>
      </p:sp>
      <p:sp>
        <p:nvSpPr>
          <p:cNvPr id="408590" name="Text Box 14"/>
          <p:cNvSpPr txBox="1">
            <a:spLocks noChangeArrowheads="1"/>
          </p:cNvSpPr>
          <p:nvPr/>
        </p:nvSpPr>
        <p:spPr bwMode="auto">
          <a:xfrm>
            <a:off x="398463" y="4165600"/>
            <a:ext cx="2209800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lIns="91365" tIns="45683" rIns="91365" bIns="45683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each square is called a pixel (for </a:t>
            </a:r>
            <a:r>
              <a:rPr lang="en-US" sz="2000" i="1">
                <a:solidFill>
                  <a:schemeClr val="tx2"/>
                </a:solidFill>
                <a:latin typeface="Arial" charset="0"/>
                <a:cs typeface="+mn-cs"/>
              </a:rPr>
              <a:t>picture element</a:t>
            </a: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05C42B3-5ADC-4334-8B05-ED3A62DE0A3F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Digital Image</a:t>
            </a:r>
          </a:p>
        </p:txBody>
      </p:sp>
      <p:pic>
        <p:nvPicPr>
          <p:cNvPr id="39940" name="Picture 5" descr="pixe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3" y="2913063"/>
            <a:ext cx="6230937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6774" name="Text Box 6"/>
          <p:cNvSpPr txBox="1">
            <a:spLocks noChangeArrowheads="1"/>
          </p:cNvSpPr>
          <p:nvPr/>
        </p:nvSpPr>
        <p:spPr bwMode="auto">
          <a:xfrm>
            <a:off x="398463" y="3217863"/>
            <a:ext cx="2209800" cy="132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lIns="91365" tIns="45683" rIns="91365" bIns="45683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a grid of squares, each of which contains a single color</a:t>
            </a:r>
          </a:p>
        </p:txBody>
      </p:sp>
      <p:sp>
        <p:nvSpPr>
          <p:cNvPr id="416775" name="Text Box 7"/>
          <p:cNvSpPr txBox="1">
            <a:spLocks noChangeArrowheads="1"/>
          </p:cNvSpPr>
          <p:nvPr/>
        </p:nvSpPr>
        <p:spPr bwMode="auto">
          <a:xfrm>
            <a:off x="398463" y="5046663"/>
            <a:ext cx="2209800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8100000" algn="ctr" rotWithShape="0">
              <a:schemeClr val="bg2"/>
            </a:outerShdw>
          </a:effectLst>
        </p:spPr>
        <p:txBody>
          <a:bodyPr lIns="91365" tIns="45683" rIns="91365" bIns="45683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each square is called a pixel (for </a:t>
            </a:r>
            <a:r>
              <a:rPr lang="en-US" sz="2000" i="1">
                <a:solidFill>
                  <a:schemeClr val="tx2"/>
                </a:solidFill>
                <a:latin typeface="Arial" charset="0"/>
                <a:cs typeface="+mn-cs"/>
              </a:rPr>
              <a:t>picture element</a:t>
            </a:r>
            <a:r>
              <a:rPr lang="en-US" sz="2000">
                <a:solidFill>
                  <a:schemeClr val="tx2"/>
                </a:solidFill>
                <a:latin typeface="Arial" charset="0"/>
                <a:cs typeface="+mn-cs"/>
              </a:rPr>
              <a:t>)</a:t>
            </a:r>
          </a:p>
        </p:txBody>
      </p:sp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4724400" y="1905000"/>
            <a:ext cx="3505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65" tIns="45683" rIns="91365" bIns="4568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Arial" panose="020B0604020202020204" pitchFamily="34" charset="0"/>
              </a:rPr>
              <a:t>Color images have 3 values per pixel; monochrome images have 1 value per pixel.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CA04C3-7D9B-49E1-8CE9-23C14CC7A488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 Image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37063"/>
          </a:xfrm>
        </p:spPr>
        <p:txBody>
          <a:bodyPr/>
          <a:lstStyle/>
          <a:p>
            <a:pPr eaLnBrk="1" hangingPunct="1"/>
            <a:r>
              <a:rPr lang="en-US" altLang="en-US"/>
              <a:t>A set of pixels (picture elements, pels)</a:t>
            </a:r>
          </a:p>
          <a:p>
            <a:pPr eaLnBrk="1" hangingPunct="1"/>
            <a:r>
              <a:rPr lang="en-US" altLang="en-US"/>
              <a:t>Pixel means</a:t>
            </a:r>
          </a:p>
          <a:p>
            <a:pPr lvl="1" eaLnBrk="1" hangingPunct="1"/>
            <a:r>
              <a:rPr lang="en-US" altLang="en-US"/>
              <a:t>pixel coordinate</a:t>
            </a:r>
          </a:p>
          <a:p>
            <a:pPr lvl="1" eaLnBrk="1" hangingPunct="1"/>
            <a:r>
              <a:rPr lang="en-US" altLang="en-US"/>
              <a:t>pixel value</a:t>
            </a:r>
          </a:p>
          <a:p>
            <a:pPr lvl="1" eaLnBrk="1" hangingPunct="1"/>
            <a:r>
              <a:rPr lang="en-US" altLang="en-US"/>
              <a:t>or both</a:t>
            </a:r>
          </a:p>
          <a:p>
            <a:pPr eaLnBrk="1" hangingPunct="1"/>
            <a:r>
              <a:rPr lang="en-US" altLang="en-US"/>
              <a:t>Both coordinates and value are discrete</a:t>
            </a:r>
          </a:p>
          <a:p>
            <a:pPr eaLnBrk="1" hangingPunct="1"/>
            <a:endParaRPr lang="en-US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DIP Lecs By Dr M.Almas Anjum College of E&amp;ME</a:t>
            </a:r>
          </a:p>
        </p:txBody>
      </p:sp>
      <p:sp>
        <p:nvSpPr>
          <p:cNvPr id="4403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49CEA6-2374-4F65-98B5-B74F8317BAB0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985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pic>
        <p:nvPicPr>
          <p:cNvPr id="4403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828800"/>
            <a:ext cx="8229600" cy="4876800"/>
          </a:xfrm>
        </p:spPr>
      </p:pic>
      <p:sp>
        <p:nvSpPr>
          <p:cNvPr id="44038" name="Rectangle 4"/>
          <p:cNvSpPr>
            <a:spLocks noChangeArrowheads="1"/>
          </p:cNvSpPr>
          <p:nvPr/>
        </p:nvSpPr>
        <p:spPr bwMode="auto">
          <a:xfrm>
            <a:off x="381000" y="121920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640 x 480 8-bit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71"/>
    </mc:Choice>
    <mc:Fallback xmlns="">
      <p:transition spd="slow" advTm="838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93548F-9D38-4CE9-B947-61BEA33646BA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23912"/>
          </a:xfrm>
        </p:spPr>
        <p:txBody>
          <a:bodyPr/>
          <a:lstStyle/>
          <a:p>
            <a:r>
              <a:rPr lang="en-US" altLang="en-US" sz="3200" b="1"/>
              <a:t>DIGITAL IMAGE REPRESENTATION</a:t>
            </a:r>
          </a:p>
        </p:txBody>
      </p:sp>
      <p:grpSp>
        <p:nvGrpSpPr>
          <p:cNvPr id="46084" name="Group 3"/>
          <p:cNvGrpSpPr>
            <a:grpSpLocks/>
          </p:cNvGrpSpPr>
          <p:nvPr/>
        </p:nvGrpSpPr>
        <p:grpSpPr bwMode="auto">
          <a:xfrm>
            <a:off x="609600" y="1371600"/>
            <a:ext cx="8305800" cy="4648200"/>
            <a:chOff x="528" y="864"/>
            <a:chExt cx="5232" cy="2928"/>
          </a:xfrm>
        </p:grpSpPr>
        <p:pic>
          <p:nvPicPr>
            <p:cNvPr id="4608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864"/>
              <a:ext cx="2016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86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1392"/>
              <a:ext cx="3024" cy="1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87" name="Text Box 6"/>
            <p:cNvSpPr txBox="1">
              <a:spLocks noChangeArrowheads="1"/>
            </p:cNvSpPr>
            <p:nvPr/>
          </p:nvSpPr>
          <p:spPr bwMode="auto">
            <a:xfrm>
              <a:off x="2640" y="1056"/>
              <a:ext cx="283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ts val="500"/>
                </a:spcBef>
                <a:spcAft>
                  <a:spcPts val="500"/>
                </a:spcAft>
                <a:buFontTx/>
                <a:buNone/>
              </a:pPr>
              <a:r>
                <a:rPr lang="en-US" altLang="en-US" sz="1700" b="1">
                  <a:latin typeface="Times New Roman" panose="02020603050405020304" pitchFamily="18" charset="0"/>
                  <a:ea typeface="JasmineUPC" pitchFamily="18" charset="-120"/>
                </a:rPr>
                <a:t>PIXEL VALUES IN HIGHLIGHTED REGION</a:t>
              </a:r>
            </a:p>
          </p:txBody>
        </p:sp>
        <p:sp>
          <p:nvSpPr>
            <p:cNvPr id="46088" name="Text Box 7"/>
            <p:cNvSpPr txBox="1">
              <a:spLocks noChangeArrowheads="1"/>
            </p:cNvSpPr>
            <p:nvPr/>
          </p:nvSpPr>
          <p:spPr bwMode="auto">
            <a:xfrm>
              <a:off x="864" y="3127"/>
              <a:ext cx="9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en-US" sz="2800" b="1">
                  <a:solidFill>
                    <a:schemeClr val="hlink"/>
                  </a:solidFill>
                  <a:latin typeface="Arial Narrow" panose="020B0606020202030204" pitchFamily="34" charset="0"/>
                  <a:ea typeface="Angsana New" pitchFamily="18" charset="-120"/>
                </a:rPr>
                <a:t>CAMERA</a:t>
              </a:r>
              <a:endParaRPr kumimoji="1" lang="th-TH" altLang="en-US" sz="2800" b="1">
                <a:solidFill>
                  <a:schemeClr val="hlink"/>
                </a:solidFill>
                <a:latin typeface="Arial Narrow" panose="020B0606020202030204" pitchFamily="34" charset="0"/>
                <a:ea typeface="Angsana New" pitchFamily="18" charset="-120"/>
              </a:endParaRPr>
            </a:p>
          </p:txBody>
        </p:sp>
        <p:sp>
          <p:nvSpPr>
            <p:cNvPr id="46089" name="Text Box 8"/>
            <p:cNvSpPr txBox="1">
              <a:spLocks noChangeArrowheads="1"/>
            </p:cNvSpPr>
            <p:nvPr/>
          </p:nvSpPr>
          <p:spPr bwMode="auto">
            <a:xfrm>
              <a:off x="2526" y="3129"/>
              <a:ext cx="10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en-US" sz="2800" b="1">
                  <a:solidFill>
                    <a:schemeClr val="hlink"/>
                  </a:solidFill>
                  <a:latin typeface="Arial Narrow" panose="020B0606020202030204" pitchFamily="34" charset="0"/>
                  <a:ea typeface="Angsana New" pitchFamily="18" charset="-120"/>
                </a:rPr>
                <a:t>DIGITIZER</a:t>
              </a:r>
              <a:endParaRPr kumimoji="1" lang="th-TH" altLang="en-US" sz="2800" b="1">
                <a:solidFill>
                  <a:schemeClr val="hlink"/>
                </a:solidFill>
                <a:latin typeface="Arial Narrow" panose="020B0606020202030204" pitchFamily="34" charset="0"/>
                <a:ea typeface="Angsana New" pitchFamily="18" charset="-120"/>
              </a:endParaRPr>
            </a:p>
          </p:txBody>
        </p:sp>
        <p:sp>
          <p:nvSpPr>
            <p:cNvPr id="46090" name="AutoShape 9"/>
            <p:cNvSpPr>
              <a:spLocks noChangeArrowheads="1"/>
            </p:cNvSpPr>
            <p:nvPr/>
          </p:nvSpPr>
          <p:spPr bwMode="auto">
            <a:xfrm>
              <a:off x="1968" y="3216"/>
              <a:ext cx="336" cy="192"/>
            </a:xfrm>
            <a:prstGeom prst="rightArrow">
              <a:avLst>
                <a:gd name="adj1" fmla="val 50000"/>
                <a:gd name="adj2" fmla="val 4375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6091" name="AutoShape 10"/>
            <p:cNvSpPr>
              <a:spLocks noChangeArrowheads="1"/>
            </p:cNvSpPr>
            <p:nvPr/>
          </p:nvSpPr>
          <p:spPr bwMode="auto">
            <a:xfrm>
              <a:off x="3792" y="2976"/>
              <a:ext cx="624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4400 h 21600"/>
                <a:gd name="T20" fmla="*/ 18519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Text Box 11"/>
            <p:cNvSpPr txBox="1">
              <a:spLocks noChangeArrowheads="1"/>
            </p:cNvSpPr>
            <p:nvPr/>
          </p:nvSpPr>
          <p:spPr bwMode="auto">
            <a:xfrm>
              <a:off x="1968" y="3504"/>
              <a:ext cx="31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en-US" sz="2400" b="1">
                  <a:solidFill>
                    <a:srgbClr val="00CC99"/>
                  </a:solidFill>
                  <a:latin typeface="Arial Narrow" panose="020B0606020202030204" pitchFamily="34" charset="0"/>
                  <a:ea typeface="Angsana New" pitchFamily="18" charset="-120"/>
                </a:rPr>
                <a:t>Samples the analog data and digitizes it.</a:t>
              </a:r>
              <a:endParaRPr kumimoji="1" lang="th-TH" altLang="en-US" sz="2400" b="1">
                <a:solidFill>
                  <a:srgbClr val="00CC99"/>
                </a:solidFill>
                <a:latin typeface="Arial Narrow" panose="020B0606020202030204" pitchFamily="34" charset="0"/>
                <a:ea typeface="Angsana New" pitchFamily="18" charset="-120"/>
              </a:endParaRPr>
            </a:p>
          </p:txBody>
        </p:sp>
        <p:sp>
          <p:nvSpPr>
            <p:cNvPr id="46093" name="Text Box 12"/>
            <p:cNvSpPr txBox="1">
              <a:spLocks noChangeArrowheads="1"/>
            </p:cNvSpPr>
            <p:nvPr/>
          </p:nvSpPr>
          <p:spPr bwMode="auto">
            <a:xfrm>
              <a:off x="4406" y="2832"/>
              <a:ext cx="135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en-US" sz="2400" b="1">
                  <a:solidFill>
                    <a:srgbClr val="00CC99"/>
                  </a:solidFill>
                  <a:latin typeface="Arial Narrow" panose="020B0606020202030204" pitchFamily="34" charset="0"/>
                  <a:ea typeface="Angsana New" pitchFamily="18" charset="-120"/>
                </a:rPr>
                <a:t>A set of number in 2D grid</a:t>
              </a:r>
              <a:endParaRPr kumimoji="1" lang="th-TH" altLang="en-US" sz="2400" b="1">
                <a:solidFill>
                  <a:srgbClr val="00CC99"/>
                </a:solidFill>
                <a:latin typeface="Arial Narrow" panose="020B0606020202030204" pitchFamily="34" charset="0"/>
                <a:ea typeface="Angsana New" pitchFamily="18" charset="-12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MS PGothic" panose="020B0600070205080204" pitchFamily="34" charset="-128"/>
              </a:rPr>
              <a:t>What is a Digital Image? (cont…)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marL="0" indent="0" eaLnBrk="1" hangingPunct="1">
              <a:tabLst>
                <a:tab pos="5381625" algn="l"/>
              </a:tabLst>
            </a:pPr>
            <a:r>
              <a:rPr lang="en-US" altLang="en-US" sz="2800">
                <a:ea typeface="MS PGothic" panose="020B0600070205080204" pitchFamily="34" charset="-128"/>
              </a:rPr>
              <a:t>Common image formats include:</a:t>
            </a:r>
          </a:p>
          <a:p>
            <a:pPr lvl="1" eaLnBrk="1" hangingPunct="1">
              <a:tabLst>
                <a:tab pos="5381625" algn="l"/>
              </a:tabLst>
            </a:pPr>
            <a:r>
              <a:rPr lang="en-US" altLang="en-US" sz="2400">
                <a:ea typeface="MS PGothic" panose="020B0600070205080204" pitchFamily="34" charset="-128"/>
              </a:rPr>
              <a:t>1 sample per point (B&amp;W or Grayscale)</a:t>
            </a:r>
          </a:p>
          <a:p>
            <a:pPr lvl="1" eaLnBrk="1" hangingPunct="1">
              <a:tabLst>
                <a:tab pos="5381625" algn="l"/>
              </a:tabLst>
            </a:pPr>
            <a:r>
              <a:rPr lang="en-US" altLang="en-US" sz="2400">
                <a:ea typeface="MS PGothic" panose="020B0600070205080204" pitchFamily="34" charset="-128"/>
              </a:rPr>
              <a:t>3 samples per point (Red, Green, and Blue)</a:t>
            </a:r>
          </a:p>
          <a:p>
            <a:pPr lvl="1" eaLnBrk="1" hangingPunct="1">
              <a:buFont typeface="Arial" panose="020B0604020202020204" pitchFamily="34" charset="0"/>
              <a:buNone/>
              <a:tabLst>
                <a:tab pos="5381625" algn="l"/>
              </a:tabLst>
            </a:pPr>
            <a:endParaRPr lang="en-IE" altLang="en-US" sz="2400">
              <a:ea typeface="MS PGothic" panose="020B0600070205080204" pitchFamily="34" charset="-128"/>
            </a:endParaRPr>
          </a:p>
          <a:p>
            <a:pPr lvl="1" eaLnBrk="1" hangingPunct="1">
              <a:tabLst>
                <a:tab pos="5381625" algn="l"/>
              </a:tabLst>
            </a:pPr>
            <a:endParaRPr lang="en-IE" altLang="en-US" sz="2400">
              <a:ea typeface="MS PGothic" panose="020B0600070205080204" pitchFamily="34" charset="-128"/>
            </a:endParaRPr>
          </a:p>
          <a:p>
            <a:pPr lvl="1" eaLnBrk="1" hangingPunct="1">
              <a:tabLst>
                <a:tab pos="5381625" algn="l"/>
              </a:tabLst>
            </a:pPr>
            <a:endParaRPr lang="en-IE" altLang="en-US" sz="2400">
              <a:ea typeface="MS PGothic" panose="020B0600070205080204" pitchFamily="34" charset="-128"/>
            </a:endParaRPr>
          </a:p>
          <a:p>
            <a:pPr lvl="1" eaLnBrk="1" hangingPunct="1">
              <a:tabLst>
                <a:tab pos="5381625" algn="l"/>
              </a:tabLst>
            </a:pPr>
            <a:endParaRPr lang="en-IE" altLang="en-US" sz="2400">
              <a:ea typeface="MS PGothic" panose="020B0600070205080204" pitchFamily="34" charset="-128"/>
            </a:endParaRPr>
          </a:p>
          <a:p>
            <a:pPr marL="0" indent="0" eaLnBrk="1" hangingPunct="1">
              <a:tabLst>
                <a:tab pos="5381625" algn="l"/>
              </a:tabLst>
            </a:pPr>
            <a:endParaRPr lang="en-IE" altLang="en-US" sz="2800">
              <a:ea typeface="MS PGothic" panose="020B0600070205080204" pitchFamily="34" charset="-128"/>
            </a:endParaRPr>
          </a:p>
          <a:p>
            <a:pPr marL="0" indent="0" eaLnBrk="1" hangingPunct="1">
              <a:tabLst>
                <a:tab pos="5381625" algn="l"/>
              </a:tabLst>
            </a:pPr>
            <a:r>
              <a:rPr lang="en-IE" altLang="en-US" sz="2800">
                <a:ea typeface="MS PGothic" panose="020B0600070205080204" pitchFamily="34" charset="-128"/>
              </a:rPr>
              <a:t>For most of this course we will focus on grey-scale images</a:t>
            </a:r>
            <a:endParaRPr lang="en-US" altLang="en-US" sz="2800">
              <a:ea typeface="MS PGothic" panose="020B0600070205080204" pitchFamily="34" charset="-128"/>
            </a:endParaRPr>
          </a:p>
        </p:txBody>
      </p:sp>
      <p:pic>
        <p:nvPicPr>
          <p:cNvPr id="47108" name="Picture 4" descr="waterfall"/>
          <p:cNvPicPr preferRelativeResize="0">
            <a:picLocks noGrp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6625" y="2743200"/>
            <a:ext cx="2416175" cy="2087563"/>
          </a:xfrm>
        </p:spPr>
      </p:pic>
      <p:pic>
        <p:nvPicPr>
          <p:cNvPr id="47109" name="Picture 5" descr="waterfall"/>
          <p:cNvPicPr preferRelativeResize="0"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2743200"/>
            <a:ext cx="241617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D4543C-8935-400B-AB08-AFEAFA122799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3238" y="274638"/>
            <a:ext cx="3370262" cy="914400"/>
          </a:xfrm>
        </p:spPr>
        <p:txBody>
          <a:bodyPr/>
          <a:lstStyle/>
          <a:p>
            <a:pPr eaLnBrk="1" hangingPunct="1"/>
            <a:r>
              <a:rPr lang="en-US" altLang="en-US" sz="3200" b="1" i="1" u="sng"/>
              <a:t>GRAY LEVEL</a:t>
            </a:r>
            <a:endParaRPr lang="th-TH" altLang="en-US" sz="3200" b="1" i="1" u="sng">
              <a:ea typeface="Angsana New" pitchFamily="18" charset="-120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7543800" cy="4613275"/>
          </a:xfrm>
        </p:spPr>
        <p:txBody>
          <a:bodyPr/>
          <a:lstStyle/>
          <a:p>
            <a:pPr algn="just" eaLnBrk="1" hangingPunct="1"/>
            <a:r>
              <a:rPr lang="en-US" altLang="en-US" sz="2400"/>
              <a:t>WE CALL THE INTENSITY OF A MONOCHROME IMAGE f AT COORDINATE (x, y) THE GRAY LEVEL (L) OF THE IMAGE AT THAT POINT.</a:t>
            </a:r>
          </a:p>
          <a:p>
            <a:pPr algn="just" eaLnBrk="1" hangingPunct="1"/>
            <a:r>
              <a:rPr lang="en-US" altLang="en-US" sz="2400"/>
              <a:t>Thus, l lies in the range</a:t>
            </a:r>
          </a:p>
          <a:p>
            <a:pPr algn="just" eaLnBrk="1" hangingPunct="1"/>
            <a:endParaRPr lang="en-US" altLang="en-US" sz="2400"/>
          </a:p>
          <a:p>
            <a:pPr algn="just" eaLnBrk="1" hangingPunct="1">
              <a:buFontTx/>
              <a:buNone/>
            </a:pPr>
            <a:endParaRPr lang="en-US" altLang="en-US" sz="2400"/>
          </a:p>
          <a:p>
            <a:pPr algn="just" eaLnBrk="1" hangingPunct="1"/>
            <a:r>
              <a:rPr lang="en-US" altLang="en-US" sz="2400"/>
              <a:t>L</a:t>
            </a:r>
            <a:r>
              <a:rPr lang="en-US" altLang="en-US" sz="2400" baseline="-25000"/>
              <a:t>min</a:t>
            </a:r>
            <a:r>
              <a:rPr lang="en-US" altLang="en-US" sz="2400"/>
              <a:t> is positive and L</a:t>
            </a:r>
            <a:r>
              <a:rPr lang="en-US" altLang="en-US" sz="2400" baseline="-25000"/>
              <a:t>max</a:t>
            </a:r>
            <a:r>
              <a:rPr lang="en-US" altLang="en-US" sz="2400"/>
              <a:t> is finite.</a:t>
            </a:r>
          </a:p>
          <a:p>
            <a:pPr algn="just" eaLnBrk="1" hangingPunct="1"/>
            <a:r>
              <a:rPr lang="en-US" altLang="en-US" sz="2400"/>
              <a:t>Gray scale = [L</a:t>
            </a:r>
            <a:r>
              <a:rPr lang="en-US" altLang="en-US" sz="2400" baseline="-25000"/>
              <a:t>min</a:t>
            </a:r>
            <a:r>
              <a:rPr lang="en-US" altLang="en-US" sz="2400"/>
              <a:t>, L</a:t>
            </a:r>
            <a:r>
              <a:rPr lang="en-US" altLang="en-US" sz="2400" baseline="-25000"/>
              <a:t>max</a:t>
            </a:r>
            <a:r>
              <a:rPr lang="en-US" altLang="en-US" sz="2400"/>
              <a:t>]</a:t>
            </a:r>
          </a:p>
          <a:p>
            <a:pPr algn="just" eaLnBrk="1" hangingPunct="1"/>
            <a:r>
              <a:rPr lang="en-US" altLang="en-US" sz="2400"/>
              <a:t>Common practice, shift the interval to [0,L] : 0 = black, L-1 = white</a:t>
            </a:r>
            <a:endParaRPr lang="th-TH" altLang="en-US" sz="2400"/>
          </a:p>
        </p:txBody>
      </p:sp>
      <p:pic>
        <p:nvPicPr>
          <p:cNvPr id="4915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3133725"/>
            <a:ext cx="20955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1A0E1B0-49C5-42A7-937E-AE66C6FAEFCB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Digital Image Representation</a:t>
            </a:r>
          </a:p>
        </p:txBody>
      </p:sp>
      <p:sp>
        <p:nvSpPr>
          <p:cNvPr id="50180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8585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 sz="1800"/>
              <a:t>Image Size</a:t>
            </a:r>
          </a:p>
          <a:p>
            <a:pPr lvl="1" eaLnBrk="1" hangingPunct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Number of bits required to store an image</a:t>
            </a:r>
          </a:p>
          <a:p>
            <a:pPr lvl="1" eaLnBrk="1" hangingPunct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IE" altLang="en-US" sz="2400"/>
          </a:p>
          <a:p>
            <a:pPr lvl="1" eaLnBrk="1" hangingPunct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IE" altLang="en-US" sz="2400"/>
          </a:p>
          <a:p>
            <a:pPr lvl="1" eaLnBrk="1" hangingPunct="1">
              <a:lnSpc>
                <a:spcPct val="12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Image having </a:t>
            </a:r>
            <a:r>
              <a:rPr lang="en-IE" altLang="en-US" sz="2400" i="1"/>
              <a:t>2</a:t>
            </a:r>
            <a:r>
              <a:rPr lang="en-IE" altLang="en-US" sz="2400" i="1" baseline="30000"/>
              <a:t>k</a:t>
            </a:r>
            <a:r>
              <a:rPr lang="en-IE" altLang="en-US" sz="2400"/>
              <a:t> intensity levels</a:t>
            </a: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</a:pPr>
            <a:r>
              <a:rPr lang="en-IE" altLang="en-US" sz="2000" i="1"/>
              <a:t>k </a:t>
            </a:r>
            <a:r>
              <a:rPr lang="en-IE" altLang="en-US" sz="2000"/>
              <a:t>– bit image</a:t>
            </a: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</a:pPr>
            <a:r>
              <a:rPr lang="en-IE" altLang="en-US" sz="2000"/>
              <a:t>256 intensity levels – 8 bit image</a:t>
            </a:r>
          </a:p>
          <a:p>
            <a:pPr lvl="2" eaLnBrk="1" hangingPunct="1">
              <a:lnSpc>
                <a:spcPct val="120000"/>
              </a:lnSpc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</a:pPr>
            <a:endParaRPr lang="en-IE" altLang="en-US" sz="2000"/>
          </a:p>
          <a:p>
            <a:pPr lvl="1" eaLnBrk="1" hangingPunct="1">
              <a:lnSpc>
                <a:spcPct val="120000"/>
              </a:lnSpc>
              <a:buClr>
                <a:schemeClr val="accent2"/>
              </a:buClr>
              <a:buSzPct val="55000"/>
              <a:buFontTx/>
              <a:buNone/>
            </a:pPr>
            <a:endParaRPr lang="en-IE" altLang="en-US" sz="2400"/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endParaRPr lang="en-IE" altLang="en-US" sz="1800"/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3200400" y="3124200"/>
          <a:ext cx="2590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5920" imgH="177723" progId="">
                  <p:embed/>
                </p:oleObj>
              </mc:Choice>
              <mc:Fallback>
                <p:oleObj name="Equation" r:id="rId3" imgW="875920" imgH="177723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24200"/>
                        <a:ext cx="2590800" cy="5254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80899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Image 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Spatial &amp; Gray Level Resolution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A362D77-C480-4230-B8AC-C9B315ABC45D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Spatial Resolution</a:t>
            </a: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32"/>
          <a:stretch>
            <a:fillRect/>
          </a:stretch>
        </p:blipFill>
        <p:spPr bwMode="auto">
          <a:xfrm>
            <a:off x="322263" y="2189163"/>
            <a:ext cx="8721725" cy="413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26BB130-F318-44AF-BABC-F4508F36DA6E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Spatial Resolution</a:t>
            </a:r>
          </a:p>
        </p:txBody>
      </p:sp>
      <p:pic>
        <p:nvPicPr>
          <p:cNvPr id="5632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67818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FA29DB9-0532-404F-A660-BEF3C05C63E5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Intensity Level Resolution</a:t>
            </a:r>
          </a:p>
        </p:txBody>
      </p:sp>
      <p:sp>
        <p:nvSpPr>
          <p:cNvPr id="58372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 sz="1800" i="1" dirty="0"/>
              <a:t>Intensity level resolution</a:t>
            </a:r>
            <a:r>
              <a:rPr lang="en-IE" altLang="en-US" sz="1800" dirty="0"/>
              <a:t> refers to the number of intensity levels used to represent the image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 dirty="0"/>
              <a:t>The more intensity levels used, the finer the level of detail in an image</a:t>
            </a:r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 dirty="0"/>
              <a:t>Intensity level resolution is usually given in terms of the number of bits used to store each intensity level</a:t>
            </a:r>
            <a:endParaRPr lang="en-US" altLang="en-US" sz="2400" dirty="0"/>
          </a:p>
          <a:p>
            <a:pPr lvl="1" eaLnBrk="1" hangingPunct="1">
              <a:lnSpc>
                <a:spcPct val="140000"/>
              </a:lnSpc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D127559-155C-4AE2-BE16-400117AB3567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Intensity Level Resolution</a:t>
            </a:r>
          </a:p>
        </p:txBody>
      </p:sp>
      <p:sp>
        <p:nvSpPr>
          <p:cNvPr id="60420" name="Rectangle 22" descr="3"/>
          <p:cNvSpPr>
            <a:spLocks noChangeArrowheads="1"/>
          </p:cNvSpPr>
          <p:nvPr/>
        </p:nvSpPr>
        <p:spPr bwMode="auto">
          <a:xfrm>
            <a:off x="1104900" y="2638425"/>
            <a:ext cx="2325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 b="1">
                <a:latin typeface="Arial" panose="020B0604020202020204" pitchFamily="34" charset="0"/>
                <a:ea typeface="MS PGothic" panose="020B0600070205080204" pitchFamily="34" charset="-128"/>
              </a:rPr>
              <a:t>Number of Bits</a:t>
            </a:r>
            <a:endParaRPr lang="en-US" altLang="en-US" sz="16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1" name="Rectangle 23" descr="4"/>
          <p:cNvSpPr>
            <a:spLocks noChangeArrowheads="1"/>
          </p:cNvSpPr>
          <p:nvPr/>
        </p:nvSpPr>
        <p:spPr bwMode="auto">
          <a:xfrm>
            <a:off x="3430588" y="2638425"/>
            <a:ext cx="2325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 b="1">
                <a:latin typeface="Arial" panose="020B0604020202020204" pitchFamily="34" charset="0"/>
                <a:ea typeface="MS PGothic" panose="020B0600070205080204" pitchFamily="34" charset="-128"/>
              </a:rPr>
              <a:t>Number of Intensity Levels</a:t>
            </a:r>
            <a:endParaRPr lang="en-US" altLang="en-US" sz="16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2" name="Rectangle 24" descr="5"/>
          <p:cNvSpPr>
            <a:spLocks noChangeArrowheads="1"/>
          </p:cNvSpPr>
          <p:nvPr/>
        </p:nvSpPr>
        <p:spPr bwMode="auto">
          <a:xfrm>
            <a:off x="5756275" y="2638425"/>
            <a:ext cx="2325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 b="1">
                <a:latin typeface="Arial" panose="020B0604020202020204" pitchFamily="34" charset="0"/>
                <a:ea typeface="MS PGothic" panose="020B0600070205080204" pitchFamily="34" charset="-128"/>
              </a:rPr>
              <a:t>Examples</a:t>
            </a:r>
            <a:endParaRPr lang="en-US" altLang="en-US" sz="16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3" name="Rectangle 25" descr="6"/>
          <p:cNvSpPr>
            <a:spLocks noChangeArrowheads="1"/>
          </p:cNvSpPr>
          <p:nvPr/>
        </p:nvSpPr>
        <p:spPr bwMode="auto">
          <a:xfrm>
            <a:off x="1104900" y="3217863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4" name="Rectangle 26" descr="7"/>
          <p:cNvSpPr>
            <a:spLocks noChangeArrowheads="1"/>
          </p:cNvSpPr>
          <p:nvPr/>
        </p:nvSpPr>
        <p:spPr bwMode="auto">
          <a:xfrm>
            <a:off x="3430588" y="3217863"/>
            <a:ext cx="232568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5" name="Rectangle 27" descr="8"/>
          <p:cNvSpPr>
            <a:spLocks noChangeArrowheads="1"/>
          </p:cNvSpPr>
          <p:nvPr/>
        </p:nvSpPr>
        <p:spPr bwMode="auto">
          <a:xfrm>
            <a:off x="5756275" y="3217863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0, 1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6" name="Rectangle 28" descr="9"/>
          <p:cNvSpPr>
            <a:spLocks noChangeArrowheads="1"/>
          </p:cNvSpPr>
          <p:nvPr/>
        </p:nvSpPr>
        <p:spPr bwMode="auto">
          <a:xfrm>
            <a:off x="1104900" y="3552825"/>
            <a:ext cx="23256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7" name="Rectangle 29" descr="10"/>
          <p:cNvSpPr>
            <a:spLocks noChangeArrowheads="1"/>
          </p:cNvSpPr>
          <p:nvPr/>
        </p:nvSpPr>
        <p:spPr bwMode="auto">
          <a:xfrm>
            <a:off x="3430588" y="3552825"/>
            <a:ext cx="23256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8" name="Rectangle 30" descr="11"/>
          <p:cNvSpPr>
            <a:spLocks noChangeArrowheads="1"/>
          </p:cNvSpPr>
          <p:nvPr/>
        </p:nvSpPr>
        <p:spPr bwMode="auto">
          <a:xfrm>
            <a:off x="5756275" y="3552825"/>
            <a:ext cx="23256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00, 01, 10, 11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29" name="Rectangle 31" descr="12"/>
          <p:cNvSpPr>
            <a:spLocks noChangeArrowheads="1"/>
          </p:cNvSpPr>
          <p:nvPr/>
        </p:nvSpPr>
        <p:spPr bwMode="auto">
          <a:xfrm>
            <a:off x="1104900" y="3887788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4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0" name="Rectangle 32" descr="13"/>
          <p:cNvSpPr>
            <a:spLocks noChangeArrowheads="1"/>
          </p:cNvSpPr>
          <p:nvPr/>
        </p:nvSpPr>
        <p:spPr bwMode="auto">
          <a:xfrm>
            <a:off x="3430588" y="3887788"/>
            <a:ext cx="232568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16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1" name="Rectangle 33" descr="14"/>
          <p:cNvSpPr>
            <a:spLocks noChangeArrowheads="1"/>
          </p:cNvSpPr>
          <p:nvPr/>
        </p:nvSpPr>
        <p:spPr bwMode="auto">
          <a:xfrm>
            <a:off x="5756275" y="3887788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0000, 0101, 1111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2" name="Rectangle 54" descr="15"/>
          <p:cNvSpPr>
            <a:spLocks noChangeArrowheads="1"/>
          </p:cNvSpPr>
          <p:nvPr/>
        </p:nvSpPr>
        <p:spPr bwMode="auto">
          <a:xfrm>
            <a:off x="1104900" y="4222750"/>
            <a:ext cx="23256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8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3" name="Rectangle 56" descr="16"/>
          <p:cNvSpPr>
            <a:spLocks noChangeArrowheads="1"/>
          </p:cNvSpPr>
          <p:nvPr/>
        </p:nvSpPr>
        <p:spPr bwMode="auto">
          <a:xfrm>
            <a:off x="3430588" y="4222750"/>
            <a:ext cx="23256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256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4" name="Rectangle 58" descr="17"/>
          <p:cNvSpPr>
            <a:spLocks noChangeArrowheads="1"/>
          </p:cNvSpPr>
          <p:nvPr/>
        </p:nvSpPr>
        <p:spPr bwMode="auto">
          <a:xfrm>
            <a:off x="5756275" y="4222750"/>
            <a:ext cx="23256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00110011, 01010101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5" name="Rectangle 34" descr="18"/>
          <p:cNvSpPr>
            <a:spLocks noChangeArrowheads="1"/>
          </p:cNvSpPr>
          <p:nvPr/>
        </p:nvSpPr>
        <p:spPr bwMode="auto">
          <a:xfrm>
            <a:off x="1104900" y="4557713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16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6" name="Rectangle 35" descr="19"/>
          <p:cNvSpPr>
            <a:spLocks noChangeArrowheads="1"/>
          </p:cNvSpPr>
          <p:nvPr/>
        </p:nvSpPr>
        <p:spPr bwMode="auto">
          <a:xfrm>
            <a:off x="3430588" y="4557713"/>
            <a:ext cx="2325687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65,536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7" name="Rectangle 36" descr="20"/>
          <p:cNvSpPr>
            <a:spLocks noChangeArrowheads="1"/>
          </p:cNvSpPr>
          <p:nvPr/>
        </p:nvSpPr>
        <p:spPr bwMode="auto">
          <a:xfrm>
            <a:off x="5756275" y="4557713"/>
            <a:ext cx="2325688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IE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1010101010101010</a:t>
            </a:r>
            <a:endParaRPr lang="en-US" altLang="en-US" sz="16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438" name="Line 37"/>
          <p:cNvSpPr>
            <a:spLocks noChangeShapeType="1"/>
          </p:cNvSpPr>
          <p:nvPr/>
        </p:nvSpPr>
        <p:spPr bwMode="auto">
          <a:xfrm>
            <a:off x="1104900" y="2638425"/>
            <a:ext cx="697706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39" name="Line 39"/>
          <p:cNvSpPr>
            <a:spLocks noChangeShapeType="1"/>
          </p:cNvSpPr>
          <p:nvPr/>
        </p:nvSpPr>
        <p:spPr bwMode="auto">
          <a:xfrm>
            <a:off x="1104900" y="3552825"/>
            <a:ext cx="6977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0" name="Line 40"/>
          <p:cNvSpPr>
            <a:spLocks noChangeShapeType="1"/>
          </p:cNvSpPr>
          <p:nvPr/>
        </p:nvSpPr>
        <p:spPr bwMode="auto">
          <a:xfrm>
            <a:off x="1104900" y="3887788"/>
            <a:ext cx="6977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1" name="Line 41"/>
          <p:cNvSpPr>
            <a:spLocks noChangeShapeType="1"/>
          </p:cNvSpPr>
          <p:nvPr/>
        </p:nvSpPr>
        <p:spPr bwMode="auto">
          <a:xfrm>
            <a:off x="1104900" y="4222750"/>
            <a:ext cx="6977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2" name="Line 42"/>
          <p:cNvSpPr>
            <a:spLocks noChangeShapeType="1"/>
          </p:cNvSpPr>
          <p:nvPr/>
        </p:nvSpPr>
        <p:spPr bwMode="auto">
          <a:xfrm>
            <a:off x="1104900" y="4892675"/>
            <a:ext cx="697706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3" name="Line 43"/>
          <p:cNvSpPr>
            <a:spLocks noChangeShapeType="1"/>
          </p:cNvSpPr>
          <p:nvPr/>
        </p:nvSpPr>
        <p:spPr bwMode="auto">
          <a:xfrm>
            <a:off x="1104900" y="2622550"/>
            <a:ext cx="0" cy="22542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4" name="Line 44"/>
          <p:cNvSpPr>
            <a:spLocks noChangeShapeType="1"/>
          </p:cNvSpPr>
          <p:nvPr/>
        </p:nvSpPr>
        <p:spPr bwMode="auto">
          <a:xfrm>
            <a:off x="3430588" y="2638425"/>
            <a:ext cx="0" cy="2254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5" name="Line 45"/>
          <p:cNvSpPr>
            <a:spLocks noChangeShapeType="1"/>
          </p:cNvSpPr>
          <p:nvPr/>
        </p:nvSpPr>
        <p:spPr bwMode="auto">
          <a:xfrm>
            <a:off x="5756275" y="2638425"/>
            <a:ext cx="0" cy="2254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6" name="Line 46"/>
          <p:cNvSpPr>
            <a:spLocks noChangeShapeType="1"/>
          </p:cNvSpPr>
          <p:nvPr/>
        </p:nvSpPr>
        <p:spPr bwMode="auto">
          <a:xfrm>
            <a:off x="8081963" y="2638425"/>
            <a:ext cx="0" cy="22542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7" name="Line 55"/>
          <p:cNvSpPr>
            <a:spLocks noChangeShapeType="1"/>
          </p:cNvSpPr>
          <p:nvPr/>
        </p:nvSpPr>
        <p:spPr bwMode="auto">
          <a:xfrm>
            <a:off x="1104900" y="4557713"/>
            <a:ext cx="6977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448" name="Line 38"/>
          <p:cNvSpPr>
            <a:spLocks noChangeShapeType="1"/>
          </p:cNvSpPr>
          <p:nvPr/>
        </p:nvSpPr>
        <p:spPr bwMode="auto">
          <a:xfrm>
            <a:off x="1104900" y="3217863"/>
            <a:ext cx="697706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C03B3B7-CC6D-4C01-B0DE-F75957F5341A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Intensity Level Resolution</a:t>
            </a:r>
          </a:p>
        </p:txBody>
      </p:sp>
      <p:pic>
        <p:nvPicPr>
          <p:cNvPr id="62468" name="Picture 5" descr="QuantGr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7999413" cy="417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6580188" y="4764088"/>
            <a:ext cx="782637" cy="790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7554913" y="3989388"/>
            <a:ext cx="781050" cy="156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2471" name="Rectangle 8"/>
          <p:cNvSpPr>
            <a:spLocks noChangeArrowheads="1"/>
          </p:cNvSpPr>
          <p:nvPr/>
        </p:nvSpPr>
        <p:spPr bwMode="auto">
          <a:xfrm>
            <a:off x="6580188" y="3987800"/>
            <a:ext cx="782637" cy="790575"/>
          </a:xfrm>
          <a:prstGeom prst="rect">
            <a:avLst/>
          </a:pr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2472" name="Rectangle 9"/>
          <p:cNvSpPr>
            <a:spLocks noChangeArrowheads="1"/>
          </p:cNvSpPr>
          <p:nvPr/>
        </p:nvSpPr>
        <p:spPr bwMode="auto">
          <a:xfrm>
            <a:off x="6581775" y="3206750"/>
            <a:ext cx="782638" cy="790575"/>
          </a:xfrm>
          <a:prstGeom prst="rect">
            <a:avLst/>
          </a:prstGeom>
          <a:solidFill>
            <a:srgbClr val="5555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E683ECB-B596-4532-8086-95B0A63F6E86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Intensity Level Resolution</a:t>
            </a:r>
          </a:p>
        </p:txBody>
      </p:sp>
      <p:pic>
        <p:nvPicPr>
          <p:cNvPr id="645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89" b="50177"/>
          <a:stretch>
            <a:fillRect/>
          </a:stretch>
        </p:blipFill>
        <p:spPr bwMode="auto">
          <a:xfrm>
            <a:off x="573088" y="1438275"/>
            <a:ext cx="4102100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8" t="49698"/>
          <a:stretch>
            <a:fillRect/>
          </a:stretch>
        </p:blipFill>
        <p:spPr bwMode="auto">
          <a:xfrm>
            <a:off x="4678363" y="3910013"/>
            <a:ext cx="416083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2798763" y="1185863"/>
            <a:ext cx="1728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128 grey levels (7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4911725" y="1169988"/>
            <a:ext cx="1644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64 grey levels (6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6956425" y="1169988"/>
            <a:ext cx="1644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32 grey levels (5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774700" y="6338888"/>
            <a:ext cx="1644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16 grey levels (4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2890838" y="6338888"/>
            <a:ext cx="15605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8 grey levels (3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4940300" y="6354763"/>
            <a:ext cx="15605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4 grey levels (2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6926263" y="6354763"/>
            <a:ext cx="17240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2 grey levels (1 bpp)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6452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5" r="19489"/>
          <a:stretch>
            <a:fillRect/>
          </a:stretch>
        </p:blipFill>
        <p:spPr bwMode="auto">
          <a:xfrm>
            <a:off x="4694238" y="1427163"/>
            <a:ext cx="4102100" cy="247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6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8" b="50047"/>
          <a:stretch>
            <a:fillRect/>
          </a:stretch>
        </p:blipFill>
        <p:spPr bwMode="auto">
          <a:xfrm>
            <a:off x="549275" y="3908425"/>
            <a:ext cx="4160838" cy="249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7" name="Text Box 5"/>
          <p:cNvSpPr txBox="1">
            <a:spLocks noChangeArrowheads="1"/>
          </p:cNvSpPr>
          <p:nvPr/>
        </p:nvSpPr>
        <p:spPr bwMode="auto">
          <a:xfrm>
            <a:off x="449263" y="1185863"/>
            <a:ext cx="23288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1200">
                <a:latin typeface="Arial" panose="020B0604020202020204" pitchFamily="34" charset="0"/>
                <a:ea typeface="MS PGothic" panose="020B0600070205080204" pitchFamily="34" charset="-128"/>
              </a:rPr>
              <a:t>256 grey levels (8 bits per pixel)</a:t>
            </a:r>
            <a:endParaRPr lang="en-US" altLang="en-US" sz="12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AA19D5D-200A-453F-9A10-3932A830A965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 sz="4000"/>
              <a:t>Resolution: How much is enough?</a:t>
            </a:r>
          </a:p>
        </p:txBody>
      </p:sp>
      <p:sp>
        <p:nvSpPr>
          <p:cNvPr id="66564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/>
              <a:t>How many samples and gray levels are required for a good approximation?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Quality of an image depends on number of pixels and gray-level number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The more these parameters are increased, the closer the digitized array approximates the original image</a:t>
            </a:r>
          </a:p>
          <a:p>
            <a:pPr lvl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But: Storage &amp; processing requirements increase rapidly as a function of N, M, and 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2CA343C-6733-4518-82CC-63698283B39D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 sz="4000"/>
              <a:t>Resolution: How much is enough?</a:t>
            </a:r>
          </a:p>
        </p:txBody>
      </p:sp>
      <p:sp>
        <p:nvSpPr>
          <p:cNvPr id="68612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/>
              <a:t>Depends on what is in the image and what you would like to do with it</a:t>
            </a:r>
          </a:p>
        </p:txBody>
      </p:sp>
      <p:pic>
        <p:nvPicPr>
          <p:cNvPr id="686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3079750"/>
            <a:ext cx="320675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5" descr="c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5" y="3076575"/>
            <a:ext cx="322897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68F433F-1105-4C23-9FF7-7CAE6A5CE077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Image Resizing</a:t>
            </a:r>
          </a:p>
        </p:txBody>
      </p:sp>
      <p:sp>
        <p:nvSpPr>
          <p:cNvPr id="461831" name="Rectangle 1027"/>
          <p:cNvSpPr>
            <a:spLocks noChangeArrowheads="1"/>
          </p:cNvSpPr>
          <p:nvPr/>
        </p:nvSpPr>
        <p:spPr bwMode="auto">
          <a:xfrm>
            <a:off x="457200" y="1752600"/>
            <a:ext cx="8534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US" altLang="en-US" sz="1800">
                <a:solidFill>
                  <a:srgbClr val="800000"/>
                </a:solidFill>
              </a:rPr>
              <a:t>Pixel replication</a:t>
            </a:r>
          </a:p>
          <a:p>
            <a:pPr algn="ctr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[1 2 3 4 5]</a:t>
            </a:r>
          </a:p>
          <a:p>
            <a:pPr algn="ctr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 [1 1 2 2 3 3 4 4 5 5]   (One step)</a:t>
            </a:r>
          </a:p>
          <a:p>
            <a:pPr algn="ctr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[1 1 1 2 2 2 3 3 3 4 4 4 5 5 5] (Two step)</a:t>
            </a:r>
          </a:p>
          <a:p>
            <a:pPr algn="ctr"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pic>
        <p:nvPicPr>
          <p:cNvPr id="46183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724400"/>
            <a:ext cx="24384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83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91000"/>
            <a:ext cx="2971800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Rectangle 12"/>
          <p:cNvSpPr>
            <a:spLocks noChangeArrowheads="1"/>
          </p:cNvSpPr>
          <p:nvPr/>
        </p:nvSpPr>
        <p:spPr bwMode="auto">
          <a:xfrm>
            <a:off x="2590800" y="3886200"/>
            <a:ext cx="9144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461837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91000"/>
            <a:ext cx="1912938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8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18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2D22D46-419B-45E5-ACC3-F4E4F2D5B627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Enlarging an Image</a:t>
            </a:r>
          </a:p>
        </p:txBody>
      </p:sp>
      <p:grpSp>
        <p:nvGrpSpPr>
          <p:cNvPr id="72708" name="Group 7"/>
          <p:cNvGrpSpPr>
            <a:grpSpLocks/>
          </p:cNvGrpSpPr>
          <p:nvPr/>
        </p:nvGrpSpPr>
        <p:grpSpPr bwMode="auto">
          <a:xfrm>
            <a:off x="304800" y="2209800"/>
            <a:ext cx="1177925" cy="3225800"/>
            <a:chOff x="240" y="1632"/>
            <a:chExt cx="816" cy="2304"/>
          </a:xfrm>
        </p:grpSpPr>
        <p:pic>
          <p:nvPicPr>
            <p:cNvPr id="72715" name="Picture 8" descr="resize test 0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3360"/>
              <a:ext cx="576" cy="576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4D4D4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6" name="Picture 9" descr="resize test 0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632"/>
              <a:ext cx="144" cy="144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4D4D4D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3274" name="Text Box 10"/>
            <p:cNvSpPr txBox="1">
              <a:spLocks noChangeArrowheads="1"/>
            </p:cNvSpPr>
            <p:nvPr/>
          </p:nvSpPr>
          <p:spPr bwMode="auto">
            <a:xfrm>
              <a:off x="240" y="2208"/>
              <a:ext cx="816" cy="825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91429" tIns="45714" rIns="91429" bIns="45714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chemeClr val="tx2"/>
                  </a:solidFill>
                  <a:latin typeface="Comic Sans MS" pitchFamily="66" charset="0"/>
                  <a:cs typeface="+mn-cs"/>
                </a:rPr>
                <a:t>Example: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chemeClr val="tx2"/>
                  </a:solidFill>
                  <a:latin typeface="Comic Sans MS" pitchFamily="66" charset="0"/>
                  <a:cs typeface="+mn-cs"/>
                </a:rPr>
                <a:t>zoom this image 4x to get this image.</a:t>
              </a:r>
            </a:p>
          </p:txBody>
        </p:sp>
        <p:sp>
          <p:nvSpPr>
            <p:cNvPr id="72718" name="Line 11"/>
            <p:cNvSpPr>
              <a:spLocks noChangeShapeType="1"/>
            </p:cNvSpPr>
            <p:nvPr/>
          </p:nvSpPr>
          <p:spPr bwMode="auto">
            <a:xfrm flipV="1">
              <a:off x="864" y="1872"/>
              <a:ext cx="0" cy="52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9" name="Line 12"/>
            <p:cNvSpPr>
              <a:spLocks noChangeShapeType="1"/>
            </p:cNvSpPr>
            <p:nvPr/>
          </p:nvSpPr>
          <p:spPr bwMode="auto">
            <a:xfrm>
              <a:off x="864" y="2880"/>
              <a:ext cx="0" cy="43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620838" y="2209800"/>
            <a:ext cx="3327400" cy="3878263"/>
            <a:chOff x="1152" y="1632"/>
            <a:chExt cx="2305" cy="2770"/>
          </a:xfrm>
        </p:grpSpPr>
        <p:pic>
          <p:nvPicPr>
            <p:cNvPr id="72713" name="Picture 14" descr="resize test 0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1632"/>
              <a:ext cx="2305" cy="2305"/>
            </a:xfrm>
            <a:prstGeom prst="rect">
              <a:avLst/>
            </a:prstGeom>
            <a:noFill/>
            <a:ln>
              <a:noFill/>
            </a:ln>
            <a:effectLst>
              <a:outerShdw dist="107763" dir="2700000" algn="ctr" rotWithShape="0">
                <a:srgbClr val="4D4D4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3279" name="Text Box 15"/>
            <p:cNvSpPr txBox="1">
              <a:spLocks noChangeArrowheads="1"/>
            </p:cNvSpPr>
            <p:nvPr/>
          </p:nvSpPr>
          <p:spPr bwMode="auto">
            <a:xfrm>
              <a:off x="1152" y="4032"/>
              <a:ext cx="2304" cy="37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4D4D4D">
                  <a:alpha val="50000"/>
                </a:srgbClr>
              </a:outerShdw>
            </a:effectLst>
          </p:spPr>
          <p:txBody>
            <a:bodyPr lIns="91429" tIns="45714" rIns="91429" bIns="45714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chemeClr val="tx2"/>
                  </a:solidFill>
                  <a:latin typeface="Comic Sans MS" pitchFamily="66" charset="0"/>
                  <a:cs typeface="+mn-cs"/>
                </a:rPr>
                <a:t>Start with a blank image 4 times the linear dimensions of the original.</a:t>
              </a:r>
            </a:p>
          </p:txBody>
        </p:sp>
      </p:grpSp>
      <p:sp>
        <p:nvSpPr>
          <p:cNvPr id="523282" name="Text Box 18"/>
          <p:cNvSpPr txBox="1">
            <a:spLocks noChangeArrowheads="1"/>
          </p:cNvSpPr>
          <p:nvPr/>
        </p:nvSpPr>
        <p:spPr bwMode="auto">
          <a:xfrm>
            <a:off x="5334000" y="5570538"/>
            <a:ext cx="3324225" cy="51752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2"/>
                </a:solidFill>
                <a:latin typeface="Comic Sans MS" pitchFamily="66" charset="0"/>
                <a:cs typeface="+mn-cs"/>
              </a:rPr>
              <a:t>Fill in every 4th pixel in every 4th row with the original pixel values.</a:t>
            </a:r>
          </a:p>
        </p:txBody>
      </p:sp>
      <p:sp>
        <p:nvSpPr>
          <p:cNvPr id="72711" name="Text Box 26"/>
          <p:cNvSpPr txBox="1">
            <a:spLocks noChangeArrowheads="1"/>
          </p:cNvSpPr>
          <p:nvPr/>
        </p:nvSpPr>
        <p:spPr bwMode="auto">
          <a:xfrm>
            <a:off x="5334000" y="5334000"/>
            <a:ext cx="2159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22" name="Picture 18" descr="resize test 0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09800"/>
            <a:ext cx="3327400" cy="3227388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8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6239AC3-A0A1-4D39-926C-CBF6EBDCDD40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Enlarging an Image</a:t>
            </a:r>
          </a:p>
        </p:txBody>
      </p:sp>
      <p:pic>
        <p:nvPicPr>
          <p:cNvPr id="74756" name="Picture 17" descr="resize test 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82813"/>
            <a:ext cx="3325813" cy="32273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18" descr="resize test 0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82813"/>
            <a:ext cx="3327400" cy="32273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Rectangle 19"/>
          <p:cNvSpPr>
            <a:spLocks noChangeArrowheads="1"/>
          </p:cNvSpPr>
          <p:nvPr/>
        </p:nvSpPr>
        <p:spPr bwMode="auto">
          <a:xfrm>
            <a:off x="2324100" y="3378200"/>
            <a:ext cx="585788" cy="5603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4759" name="Line 20"/>
          <p:cNvSpPr>
            <a:spLocks noChangeShapeType="1"/>
          </p:cNvSpPr>
          <p:nvPr/>
        </p:nvSpPr>
        <p:spPr bwMode="auto">
          <a:xfrm flipV="1">
            <a:off x="2909888" y="2182813"/>
            <a:ext cx="2078037" cy="11922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60" name="Line 21"/>
          <p:cNvSpPr>
            <a:spLocks noChangeShapeType="1"/>
          </p:cNvSpPr>
          <p:nvPr/>
        </p:nvSpPr>
        <p:spPr bwMode="auto">
          <a:xfrm>
            <a:off x="2909888" y="3933825"/>
            <a:ext cx="2078037" cy="14763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5334" name="Text Box 22"/>
          <p:cNvSpPr txBox="1">
            <a:spLocks noChangeArrowheads="1"/>
          </p:cNvSpPr>
          <p:nvPr/>
        </p:nvSpPr>
        <p:spPr bwMode="auto">
          <a:xfrm>
            <a:off x="762000" y="5683250"/>
            <a:ext cx="7689850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Detail showing every 4th pixel in every 4th row with the original pixel values. </a:t>
            </a:r>
          </a:p>
        </p:txBody>
      </p:sp>
      <p:sp>
        <p:nvSpPr>
          <p:cNvPr id="74762" name="Text Box 23"/>
          <p:cNvSpPr txBox="1">
            <a:spLocks noChangeArrowheads="1"/>
          </p:cNvSpPr>
          <p:nvPr/>
        </p:nvSpPr>
        <p:spPr bwMode="auto">
          <a:xfrm>
            <a:off x="8382000" y="19446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74763" name="Text Box 24"/>
          <p:cNvSpPr txBox="1">
            <a:spLocks noChangeArrowheads="1"/>
          </p:cNvSpPr>
          <p:nvPr/>
        </p:nvSpPr>
        <p:spPr bwMode="auto">
          <a:xfrm>
            <a:off x="8382000" y="25288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74764" name="Text Box 25"/>
          <p:cNvSpPr txBox="1">
            <a:spLocks noChangeArrowheads="1"/>
          </p:cNvSpPr>
          <p:nvPr/>
        </p:nvSpPr>
        <p:spPr bwMode="auto">
          <a:xfrm>
            <a:off x="8394700" y="31384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74765" name="Text Box 26"/>
          <p:cNvSpPr txBox="1">
            <a:spLocks noChangeArrowheads="1"/>
          </p:cNvSpPr>
          <p:nvPr/>
        </p:nvSpPr>
        <p:spPr bwMode="auto">
          <a:xfrm>
            <a:off x="8382000" y="37480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74766" name="Text Box 27"/>
          <p:cNvSpPr txBox="1">
            <a:spLocks noChangeArrowheads="1"/>
          </p:cNvSpPr>
          <p:nvPr/>
        </p:nvSpPr>
        <p:spPr bwMode="auto">
          <a:xfrm>
            <a:off x="8382000" y="43322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74767" name="Text Box 28"/>
          <p:cNvSpPr txBox="1">
            <a:spLocks noChangeArrowheads="1"/>
          </p:cNvSpPr>
          <p:nvPr/>
        </p:nvSpPr>
        <p:spPr bwMode="auto">
          <a:xfrm>
            <a:off x="8382000" y="49672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DCD06E-2870-4DE4-8B0A-B59B6E79C26E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Enlarging an Image</a:t>
            </a:r>
          </a:p>
        </p:txBody>
      </p:sp>
      <p:pic>
        <p:nvPicPr>
          <p:cNvPr id="76804" name="Picture 4" descr="resize test 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2106613"/>
            <a:ext cx="3325813" cy="32273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5" descr="resize test 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06613"/>
            <a:ext cx="3327400" cy="32273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4D4D4D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2324100" y="3302000"/>
            <a:ext cx="585788" cy="560388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 flipV="1">
            <a:off x="2909888" y="2106613"/>
            <a:ext cx="2078037" cy="11922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>
            <a:off x="2909888" y="3857625"/>
            <a:ext cx="2078037" cy="14763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7369" name="Text Box 9"/>
          <p:cNvSpPr txBox="1">
            <a:spLocks noChangeArrowheads="1"/>
          </p:cNvSpPr>
          <p:nvPr/>
        </p:nvSpPr>
        <p:spPr bwMode="auto">
          <a:xfrm>
            <a:off x="762000" y="5607050"/>
            <a:ext cx="7689850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1429" tIns="45714" rIns="91429" bIns="45714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Replicate the values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u numéro de diapositive 5"/>
          <p:cNvSpPr txBox="1">
            <a:spLocks noGrp="1"/>
          </p:cNvSpPr>
          <p:nvPr/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C96449E-EA6E-4456-9DD6-EA8E573FA738}" type="slidenum">
              <a:rPr lang="en-US" altLang="en-US" sz="1400">
                <a:solidFill>
                  <a:schemeClr val="folHlink"/>
                </a:solidFill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7378700" cy="1143000"/>
          </a:xfrm>
        </p:spPr>
        <p:txBody>
          <a:bodyPr/>
          <a:lstStyle/>
          <a:p>
            <a:pPr eaLnBrk="1" hangingPunct="1"/>
            <a:r>
              <a:rPr lang="en-US" altLang="zh-CN"/>
              <a:t>Image Interpolation</a:t>
            </a:r>
          </a:p>
        </p:txBody>
      </p:sp>
      <p:sp>
        <p:nvSpPr>
          <p:cNvPr id="78852" name="Rectangle 1027"/>
          <p:cNvSpPr>
            <a:spLocks noChangeArrowheads="1"/>
          </p:cNvSpPr>
          <p:nvPr/>
        </p:nvSpPr>
        <p:spPr bwMode="auto">
          <a:xfrm>
            <a:off x="457200" y="1909763"/>
            <a:ext cx="853440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/>
              <a:t>Nearest neighbour interpolation</a:t>
            </a:r>
          </a:p>
          <a:p>
            <a:pPr lvl="1" eaLnBrk="1" hangingPunct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Simple but produces undesired artefacts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/>
              <a:t>Bilinear Interpolation</a:t>
            </a:r>
          </a:p>
          <a:p>
            <a:pPr lvl="1" eaLnBrk="1" hangingPunct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Contribution from 4 neighbors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w"/>
            </a:pPr>
            <a:r>
              <a:rPr lang="en-IE" altLang="en-US"/>
              <a:t>Bicubic Interpolation</a:t>
            </a:r>
          </a:p>
          <a:p>
            <a:pPr lvl="1" eaLnBrk="1" hangingPunct="1"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</a:pPr>
            <a:r>
              <a:rPr lang="en-IE" altLang="en-US" sz="2400"/>
              <a:t>Contribution from 16 neighbors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Interpolation: Comparison</a:t>
            </a:r>
          </a:p>
        </p:txBody>
      </p:sp>
      <p:pic>
        <p:nvPicPr>
          <p:cNvPr id="80899" name="Picture 4" descr="fig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7388225" cy="430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1509" name="Text Box 5"/>
          <p:cNvSpPr txBox="1">
            <a:spLocks noChangeArrowheads="1"/>
          </p:cNvSpPr>
          <p:nvPr/>
        </p:nvSpPr>
        <p:spPr bwMode="auto">
          <a:xfrm>
            <a:off x="4954588" y="2286000"/>
            <a:ext cx="2771775" cy="6413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2"/>
                </a:solidFill>
                <a:latin typeface="Comic Sans MS" pitchFamily="66" charset="0"/>
                <a:cs typeface="+mn-cs"/>
              </a:rPr>
              <a:t>We’ll enlarge this image by a factor of 4 …</a:t>
            </a:r>
          </a:p>
        </p:txBody>
      </p:sp>
      <p:sp>
        <p:nvSpPr>
          <p:cNvPr id="661510" name="Text Box 6"/>
          <p:cNvSpPr txBox="1">
            <a:spLocks noChangeArrowheads="1"/>
          </p:cNvSpPr>
          <p:nvPr/>
        </p:nvSpPr>
        <p:spPr bwMode="auto">
          <a:xfrm>
            <a:off x="4954588" y="4235450"/>
            <a:ext cx="3255962" cy="91598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chemeClr val="tx2"/>
                </a:solidFill>
                <a:latin typeface="Comic Sans MS" pitchFamily="66" charset="0"/>
                <a:cs typeface="+mn-cs"/>
              </a:rPr>
              <a:t>… via bilinear interpolation and compare it to a nearest neighbor enlargement.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8" descr="fig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92288"/>
            <a:ext cx="7388225" cy="430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Interpolation: Comparison</a:t>
            </a:r>
          </a:p>
        </p:txBody>
      </p:sp>
      <p:sp>
        <p:nvSpPr>
          <p:cNvPr id="662534" name="Text Box 6"/>
          <p:cNvSpPr txBox="1">
            <a:spLocks noChangeArrowheads="1"/>
          </p:cNvSpPr>
          <p:nvPr/>
        </p:nvSpPr>
        <p:spPr bwMode="auto">
          <a:xfrm>
            <a:off x="2701925" y="5562600"/>
            <a:ext cx="5818188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To better see what happens, we’ll look at the parrot’s eye. </a:t>
            </a:r>
          </a:p>
        </p:txBody>
      </p:sp>
      <p:sp>
        <p:nvSpPr>
          <p:cNvPr id="662535" name="Text Box 7"/>
          <p:cNvSpPr txBox="1">
            <a:spLocks noChangeArrowheads="1"/>
          </p:cNvSpPr>
          <p:nvPr/>
        </p:nvSpPr>
        <p:spPr bwMode="auto">
          <a:xfrm>
            <a:off x="277813" y="2249488"/>
            <a:ext cx="968375" cy="58102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Original Image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Interpolation: Comparison</a:t>
            </a:r>
          </a:p>
        </p:txBody>
      </p:sp>
      <p:pic>
        <p:nvPicPr>
          <p:cNvPr id="84995" name="Picture 3" descr="fig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7388225" cy="430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3556" name="Text Box 4"/>
          <p:cNvSpPr txBox="1">
            <a:spLocks noChangeArrowheads="1"/>
          </p:cNvSpPr>
          <p:nvPr/>
        </p:nvSpPr>
        <p:spPr bwMode="auto">
          <a:xfrm>
            <a:off x="1939925" y="5911850"/>
            <a:ext cx="1731963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Pixel replication </a:t>
            </a:r>
          </a:p>
        </p:txBody>
      </p:sp>
      <p:sp>
        <p:nvSpPr>
          <p:cNvPr id="663557" name="Text Box 5"/>
          <p:cNvSpPr txBox="1">
            <a:spLocks noChangeArrowheads="1"/>
          </p:cNvSpPr>
          <p:nvPr/>
        </p:nvSpPr>
        <p:spPr bwMode="auto">
          <a:xfrm>
            <a:off x="5126038" y="5911850"/>
            <a:ext cx="2216150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Bilinear interpolation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Interpolation: Comparison</a:t>
            </a:r>
          </a:p>
        </p:txBody>
      </p:sp>
      <p:pic>
        <p:nvPicPr>
          <p:cNvPr id="87043" name="Picture 3" descr="fig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68488"/>
            <a:ext cx="7388225" cy="430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4580" name="Text Box 4"/>
          <p:cNvSpPr txBox="1">
            <a:spLocks noChangeArrowheads="1"/>
          </p:cNvSpPr>
          <p:nvPr/>
        </p:nvSpPr>
        <p:spPr bwMode="auto">
          <a:xfrm>
            <a:off x="1976438" y="5702300"/>
            <a:ext cx="1731962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Pixel replication </a:t>
            </a:r>
          </a:p>
        </p:txBody>
      </p:sp>
      <p:sp>
        <p:nvSpPr>
          <p:cNvPr id="664581" name="Text Box 5"/>
          <p:cNvSpPr txBox="1">
            <a:spLocks noChangeArrowheads="1"/>
          </p:cNvSpPr>
          <p:nvPr/>
        </p:nvSpPr>
        <p:spPr bwMode="auto">
          <a:xfrm>
            <a:off x="5162550" y="5702300"/>
            <a:ext cx="2216150" cy="33655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1429" tIns="45714" rIns="91429" bIns="45714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solidFill>
                  <a:schemeClr val="tx2"/>
                </a:solidFill>
                <a:latin typeface="Comic Sans MS" pitchFamily="66" charset="0"/>
                <a:cs typeface="+mn-cs"/>
              </a:rPr>
              <a:t>Bilinear interpolation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3|7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3|2.1|3.5|1.2|2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2.2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796</Words>
  <Application>Microsoft Office PowerPoint</Application>
  <PresentationFormat>On-screen Show (4:3)</PresentationFormat>
  <Paragraphs>181</Paragraphs>
  <Slides>28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MS PGothic</vt:lpstr>
      <vt:lpstr>Angsana New</vt:lpstr>
      <vt:lpstr>Arial</vt:lpstr>
      <vt:lpstr>Arial Narrow</vt:lpstr>
      <vt:lpstr>Calibri</vt:lpstr>
      <vt:lpstr>Comic Sans MS</vt:lpstr>
      <vt:lpstr>Times New Roman</vt:lpstr>
      <vt:lpstr>Wingdings</vt:lpstr>
      <vt:lpstr>Office Theme</vt:lpstr>
      <vt:lpstr>Equation</vt:lpstr>
      <vt:lpstr>Digital Images</vt:lpstr>
      <vt:lpstr>Digital Image</vt:lpstr>
      <vt:lpstr>Digital Image</vt:lpstr>
      <vt:lpstr>Digital Image</vt:lpstr>
      <vt:lpstr>Example</vt:lpstr>
      <vt:lpstr>DIGITAL IMAGE REPRESENTATION</vt:lpstr>
      <vt:lpstr>What is a Digital Image? (cont…)</vt:lpstr>
      <vt:lpstr>GRAY LEVEL</vt:lpstr>
      <vt:lpstr>Digital Image Representation</vt:lpstr>
      <vt:lpstr>Image Size</vt:lpstr>
      <vt:lpstr>Spatial &amp; Gray Level Resolution</vt:lpstr>
      <vt:lpstr>Spatial Resolution</vt:lpstr>
      <vt:lpstr>Spatial Resolution</vt:lpstr>
      <vt:lpstr>Intensity Level Resolution</vt:lpstr>
      <vt:lpstr>Intensity Level Resolution</vt:lpstr>
      <vt:lpstr>Intensity Level Resolution</vt:lpstr>
      <vt:lpstr>Intensity Level Resolution</vt:lpstr>
      <vt:lpstr>Resolution: How much is enough?</vt:lpstr>
      <vt:lpstr>Resolution: How much is enough?</vt:lpstr>
      <vt:lpstr>Image Resizing</vt:lpstr>
      <vt:lpstr>Enlarging an Image</vt:lpstr>
      <vt:lpstr>Enlarging an Image</vt:lpstr>
      <vt:lpstr>Enlarging an Image</vt:lpstr>
      <vt:lpstr>Image Interpolation</vt:lpstr>
      <vt:lpstr>Interpolation: Comparison</vt:lpstr>
      <vt:lpstr>Interpolation: Comparison</vt:lpstr>
      <vt:lpstr>Interpolation: Comparison</vt:lpstr>
      <vt:lpstr>Interpolation: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3521</dc:creator>
  <cp:lastModifiedBy>marium hida</cp:lastModifiedBy>
  <cp:revision>91</cp:revision>
  <dcterms:created xsi:type="dcterms:W3CDTF">2013-09-11T11:13:34Z</dcterms:created>
  <dcterms:modified xsi:type="dcterms:W3CDTF">2026-01-29T04:09:58Z</dcterms:modified>
</cp:coreProperties>
</file>