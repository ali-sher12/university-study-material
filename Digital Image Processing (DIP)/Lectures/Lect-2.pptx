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603" r:id="rId3"/>
    <p:sldId id="604" r:id="rId4"/>
    <p:sldId id="605" r:id="rId5"/>
    <p:sldId id="606" r:id="rId6"/>
    <p:sldId id="608" r:id="rId7"/>
    <p:sldId id="609" r:id="rId8"/>
    <p:sldId id="610" r:id="rId9"/>
    <p:sldId id="611" r:id="rId10"/>
    <p:sldId id="612" r:id="rId11"/>
    <p:sldId id="613" r:id="rId12"/>
    <p:sldId id="614" r:id="rId13"/>
    <p:sldId id="607" r:id="rId14"/>
    <p:sldId id="615" r:id="rId15"/>
    <p:sldId id="616" r:id="rId16"/>
    <p:sldId id="617" r:id="rId17"/>
    <p:sldId id="618" r:id="rId18"/>
    <p:sldId id="619" r:id="rId19"/>
    <p:sldId id="620" r:id="rId20"/>
    <p:sldId id="621" r:id="rId21"/>
    <p:sldId id="622" r:id="rId22"/>
    <p:sldId id="623" r:id="rId23"/>
    <p:sldId id="624" r:id="rId24"/>
    <p:sldId id="625" r:id="rId25"/>
    <p:sldId id="626" r:id="rId26"/>
    <p:sldId id="627" r:id="rId27"/>
    <p:sldId id="628" r:id="rId28"/>
    <p:sldId id="629" r:id="rId29"/>
    <p:sldId id="630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27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A068021-ED4A-46A0-82F0-FC20F2B7DE49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5CAC252-245E-4697-A72D-0D6DE75425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C81CA8-8537-4A3B-AD9F-02CF14157079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C161A9A-27DA-4FD9-AF10-B1F39FF97FC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1B2FD89-675C-4449-9C49-653834623D1F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453BBA-54AF-49B2-A16C-1D1C7A457F57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60426C-044B-4C98-8FE1-699A008E5BB0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DE2F831-CD43-45E3-BACC-D17E44FBEC98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DE5AB8-6FDD-43AF-9346-1230B25A5E00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8E1422-95A7-4F56-A7B0-8ED5725F6211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3FDD852-E202-45F2-BFD9-AE5197FF1444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F4A3236-49EC-491F-87CE-1BC11DF86910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EC5AC-86D5-48BE-8639-6C7F0E825920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62C274E-153C-4B16-BB0C-EAC7D94890E1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E56EC62-0C9B-45A2-B72F-9DB8C45D77D7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D1832A0-5890-4A54-9635-C3CE3AE0103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EFA347-A9FC-470B-B78F-4A5DDC62F28D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CE2BDE8-17A5-460F-B60D-09C1D16155CC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181BCF-80AD-4C7C-8586-CDB9506C9D91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F057CFC-BFCB-4744-A20B-973F1E4F4E84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8180A9B-A802-4C8B-AFF0-55F905CD93B8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FF9FA3E-B3E9-4EF4-A343-3534C17CDDF4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5D6EEA0-60F9-4457-A0A0-618B16D04AAD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86EDA45-6803-47D7-B397-7D23CFBFCE4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74F908-4095-4CDF-8604-394252BA1999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54CACCA-C836-4688-9206-43FC2F7204DE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C00D4FD-49AD-4B43-9061-979A97D24016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ED3037E-4AA6-4CAB-9F8F-ECC850E90B82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CCFF33-0C68-4192-A67A-68B1D1E5110D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FC9ED3-6DE9-4BCB-8434-7196418EB0C1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82661-DE13-49C3-9EB2-57D87DDDFC0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8F341-D22C-4C15-A83E-30747B37F4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42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78B81-B1D8-4B13-A299-203F4D3C64B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0A2E4-26C1-40AD-A0DE-57893ED43C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09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3CF3-9285-4948-A429-AC7F8D8066F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DD1F2-B493-466B-B7D0-201E5688EB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35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724E5-B04B-45DE-85D4-72FA3D345507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25510-3655-4CA6-B195-D2B9F613B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13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36BB3-76D9-4C8D-9AD6-9ABA1A104B5E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8C422-D44D-48FD-BEB7-47269E4782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679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79130-CFB3-4845-8FF0-5CE16104E3E5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AF173-E087-4B67-94B3-C91B89CB3A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855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F04A3-4CF2-46A9-9494-C302E146D985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0A660-1808-46BF-A030-BAD86FF3A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571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E4A86-A9F7-4C30-8872-2DEEBAD7B7F0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D0F02-EE24-414C-886B-532F26F470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69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A63C1-6014-4E86-8E5C-E02D3C023292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C1E11-9923-4658-806C-78872A6B39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918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FAE5D-E9DA-4C86-97B7-3D697B8473D6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240A1-D64D-4773-92C3-6129EE374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302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727BF-D9A5-471D-AA49-E4A358A4C43D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756FE-6682-4BAE-815A-B2DC2F3536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8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2C28B1-89A2-4ABE-8903-A34F99E088A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8697A86-FA73-45CB-8197-794E911136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24.wmf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C431D1-E78E-4004-ACE5-E6FE5716C807}" type="slidenum">
              <a:rPr lang="en-US" altLang="en-US" sz="1400" smtClean="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230313" y="762000"/>
            <a:ext cx="738028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003366"/>
                </a:solidFill>
              </a:rPr>
              <a:t>Digital Image Processing</a:t>
            </a:r>
            <a:endParaRPr lang="en-US" altLang="zh-CN" sz="3600">
              <a:solidFill>
                <a:srgbClr val="003366"/>
              </a:solidFill>
            </a:endParaRPr>
          </a:p>
        </p:txBody>
      </p:sp>
      <p:sp>
        <p:nvSpPr>
          <p:cNvPr id="3076" name="Rectangle 13"/>
          <p:cNvSpPr>
            <a:spLocks noChangeArrowheads="1"/>
          </p:cNvSpPr>
          <p:nvPr/>
        </p:nvSpPr>
        <p:spPr bwMode="auto">
          <a:xfrm>
            <a:off x="685800" y="3049588"/>
            <a:ext cx="7696200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 b="1"/>
              <a:t>Lecture # 2</a:t>
            </a:r>
          </a:p>
          <a:p>
            <a:pPr algn="ctr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 b="1"/>
              <a:t>Connected Component Analysis </a:t>
            </a:r>
          </a:p>
          <a:p>
            <a:pPr algn="ctr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2400" b="1"/>
          </a:p>
          <a:p>
            <a:pPr algn="ctr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C30E097-4BBD-43CD-B217-187A01ABA829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Relationships between pixels</a:t>
            </a:r>
          </a:p>
        </p:txBody>
      </p:sp>
      <p:sp>
        <p:nvSpPr>
          <p:cNvPr id="5124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Neighbors of pixel are the pixels that are adjacent pixels of an identified pixel</a:t>
            </a:r>
          </a:p>
        </p:txBody>
      </p:sp>
      <p:sp>
        <p:nvSpPr>
          <p:cNvPr id="5125" name="Oval 27"/>
          <p:cNvSpPr>
            <a:spLocks noChangeArrowheads="1"/>
          </p:cNvSpPr>
          <p:nvPr/>
        </p:nvSpPr>
        <p:spPr bwMode="auto">
          <a:xfrm>
            <a:off x="4135438" y="4419600"/>
            <a:ext cx="685800" cy="685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26" name="Rectangle 32"/>
          <p:cNvSpPr>
            <a:spLocks noChangeArrowheads="1"/>
          </p:cNvSpPr>
          <p:nvPr/>
        </p:nvSpPr>
        <p:spPr bwMode="auto">
          <a:xfrm>
            <a:off x="4135438" y="3733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27" name="Rectangle 33"/>
          <p:cNvSpPr>
            <a:spLocks noChangeArrowheads="1"/>
          </p:cNvSpPr>
          <p:nvPr/>
        </p:nvSpPr>
        <p:spPr bwMode="auto">
          <a:xfrm>
            <a:off x="4821238" y="4419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28" name="Rectangle 34"/>
          <p:cNvSpPr>
            <a:spLocks noChangeArrowheads="1"/>
          </p:cNvSpPr>
          <p:nvPr/>
        </p:nvSpPr>
        <p:spPr bwMode="auto">
          <a:xfrm>
            <a:off x="4135438" y="51054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29" name="Rectangle 35"/>
          <p:cNvSpPr>
            <a:spLocks noChangeArrowheads="1"/>
          </p:cNvSpPr>
          <p:nvPr/>
        </p:nvSpPr>
        <p:spPr bwMode="auto">
          <a:xfrm>
            <a:off x="3449638" y="4419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30" name="Rectangle 36"/>
          <p:cNvSpPr>
            <a:spLocks noChangeArrowheads="1"/>
          </p:cNvSpPr>
          <p:nvPr/>
        </p:nvSpPr>
        <p:spPr bwMode="auto">
          <a:xfrm>
            <a:off x="3449638" y="3733800"/>
            <a:ext cx="2057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5131" name="Text Box 15"/>
          <p:cNvSpPr txBox="1">
            <a:spLocks noChangeArrowheads="1"/>
          </p:cNvSpPr>
          <p:nvPr/>
        </p:nvSpPr>
        <p:spPr bwMode="auto">
          <a:xfrm>
            <a:off x="3476625" y="3275013"/>
            <a:ext cx="679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y-1</a:t>
            </a:r>
          </a:p>
        </p:txBody>
      </p:sp>
      <p:sp>
        <p:nvSpPr>
          <p:cNvPr id="5132" name="Text Box 16"/>
          <p:cNvSpPr txBox="1">
            <a:spLocks noChangeArrowheads="1"/>
          </p:cNvSpPr>
          <p:nvPr/>
        </p:nvSpPr>
        <p:spPr bwMode="auto">
          <a:xfrm>
            <a:off x="4848225" y="3275013"/>
            <a:ext cx="768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y+1</a:t>
            </a:r>
          </a:p>
        </p:txBody>
      </p:sp>
      <p:sp>
        <p:nvSpPr>
          <p:cNvPr id="5133" name="Text Box 17"/>
          <p:cNvSpPr txBox="1">
            <a:spLocks noChangeArrowheads="1"/>
          </p:cNvSpPr>
          <p:nvPr/>
        </p:nvSpPr>
        <p:spPr bwMode="auto">
          <a:xfrm>
            <a:off x="4287838" y="327501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5134" name="Text Box 18"/>
          <p:cNvSpPr txBox="1">
            <a:spLocks noChangeArrowheads="1"/>
          </p:cNvSpPr>
          <p:nvPr/>
        </p:nvSpPr>
        <p:spPr bwMode="auto">
          <a:xfrm>
            <a:off x="2840038" y="3822700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x-1</a:t>
            </a:r>
          </a:p>
        </p:txBody>
      </p:sp>
      <p:sp>
        <p:nvSpPr>
          <p:cNvPr id="5135" name="Text Box 19"/>
          <p:cNvSpPr txBox="1">
            <a:spLocks noChangeArrowheads="1"/>
          </p:cNvSpPr>
          <p:nvPr/>
        </p:nvSpPr>
        <p:spPr bwMode="auto">
          <a:xfrm>
            <a:off x="2743200" y="5256213"/>
            <a:ext cx="768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x+1</a:t>
            </a:r>
          </a:p>
        </p:txBody>
      </p:sp>
      <p:sp>
        <p:nvSpPr>
          <p:cNvPr id="5136" name="Text Box 20"/>
          <p:cNvSpPr txBox="1">
            <a:spLocks noChangeArrowheads="1"/>
          </p:cNvSpPr>
          <p:nvPr/>
        </p:nvSpPr>
        <p:spPr bwMode="auto">
          <a:xfrm>
            <a:off x="3011488" y="457041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0D298F7-2316-42F5-8E3C-415540868804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4- Neighbors of a Pixel –N</a:t>
            </a:r>
            <a:r>
              <a:rPr lang="en-US" altLang="zh-CN" baseline="-25000"/>
              <a:t>4</a:t>
            </a:r>
            <a:r>
              <a:rPr lang="en-US" altLang="zh-CN"/>
              <a:t>(p)</a:t>
            </a:r>
          </a:p>
        </p:txBody>
      </p:sp>
      <p:sp>
        <p:nvSpPr>
          <p:cNvPr id="7172" name="Oval 27"/>
          <p:cNvSpPr>
            <a:spLocks noChangeArrowheads="1"/>
          </p:cNvSpPr>
          <p:nvPr/>
        </p:nvSpPr>
        <p:spPr bwMode="auto">
          <a:xfrm>
            <a:off x="4364038" y="3276600"/>
            <a:ext cx="685800" cy="685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3" name="Rectangle 32"/>
          <p:cNvSpPr>
            <a:spLocks noChangeArrowheads="1"/>
          </p:cNvSpPr>
          <p:nvPr/>
        </p:nvSpPr>
        <p:spPr bwMode="auto">
          <a:xfrm>
            <a:off x="4364038" y="2590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4" name="Rectangle 33"/>
          <p:cNvSpPr>
            <a:spLocks noChangeArrowheads="1"/>
          </p:cNvSpPr>
          <p:nvPr/>
        </p:nvSpPr>
        <p:spPr bwMode="auto">
          <a:xfrm>
            <a:off x="5049838" y="3276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5" name="Rectangle 34"/>
          <p:cNvSpPr>
            <a:spLocks noChangeArrowheads="1"/>
          </p:cNvSpPr>
          <p:nvPr/>
        </p:nvSpPr>
        <p:spPr bwMode="auto">
          <a:xfrm>
            <a:off x="4364038" y="39624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6" name="Rectangle 35"/>
          <p:cNvSpPr>
            <a:spLocks noChangeArrowheads="1"/>
          </p:cNvSpPr>
          <p:nvPr/>
        </p:nvSpPr>
        <p:spPr bwMode="auto">
          <a:xfrm>
            <a:off x="3678238" y="3276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7" name="Rectangle 36"/>
          <p:cNvSpPr>
            <a:spLocks noChangeArrowheads="1"/>
          </p:cNvSpPr>
          <p:nvPr/>
        </p:nvSpPr>
        <p:spPr bwMode="auto">
          <a:xfrm>
            <a:off x="3678238" y="2590800"/>
            <a:ext cx="2057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7178" name="Oval 37"/>
          <p:cNvSpPr>
            <a:spLocks noChangeArrowheads="1"/>
          </p:cNvSpPr>
          <p:nvPr/>
        </p:nvSpPr>
        <p:spPr bwMode="auto">
          <a:xfrm>
            <a:off x="4364038" y="25908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179" name="Oval 38"/>
          <p:cNvSpPr>
            <a:spLocks noChangeArrowheads="1"/>
          </p:cNvSpPr>
          <p:nvPr/>
        </p:nvSpPr>
        <p:spPr bwMode="auto">
          <a:xfrm>
            <a:off x="3678238" y="32766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180" name="Oval 39"/>
          <p:cNvSpPr>
            <a:spLocks noChangeArrowheads="1"/>
          </p:cNvSpPr>
          <p:nvPr/>
        </p:nvSpPr>
        <p:spPr bwMode="auto">
          <a:xfrm>
            <a:off x="4364038" y="39624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181" name="Oval 40"/>
          <p:cNvSpPr>
            <a:spLocks noChangeArrowheads="1"/>
          </p:cNvSpPr>
          <p:nvPr/>
        </p:nvSpPr>
        <p:spPr bwMode="auto">
          <a:xfrm>
            <a:off x="5049838" y="32766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182" name="Text Box 23"/>
          <p:cNvSpPr txBox="1">
            <a:spLocks noChangeArrowheads="1"/>
          </p:cNvSpPr>
          <p:nvPr/>
        </p:nvSpPr>
        <p:spPr bwMode="auto">
          <a:xfrm>
            <a:off x="3705225" y="2132013"/>
            <a:ext cx="679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y-1</a:t>
            </a:r>
          </a:p>
        </p:txBody>
      </p:sp>
      <p:sp>
        <p:nvSpPr>
          <p:cNvPr id="7183" name="Text Box 24"/>
          <p:cNvSpPr txBox="1">
            <a:spLocks noChangeArrowheads="1"/>
          </p:cNvSpPr>
          <p:nvPr/>
        </p:nvSpPr>
        <p:spPr bwMode="auto">
          <a:xfrm>
            <a:off x="5076825" y="2132013"/>
            <a:ext cx="768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y+1</a:t>
            </a:r>
          </a:p>
        </p:txBody>
      </p:sp>
      <p:sp>
        <p:nvSpPr>
          <p:cNvPr id="7184" name="Text Box 25"/>
          <p:cNvSpPr txBox="1">
            <a:spLocks noChangeArrowheads="1"/>
          </p:cNvSpPr>
          <p:nvPr/>
        </p:nvSpPr>
        <p:spPr bwMode="auto">
          <a:xfrm>
            <a:off x="4516438" y="2133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7185" name="Text Box 26"/>
          <p:cNvSpPr txBox="1">
            <a:spLocks noChangeArrowheads="1"/>
          </p:cNvSpPr>
          <p:nvPr/>
        </p:nvSpPr>
        <p:spPr bwMode="auto">
          <a:xfrm>
            <a:off x="3068638" y="2679700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x-1</a:t>
            </a:r>
          </a:p>
        </p:txBody>
      </p:sp>
      <p:sp>
        <p:nvSpPr>
          <p:cNvPr id="7186" name="Text Box 27"/>
          <p:cNvSpPr txBox="1">
            <a:spLocks noChangeArrowheads="1"/>
          </p:cNvSpPr>
          <p:nvPr/>
        </p:nvSpPr>
        <p:spPr bwMode="auto">
          <a:xfrm>
            <a:off x="2900363" y="4113213"/>
            <a:ext cx="77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x+1</a:t>
            </a:r>
          </a:p>
        </p:txBody>
      </p:sp>
      <p:sp>
        <p:nvSpPr>
          <p:cNvPr id="7187" name="Text Box 28"/>
          <p:cNvSpPr txBox="1">
            <a:spLocks noChangeArrowheads="1"/>
          </p:cNvSpPr>
          <p:nvPr/>
        </p:nvSpPr>
        <p:spPr bwMode="auto">
          <a:xfrm>
            <a:off x="3240088" y="34290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457757" name="Rectangle 29"/>
          <p:cNvSpPr>
            <a:spLocks noChangeArrowheads="1"/>
          </p:cNvSpPr>
          <p:nvPr/>
        </p:nvSpPr>
        <p:spPr bwMode="auto">
          <a:xfrm>
            <a:off x="1600200" y="4841875"/>
            <a:ext cx="5943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3600"/>
              <a:t>(x-1,y), (x+1,y), (x, y-1), (x, y+1)</a:t>
            </a:r>
          </a:p>
        </p:txBody>
      </p:sp>
      <p:sp>
        <p:nvSpPr>
          <p:cNvPr id="7189" name="Text Box 30"/>
          <p:cNvSpPr txBox="1">
            <a:spLocks noChangeArrowheads="1"/>
          </p:cNvSpPr>
          <p:nvPr/>
        </p:nvSpPr>
        <p:spPr bwMode="auto">
          <a:xfrm rot="-5400000">
            <a:off x="736600" y="2981325"/>
            <a:ext cx="3016250" cy="71120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What are the coordinates of each of the blue pixels</a:t>
            </a:r>
          </a:p>
        </p:txBody>
      </p:sp>
      <p:pic>
        <p:nvPicPr>
          <p:cNvPr id="7190" name="Picture 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12096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0183099-FE24-4D1E-A577-51F4E1E9122A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/>
              <a:t>Diagonal Neighbors of a Pixel –N</a:t>
            </a:r>
            <a:r>
              <a:rPr lang="en-US" altLang="zh-CN" sz="4000" baseline="-25000"/>
              <a:t>D</a:t>
            </a:r>
            <a:r>
              <a:rPr lang="en-US" altLang="zh-CN" sz="4000"/>
              <a:t>(p)</a:t>
            </a:r>
          </a:p>
        </p:txBody>
      </p:sp>
      <p:sp>
        <p:nvSpPr>
          <p:cNvPr id="9220" name="Oval 27"/>
          <p:cNvSpPr>
            <a:spLocks noChangeArrowheads="1"/>
          </p:cNvSpPr>
          <p:nvPr/>
        </p:nvSpPr>
        <p:spPr bwMode="auto">
          <a:xfrm>
            <a:off x="4364038" y="3276600"/>
            <a:ext cx="685800" cy="685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1" name="Rectangle 32"/>
          <p:cNvSpPr>
            <a:spLocks noChangeArrowheads="1"/>
          </p:cNvSpPr>
          <p:nvPr/>
        </p:nvSpPr>
        <p:spPr bwMode="auto">
          <a:xfrm>
            <a:off x="4364038" y="2590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2" name="Rectangle 33"/>
          <p:cNvSpPr>
            <a:spLocks noChangeArrowheads="1"/>
          </p:cNvSpPr>
          <p:nvPr/>
        </p:nvSpPr>
        <p:spPr bwMode="auto">
          <a:xfrm>
            <a:off x="5049838" y="3276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3" name="Rectangle 34"/>
          <p:cNvSpPr>
            <a:spLocks noChangeArrowheads="1"/>
          </p:cNvSpPr>
          <p:nvPr/>
        </p:nvSpPr>
        <p:spPr bwMode="auto">
          <a:xfrm>
            <a:off x="4364038" y="39624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4" name="Rectangle 35"/>
          <p:cNvSpPr>
            <a:spLocks noChangeArrowheads="1"/>
          </p:cNvSpPr>
          <p:nvPr/>
        </p:nvSpPr>
        <p:spPr bwMode="auto">
          <a:xfrm>
            <a:off x="3678238" y="3276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5" name="Rectangle 36"/>
          <p:cNvSpPr>
            <a:spLocks noChangeArrowheads="1"/>
          </p:cNvSpPr>
          <p:nvPr/>
        </p:nvSpPr>
        <p:spPr bwMode="auto">
          <a:xfrm>
            <a:off x="3678238" y="2590800"/>
            <a:ext cx="2057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9226" name="Oval 37"/>
          <p:cNvSpPr>
            <a:spLocks noChangeArrowheads="1"/>
          </p:cNvSpPr>
          <p:nvPr/>
        </p:nvSpPr>
        <p:spPr bwMode="auto">
          <a:xfrm>
            <a:off x="3686175" y="25908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227" name="Oval 38"/>
          <p:cNvSpPr>
            <a:spLocks noChangeArrowheads="1"/>
          </p:cNvSpPr>
          <p:nvPr/>
        </p:nvSpPr>
        <p:spPr bwMode="auto">
          <a:xfrm>
            <a:off x="3686175" y="39624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228" name="Oval 39"/>
          <p:cNvSpPr>
            <a:spLocks noChangeArrowheads="1"/>
          </p:cNvSpPr>
          <p:nvPr/>
        </p:nvSpPr>
        <p:spPr bwMode="auto">
          <a:xfrm>
            <a:off x="5043488" y="39624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229" name="Oval 40"/>
          <p:cNvSpPr>
            <a:spLocks noChangeArrowheads="1"/>
          </p:cNvSpPr>
          <p:nvPr/>
        </p:nvSpPr>
        <p:spPr bwMode="auto">
          <a:xfrm>
            <a:off x="5043488" y="2590800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3705225" y="2132013"/>
            <a:ext cx="679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y-1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5076825" y="2132013"/>
            <a:ext cx="768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y+1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4516438" y="2133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3068638" y="2679700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x-1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2743200" y="4114800"/>
            <a:ext cx="973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  x+1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3240088" y="34290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9236" name="Rectangle 21"/>
          <p:cNvSpPr>
            <a:spLocks noChangeArrowheads="1"/>
          </p:cNvSpPr>
          <p:nvPr/>
        </p:nvSpPr>
        <p:spPr bwMode="auto">
          <a:xfrm>
            <a:off x="1295400" y="4953000"/>
            <a:ext cx="72390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/>
              <a:t>(x-1,y-1), (x+1,y-1), (x-1, y+1), (x+1, y+1)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D647128-CB37-4E78-8446-E941FA327E9F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8- Neighbors of a Pixel –N</a:t>
            </a:r>
            <a:r>
              <a:rPr lang="en-US" altLang="zh-CN" baseline="-25000"/>
              <a:t>8</a:t>
            </a:r>
            <a:r>
              <a:rPr lang="en-US" altLang="zh-CN"/>
              <a:t>(p)</a:t>
            </a:r>
          </a:p>
        </p:txBody>
      </p:sp>
      <p:sp>
        <p:nvSpPr>
          <p:cNvPr id="11268" name="Oval 27"/>
          <p:cNvSpPr>
            <a:spLocks noChangeArrowheads="1"/>
          </p:cNvSpPr>
          <p:nvPr/>
        </p:nvSpPr>
        <p:spPr bwMode="auto">
          <a:xfrm>
            <a:off x="4364038" y="3049588"/>
            <a:ext cx="685800" cy="685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69" name="Rectangle 32"/>
          <p:cNvSpPr>
            <a:spLocks noChangeArrowheads="1"/>
          </p:cNvSpPr>
          <p:nvPr/>
        </p:nvSpPr>
        <p:spPr bwMode="auto">
          <a:xfrm>
            <a:off x="4364038" y="2363788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70" name="Rectangle 33"/>
          <p:cNvSpPr>
            <a:spLocks noChangeArrowheads="1"/>
          </p:cNvSpPr>
          <p:nvPr/>
        </p:nvSpPr>
        <p:spPr bwMode="auto">
          <a:xfrm>
            <a:off x="5049838" y="3049588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71" name="Rectangle 34"/>
          <p:cNvSpPr>
            <a:spLocks noChangeArrowheads="1"/>
          </p:cNvSpPr>
          <p:nvPr/>
        </p:nvSpPr>
        <p:spPr bwMode="auto">
          <a:xfrm>
            <a:off x="4364038" y="3735388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72" name="Rectangle 35"/>
          <p:cNvSpPr>
            <a:spLocks noChangeArrowheads="1"/>
          </p:cNvSpPr>
          <p:nvPr/>
        </p:nvSpPr>
        <p:spPr bwMode="auto">
          <a:xfrm>
            <a:off x="3678238" y="3049588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73" name="Rectangle 36"/>
          <p:cNvSpPr>
            <a:spLocks noChangeArrowheads="1"/>
          </p:cNvSpPr>
          <p:nvPr/>
        </p:nvSpPr>
        <p:spPr bwMode="auto">
          <a:xfrm>
            <a:off x="3678238" y="2363788"/>
            <a:ext cx="2057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>
              <a:latin typeface="Arial" panose="020B0604020202020204" pitchFamily="34" charset="0"/>
            </a:endParaRPr>
          </a:p>
        </p:txBody>
      </p:sp>
      <p:sp>
        <p:nvSpPr>
          <p:cNvPr id="11274" name="Oval 37"/>
          <p:cNvSpPr>
            <a:spLocks noChangeArrowheads="1"/>
          </p:cNvSpPr>
          <p:nvPr/>
        </p:nvSpPr>
        <p:spPr bwMode="auto">
          <a:xfrm>
            <a:off x="4364038" y="23637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75" name="Oval 38"/>
          <p:cNvSpPr>
            <a:spLocks noChangeArrowheads="1"/>
          </p:cNvSpPr>
          <p:nvPr/>
        </p:nvSpPr>
        <p:spPr bwMode="auto">
          <a:xfrm>
            <a:off x="3678238" y="30495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76" name="Oval 39"/>
          <p:cNvSpPr>
            <a:spLocks noChangeArrowheads="1"/>
          </p:cNvSpPr>
          <p:nvPr/>
        </p:nvSpPr>
        <p:spPr bwMode="auto">
          <a:xfrm>
            <a:off x="4364038" y="37353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77" name="Oval 40"/>
          <p:cNvSpPr>
            <a:spLocks noChangeArrowheads="1"/>
          </p:cNvSpPr>
          <p:nvPr/>
        </p:nvSpPr>
        <p:spPr bwMode="auto">
          <a:xfrm>
            <a:off x="5049838" y="30495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3705225" y="1905000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y-1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5076825" y="1905000"/>
            <a:ext cx="768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y+1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4516438" y="19065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3068638" y="2452688"/>
            <a:ext cx="679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x-1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3048000" y="3886200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x-1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3240088" y="32019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3048000" y="5375275"/>
            <a:ext cx="3657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/>
              <a:t>(x-1,y), (x+1,y), (x, y-1), (x, y+1)</a:t>
            </a:r>
          </a:p>
        </p:txBody>
      </p:sp>
      <p:sp>
        <p:nvSpPr>
          <p:cNvPr id="11285" name="Oval 38"/>
          <p:cNvSpPr>
            <a:spLocks noChangeArrowheads="1"/>
          </p:cNvSpPr>
          <p:nvPr/>
        </p:nvSpPr>
        <p:spPr bwMode="auto">
          <a:xfrm>
            <a:off x="3662363" y="23637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86" name="Oval 38"/>
          <p:cNvSpPr>
            <a:spLocks noChangeArrowheads="1"/>
          </p:cNvSpPr>
          <p:nvPr/>
        </p:nvSpPr>
        <p:spPr bwMode="auto">
          <a:xfrm>
            <a:off x="5043488" y="23637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87" name="Oval 38"/>
          <p:cNvSpPr>
            <a:spLocks noChangeArrowheads="1"/>
          </p:cNvSpPr>
          <p:nvPr/>
        </p:nvSpPr>
        <p:spPr bwMode="auto">
          <a:xfrm>
            <a:off x="5057775" y="37353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88" name="Oval 38"/>
          <p:cNvSpPr>
            <a:spLocks noChangeArrowheads="1"/>
          </p:cNvSpPr>
          <p:nvPr/>
        </p:nvSpPr>
        <p:spPr bwMode="auto">
          <a:xfrm>
            <a:off x="3671888" y="3735388"/>
            <a:ext cx="685800" cy="685800"/>
          </a:xfrm>
          <a:prstGeom prst="ellipse">
            <a:avLst/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289" name="Rectangle 27"/>
          <p:cNvSpPr>
            <a:spLocks noChangeArrowheads="1"/>
          </p:cNvSpPr>
          <p:nvPr/>
        </p:nvSpPr>
        <p:spPr bwMode="auto">
          <a:xfrm>
            <a:off x="2743200" y="5832475"/>
            <a:ext cx="44958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/>
              <a:t>(x-1,y-1), (x+1,y-1), (x-1, y+1), (x+1, y+1)</a:t>
            </a:r>
          </a:p>
        </p:txBody>
      </p:sp>
      <p:graphicFrame>
        <p:nvGraphicFramePr>
          <p:cNvPr id="11290" name="Object 2"/>
          <p:cNvGraphicFramePr>
            <a:graphicFrameLocks noChangeAspect="1"/>
          </p:cNvGraphicFramePr>
          <p:nvPr/>
        </p:nvGraphicFramePr>
        <p:xfrm>
          <a:off x="2743200" y="4645025"/>
          <a:ext cx="41148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700" imgH="228600" progId="">
                  <p:embed/>
                </p:oleObj>
              </mc:Choice>
              <mc:Fallback>
                <p:oleObj name="Equation" r:id="rId3" imgW="1536700" imgH="2286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645025"/>
                        <a:ext cx="41148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5436AC6-D6E7-4D7F-8BB5-D57E975F427A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Connectivity</a:t>
            </a:r>
          </a:p>
        </p:txBody>
      </p:sp>
      <p:sp>
        <p:nvSpPr>
          <p:cNvPr id="15364" name="Rectangle 1027"/>
          <p:cNvSpPr>
            <a:spLocks noChangeArrowheads="1"/>
          </p:cNvSpPr>
          <p:nvPr/>
        </p:nvSpPr>
        <p:spPr bwMode="auto">
          <a:xfrm>
            <a:off x="457200" y="16002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000">
                <a:latin typeface="Arial" panose="020B0604020202020204" pitchFamily="34" charset="0"/>
              </a:rPr>
              <a:t>Establishing boundaries of objects and components in an image</a:t>
            </a:r>
          </a:p>
          <a:p>
            <a:pPr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000">
                <a:latin typeface="Arial" panose="020B0604020202020204" pitchFamily="34" charset="0"/>
              </a:rPr>
              <a:t>Group the same region by assumption that the pixels being the same color or equal intensity</a:t>
            </a:r>
          </a:p>
          <a:p>
            <a:pPr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000">
                <a:solidFill>
                  <a:schemeClr val="folHlink"/>
                </a:solidFill>
                <a:latin typeface="Arial" panose="020B0604020202020204" pitchFamily="34" charset="0"/>
              </a:rPr>
              <a:t>Two pixels p &amp; q are connected if</a:t>
            </a:r>
          </a:p>
          <a:p>
            <a:pPr lvl="1" algn="just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latin typeface="Arial" panose="020B0604020202020204" pitchFamily="34" charset="0"/>
              </a:rPr>
              <a:t>They are adjacent in some sense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latin typeface="Arial" panose="020B0604020202020204" pitchFamily="34" charset="0"/>
              </a:rPr>
              <a:t>If their gray levels satisfy a specified criterion of similarity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2400" i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D186F7F-6618-4FAA-894A-A5EC118CD583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Connectivity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304800" y="1809750"/>
            <a:ext cx="8991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V:</a:t>
            </a:r>
            <a:r>
              <a:rPr lang="en-US" altLang="en-US" sz="1800">
                <a:latin typeface="Arial" panose="020B0604020202020204" pitchFamily="34" charset="0"/>
              </a:rPr>
              <a:t> Set of gray levels used to define the criterion of similarity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457200" y="2438400"/>
            <a:ext cx="2327275" cy="5286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4-connectivity</a:t>
            </a:r>
          </a:p>
        </p:txBody>
      </p:sp>
      <p:sp>
        <p:nvSpPr>
          <p:cNvPr id="17414" name="Rectangle 9"/>
          <p:cNvSpPr>
            <a:spLocks noChangeArrowheads="1"/>
          </p:cNvSpPr>
          <p:nvPr/>
        </p:nvSpPr>
        <p:spPr bwMode="auto">
          <a:xfrm>
            <a:off x="1905000" y="3200400"/>
            <a:ext cx="192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If gray level</a:t>
            </a:r>
          </a:p>
        </p:txBody>
      </p:sp>
      <p:graphicFrame>
        <p:nvGraphicFramePr>
          <p:cNvPr id="17415" name="Object 2"/>
          <p:cNvGraphicFramePr>
            <a:graphicFrameLocks noChangeAspect="1"/>
          </p:cNvGraphicFramePr>
          <p:nvPr/>
        </p:nvGraphicFramePr>
        <p:xfrm>
          <a:off x="4114800" y="3328988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285" imgH="677109" progId="">
                  <p:embed/>
                </p:oleObj>
              </mc:Choice>
              <mc:Fallback>
                <p:oleObj name="Equation" r:id="rId3" imgW="435285" imgH="67710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8988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3771900" y="3140075"/>
          <a:ext cx="4267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800" imgH="228600" progId="">
                  <p:embed/>
                </p:oleObj>
              </mc:Choice>
              <mc:Fallback>
                <p:oleObj name="Equation" r:id="rId5" imgW="1574800" imgH="2286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3140075"/>
                        <a:ext cx="42672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7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10000"/>
            <a:ext cx="33528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8" name="Rectangle 16"/>
          <p:cNvSpPr>
            <a:spLocks noChangeArrowheads="1"/>
          </p:cNvSpPr>
          <p:nvPr/>
        </p:nvSpPr>
        <p:spPr bwMode="auto">
          <a:xfrm>
            <a:off x="381000" y="4648200"/>
            <a:ext cx="3914775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Set of gray levels V = {1}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1C249D7-A98A-4165-A9EA-AC80B19AA565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Connectivity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04800" y="1809750"/>
            <a:ext cx="8991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V:</a:t>
            </a:r>
            <a:r>
              <a:rPr lang="en-US" altLang="en-US" sz="1800">
                <a:latin typeface="Arial" panose="020B0604020202020204" pitchFamily="34" charset="0"/>
              </a:rPr>
              <a:t> Set of gray levels used to define the criterion of similarity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57200" y="2438400"/>
            <a:ext cx="2327275" cy="5286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8-connectivity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1905000" y="3095625"/>
            <a:ext cx="192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If gray level</a:t>
            </a:r>
          </a:p>
        </p:txBody>
      </p:sp>
      <p:graphicFrame>
        <p:nvGraphicFramePr>
          <p:cNvPr id="19463" name="Object 2"/>
          <p:cNvGraphicFramePr>
            <a:graphicFrameLocks noChangeAspect="1"/>
          </p:cNvGraphicFramePr>
          <p:nvPr/>
        </p:nvGraphicFramePr>
        <p:xfrm>
          <a:off x="4114800" y="3224213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285" imgH="677109" progId="">
                  <p:embed/>
                </p:oleObj>
              </mc:Choice>
              <mc:Fallback>
                <p:oleObj name="Equation" r:id="rId3" imgW="435285" imgH="67710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24213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3"/>
          <p:cNvGraphicFramePr>
            <a:graphicFrameLocks noChangeAspect="1"/>
          </p:cNvGraphicFramePr>
          <p:nvPr/>
        </p:nvGraphicFramePr>
        <p:xfrm>
          <a:off x="3771900" y="3048000"/>
          <a:ext cx="4267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800" imgH="228600" progId="">
                  <p:embed/>
                </p:oleObj>
              </mc:Choice>
              <mc:Fallback>
                <p:oleObj name="Equation" r:id="rId5" imgW="1574800" imgH="2286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3048000"/>
                        <a:ext cx="42672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81400"/>
            <a:ext cx="3810000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6" name="Rectangle 13"/>
          <p:cNvSpPr>
            <a:spLocks noChangeArrowheads="1"/>
          </p:cNvSpPr>
          <p:nvPr/>
        </p:nvSpPr>
        <p:spPr bwMode="auto">
          <a:xfrm>
            <a:off x="657225" y="4576763"/>
            <a:ext cx="3914775" cy="52863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Set of gray levels V = {1}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2339CED-22B7-417A-82D3-96AB12AA80F5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Connectivity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04800" y="1809750"/>
            <a:ext cx="8991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V:</a:t>
            </a:r>
            <a:r>
              <a:rPr lang="en-US" altLang="en-US" sz="1800">
                <a:latin typeface="Arial" panose="020B0604020202020204" pitchFamily="34" charset="0"/>
              </a:rPr>
              <a:t> Set of gray levels used to define the criterion of similarity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457200" y="2438400"/>
            <a:ext cx="5765800" cy="5286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Arial" panose="020B0604020202020204" pitchFamily="34" charset="0"/>
              </a:rPr>
              <a:t>m-connectivity (Mixed Connectivity)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533400" y="3095625"/>
            <a:ext cx="192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If gray level</a:t>
            </a:r>
          </a:p>
        </p:txBody>
      </p:sp>
      <p:graphicFrame>
        <p:nvGraphicFramePr>
          <p:cNvPr id="21511" name="Object 2"/>
          <p:cNvGraphicFramePr>
            <a:graphicFrameLocks noChangeAspect="1"/>
          </p:cNvGraphicFramePr>
          <p:nvPr/>
        </p:nvGraphicFramePr>
        <p:xfrm>
          <a:off x="2743200" y="3224213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285" imgH="677109" progId="">
                  <p:embed/>
                </p:oleObj>
              </mc:Choice>
              <mc:Fallback>
                <p:oleObj name="Equation" r:id="rId3" imgW="435285" imgH="67710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24213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3"/>
          <p:cNvGraphicFramePr>
            <a:graphicFrameLocks noChangeAspect="1"/>
          </p:cNvGraphicFramePr>
          <p:nvPr/>
        </p:nvGraphicFramePr>
        <p:xfrm>
          <a:off x="533400" y="3581400"/>
          <a:ext cx="63436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900" imgH="203200" progId="">
                  <p:embed/>
                </p:oleObj>
              </mc:Choice>
              <mc:Fallback>
                <p:oleObj name="Equation" r:id="rId5" imgW="2882900" imgH="2032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81400"/>
                        <a:ext cx="63436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4"/>
          <p:cNvGraphicFramePr>
            <a:graphicFrameLocks noChangeAspect="1"/>
          </p:cNvGraphicFramePr>
          <p:nvPr/>
        </p:nvGraphicFramePr>
        <p:xfrm>
          <a:off x="1905000" y="3962400"/>
          <a:ext cx="19050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200" imgH="228600" progId="">
                  <p:embed/>
                </p:oleObj>
              </mc:Choice>
              <mc:Fallback>
                <p:oleObj name="Equation" r:id="rId7" imgW="838200" imgH="2286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62400"/>
                        <a:ext cx="19050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5"/>
          <p:cNvGraphicFramePr>
            <a:graphicFrameLocks noChangeAspect="1"/>
          </p:cNvGraphicFramePr>
          <p:nvPr/>
        </p:nvGraphicFramePr>
        <p:xfrm>
          <a:off x="1955800" y="4419600"/>
          <a:ext cx="5638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19400" imgH="406400" progId="">
                  <p:embed/>
                </p:oleObj>
              </mc:Choice>
              <mc:Fallback>
                <p:oleObj name="Equation" r:id="rId9" imgW="2819400" imgH="4064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419600"/>
                        <a:ext cx="5638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3"/>
          <p:cNvSpPr txBox="1">
            <a:spLocks noChangeArrowheads="1"/>
          </p:cNvSpPr>
          <p:nvPr/>
        </p:nvSpPr>
        <p:spPr bwMode="auto">
          <a:xfrm>
            <a:off x="1371600" y="3962400"/>
            <a:ext cx="430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a.</a:t>
            </a:r>
          </a:p>
        </p:txBody>
      </p:sp>
      <p:sp>
        <p:nvSpPr>
          <p:cNvPr id="21516" name="Text Box 14"/>
          <p:cNvSpPr txBox="1">
            <a:spLocks noChangeArrowheads="1"/>
          </p:cNvSpPr>
          <p:nvPr/>
        </p:nvSpPr>
        <p:spPr bwMode="auto">
          <a:xfrm>
            <a:off x="1371600" y="4433888"/>
            <a:ext cx="450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3CF06C6-936C-466D-9FE7-177DFD7DF2C2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Example: m – Connectivity</a:t>
            </a:r>
          </a:p>
        </p:txBody>
      </p:sp>
      <p:sp>
        <p:nvSpPr>
          <p:cNvPr id="23556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Set of gray levels V = {1}</a:t>
            </a: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762000" y="5530850"/>
            <a:ext cx="815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Note: Mixed connectivity can eliminate the multiple path connections that often occurs in 8-connectivity</a:t>
            </a: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98725"/>
            <a:ext cx="41910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5267404-B3E2-444F-AC92-079DE66D90AC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Paths</a:t>
            </a:r>
          </a:p>
        </p:txBody>
      </p:sp>
      <p:sp>
        <p:nvSpPr>
          <p:cNvPr id="25604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1800">
                <a:solidFill>
                  <a:schemeClr val="folHlink"/>
                </a:solidFill>
                <a:latin typeface="Arial" panose="020B0604020202020204" pitchFamily="34" charset="0"/>
              </a:rPr>
              <a:t>Path:</a:t>
            </a:r>
            <a:r>
              <a:rPr lang="en-US" altLang="en-US" sz="1800">
                <a:latin typeface="Arial" panose="020B0604020202020204" pitchFamily="34" charset="0"/>
              </a:rPr>
              <a:t> Let coordinates of pixel </a:t>
            </a:r>
            <a:r>
              <a:rPr lang="en-US" altLang="en-US" sz="1800" i="1">
                <a:latin typeface="Arial" panose="020B0604020202020204" pitchFamily="34" charset="0"/>
              </a:rPr>
              <a:t>p: (x, y)</a:t>
            </a:r>
            <a:r>
              <a:rPr lang="en-US" altLang="en-US" sz="1800">
                <a:latin typeface="Arial" panose="020B0604020202020204" pitchFamily="34" charset="0"/>
              </a:rPr>
              <a:t>, and of pixel </a:t>
            </a:r>
            <a:r>
              <a:rPr lang="en-US" altLang="en-US" sz="1800" i="1">
                <a:latin typeface="Arial" panose="020B0604020202020204" pitchFamily="34" charset="0"/>
              </a:rPr>
              <a:t>q: (s, t)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400">
                <a:latin typeface="Arial" panose="020B0604020202020204" pitchFamily="34" charset="0"/>
              </a:rPr>
              <a:t>A </a:t>
            </a:r>
            <a:r>
              <a:rPr lang="en-US" altLang="en-US" sz="2400" i="1">
                <a:latin typeface="Arial" panose="020B0604020202020204" pitchFamily="34" charset="0"/>
              </a:rPr>
              <a:t>path</a:t>
            </a:r>
            <a:r>
              <a:rPr lang="en-US" altLang="en-US" sz="2400">
                <a:latin typeface="Arial" panose="020B0604020202020204" pitchFamily="34" charset="0"/>
              </a:rPr>
              <a:t> from </a:t>
            </a:r>
            <a:r>
              <a:rPr lang="en-US" altLang="en-US" sz="2400" i="1">
                <a:latin typeface="Arial" panose="020B0604020202020204" pitchFamily="34" charset="0"/>
              </a:rPr>
              <a:t>p</a:t>
            </a:r>
            <a:r>
              <a:rPr lang="en-US" altLang="en-US" sz="2400">
                <a:latin typeface="Arial" panose="020B0604020202020204" pitchFamily="34" charset="0"/>
              </a:rPr>
              <a:t> to </a:t>
            </a:r>
            <a:r>
              <a:rPr lang="en-US" altLang="en-US" sz="2400" i="1">
                <a:latin typeface="Arial" panose="020B0604020202020204" pitchFamily="34" charset="0"/>
              </a:rPr>
              <a:t>q</a:t>
            </a:r>
            <a:r>
              <a:rPr lang="en-US" altLang="en-US" sz="2400">
                <a:latin typeface="Arial" panose="020B0604020202020204" pitchFamily="34" charset="0"/>
              </a:rPr>
              <a:t> is a sequence of distinct pixels with coordinates:</a:t>
            </a: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 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),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 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), ......,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 </a:t>
            </a: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where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 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 = (x, y) &amp;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 = (s, t), and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 is adjacent to (x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i-1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,y</a:t>
            </a:r>
            <a:r>
              <a:rPr lang="en-US" altLang="en-US" sz="2400" i="1" baseline="-25000">
                <a:solidFill>
                  <a:schemeClr val="folHlink"/>
                </a:solidFill>
                <a:latin typeface="Arial" panose="020B0604020202020204" pitchFamily="34" charset="0"/>
              </a:rPr>
              <a:t>i-1</a:t>
            </a: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) 1≤i ≤n</a:t>
            </a: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2400" i="1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34026" r="27141" b="33395"/>
          <a:stretch>
            <a:fillRect/>
          </a:stretch>
        </p:blipFill>
        <p:spPr bwMode="auto">
          <a:xfrm>
            <a:off x="304800" y="1676400"/>
            <a:ext cx="83994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Yourself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F3FC9D1-D49D-4570-B7C8-8168E9AC86DC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/>
              <a:t>Determine different regions in the image</a:t>
            </a:r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1905000"/>
            <a:ext cx="4514850" cy="439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307D44-8A76-4395-A709-69D0B455CD9A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CC labeling – 4 Connectivity</a:t>
            </a:r>
          </a:p>
        </p:txBody>
      </p:sp>
      <p:sp>
        <p:nvSpPr>
          <p:cNvPr id="582661" name="Content Placeholder 2"/>
          <p:cNvSpPr>
            <a:spLocks/>
          </p:cNvSpPr>
          <p:nvPr/>
        </p:nvSpPr>
        <p:spPr bwMode="auto">
          <a:xfrm>
            <a:off x="1066800" y="1690688"/>
            <a:ext cx="4419600" cy="516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1400"/>
              <a:t>Process the image from left to</a:t>
            </a:r>
            <a:br>
              <a:rPr lang="en-US" altLang="en-US" sz="1400"/>
            </a:br>
            <a:r>
              <a:rPr lang="en-US" altLang="en-US" sz="1400"/>
              <a:t>right, top to bottom: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1.) If the next pixel to process is 1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        i.)   If only one of its neighbors</a:t>
            </a:r>
            <a:br>
              <a:rPr lang="en-US" altLang="en-US" sz="1400"/>
            </a:br>
            <a:r>
              <a:rPr lang="en-US" altLang="en-US" sz="1400"/>
              <a:t>	       (top or left) is 1, copy its label.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en-US" sz="1400"/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        ii.)  If both are 1 and have the </a:t>
            </a:r>
            <a:br>
              <a:rPr lang="en-US" altLang="en-US" sz="1400"/>
            </a:br>
            <a:r>
              <a:rPr lang="en-US" altLang="en-US" sz="1400"/>
              <a:t>	       same label, copy it.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en-US" sz="1400"/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        iii.) If they have different labels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		       </a:t>
            </a:r>
            <a:r>
              <a:rPr lang="en-US" altLang="en-US" sz="1400">
                <a:sym typeface="Symbol" panose="05050102010706020507" pitchFamily="18" charset="2"/>
              </a:rPr>
              <a:t> </a:t>
            </a:r>
            <a:r>
              <a:rPr lang="en-US" altLang="en-US" sz="1400"/>
              <a:t>Copy the label from the left.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/>
              <a:t>		       </a:t>
            </a:r>
            <a:r>
              <a:rPr lang="en-US" altLang="en-US" sz="1400">
                <a:sym typeface="Symbol" panose="05050102010706020507" pitchFamily="18" charset="2"/>
              </a:rPr>
              <a:t> Update the equivalence table.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en-US" sz="1400">
              <a:sym typeface="Symbol" panose="05050102010706020507" pitchFamily="18" charset="2"/>
            </a:endParaRP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400">
                <a:sym typeface="Symbol" panose="05050102010706020507" pitchFamily="18" charset="2"/>
              </a:rPr>
              <a:t>        iv.) Otherwise, assign a new label.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en-US" sz="1400">
              <a:sym typeface="Symbol" panose="05050102010706020507" pitchFamily="18" charset="2"/>
            </a:endParaRP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en-US" sz="1400">
              <a:sym typeface="Symbol" panose="05050102010706020507" pitchFamily="18" charset="2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1400">
                <a:solidFill>
                  <a:srgbClr val="FF0000"/>
                </a:solidFill>
                <a:sym typeface="Symbol" panose="05050102010706020507" pitchFamily="18" charset="2"/>
              </a:rPr>
              <a:t>Re-label with the smallest of equivalent</a:t>
            </a:r>
            <a:br>
              <a:rPr lang="en-US" altLang="en-US" sz="1400">
                <a:solidFill>
                  <a:srgbClr val="FF0000"/>
                </a:solidFill>
                <a:sym typeface="Symbol" panose="05050102010706020507" pitchFamily="18" charset="2"/>
              </a:rPr>
            </a:br>
            <a:r>
              <a:rPr lang="en-US" altLang="en-US" sz="1400">
                <a:solidFill>
                  <a:srgbClr val="FF0000"/>
                </a:solidFill>
                <a:sym typeface="Symbol" panose="05050102010706020507" pitchFamily="18" charset="2"/>
              </a:rPr>
              <a:t>labels</a:t>
            </a:r>
            <a:endParaRPr lang="de-CH" altLang="en-US" sz="1400">
              <a:solidFill>
                <a:srgbClr val="FF0000"/>
              </a:solidFill>
            </a:endParaRPr>
          </a:p>
        </p:txBody>
      </p:sp>
      <p:pic>
        <p:nvPicPr>
          <p:cNvPr id="582662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68" r="87631" b="69566"/>
          <a:stretch>
            <a:fillRect/>
          </a:stretch>
        </p:blipFill>
        <p:spPr bwMode="auto">
          <a:xfrm>
            <a:off x="304800" y="2224088"/>
            <a:ext cx="10461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663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4" t="37498" r="87631" b="53436"/>
          <a:stretch>
            <a:fillRect/>
          </a:stretch>
        </p:blipFill>
        <p:spPr bwMode="auto">
          <a:xfrm>
            <a:off x="609600" y="3146425"/>
            <a:ext cx="53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664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4" t="50984" r="87631" b="39951"/>
          <a:stretch>
            <a:fillRect/>
          </a:stretch>
        </p:blipFill>
        <p:spPr bwMode="auto">
          <a:xfrm>
            <a:off x="609600" y="3984625"/>
            <a:ext cx="53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665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4" t="78716" r="87631" b="11937"/>
          <a:stretch>
            <a:fillRect/>
          </a:stretch>
        </p:blipFill>
        <p:spPr bwMode="auto">
          <a:xfrm>
            <a:off x="609600" y="4724400"/>
            <a:ext cx="5349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666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4" r="3021" b="45328"/>
          <a:stretch>
            <a:fillRect/>
          </a:stretch>
        </p:blipFill>
        <p:spPr bwMode="auto">
          <a:xfrm>
            <a:off x="5486400" y="1952625"/>
            <a:ext cx="3103563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667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2" t="54672" r="13025" b="30434"/>
          <a:stretch>
            <a:fillRect/>
          </a:stretch>
        </p:blipFill>
        <p:spPr bwMode="auto">
          <a:xfrm>
            <a:off x="6345238" y="5408613"/>
            <a:ext cx="1350962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2668" name="AutoShape 12"/>
          <p:cNvSpPr>
            <a:spLocks/>
          </p:cNvSpPr>
          <p:nvPr/>
        </p:nvSpPr>
        <p:spPr bwMode="auto">
          <a:xfrm>
            <a:off x="4419600" y="1752600"/>
            <a:ext cx="533400" cy="3581400"/>
          </a:xfrm>
          <a:prstGeom prst="rightBrace">
            <a:avLst>
              <a:gd name="adj1" fmla="val 559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2669" name="AutoShape 13"/>
          <p:cNvSpPr>
            <a:spLocks/>
          </p:cNvSpPr>
          <p:nvPr/>
        </p:nvSpPr>
        <p:spPr bwMode="auto">
          <a:xfrm>
            <a:off x="4419600" y="5562600"/>
            <a:ext cx="228600" cy="762000"/>
          </a:xfrm>
          <a:prstGeom prst="righ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2670" name="Text Box 14"/>
          <p:cNvSpPr txBox="1">
            <a:spLocks noChangeArrowheads="1"/>
          </p:cNvSpPr>
          <p:nvPr/>
        </p:nvSpPr>
        <p:spPr bwMode="auto">
          <a:xfrm>
            <a:off x="4660900" y="3910013"/>
            <a:ext cx="825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Pass 1</a:t>
            </a:r>
          </a:p>
        </p:txBody>
      </p:sp>
      <p:sp>
        <p:nvSpPr>
          <p:cNvPr id="582671" name="Text Box 15"/>
          <p:cNvSpPr txBox="1">
            <a:spLocks noChangeArrowheads="1"/>
          </p:cNvSpPr>
          <p:nvPr/>
        </p:nvSpPr>
        <p:spPr bwMode="auto">
          <a:xfrm>
            <a:off x="4648200" y="5715000"/>
            <a:ext cx="825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Pass 2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2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2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2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2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2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26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826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8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826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8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8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26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8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8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68" grpId="0" animBg="1"/>
      <p:bldP spid="582669" grpId="0" animBg="1"/>
      <p:bldP spid="582670" grpId="0"/>
      <p:bldP spid="5826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E29E5EE-37AE-4D9D-B0DA-16646AD0E88B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2514600"/>
            <a:ext cx="291465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4 Connectivity</a:t>
            </a:r>
          </a:p>
        </p:txBody>
      </p:sp>
      <p:pic>
        <p:nvPicPr>
          <p:cNvPr id="3072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514600"/>
            <a:ext cx="3048000" cy="293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9ACBB64-74D4-439A-94CD-656BB0B4B926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4 Connectivity</a:t>
            </a:r>
          </a:p>
        </p:txBody>
      </p:sp>
      <p:pic>
        <p:nvPicPr>
          <p:cNvPr id="3277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3200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86000"/>
            <a:ext cx="3200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0E5D81D-6040-47EA-AC47-E76D87A023D5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692150" y="3276600"/>
            <a:ext cx="7689850" cy="95567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Same algorithm but examine also the upper diagonal neighbors of </a:t>
            </a:r>
            <a:r>
              <a:rPr lang="en-US" altLang="en-US" sz="1800" i="1">
                <a:solidFill>
                  <a:schemeClr val="folHlink"/>
                </a:solidFill>
                <a:latin typeface="Arial" panose="020B0604020202020204" pitchFamily="34" charset="0"/>
              </a:rPr>
              <a:t>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73FBBF7-BF09-48D2-92BC-F841F81D93AE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grpSp>
        <p:nvGrpSpPr>
          <p:cNvPr id="36868" name="Group 13"/>
          <p:cNvGrpSpPr>
            <a:grpSpLocks/>
          </p:cNvGrpSpPr>
          <p:nvPr/>
        </p:nvGrpSpPr>
        <p:grpSpPr bwMode="auto">
          <a:xfrm>
            <a:off x="990600" y="2514600"/>
            <a:ext cx="3429000" cy="3225800"/>
            <a:chOff x="624" y="1584"/>
            <a:chExt cx="2160" cy="2032"/>
          </a:xfrm>
        </p:grpSpPr>
        <p:pic>
          <p:nvPicPr>
            <p:cNvPr id="36874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1584"/>
              <a:ext cx="2160" cy="2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5" name="Text Box 7"/>
            <p:cNvSpPr txBox="1">
              <a:spLocks noChangeArrowheads="1"/>
            </p:cNvSpPr>
            <p:nvPr/>
          </p:nvSpPr>
          <p:spPr bwMode="auto">
            <a:xfrm>
              <a:off x="848" y="3216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36876" name="Text Box 8"/>
            <p:cNvSpPr txBox="1">
              <a:spLocks noChangeArrowheads="1"/>
            </p:cNvSpPr>
            <p:nvPr/>
          </p:nvSpPr>
          <p:spPr bwMode="auto">
            <a:xfrm>
              <a:off x="848" y="3435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</p:grpSp>
      <p:grpSp>
        <p:nvGrpSpPr>
          <p:cNvPr id="36869" name="Group 12"/>
          <p:cNvGrpSpPr>
            <a:grpSpLocks/>
          </p:cNvGrpSpPr>
          <p:nvPr/>
        </p:nvGrpSpPr>
        <p:grpSpPr bwMode="auto">
          <a:xfrm>
            <a:off x="4800600" y="2362200"/>
            <a:ext cx="3367088" cy="3657600"/>
            <a:chOff x="3024" y="1488"/>
            <a:chExt cx="2121" cy="2304"/>
          </a:xfrm>
        </p:grpSpPr>
        <p:pic>
          <p:nvPicPr>
            <p:cNvPr id="36870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1488"/>
              <a:ext cx="2121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1" name="Text Box 9"/>
            <p:cNvSpPr txBox="1">
              <a:spLocks noChangeArrowheads="1"/>
            </p:cNvSpPr>
            <p:nvPr/>
          </p:nvSpPr>
          <p:spPr bwMode="auto">
            <a:xfrm>
              <a:off x="3216" y="3160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36872" name="Text Box 10"/>
            <p:cNvSpPr txBox="1">
              <a:spLocks noChangeArrowheads="1"/>
            </p:cNvSpPr>
            <p:nvPr/>
          </p:nvSpPr>
          <p:spPr bwMode="auto">
            <a:xfrm>
              <a:off x="3216" y="337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36873" name="Text Box 11"/>
            <p:cNvSpPr txBox="1">
              <a:spLocks noChangeArrowheads="1"/>
            </p:cNvSpPr>
            <p:nvPr/>
          </p:nvSpPr>
          <p:spPr bwMode="auto">
            <a:xfrm>
              <a:off x="3208" y="357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A67538A-49D9-49FB-9E36-99FC3EEA140C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grpSp>
        <p:nvGrpSpPr>
          <p:cNvPr id="38916" name="Group 19"/>
          <p:cNvGrpSpPr>
            <a:grpSpLocks/>
          </p:cNvGrpSpPr>
          <p:nvPr/>
        </p:nvGrpSpPr>
        <p:grpSpPr bwMode="auto">
          <a:xfrm>
            <a:off x="1219200" y="2286000"/>
            <a:ext cx="3081338" cy="3594100"/>
            <a:chOff x="768" y="1440"/>
            <a:chExt cx="1941" cy="2264"/>
          </a:xfrm>
        </p:grpSpPr>
        <p:pic>
          <p:nvPicPr>
            <p:cNvPr id="3892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440"/>
              <a:ext cx="1941" cy="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5" name="Text Box 6"/>
            <p:cNvSpPr txBox="1">
              <a:spLocks noChangeArrowheads="1"/>
            </p:cNvSpPr>
            <p:nvPr/>
          </p:nvSpPr>
          <p:spPr bwMode="auto">
            <a:xfrm>
              <a:off x="912" y="2936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38926" name="Text Box 7"/>
            <p:cNvSpPr txBox="1">
              <a:spLocks noChangeArrowheads="1"/>
            </p:cNvSpPr>
            <p:nvPr/>
          </p:nvSpPr>
          <p:spPr bwMode="auto">
            <a:xfrm>
              <a:off x="912" y="3147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38927" name="Text Box 10"/>
            <p:cNvSpPr txBox="1">
              <a:spLocks noChangeArrowheads="1"/>
            </p:cNvSpPr>
            <p:nvPr/>
          </p:nvSpPr>
          <p:spPr bwMode="auto">
            <a:xfrm>
              <a:off x="912" y="333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38928" name="Text Box 11"/>
            <p:cNvSpPr txBox="1">
              <a:spLocks noChangeArrowheads="1"/>
            </p:cNvSpPr>
            <p:nvPr/>
          </p:nvSpPr>
          <p:spPr bwMode="auto">
            <a:xfrm>
              <a:off x="912" y="3531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257800" y="2133600"/>
            <a:ext cx="3151188" cy="4122738"/>
            <a:chOff x="3312" y="1344"/>
            <a:chExt cx="1985" cy="2597"/>
          </a:xfrm>
        </p:grpSpPr>
        <p:pic>
          <p:nvPicPr>
            <p:cNvPr id="38918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1344"/>
              <a:ext cx="1985" cy="2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19" name="Text Box 12"/>
            <p:cNvSpPr txBox="1">
              <a:spLocks noChangeArrowheads="1"/>
            </p:cNvSpPr>
            <p:nvPr/>
          </p:nvSpPr>
          <p:spPr bwMode="auto">
            <a:xfrm>
              <a:off x="3488" y="2968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38920" name="Text Box 13"/>
            <p:cNvSpPr txBox="1">
              <a:spLocks noChangeArrowheads="1"/>
            </p:cNvSpPr>
            <p:nvPr/>
          </p:nvSpPr>
          <p:spPr bwMode="auto">
            <a:xfrm>
              <a:off x="3488" y="317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38921" name="Text Box 14"/>
            <p:cNvSpPr txBox="1">
              <a:spLocks noChangeArrowheads="1"/>
            </p:cNvSpPr>
            <p:nvPr/>
          </p:nvSpPr>
          <p:spPr bwMode="auto">
            <a:xfrm>
              <a:off x="3488" y="3371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38922" name="Text Box 15"/>
            <p:cNvSpPr txBox="1">
              <a:spLocks noChangeArrowheads="1"/>
            </p:cNvSpPr>
            <p:nvPr/>
          </p:nvSpPr>
          <p:spPr bwMode="auto">
            <a:xfrm>
              <a:off x="3488" y="3563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38923" name="Text Box 16"/>
            <p:cNvSpPr txBox="1">
              <a:spLocks noChangeArrowheads="1"/>
            </p:cNvSpPr>
            <p:nvPr/>
          </p:nvSpPr>
          <p:spPr bwMode="auto">
            <a:xfrm>
              <a:off x="3488" y="3755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4E66DB1-8C9A-4A0C-98B2-3575EF85D41C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grpSp>
        <p:nvGrpSpPr>
          <p:cNvPr id="40964" name="Group 17"/>
          <p:cNvGrpSpPr>
            <a:grpSpLocks/>
          </p:cNvGrpSpPr>
          <p:nvPr/>
        </p:nvGrpSpPr>
        <p:grpSpPr bwMode="auto">
          <a:xfrm>
            <a:off x="990600" y="2028825"/>
            <a:ext cx="3148013" cy="4141788"/>
            <a:chOff x="624" y="1278"/>
            <a:chExt cx="1983" cy="2609"/>
          </a:xfrm>
        </p:grpSpPr>
        <p:pic>
          <p:nvPicPr>
            <p:cNvPr id="4097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1278"/>
              <a:ext cx="1983" cy="2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73" name="Text Box 7"/>
            <p:cNvSpPr txBox="1">
              <a:spLocks noChangeArrowheads="1"/>
            </p:cNvSpPr>
            <p:nvPr/>
          </p:nvSpPr>
          <p:spPr bwMode="auto">
            <a:xfrm>
              <a:off x="800" y="2888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0974" name="Text Box 8"/>
            <p:cNvSpPr txBox="1">
              <a:spLocks noChangeArrowheads="1"/>
            </p:cNvSpPr>
            <p:nvPr/>
          </p:nvSpPr>
          <p:spPr bwMode="auto">
            <a:xfrm>
              <a:off x="800" y="3115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40975" name="Text Box 9"/>
            <p:cNvSpPr txBox="1">
              <a:spLocks noChangeArrowheads="1"/>
            </p:cNvSpPr>
            <p:nvPr/>
          </p:nvSpPr>
          <p:spPr bwMode="auto">
            <a:xfrm>
              <a:off x="800" y="3307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0976" name="Text Box 10"/>
            <p:cNvSpPr txBox="1">
              <a:spLocks noChangeArrowheads="1"/>
            </p:cNvSpPr>
            <p:nvPr/>
          </p:nvSpPr>
          <p:spPr bwMode="auto">
            <a:xfrm>
              <a:off x="800" y="349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0977" name="Text Box 11"/>
            <p:cNvSpPr txBox="1">
              <a:spLocks noChangeArrowheads="1"/>
            </p:cNvSpPr>
            <p:nvPr/>
          </p:nvSpPr>
          <p:spPr bwMode="auto">
            <a:xfrm>
              <a:off x="800" y="3699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953000" y="2017713"/>
            <a:ext cx="3357563" cy="4230687"/>
            <a:chOff x="3120" y="1271"/>
            <a:chExt cx="2115" cy="2665"/>
          </a:xfrm>
        </p:grpSpPr>
        <p:pic>
          <p:nvPicPr>
            <p:cNvPr id="40966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1271"/>
              <a:ext cx="2115" cy="2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7" name="Text Box 12"/>
            <p:cNvSpPr txBox="1">
              <a:spLocks noChangeArrowheads="1"/>
            </p:cNvSpPr>
            <p:nvPr/>
          </p:nvSpPr>
          <p:spPr bwMode="auto">
            <a:xfrm>
              <a:off x="3304" y="2920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0968" name="Text Box 13"/>
            <p:cNvSpPr txBox="1">
              <a:spLocks noChangeArrowheads="1"/>
            </p:cNvSpPr>
            <p:nvPr/>
          </p:nvSpPr>
          <p:spPr bwMode="auto">
            <a:xfrm>
              <a:off x="3304" y="3147"/>
              <a:ext cx="110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40969" name="Text Box 14"/>
            <p:cNvSpPr txBox="1">
              <a:spLocks noChangeArrowheads="1"/>
            </p:cNvSpPr>
            <p:nvPr/>
          </p:nvSpPr>
          <p:spPr bwMode="auto">
            <a:xfrm>
              <a:off x="3304" y="3339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0970" name="Text Box 15"/>
            <p:cNvSpPr txBox="1">
              <a:spLocks noChangeArrowheads="1"/>
            </p:cNvSpPr>
            <p:nvPr/>
          </p:nvSpPr>
          <p:spPr bwMode="auto">
            <a:xfrm>
              <a:off x="3304" y="3531"/>
              <a:ext cx="7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0971" name="Text Box 16"/>
            <p:cNvSpPr txBox="1">
              <a:spLocks noChangeArrowheads="1"/>
            </p:cNvSpPr>
            <p:nvPr/>
          </p:nvSpPr>
          <p:spPr bwMode="auto">
            <a:xfrm>
              <a:off x="3304" y="3731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057D19D-EC28-4E4B-BAA5-90FC52604650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grpSp>
        <p:nvGrpSpPr>
          <p:cNvPr id="43012" name="Group 16"/>
          <p:cNvGrpSpPr>
            <a:grpSpLocks/>
          </p:cNvGrpSpPr>
          <p:nvPr/>
        </p:nvGrpSpPr>
        <p:grpSpPr bwMode="auto">
          <a:xfrm>
            <a:off x="1150938" y="2162175"/>
            <a:ext cx="3116262" cy="3963988"/>
            <a:chOff x="725" y="1362"/>
            <a:chExt cx="1963" cy="2497"/>
          </a:xfrm>
        </p:grpSpPr>
        <p:pic>
          <p:nvPicPr>
            <p:cNvPr id="4302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" y="1362"/>
              <a:ext cx="1963" cy="2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21" name="Text Box 6"/>
            <p:cNvSpPr txBox="1">
              <a:spLocks noChangeArrowheads="1"/>
            </p:cNvSpPr>
            <p:nvPr/>
          </p:nvSpPr>
          <p:spPr bwMode="auto">
            <a:xfrm>
              <a:off x="856" y="2877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3022" name="Text Box 7"/>
            <p:cNvSpPr txBox="1">
              <a:spLocks noChangeArrowheads="1"/>
            </p:cNvSpPr>
            <p:nvPr/>
          </p:nvSpPr>
          <p:spPr bwMode="auto">
            <a:xfrm>
              <a:off x="856" y="3277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3023" name="Text Box 8"/>
            <p:cNvSpPr txBox="1">
              <a:spLocks noChangeArrowheads="1"/>
            </p:cNvSpPr>
            <p:nvPr/>
          </p:nvSpPr>
          <p:spPr bwMode="auto">
            <a:xfrm>
              <a:off x="864" y="3466"/>
              <a:ext cx="7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3024" name="Text Box 9"/>
            <p:cNvSpPr txBox="1">
              <a:spLocks noChangeArrowheads="1"/>
            </p:cNvSpPr>
            <p:nvPr/>
          </p:nvSpPr>
          <p:spPr bwMode="auto">
            <a:xfrm>
              <a:off x="856" y="3658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  <p:sp>
          <p:nvSpPr>
            <p:cNvPr id="43025" name="Text Box 10"/>
            <p:cNvSpPr txBox="1">
              <a:spLocks noChangeArrowheads="1"/>
            </p:cNvSpPr>
            <p:nvPr/>
          </p:nvSpPr>
          <p:spPr bwMode="auto">
            <a:xfrm>
              <a:off x="864" y="3072"/>
              <a:ext cx="101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029200" y="2133600"/>
            <a:ext cx="3094038" cy="3962400"/>
            <a:chOff x="3168" y="1344"/>
            <a:chExt cx="1949" cy="2496"/>
          </a:xfrm>
        </p:grpSpPr>
        <p:pic>
          <p:nvPicPr>
            <p:cNvPr id="43014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344"/>
              <a:ext cx="1949" cy="2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5" name="Text Box 11"/>
            <p:cNvSpPr txBox="1">
              <a:spLocks noChangeArrowheads="1"/>
            </p:cNvSpPr>
            <p:nvPr/>
          </p:nvSpPr>
          <p:spPr bwMode="auto">
            <a:xfrm>
              <a:off x="3312" y="2848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3016" name="Text Box 12"/>
            <p:cNvSpPr txBox="1">
              <a:spLocks noChangeArrowheads="1"/>
            </p:cNvSpPr>
            <p:nvPr/>
          </p:nvSpPr>
          <p:spPr bwMode="auto">
            <a:xfrm>
              <a:off x="3312" y="3248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3017" name="Text Box 13"/>
            <p:cNvSpPr txBox="1">
              <a:spLocks noChangeArrowheads="1"/>
            </p:cNvSpPr>
            <p:nvPr/>
          </p:nvSpPr>
          <p:spPr bwMode="auto">
            <a:xfrm>
              <a:off x="3320" y="3437"/>
              <a:ext cx="7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3018" name="Text Box 14"/>
            <p:cNvSpPr txBox="1">
              <a:spLocks noChangeArrowheads="1"/>
            </p:cNvSpPr>
            <p:nvPr/>
          </p:nvSpPr>
          <p:spPr bwMode="auto">
            <a:xfrm>
              <a:off x="3312" y="3629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  <p:sp>
          <p:nvSpPr>
            <p:cNvPr id="43019" name="Text Box 15"/>
            <p:cNvSpPr txBox="1">
              <a:spLocks noChangeArrowheads="1"/>
            </p:cNvSpPr>
            <p:nvPr/>
          </p:nvSpPr>
          <p:spPr bwMode="auto">
            <a:xfrm>
              <a:off x="3320" y="3043"/>
              <a:ext cx="101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CF72734-B662-4F5D-B8F7-B141BF2CF7C6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1371600" y="381000"/>
            <a:ext cx="7378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  <a:latin typeface="Arial" panose="020B0604020202020204" pitchFamily="34" charset="0"/>
              </a:rPr>
              <a:t>CC labeling – 8 Connectivity</a:t>
            </a:r>
          </a:p>
        </p:txBody>
      </p:sp>
      <p:sp>
        <p:nvSpPr>
          <p:cNvPr id="45060" name="Rectangle 5"/>
          <p:cNvSpPr>
            <a:spLocks noChangeArrowheads="1"/>
          </p:cNvSpPr>
          <p:nvPr/>
        </p:nvSpPr>
        <p:spPr bwMode="auto">
          <a:xfrm>
            <a:off x="3886200" y="6000750"/>
            <a:ext cx="2514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45061" name="Group 21"/>
          <p:cNvGrpSpPr>
            <a:grpSpLocks/>
          </p:cNvGrpSpPr>
          <p:nvPr/>
        </p:nvGrpSpPr>
        <p:grpSpPr bwMode="auto">
          <a:xfrm>
            <a:off x="1231900" y="2209800"/>
            <a:ext cx="2959100" cy="4114800"/>
            <a:chOff x="776" y="1392"/>
            <a:chExt cx="1864" cy="2592"/>
          </a:xfrm>
        </p:grpSpPr>
        <p:pic>
          <p:nvPicPr>
            <p:cNvPr id="4507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" y="1392"/>
              <a:ext cx="1864" cy="2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2" name="Rectangle 7"/>
            <p:cNvSpPr>
              <a:spLocks noChangeArrowheads="1"/>
            </p:cNvSpPr>
            <p:nvPr/>
          </p:nvSpPr>
          <p:spPr bwMode="auto">
            <a:xfrm>
              <a:off x="1488" y="3744"/>
              <a:ext cx="115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5073" name="Text Box 9"/>
            <p:cNvSpPr txBox="1">
              <a:spLocks noChangeArrowheads="1"/>
            </p:cNvSpPr>
            <p:nvPr/>
          </p:nvSpPr>
          <p:spPr bwMode="auto">
            <a:xfrm>
              <a:off x="912" y="2805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5074" name="Text Box 10"/>
            <p:cNvSpPr txBox="1">
              <a:spLocks noChangeArrowheads="1"/>
            </p:cNvSpPr>
            <p:nvPr/>
          </p:nvSpPr>
          <p:spPr bwMode="auto">
            <a:xfrm>
              <a:off x="920" y="3189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5075" name="Text Box 11"/>
            <p:cNvSpPr txBox="1">
              <a:spLocks noChangeArrowheads="1"/>
            </p:cNvSpPr>
            <p:nvPr/>
          </p:nvSpPr>
          <p:spPr bwMode="auto">
            <a:xfrm>
              <a:off x="920" y="3394"/>
              <a:ext cx="7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5076" name="Text Box 12"/>
            <p:cNvSpPr txBox="1">
              <a:spLocks noChangeArrowheads="1"/>
            </p:cNvSpPr>
            <p:nvPr/>
          </p:nvSpPr>
          <p:spPr bwMode="auto">
            <a:xfrm>
              <a:off x="920" y="3560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  <p:sp>
          <p:nvSpPr>
            <p:cNvPr id="45077" name="Text Box 13"/>
            <p:cNvSpPr txBox="1">
              <a:spLocks noChangeArrowheads="1"/>
            </p:cNvSpPr>
            <p:nvPr/>
          </p:nvSpPr>
          <p:spPr bwMode="auto">
            <a:xfrm>
              <a:off x="920" y="3008"/>
              <a:ext cx="101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45078" name="Text Box 14"/>
            <p:cNvSpPr txBox="1">
              <a:spLocks noChangeArrowheads="1"/>
            </p:cNvSpPr>
            <p:nvPr/>
          </p:nvSpPr>
          <p:spPr bwMode="auto">
            <a:xfrm>
              <a:off x="920" y="3747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4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5105400" y="2209800"/>
            <a:ext cx="3057525" cy="4152900"/>
            <a:chOff x="3216" y="1392"/>
            <a:chExt cx="1926" cy="2616"/>
          </a:xfrm>
        </p:grpSpPr>
        <p:pic>
          <p:nvPicPr>
            <p:cNvPr id="45063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1392"/>
              <a:ext cx="1879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4" name="Rectangle 8"/>
            <p:cNvSpPr>
              <a:spLocks noChangeArrowheads="1"/>
            </p:cNvSpPr>
            <p:nvPr/>
          </p:nvSpPr>
          <p:spPr bwMode="auto">
            <a:xfrm>
              <a:off x="3990" y="3768"/>
              <a:ext cx="115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5065" name="Text Box 15"/>
            <p:cNvSpPr txBox="1">
              <a:spLocks noChangeArrowheads="1"/>
            </p:cNvSpPr>
            <p:nvPr/>
          </p:nvSpPr>
          <p:spPr bwMode="auto">
            <a:xfrm>
              <a:off x="3360" y="2824"/>
              <a:ext cx="803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Background pixel</a:t>
              </a:r>
            </a:p>
          </p:txBody>
        </p:sp>
        <p:sp>
          <p:nvSpPr>
            <p:cNvPr id="45066" name="Text Box 16"/>
            <p:cNvSpPr txBox="1">
              <a:spLocks noChangeArrowheads="1"/>
            </p:cNvSpPr>
            <p:nvPr/>
          </p:nvSpPr>
          <p:spPr bwMode="auto">
            <a:xfrm>
              <a:off x="3368" y="3208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1</a:t>
              </a:r>
            </a:p>
          </p:txBody>
        </p:sp>
        <p:sp>
          <p:nvSpPr>
            <p:cNvPr id="45067" name="Text Box 17"/>
            <p:cNvSpPr txBox="1">
              <a:spLocks noChangeArrowheads="1"/>
            </p:cNvSpPr>
            <p:nvPr/>
          </p:nvSpPr>
          <p:spPr bwMode="auto">
            <a:xfrm>
              <a:off x="3368" y="3389"/>
              <a:ext cx="7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2</a:t>
              </a:r>
            </a:p>
          </p:txBody>
        </p:sp>
        <p:sp>
          <p:nvSpPr>
            <p:cNvPr id="45068" name="Text Box 18"/>
            <p:cNvSpPr txBox="1">
              <a:spLocks noChangeArrowheads="1"/>
            </p:cNvSpPr>
            <p:nvPr/>
          </p:nvSpPr>
          <p:spPr bwMode="auto">
            <a:xfrm>
              <a:off x="3368" y="3579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3</a:t>
              </a:r>
            </a:p>
          </p:txBody>
        </p:sp>
        <p:sp>
          <p:nvSpPr>
            <p:cNvPr id="45069" name="Text Box 19"/>
            <p:cNvSpPr txBox="1">
              <a:spLocks noChangeArrowheads="1"/>
            </p:cNvSpPr>
            <p:nvPr/>
          </p:nvSpPr>
          <p:spPr bwMode="auto">
            <a:xfrm>
              <a:off x="3368" y="3027"/>
              <a:ext cx="101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Unlabeled pixel</a:t>
              </a:r>
            </a:p>
          </p:txBody>
        </p:sp>
        <p:sp>
          <p:nvSpPr>
            <p:cNvPr id="45070" name="Text Box 20"/>
            <p:cNvSpPr txBox="1">
              <a:spLocks noChangeArrowheads="1"/>
            </p:cNvSpPr>
            <p:nvPr/>
          </p:nvSpPr>
          <p:spPr bwMode="auto">
            <a:xfrm>
              <a:off x="3368" y="3766"/>
              <a:ext cx="63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Label 4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54D755F-3101-4258-8872-2EA454F2EF8E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Distance Metrics</a:t>
            </a:r>
          </a:p>
        </p:txBody>
      </p:sp>
      <p:sp>
        <p:nvSpPr>
          <p:cNvPr id="586756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Let pixels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p</a:t>
            </a:r>
            <a:r>
              <a:rPr lang="en-US" altLang="en-US">
                <a:latin typeface="Arial" panose="020B0604020202020204" pitchFamily="34" charset="0"/>
              </a:rPr>
              <a:t>,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q</a:t>
            </a:r>
            <a:r>
              <a:rPr lang="en-US" altLang="en-US">
                <a:latin typeface="Arial" panose="020B0604020202020204" pitchFamily="34" charset="0"/>
              </a:rPr>
              <a:t> and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z</a:t>
            </a:r>
            <a:r>
              <a:rPr lang="en-US" altLang="en-US">
                <a:latin typeface="Arial" panose="020B0604020202020204" pitchFamily="34" charset="0"/>
              </a:rPr>
              <a:t> have coordinates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(x,y), (s,t)</a:t>
            </a:r>
            <a:r>
              <a:rPr lang="en-US" altLang="en-US">
                <a:latin typeface="Arial" panose="020B0604020202020204" pitchFamily="34" charset="0"/>
              </a:rPr>
              <a:t> and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(u,v)</a:t>
            </a:r>
            <a:r>
              <a:rPr lang="en-US" altLang="en-US">
                <a:latin typeface="Arial" panose="020B0604020202020204" pitchFamily="34" charset="0"/>
              </a:rPr>
              <a:t> respectively.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D is a distance function or metric if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D(p,q) ≥ 0 and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D(p,q) = 0 iff p = q and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D(p,q) = D(q,p) and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i="1">
                <a:solidFill>
                  <a:schemeClr val="folHlink"/>
                </a:solidFill>
                <a:latin typeface="Arial" panose="020B0604020202020204" pitchFamily="34" charset="0"/>
              </a:rPr>
              <a:t>D(p,z) ≤ D(p,q) + D(q,z)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2400" i="1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6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86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86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86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2853A87-5F12-496D-8454-3DCD30EA25CA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City block distance (D</a:t>
            </a:r>
            <a:r>
              <a:rPr lang="en-US" altLang="en-US" sz="4000" baseline="-25000"/>
              <a:t>4</a:t>
            </a:r>
            <a:r>
              <a:rPr lang="en-US" altLang="en-US" sz="4000"/>
              <a:t> distance)</a:t>
            </a:r>
            <a:endParaRPr lang="en-US" altLang="zh-CN" sz="4000"/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/>
        </p:nvGraphicFramePr>
        <p:xfrm>
          <a:off x="1905000" y="2030413"/>
          <a:ext cx="51054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7950" imgH="253890" progId="">
                  <p:embed/>
                </p:oleObj>
              </mc:Choice>
              <mc:Fallback>
                <p:oleObj name="Equation" r:id="rId4" imgW="1497950" imgH="253890" progId="">
                  <p:embed/>
                  <p:pic>
                    <p:nvPicPr>
                      <p:cNvPr id="4915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30413"/>
                        <a:ext cx="5105400" cy="8651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10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3200400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1095" name="Rectangle 7"/>
          <p:cNvSpPr>
            <a:spLocks noChangeArrowheads="1"/>
          </p:cNvSpPr>
          <p:nvPr/>
        </p:nvSpPr>
        <p:spPr bwMode="auto">
          <a:xfrm>
            <a:off x="4114800" y="3657600"/>
            <a:ext cx="441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600">
                <a:latin typeface="Arial" panose="020B0604020202020204" pitchFamily="34" charset="0"/>
              </a:rPr>
              <a:t>Diamond with center at </a:t>
            </a:r>
            <a:r>
              <a:rPr lang="en-US" altLang="en-US" sz="2600" i="1">
                <a:solidFill>
                  <a:schemeClr val="folHlink"/>
                </a:solidFill>
                <a:latin typeface="Arial" panose="020B0604020202020204" pitchFamily="34" charset="0"/>
              </a:rPr>
              <a:t>(x,y)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600">
                <a:latin typeface="Arial" panose="020B0604020202020204" pitchFamily="34" charset="0"/>
              </a:rPr>
              <a:t>D</a:t>
            </a:r>
            <a:r>
              <a:rPr lang="en-US" altLang="en-US" sz="2600" baseline="-25000">
                <a:latin typeface="Arial" panose="020B0604020202020204" pitchFamily="34" charset="0"/>
              </a:rPr>
              <a:t>4</a:t>
            </a:r>
            <a:r>
              <a:rPr lang="en-US" altLang="en-US" sz="2600">
                <a:latin typeface="Arial" panose="020B0604020202020204" pitchFamily="34" charset="0"/>
              </a:rPr>
              <a:t> = 1 are the 4 neighbors of pixel </a:t>
            </a:r>
            <a:r>
              <a:rPr lang="en-US" altLang="en-US" sz="2600" i="1">
                <a:solidFill>
                  <a:schemeClr val="folHlink"/>
                </a:solidFill>
                <a:latin typeface="Arial" panose="020B0604020202020204" pitchFamily="34" charset="0"/>
              </a:rPr>
              <a:t>p(x,y)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A59B44B-8A79-4F7F-97B7-0EE536606811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Chessboard distance (D</a:t>
            </a:r>
            <a:r>
              <a:rPr lang="en-US" altLang="en-US" sz="4000" baseline="-25000"/>
              <a:t>8</a:t>
            </a:r>
            <a:r>
              <a:rPr lang="en-US" altLang="en-US" sz="4000"/>
              <a:t> distance)</a:t>
            </a:r>
            <a:endParaRPr lang="en-US" altLang="zh-CN" sz="4000"/>
          </a:p>
        </p:txBody>
      </p:sp>
      <p:graphicFrame>
        <p:nvGraphicFramePr>
          <p:cNvPr id="51204" name="Object 2"/>
          <p:cNvGraphicFramePr>
            <a:graphicFrameLocks noChangeAspect="1"/>
          </p:cNvGraphicFramePr>
          <p:nvPr/>
        </p:nvGraphicFramePr>
        <p:xfrm>
          <a:off x="1600200" y="2057400"/>
          <a:ext cx="60960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700" imgH="254000" progId="">
                  <p:embed/>
                </p:oleObj>
              </mc:Choice>
              <mc:Fallback>
                <p:oleObj name="Equation" r:id="rId4" imgW="1790700" imgH="254000" progId="">
                  <p:embed/>
                  <p:pic>
                    <p:nvPicPr>
                      <p:cNvPr id="5120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6096000" cy="8651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000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00400"/>
            <a:ext cx="2590800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0009" name="Rectangle 9"/>
          <p:cNvSpPr>
            <a:spLocks noChangeArrowheads="1"/>
          </p:cNvSpPr>
          <p:nvPr/>
        </p:nvSpPr>
        <p:spPr bwMode="auto">
          <a:xfrm>
            <a:off x="4191000" y="3886200"/>
            <a:ext cx="45720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600">
                <a:latin typeface="Arial" panose="020B0604020202020204" pitchFamily="34" charset="0"/>
              </a:rPr>
              <a:t>Square centered at </a:t>
            </a:r>
            <a:r>
              <a:rPr lang="en-US" altLang="en-US" sz="2600" i="1">
                <a:solidFill>
                  <a:schemeClr val="folHlink"/>
                </a:solidFill>
                <a:latin typeface="Arial" panose="020B0604020202020204" pitchFamily="34" charset="0"/>
              </a:rPr>
              <a:t>p(x,y)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2600">
                <a:latin typeface="Arial" panose="020B0604020202020204" pitchFamily="34" charset="0"/>
              </a:rPr>
              <a:t>D</a:t>
            </a:r>
            <a:r>
              <a:rPr lang="en-US" altLang="en-US" sz="2600" baseline="-25000">
                <a:latin typeface="Arial" panose="020B0604020202020204" pitchFamily="34" charset="0"/>
              </a:rPr>
              <a:t>8</a:t>
            </a:r>
            <a:r>
              <a:rPr lang="en-US" altLang="en-US" sz="2600">
                <a:latin typeface="Arial" panose="020B0604020202020204" pitchFamily="34" charset="0"/>
              </a:rPr>
              <a:t> = 1 are the 8 neighbors of pixel </a:t>
            </a:r>
            <a:r>
              <a:rPr lang="en-US" altLang="en-US" sz="2600" i="1">
                <a:solidFill>
                  <a:schemeClr val="folHlink"/>
                </a:solidFill>
                <a:latin typeface="Arial" panose="020B0604020202020204" pitchFamily="34" charset="0"/>
              </a:rPr>
              <a:t>p(x,y)</a:t>
            </a:r>
          </a:p>
          <a:p>
            <a:pPr algn="ctr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7D316BF-A033-4D1C-B744-7E8F49F34AB1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Euclidean Distance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2057400" y="2057400"/>
          <a:ext cx="52578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500" imgH="279400" progId="">
                  <p:embed/>
                </p:oleObj>
              </mc:Choice>
              <mc:Fallback>
                <p:oleObj name="Equation" r:id="rId3" imgW="1841500" imgH="279400" progId="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5257800" cy="7985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Rectangle 6"/>
          <p:cNvSpPr>
            <a:spLocks noChangeArrowheads="1"/>
          </p:cNvSpPr>
          <p:nvPr/>
        </p:nvSpPr>
        <p:spPr bwMode="auto">
          <a:xfrm>
            <a:off x="914400" y="1600200"/>
            <a:ext cx="82296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 circle with radius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r</a:t>
            </a:r>
            <a:r>
              <a:rPr lang="en-US" altLang="en-US">
                <a:latin typeface="Arial" panose="020B0604020202020204" pitchFamily="34" charset="0"/>
              </a:rPr>
              <a:t> centered at </a:t>
            </a:r>
            <a:r>
              <a:rPr lang="en-US" altLang="en-US" i="1">
                <a:solidFill>
                  <a:schemeClr val="folHlink"/>
                </a:solidFill>
                <a:latin typeface="Arial" panose="020B0604020202020204" pitchFamily="34" charset="0"/>
              </a:rPr>
              <a:t>(x,y)</a:t>
            </a:r>
          </a:p>
        </p:txBody>
      </p:sp>
      <p:sp>
        <p:nvSpPr>
          <p:cNvPr id="53254" name="Line 7"/>
          <p:cNvSpPr>
            <a:spLocks noChangeShapeType="1"/>
          </p:cNvSpPr>
          <p:nvPr/>
        </p:nvSpPr>
        <p:spPr bwMode="auto">
          <a:xfrm>
            <a:off x="2514600" y="4953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Line 8"/>
          <p:cNvSpPr>
            <a:spLocks noChangeShapeType="1"/>
          </p:cNvSpPr>
          <p:nvPr/>
        </p:nvSpPr>
        <p:spPr bwMode="auto">
          <a:xfrm flipV="1">
            <a:off x="5257800" y="3352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Line 9"/>
          <p:cNvSpPr>
            <a:spLocks noChangeShapeType="1"/>
          </p:cNvSpPr>
          <p:nvPr/>
        </p:nvSpPr>
        <p:spPr bwMode="auto">
          <a:xfrm flipV="1">
            <a:off x="2514600" y="3352800"/>
            <a:ext cx="274320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Text Box 10"/>
          <p:cNvSpPr txBox="1">
            <a:spLocks noChangeArrowheads="1"/>
          </p:cNvSpPr>
          <p:nvPr/>
        </p:nvSpPr>
        <p:spPr bwMode="auto">
          <a:xfrm>
            <a:off x="1981200" y="4891088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p(x,y)</a:t>
            </a:r>
          </a:p>
        </p:txBody>
      </p:sp>
      <p:sp>
        <p:nvSpPr>
          <p:cNvPr id="53258" name="Text Box 11"/>
          <p:cNvSpPr txBox="1">
            <a:spLocks noChangeArrowheads="1"/>
          </p:cNvSpPr>
          <p:nvPr/>
        </p:nvSpPr>
        <p:spPr bwMode="auto">
          <a:xfrm>
            <a:off x="5257800" y="3048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q(s,t)</a:t>
            </a:r>
          </a:p>
        </p:txBody>
      </p:sp>
      <p:sp>
        <p:nvSpPr>
          <p:cNvPr id="53259" name="Text Box 12"/>
          <p:cNvSpPr txBox="1">
            <a:spLocks noChangeArrowheads="1"/>
          </p:cNvSpPr>
          <p:nvPr/>
        </p:nvSpPr>
        <p:spPr bwMode="auto">
          <a:xfrm>
            <a:off x="3352800" y="3733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693D97E-2C40-4378-AD43-0D48C8F75BEC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Arithmetic Operations</a:t>
            </a:r>
          </a:p>
        </p:txBody>
      </p:sp>
      <p:sp>
        <p:nvSpPr>
          <p:cNvPr id="55300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Carried out between corresponding pixel pairs</a:t>
            </a:r>
          </a:p>
          <a:p>
            <a:pPr lvl="1" eaLnBrk="1" hangingPunct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55301" name="Object 2"/>
          <p:cNvGraphicFramePr>
            <a:graphicFrameLocks noChangeAspect="1"/>
          </p:cNvGraphicFramePr>
          <p:nvPr/>
        </p:nvGraphicFramePr>
        <p:xfrm>
          <a:off x="2819400" y="2667000"/>
          <a:ext cx="3733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6811" imgH="203112" progId="">
                  <p:embed/>
                </p:oleObj>
              </mc:Choice>
              <mc:Fallback>
                <p:oleObj name="Equation" r:id="rId3" imgW="1586811" imgH="203112" progId="">
                  <p:embed/>
                  <p:pic>
                    <p:nvPicPr>
                      <p:cNvPr id="553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37338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3"/>
          <p:cNvGraphicFramePr>
            <a:graphicFrameLocks noChangeAspect="1"/>
          </p:cNvGraphicFramePr>
          <p:nvPr/>
        </p:nvGraphicFramePr>
        <p:xfrm>
          <a:off x="2789238" y="3255963"/>
          <a:ext cx="37941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900" imgH="203200" progId="">
                  <p:embed/>
                </p:oleObj>
              </mc:Choice>
              <mc:Fallback>
                <p:oleObj name="Equation" r:id="rId5" imgW="1612900" imgH="203200" progId="">
                  <p:embed/>
                  <p:pic>
                    <p:nvPicPr>
                      <p:cNvPr id="5530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3255963"/>
                        <a:ext cx="37941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4"/>
          <p:cNvGraphicFramePr>
            <a:graphicFrameLocks noChangeAspect="1"/>
          </p:cNvGraphicFramePr>
          <p:nvPr/>
        </p:nvGraphicFramePr>
        <p:xfrm>
          <a:off x="2819400" y="3810000"/>
          <a:ext cx="37941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900" imgH="203200" progId="">
                  <p:embed/>
                </p:oleObj>
              </mc:Choice>
              <mc:Fallback>
                <p:oleObj name="Equation" r:id="rId7" imgW="1612900" imgH="203200" progId="">
                  <p:embed/>
                  <p:pic>
                    <p:nvPicPr>
                      <p:cNvPr id="5530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0"/>
                        <a:ext cx="37941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5"/>
          <p:cNvGraphicFramePr>
            <a:graphicFrameLocks noChangeAspect="1"/>
          </p:cNvGraphicFramePr>
          <p:nvPr/>
        </p:nvGraphicFramePr>
        <p:xfrm>
          <a:off x="2819400" y="4419600"/>
          <a:ext cx="37941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203200" progId="">
                  <p:embed/>
                </p:oleObj>
              </mc:Choice>
              <mc:Fallback>
                <p:oleObj name="Equation" r:id="rId9" imgW="1612900" imgH="203200" progId="">
                  <p:embed/>
                  <p:pic>
                    <p:nvPicPr>
                      <p:cNvPr id="5530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419600"/>
                        <a:ext cx="37941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42722DF-6601-4879-BCBE-5A2F55872120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Arithmetic Operations</a:t>
            </a:r>
          </a:p>
        </p:txBody>
      </p:sp>
      <p:sp>
        <p:nvSpPr>
          <p:cNvPr id="57348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Conversion to range 0 – 255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Difference of two 8-bit images: </a:t>
            </a:r>
            <a:r>
              <a:rPr lang="en-US" altLang="en-US">
                <a:solidFill>
                  <a:schemeClr val="folHlink"/>
                </a:solidFill>
                <a:latin typeface="Arial" panose="020B0604020202020204" pitchFamily="34" charset="0"/>
              </a:rPr>
              <a:t>-255 to 255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Sum of two 8-bit images: </a:t>
            </a:r>
            <a:r>
              <a:rPr lang="en-US" altLang="en-US">
                <a:solidFill>
                  <a:schemeClr val="folHlink"/>
                </a:solidFill>
                <a:latin typeface="Arial" panose="020B0604020202020204" pitchFamily="34" charset="0"/>
              </a:rPr>
              <a:t>0 to 510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Solution?</a:t>
            </a:r>
          </a:p>
          <a:p>
            <a:pPr lvl="1" eaLnBrk="1" hangingPunct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57349" name="Text Box 9"/>
          <p:cNvSpPr txBox="1">
            <a:spLocks noChangeArrowheads="1"/>
          </p:cNvSpPr>
          <p:nvPr/>
        </p:nvSpPr>
        <p:spPr bwMode="auto">
          <a:xfrm>
            <a:off x="2984500" y="4495800"/>
            <a:ext cx="32639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Set all values &lt; 0 to 0</a:t>
            </a:r>
          </a:p>
        </p:txBody>
      </p:sp>
      <p:sp>
        <p:nvSpPr>
          <p:cNvPr id="57350" name="Text Box 10"/>
          <p:cNvSpPr txBox="1">
            <a:spLocks noChangeArrowheads="1"/>
          </p:cNvSpPr>
          <p:nvPr/>
        </p:nvSpPr>
        <p:spPr bwMode="auto">
          <a:xfrm>
            <a:off x="2667000" y="5181600"/>
            <a:ext cx="39751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Set all values &gt; 255 to 255</a:t>
            </a:r>
          </a:p>
        </p:txBody>
      </p:sp>
      <p:sp>
        <p:nvSpPr>
          <p:cNvPr id="57351" name="Text Box 11"/>
          <p:cNvSpPr txBox="1">
            <a:spLocks noChangeArrowheads="1"/>
          </p:cNvSpPr>
          <p:nvPr/>
        </p:nvSpPr>
        <p:spPr bwMode="auto">
          <a:xfrm>
            <a:off x="1397000" y="5805488"/>
            <a:ext cx="683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Full range of arithmetic operation not captured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F14B51-A1A0-4102-A04A-F93D2E34FC3D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Arithmetic Operations</a:t>
            </a:r>
          </a:p>
        </p:txBody>
      </p:sp>
      <p:sp>
        <p:nvSpPr>
          <p:cNvPr id="59396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First perform the operation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US" altLang="en-US">
              <a:latin typeface="Arial" panose="020B0604020202020204" pitchFamily="34" charset="0"/>
            </a:endParaRP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>
                <a:latin typeface="Arial" panose="020B0604020202020204" pitchFamily="34" charset="0"/>
              </a:rPr>
              <a:t>Then perform</a:t>
            </a:r>
          </a:p>
        </p:txBody>
      </p:sp>
      <p:graphicFrame>
        <p:nvGraphicFramePr>
          <p:cNvPr id="59397" name="Object 2"/>
          <p:cNvGraphicFramePr>
            <a:graphicFrameLocks noChangeAspect="1"/>
          </p:cNvGraphicFramePr>
          <p:nvPr/>
        </p:nvGraphicFramePr>
        <p:xfrm>
          <a:off x="3352800" y="2941638"/>
          <a:ext cx="24796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100" imgH="228600" progId="">
                  <p:embed/>
                </p:oleObj>
              </mc:Choice>
              <mc:Fallback>
                <p:oleObj name="Equation" r:id="rId3" imgW="1054100" imgH="228600" progId="">
                  <p:embed/>
                  <p:pic>
                    <p:nvPicPr>
                      <p:cNvPr id="5939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41638"/>
                        <a:ext cx="2479675" cy="5381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AutoShape 10"/>
          <p:cNvSpPr>
            <a:spLocks noChangeArrowheads="1"/>
          </p:cNvSpPr>
          <p:nvPr/>
        </p:nvSpPr>
        <p:spPr bwMode="auto">
          <a:xfrm>
            <a:off x="5926138" y="2286000"/>
            <a:ext cx="2362200" cy="762000"/>
          </a:xfrm>
          <a:prstGeom prst="wedgeRoundRectCallout">
            <a:avLst>
              <a:gd name="adj1" fmla="val -57727"/>
              <a:gd name="adj2" fmla="val 7770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Creates an image whose minimum value is 0</a:t>
            </a:r>
          </a:p>
        </p:txBody>
      </p:sp>
      <p:graphicFrame>
        <p:nvGraphicFramePr>
          <p:cNvPr id="59399" name="Object 3"/>
          <p:cNvGraphicFramePr>
            <a:graphicFrameLocks noChangeAspect="1"/>
          </p:cNvGraphicFramePr>
          <p:nvPr/>
        </p:nvGraphicFramePr>
        <p:xfrm>
          <a:off x="3024188" y="4618038"/>
          <a:ext cx="31369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500" imgH="254000" progId="">
                  <p:embed/>
                </p:oleObj>
              </mc:Choice>
              <mc:Fallback>
                <p:oleObj name="Equation" r:id="rId5" imgW="1333500" imgH="254000" progId="">
                  <p:embed/>
                  <p:pic>
                    <p:nvPicPr>
                      <p:cNvPr id="593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4618038"/>
                        <a:ext cx="3136900" cy="5984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AutoShape 12"/>
          <p:cNvSpPr>
            <a:spLocks noChangeArrowheads="1"/>
          </p:cNvSpPr>
          <p:nvPr/>
        </p:nvSpPr>
        <p:spPr bwMode="auto">
          <a:xfrm>
            <a:off x="6400800" y="3657600"/>
            <a:ext cx="2362200" cy="914400"/>
          </a:xfrm>
          <a:prstGeom prst="wedgeRoundRectCallout">
            <a:avLst>
              <a:gd name="adj1" fmla="val -57727"/>
              <a:gd name="adj2" fmla="val 7309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Creates a scaled image </a:t>
            </a:r>
            <a:r>
              <a:rPr lang="en-US" altLang="en-US" sz="1600" i="1">
                <a:latin typeface="Arial" panose="020B0604020202020204" pitchFamily="34" charset="0"/>
              </a:rPr>
              <a:t>f</a:t>
            </a:r>
            <a:r>
              <a:rPr lang="en-US" altLang="en-US" sz="1600" i="1" baseline="-25000">
                <a:latin typeface="Arial" panose="020B0604020202020204" pitchFamily="34" charset="0"/>
              </a:rPr>
              <a:t>s</a:t>
            </a:r>
            <a:r>
              <a:rPr lang="en-US" altLang="en-US" sz="1600">
                <a:latin typeface="Arial" panose="020B0604020202020204" pitchFamily="34" charset="0"/>
              </a:rPr>
              <a:t> with values in the range [0 K]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6|0.5|0.3|0.3|0.4|0.4|0.5|0.5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26062</TotalTime>
  <Words>1064</Words>
  <Application>Microsoft Office PowerPoint</Application>
  <PresentationFormat>On-screen Show (4:3)</PresentationFormat>
  <Paragraphs>243</Paragraphs>
  <Slides>29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Symbol</vt:lpstr>
      <vt:lpstr>Times New Roman</vt:lpstr>
      <vt:lpstr>Wingdings</vt:lpstr>
      <vt:lpstr>Office Theme</vt:lpstr>
      <vt:lpstr>Equation</vt:lpstr>
      <vt:lpstr>PowerPoint Presentation</vt:lpstr>
      <vt:lpstr>Relationships between pixels</vt:lpstr>
      <vt:lpstr>4- Neighbors of a Pixel –N4(p)</vt:lpstr>
      <vt:lpstr>Diagonal Neighbors of a Pixel –ND(p)</vt:lpstr>
      <vt:lpstr>8- Neighbors of a Pixel –N8(p)</vt:lpstr>
      <vt:lpstr>Connectivity</vt:lpstr>
      <vt:lpstr>Connectivity</vt:lpstr>
      <vt:lpstr>Connectivity</vt:lpstr>
      <vt:lpstr>Connectivity</vt:lpstr>
      <vt:lpstr>Example: m – Connectivity</vt:lpstr>
      <vt:lpstr>Paths</vt:lpstr>
      <vt:lpstr>Test Yourself</vt:lpstr>
      <vt:lpstr>Determine different regions in the image</vt:lpstr>
      <vt:lpstr>CC labeling – 4 Connectivity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Distance Metrics</vt:lpstr>
      <vt:lpstr>City block distance (D4 distance)</vt:lpstr>
      <vt:lpstr>Chessboard distance (D8 distance)</vt:lpstr>
      <vt:lpstr>Euclidean Distance</vt:lpstr>
      <vt:lpstr>Arithmetic Operations</vt:lpstr>
      <vt:lpstr>Arithmetic Operations</vt:lpstr>
      <vt:lpstr>Arithmetic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3521</dc:creator>
  <cp:lastModifiedBy>marium hida</cp:lastModifiedBy>
  <cp:revision>91</cp:revision>
  <dcterms:created xsi:type="dcterms:W3CDTF">2013-09-11T11:13:34Z</dcterms:created>
  <dcterms:modified xsi:type="dcterms:W3CDTF">2026-01-29T03:16:38Z</dcterms:modified>
</cp:coreProperties>
</file>