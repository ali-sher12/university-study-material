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90" r:id="rId3"/>
    <p:sldId id="257" r:id="rId4"/>
    <p:sldId id="291" r:id="rId5"/>
    <p:sldId id="292" r:id="rId6"/>
    <p:sldId id="293" r:id="rId7"/>
    <p:sldId id="258" r:id="rId8"/>
    <p:sldId id="259" r:id="rId9"/>
    <p:sldId id="260" r:id="rId10"/>
    <p:sldId id="294" r:id="rId11"/>
    <p:sldId id="295" r:id="rId12"/>
    <p:sldId id="296" r:id="rId13"/>
    <p:sldId id="300" r:id="rId14"/>
    <p:sldId id="297" r:id="rId15"/>
    <p:sldId id="298" r:id="rId16"/>
    <p:sldId id="263" r:id="rId17"/>
    <p:sldId id="265" r:id="rId18"/>
    <p:sldId id="266" r:id="rId19"/>
    <p:sldId id="268" r:id="rId20"/>
    <p:sldId id="302" r:id="rId21"/>
    <p:sldId id="303" r:id="rId22"/>
    <p:sldId id="269" r:id="rId23"/>
    <p:sldId id="270" r:id="rId24"/>
    <p:sldId id="304" r:id="rId25"/>
    <p:sldId id="272" r:id="rId26"/>
    <p:sldId id="299" r:id="rId27"/>
    <p:sldId id="274" r:id="rId28"/>
    <p:sldId id="275" r:id="rId29"/>
    <p:sldId id="305" r:id="rId30"/>
    <p:sldId id="306" r:id="rId3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225E9-7176-41FE-B3BA-0F952A9951C7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55037-C299-4725-86F2-A7E7F3624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0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55037-C299-4725-86F2-A7E7F36243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27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18BC558E-E938-A149-8E7E-03B5ABD870C9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56593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https://www.cs.ccsu.edu/~stan/classes/CS410/Notes16/04-Requirements.html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55037-C299-4725-86F2-A7E7F362430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89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65167"/>
            <a:ext cx="12190730" cy="592455"/>
          </a:xfrm>
          <a:custGeom>
            <a:avLst/>
            <a:gdLst/>
            <a:ahLst/>
            <a:cxnLst/>
            <a:rect l="l" t="t" r="r" b="b"/>
            <a:pathLst>
              <a:path w="12190730" h="592454">
                <a:moveTo>
                  <a:pt x="12190349" y="0"/>
                </a:moveTo>
                <a:lnTo>
                  <a:pt x="0" y="0"/>
                </a:lnTo>
                <a:lnTo>
                  <a:pt x="0" y="592404"/>
                </a:lnTo>
                <a:lnTo>
                  <a:pt x="12190349" y="592404"/>
                </a:lnTo>
                <a:lnTo>
                  <a:pt x="12190349" y="0"/>
                </a:lnTo>
                <a:close/>
              </a:path>
            </a:pathLst>
          </a:custGeom>
          <a:solidFill>
            <a:srgbClr val="FF8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18392" y="6298692"/>
            <a:ext cx="533400" cy="533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8130" y="2278333"/>
            <a:ext cx="6555739" cy="160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1850" y="1572260"/>
            <a:ext cx="10534650" cy="3611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8392" y="6298691"/>
            <a:ext cx="533400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129521"/>
            <a:ext cx="12192000" cy="728345"/>
            <a:chOff x="0" y="6129521"/>
            <a:chExt cx="12192000" cy="728345"/>
          </a:xfrm>
        </p:grpSpPr>
        <p:sp>
          <p:nvSpPr>
            <p:cNvPr id="4" name="object 4"/>
            <p:cNvSpPr/>
            <p:nvPr/>
          </p:nvSpPr>
          <p:spPr>
            <a:xfrm>
              <a:off x="0" y="6129521"/>
              <a:ext cx="3066415" cy="728345"/>
            </a:xfrm>
            <a:custGeom>
              <a:avLst/>
              <a:gdLst/>
              <a:ahLst/>
              <a:cxnLst/>
              <a:rect l="l" t="t" r="r" b="b"/>
              <a:pathLst>
                <a:path w="3066415" h="728345">
                  <a:moveTo>
                    <a:pt x="3066288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3066288" y="727951"/>
                  </a:lnTo>
                  <a:lnTo>
                    <a:pt x="3066288" y="0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52572" y="6129521"/>
              <a:ext cx="6087110" cy="728345"/>
            </a:xfrm>
            <a:custGeom>
              <a:avLst/>
              <a:gdLst/>
              <a:ahLst/>
              <a:cxnLst/>
              <a:rect l="l" t="t" r="r" b="b"/>
              <a:pathLst>
                <a:path w="6087109" h="728345">
                  <a:moveTo>
                    <a:pt x="0" y="727951"/>
                  </a:moveTo>
                  <a:lnTo>
                    <a:pt x="6086856" y="727951"/>
                  </a:lnTo>
                  <a:lnTo>
                    <a:pt x="6086856" y="0"/>
                  </a:lnTo>
                  <a:lnTo>
                    <a:pt x="0" y="0"/>
                  </a:lnTo>
                  <a:lnTo>
                    <a:pt x="0" y="727951"/>
                  </a:lnTo>
                  <a:close/>
                </a:path>
              </a:pathLst>
            </a:custGeom>
            <a:solidFill>
              <a:srgbClr val="FF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39428" y="6129521"/>
              <a:ext cx="3052445" cy="728345"/>
            </a:xfrm>
            <a:custGeom>
              <a:avLst/>
              <a:gdLst/>
              <a:ahLst/>
              <a:cxnLst/>
              <a:rect l="l" t="t" r="r" b="b"/>
              <a:pathLst>
                <a:path w="3052445" h="728345">
                  <a:moveTo>
                    <a:pt x="3052191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3052191" y="727951"/>
                  </a:lnTo>
                  <a:lnTo>
                    <a:pt x="3052191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3800" y="6190488"/>
              <a:ext cx="615696" cy="61569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18130" y="2278333"/>
            <a:ext cx="6555739" cy="1361911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760"/>
              </a:spcBef>
            </a:pPr>
            <a:r>
              <a:rPr sz="4800" spc="-25" dirty="0">
                <a:latin typeface="Helvetica" panose="020B0604020202020204" pitchFamily="34" charset="0"/>
                <a:cs typeface="Helvetica" panose="020B0604020202020204" pitchFamily="34" charset="0"/>
              </a:rPr>
              <a:t>Software</a:t>
            </a:r>
            <a:r>
              <a:rPr sz="48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800" spc="-5" dirty="0"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</a:p>
          <a:p>
            <a:pPr marL="2540" algn="ctr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</a:t>
            </a:r>
            <a:r>
              <a:rPr sz="18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spc="-5" dirty="0"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  <a:endParaRPr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9959" y="4379061"/>
            <a:ext cx="5212080" cy="160616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11436" y="6226936"/>
            <a:ext cx="2082800" cy="630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spc="-1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IO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UT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EME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 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SCIENCES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4"/>
          <p:cNvGrpSpPr/>
          <p:nvPr/>
        </p:nvGrpSpPr>
        <p:grpSpPr>
          <a:xfrm>
            <a:off x="0" y="6129521"/>
            <a:ext cx="9139555" cy="728345"/>
            <a:chOff x="0" y="6129521"/>
            <a:chExt cx="9139555" cy="728345"/>
          </a:xfrm>
        </p:grpSpPr>
        <p:sp>
          <p:nvSpPr>
            <p:cNvPr id="15" name="object 5"/>
            <p:cNvSpPr/>
            <p:nvPr/>
          </p:nvSpPr>
          <p:spPr>
            <a:xfrm>
              <a:off x="0" y="6129521"/>
              <a:ext cx="3066415" cy="728345"/>
            </a:xfrm>
            <a:custGeom>
              <a:avLst/>
              <a:gdLst/>
              <a:ahLst/>
              <a:cxnLst/>
              <a:rect l="l" t="t" r="r" b="b"/>
              <a:pathLst>
                <a:path w="3066415" h="728345">
                  <a:moveTo>
                    <a:pt x="3066288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3066288" y="727951"/>
                  </a:lnTo>
                  <a:lnTo>
                    <a:pt x="3066288" y="0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6"/>
            <p:cNvSpPr/>
            <p:nvPr/>
          </p:nvSpPr>
          <p:spPr>
            <a:xfrm>
              <a:off x="3052572" y="6129521"/>
              <a:ext cx="6087110" cy="728345"/>
            </a:xfrm>
            <a:custGeom>
              <a:avLst/>
              <a:gdLst/>
              <a:ahLst/>
              <a:cxnLst/>
              <a:rect l="l" t="t" r="r" b="b"/>
              <a:pathLst>
                <a:path w="6087109" h="728345">
                  <a:moveTo>
                    <a:pt x="0" y="727951"/>
                  </a:moveTo>
                  <a:lnTo>
                    <a:pt x="6086856" y="727951"/>
                  </a:lnTo>
                  <a:lnTo>
                    <a:pt x="6086856" y="0"/>
                  </a:lnTo>
                  <a:lnTo>
                    <a:pt x="0" y="0"/>
                  </a:lnTo>
                  <a:lnTo>
                    <a:pt x="0" y="727951"/>
                  </a:lnTo>
                  <a:close/>
                </a:path>
              </a:pathLst>
            </a:custGeom>
            <a:solidFill>
              <a:srgbClr val="FF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7"/>
          <p:cNvSpPr txBox="1"/>
          <p:nvPr/>
        </p:nvSpPr>
        <p:spPr>
          <a:xfrm>
            <a:off x="4603241" y="6315862"/>
            <a:ext cx="409879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lang="en-US" sz="2000" dirty="0" smtClean="0">
                <a:solidFill>
                  <a:srgbClr val="FFFFFF"/>
                </a:solidFill>
                <a:latin typeface="Calibri"/>
                <a:cs typeface="Calibri"/>
              </a:rPr>
              <a:t>009</a:t>
            </a:r>
            <a:r>
              <a:rPr sz="2000" spc="-25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272592" y="6322263"/>
            <a:ext cx="2428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-2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40" dirty="0" err="1" smtClean="0">
                <a:solidFill>
                  <a:srgbClr val="FFFFFF"/>
                </a:solidFill>
                <a:latin typeface="Calibri"/>
                <a:cs typeface="Calibri"/>
              </a:rPr>
              <a:t>Syeda</a:t>
            </a:r>
            <a:r>
              <a:rPr lang="en-US" sz="1800" spc="-4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40" dirty="0" err="1" smtClean="0">
                <a:solidFill>
                  <a:srgbClr val="FFFFFF"/>
                </a:solidFill>
                <a:latin typeface="Calibri"/>
                <a:cs typeface="Calibri"/>
              </a:rPr>
              <a:t>Javaria</a:t>
            </a:r>
            <a:r>
              <a:rPr lang="en-US" sz="1800" spc="-4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40" dirty="0" err="1" smtClean="0">
                <a:solidFill>
                  <a:srgbClr val="FFFFFF"/>
                </a:solidFill>
                <a:latin typeface="Calibri"/>
                <a:cs typeface="Calibri"/>
              </a:rPr>
              <a:t>Imtiaz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0833" t="7759" r="10833" b="7997"/>
          <a:stretch/>
        </p:blipFill>
        <p:spPr>
          <a:xfrm>
            <a:off x="4343400" y="304800"/>
            <a:ext cx="7162800" cy="5791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2133600"/>
            <a:ext cx="3429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Phases of the Software Development Life Cycle</a:t>
            </a:r>
          </a:p>
        </p:txBody>
      </p:sp>
    </p:spTree>
    <p:extLst>
      <p:ext uri="{BB962C8B-B14F-4D97-AF65-F5344CB8AC3E}">
        <p14:creationId xmlns:p14="http://schemas.microsoft.com/office/powerpoint/2010/main" val="75592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129521"/>
            <a:ext cx="12192000" cy="728345"/>
            <a:chOff x="0" y="6129521"/>
            <a:chExt cx="12192000" cy="728345"/>
          </a:xfrm>
        </p:grpSpPr>
        <p:sp>
          <p:nvSpPr>
            <p:cNvPr id="3" name="object 3"/>
            <p:cNvSpPr/>
            <p:nvPr/>
          </p:nvSpPr>
          <p:spPr>
            <a:xfrm>
              <a:off x="0" y="6129521"/>
              <a:ext cx="3066415" cy="728345"/>
            </a:xfrm>
            <a:custGeom>
              <a:avLst/>
              <a:gdLst/>
              <a:ahLst/>
              <a:cxnLst/>
              <a:rect l="l" t="t" r="r" b="b"/>
              <a:pathLst>
                <a:path w="3066415" h="728345">
                  <a:moveTo>
                    <a:pt x="3066288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3066288" y="727951"/>
                  </a:lnTo>
                  <a:lnTo>
                    <a:pt x="3066288" y="0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52572" y="6129521"/>
              <a:ext cx="6087110" cy="728345"/>
            </a:xfrm>
            <a:custGeom>
              <a:avLst/>
              <a:gdLst/>
              <a:ahLst/>
              <a:cxnLst/>
              <a:rect l="l" t="t" r="r" b="b"/>
              <a:pathLst>
                <a:path w="6087109" h="728345">
                  <a:moveTo>
                    <a:pt x="0" y="727951"/>
                  </a:moveTo>
                  <a:lnTo>
                    <a:pt x="6086856" y="727951"/>
                  </a:lnTo>
                  <a:lnTo>
                    <a:pt x="6086856" y="0"/>
                  </a:lnTo>
                  <a:lnTo>
                    <a:pt x="0" y="0"/>
                  </a:lnTo>
                  <a:lnTo>
                    <a:pt x="0" y="727951"/>
                  </a:lnTo>
                  <a:close/>
                </a:path>
              </a:pathLst>
            </a:custGeom>
            <a:solidFill>
              <a:srgbClr val="FF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39428" y="6129521"/>
              <a:ext cx="3052445" cy="728345"/>
            </a:xfrm>
            <a:custGeom>
              <a:avLst/>
              <a:gdLst/>
              <a:ahLst/>
              <a:cxnLst/>
              <a:rect l="l" t="t" r="r" b="b"/>
              <a:pathLst>
                <a:path w="3052445" h="728345">
                  <a:moveTo>
                    <a:pt x="3052191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3052191" y="727951"/>
                  </a:lnTo>
                  <a:lnTo>
                    <a:pt x="3052191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3800" y="6190488"/>
              <a:ext cx="615696" cy="61569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39190" y="2057400"/>
            <a:ext cx="10913873" cy="2144946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30"/>
              </a:spcBef>
              <a:tabLst>
                <a:tab pos="9027160" algn="l"/>
              </a:tabLst>
            </a:pPr>
            <a:r>
              <a:rPr sz="2800" b="1" spc="3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“The </a:t>
            </a:r>
            <a:r>
              <a:rPr sz="2800" b="1" spc="-1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hardest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single part 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building a 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software </a:t>
            </a:r>
            <a:r>
              <a:rPr sz="2800" b="1" spc="-3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system </a:t>
            </a:r>
            <a:r>
              <a:rPr sz="2800" b="1" spc="-80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800" b="1" spc="-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deciding</a:t>
            </a:r>
            <a:r>
              <a:rPr sz="2800" b="1" spc="1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1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sz="2800" b="1" spc="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2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build...No</a:t>
            </a:r>
            <a:r>
              <a:rPr sz="2800" b="1" spc="1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other part of </a:t>
            </a:r>
            <a:r>
              <a:rPr sz="2800" b="1" spc="-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work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so</a:t>
            </a:r>
            <a:r>
              <a:rPr sz="2800" b="1" spc="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cripples</a:t>
            </a:r>
            <a:r>
              <a:rPr sz="2800" b="1" spc="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800" b="1" spc="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resulting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3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800" b="1" spc="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sz="2800" b="1" spc="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done</a:t>
            </a:r>
            <a:r>
              <a:rPr sz="2800" b="1" spc="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wrong</a:t>
            </a:r>
            <a:r>
              <a:rPr sz="2800" b="1" spc="-10" dirty="0" smtClean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sz="2800" b="1" dirty="0" smtClean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</a:t>
            </a: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 smtClean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other</a:t>
            </a:r>
            <a:r>
              <a:rPr sz="2800" b="1" spc="-10" dirty="0" smtClean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part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800" b="1" spc="-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difficult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2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rectify</a:t>
            </a:r>
            <a:r>
              <a:rPr sz="2800" b="1" spc="-3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later”</a:t>
            </a:r>
            <a:endParaRPr sz="2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755255">
              <a:lnSpc>
                <a:spcPts val="4105"/>
              </a:lnSpc>
            </a:pPr>
            <a:r>
              <a:rPr sz="2800" b="1" spc="-10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-Fred</a:t>
            </a:r>
            <a:r>
              <a:rPr sz="2800" b="1" spc="-6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800" b="1" spc="-15" dirty="0">
                <a:solidFill>
                  <a:srgbClr val="500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Brooks</a:t>
            </a:r>
            <a:endParaRPr sz="2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2592" y="6379413"/>
            <a:ext cx="242824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z="1800" spc="-40" dirty="0" smtClean="0">
                <a:solidFill>
                  <a:srgbClr val="FFFFFF"/>
                </a:solidFill>
                <a:latin typeface="Calibri"/>
                <a:cs typeface="Calibri"/>
              </a:rPr>
              <a:t>Dr. </a:t>
            </a:r>
            <a:r>
              <a:rPr lang="en-US" spc="-40" dirty="0" err="1" smtClean="0">
                <a:solidFill>
                  <a:srgbClr val="FFFFFF"/>
                </a:solidFill>
                <a:latin typeface="Calibri"/>
                <a:cs typeface="Calibri"/>
              </a:rPr>
              <a:t>Syeda</a:t>
            </a:r>
            <a:r>
              <a:rPr lang="en-US" spc="-4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pc="-40" dirty="0" err="1" smtClean="0">
                <a:solidFill>
                  <a:srgbClr val="FFFFFF"/>
                </a:solidFill>
                <a:latin typeface="Calibri"/>
                <a:cs typeface="Calibri"/>
              </a:rPr>
              <a:t>Javaria</a:t>
            </a:r>
            <a:r>
              <a:rPr lang="en-US" spc="-4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pc="-40" dirty="0" err="1" smtClean="0">
                <a:solidFill>
                  <a:srgbClr val="FFFFFF"/>
                </a:solidFill>
                <a:latin typeface="Calibri"/>
                <a:cs typeface="Calibri"/>
              </a:rPr>
              <a:t>Imtiaz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03241" y="6379489"/>
            <a:ext cx="381215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dirty="0" smtClean="0">
                <a:solidFill>
                  <a:srgbClr val="FFFFFF"/>
                </a:solidFill>
                <a:latin typeface="Calibri"/>
                <a:cs typeface="Calibri"/>
              </a:rPr>
              <a:t>3009</a:t>
            </a:r>
            <a:r>
              <a:rPr sz="2000" spc="-25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267200" y="228600"/>
            <a:ext cx="6555739" cy="92333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Problems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10534650" cy="2462213"/>
          </a:xfrm>
        </p:spPr>
        <p:txBody>
          <a:bodyPr/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Need to figure out what customer wants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Not make false/incorrect assumptions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sz="2000" dirty="0">
              <a:latin typeface="Helvetica" panose="020B0604020202020204" pitchFamily="34" charset="0"/>
              <a:ea typeface="ＭＳ Ｐゴシック" charset="-128"/>
              <a:cs typeface="Helvetica" panose="020B0604020202020204" pitchFamily="34" charset="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Need to chunk work into bite-sized pieces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So work can be divided up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So system can be built incrementally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So estimates are remotely accurate</a:t>
            </a:r>
          </a:p>
          <a:p>
            <a:pPr marL="285750" indent="-285750" eaLnBrk="1" hangingPunct="1">
              <a:buFont typeface="Wingdings" panose="05000000000000000000" pitchFamily="2" charset="2"/>
              <a:buChar char="Ø"/>
            </a:pPr>
            <a:endParaRPr lang="en-US" altLang="en-US" sz="2000" dirty="0">
              <a:latin typeface="Helvetica" panose="020B0604020202020204" pitchFamily="34" charset="0"/>
              <a:ea typeface="ＭＳ Ｐゴシック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23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Box 1"/>
          <p:cNvSpPr txBox="1">
            <a:spLocks noChangeArrowheads="1"/>
          </p:cNvSpPr>
          <p:nvPr/>
        </p:nvSpPr>
        <p:spPr bwMode="auto">
          <a:xfrm>
            <a:off x="1219200" y="9236"/>
            <a:ext cx="914400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User </a:t>
            </a:r>
            <a:r>
              <a:rPr lang="en-US" altLang="en-US" sz="36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stories</a:t>
            </a:r>
          </a:p>
          <a:p>
            <a:pPr algn="ctr" eaLnBrk="1" hangingPunct="1"/>
            <a:endParaRPr lang="en-US" altLang="en-US" sz="2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eaLnBrk="1" hangingPunct="1"/>
            <a:r>
              <a:rPr lang="en-US" alt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“Plan using units of customer-visible functionality.”</a:t>
            </a:r>
          </a:p>
        </p:txBody>
      </p:sp>
      <p:pic>
        <p:nvPicPr>
          <p:cNvPr id="1843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915480"/>
            <a:ext cx="6057900" cy="432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581400" y="1471358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Quote from Kent Beck’s Extreme Programming Explained (2005).</a:t>
            </a:r>
          </a:p>
        </p:txBody>
      </p:sp>
    </p:spTree>
    <p:extLst>
      <p:ext uri="{BB962C8B-B14F-4D97-AF65-F5344CB8AC3E}">
        <p14:creationId xmlns:p14="http://schemas.microsoft.com/office/powerpoint/2010/main" val="100608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677108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Flight-Booking System Example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" y="839420"/>
            <a:ext cx="8458200" cy="50279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38600" y="5722679"/>
            <a:ext cx="4722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FF00FF"/>
                </a:solidFill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Two parts: title and description</a:t>
            </a:r>
          </a:p>
        </p:txBody>
      </p:sp>
    </p:spTree>
    <p:extLst>
      <p:ext uri="{BB962C8B-B14F-4D97-AF65-F5344CB8AC3E}">
        <p14:creationId xmlns:p14="http://schemas.microsoft.com/office/powerpoint/2010/main" val="71438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58127"/>
            <a:ext cx="8609965" cy="1235710"/>
          </a:xfrm>
          <a:custGeom>
            <a:avLst/>
            <a:gdLst/>
            <a:ahLst/>
            <a:cxnLst/>
            <a:rect l="l" t="t" r="r" b="b"/>
            <a:pathLst>
              <a:path w="8609965" h="1235710">
                <a:moveTo>
                  <a:pt x="8609965" y="617613"/>
                </a:moveTo>
                <a:lnTo>
                  <a:pt x="8595487" y="493153"/>
                </a:lnTo>
                <a:lnTo>
                  <a:pt x="8554085" y="377202"/>
                </a:lnTo>
                <a:lnTo>
                  <a:pt x="8488680" y="272300"/>
                </a:lnTo>
                <a:lnTo>
                  <a:pt x="8401939" y="180987"/>
                </a:lnTo>
                <a:lnTo>
                  <a:pt x="8296910" y="105549"/>
                </a:lnTo>
                <a:lnTo>
                  <a:pt x="8176387" y="48526"/>
                </a:lnTo>
                <a:lnTo>
                  <a:pt x="8043164" y="12585"/>
                </a:lnTo>
                <a:lnTo>
                  <a:pt x="7900035" y="12"/>
                </a:lnTo>
                <a:lnTo>
                  <a:pt x="7790434" y="9652"/>
                </a:lnTo>
                <a:lnTo>
                  <a:pt x="7790434" y="0"/>
                </a:lnTo>
                <a:lnTo>
                  <a:pt x="0" y="0"/>
                </a:lnTo>
                <a:lnTo>
                  <a:pt x="0" y="1235341"/>
                </a:lnTo>
                <a:lnTo>
                  <a:pt x="7790434" y="1235341"/>
                </a:lnTo>
                <a:lnTo>
                  <a:pt x="7790434" y="1225715"/>
                </a:lnTo>
                <a:lnTo>
                  <a:pt x="7900035" y="1235341"/>
                </a:lnTo>
                <a:lnTo>
                  <a:pt x="8043164" y="1222768"/>
                </a:lnTo>
                <a:lnTo>
                  <a:pt x="8176387" y="1186827"/>
                </a:lnTo>
                <a:lnTo>
                  <a:pt x="8296910" y="1129931"/>
                </a:lnTo>
                <a:lnTo>
                  <a:pt x="8401939" y="1054493"/>
                </a:lnTo>
                <a:lnTo>
                  <a:pt x="8488680" y="963053"/>
                </a:lnTo>
                <a:lnTo>
                  <a:pt x="8554085" y="858151"/>
                </a:lnTo>
                <a:lnTo>
                  <a:pt x="8595487" y="742200"/>
                </a:lnTo>
                <a:lnTo>
                  <a:pt x="8609965" y="61761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129521"/>
            <a:ext cx="12192000" cy="728345"/>
            <a:chOff x="0" y="6129521"/>
            <a:chExt cx="12192000" cy="728345"/>
          </a:xfrm>
        </p:grpSpPr>
        <p:sp>
          <p:nvSpPr>
            <p:cNvPr id="4" name="object 4"/>
            <p:cNvSpPr/>
            <p:nvPr/>
          </p:nvSpPr>
          <p:spPr>
            <a:xfrm>
              <a:off x="0" y="6129521"/>
              <a:ext cx="3066415" cy="728345"/>
            </a:xfrm>
            <a:custGeom>
              <a:avLst/>
              <a:gdLst/>
              <a:ahLst/>
              <a:cxnLst/>
              <a:rect l="l" t="t" r="r" b="b"/>
              <a:pathLst>
                <a:path w="3066415" h="728345">
                  <a:moveTo>
                    <a:pt x="3066288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3066288" y="727951"/>
                  </a:lnTo>
                  <a:lnTo>
                    <a:pt x="3066288" y="0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52572" y="6129521"/>
              <a:ext cx="6087110" cy="728345"/>
            </a:xfrm>
            <a:custGeom>
              <a:avLst/>
              <a:gdLst/>
              <a:ahLst/>
              <a:cxnLst/>
              <a:rect l="l" t="t" r="r" b="b"/>
              <a:pathLst>
                <a:path w="6087109" h="728345">
                  <a:moveTo>
                    <a:pt x="0" y="727951"/>
                  </a:moveTo>
                  <a:lnTo>
                    <a:pt x="6086856" y="727951"/>
                  </a:lnTo>
                  <a:lnTo>
                    <a:pt x="6086856" y="0"/>
                  </a:lnTo>
                  <a:lnTo>
                    <a:pt x="0" y="0"/>
                  </a:lnTo>
                  <a:lnTo>
                    <a:pt x="0" y="727951"/>
                  </a:lnTo>
                  <a:close/>
                </a:path>
              </a:pathLst>
            </a:custGeom>
            <a:solidFill>
              <a:srgbClr val="FF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39428" y="6129521"/>
              <a:ext cx="3052445" cy="728345"/>
            </a:xfrm>
            <a:custGeom>
              <a:avLst/>
              <a:gdLst/>
              <a:ahLst/>
              <a:cxnLst/>
              <a:rect l="l" t="t" r="r" b="b"/>
              <a:pathLst>
                <a:path w="3052445" h="728345">
                  <a:moveTo>
                    <a:pt x="3052191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3052191" y="727951"/>
                  </a:lnTo>
                  <a:lnTo>
                    <a:pt x="3052191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3800" y="6190488"/>
              <a:ext cx="615696" cy="61569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1905000"/>
            <a:ext cx="8305800" cy="39624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1602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Requirement</a:t>
            </a:r>
            <a:r>
              <a:rPr sz="4000" spc="-6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34620"/>
          </a:xfrm>
          <a:custGeom>
            <a:avLst/>
            <a:gdLst/>
            <a:ahLst/>
            <a:cxnLst/>
            <a:rect l="l" t="t" r="r" b="b"/>
            <a:pathLst>
              <a:path w="12192000" h="134619">
                <a:moveTo>
                  <a:pt x="12191987" y="2654"/>
                </a:moveTo>
                <a:lnTo>
                  <a:pt x="12129643" y="1460"/>
                </a:lnTo>
                <a:lnTo>
                  <a:pt x="11914124" y="63"/>
                </a:lnTo>
                <a:lnTo>
                  <a:pt x="11748135" y="1143"/>
                </a:lnTo>
                <a:lnTo>
                  <a:pt x="11748135" y="0"/>
                </a:lnTo>
                <a:lnTo>
                  <a:pt x="0" y="0"/>
                </a:lnTo>
                <a:lnTo>
                  <a:pt x="0" y="134048"/>
                </a:lnTo>
                <a:lnTo>
                  <a:pt x="11748135" y="134048"/>
                </a:lnTo>
                <a:lnTo>
                  <a:pt x="11748135" y="133070"/>
                </a:lnTo>
                <a:lnTo>
                  <a:pt x="11914124" y="134048"/>
                </a:lnTo>
                <a:lnTo>
                  <a:pt x="12129643" y="132778"/>
                </a:lnTo>
                <a:lnTo>
                  <a:pt x="12191987" y="131559"/>
                </a:lnTo>
                <a:lnTo>
                  <a:pt x="12191987" y="265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0294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Requirement?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630" y="5402963"/>
            <a:ext cx="10147300" cy="7873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lnSpc>
                <a:spcPts val="2690"/>
              </a:lnSpc>
              <a:spcBef>
                <a:spcPts val="740"/>
              </a:spcBef>
            </a:pP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condition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capability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must</a:t>
            </a:r>
            <a:r>
              <a:rPr sz="2000" spc="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be</a:t>
            </a:r>
            <a:r>
              <a:rPr sz="20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possessed</a:t>
            </a:r>
            <a:r>
              <a:rPr sz="20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sz="20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0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satisfy </a:t>
            </a:r>
            <a:r>
              <a:rPr sz="2000" spc="-6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contract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or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specification,</a:t>
            </a:r>
            <a:r>
              <a:rPr sz="20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or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other</a:t>
            </a:r>
            <a:r>
              <a:rPr sz="20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formal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document</a:t>
            </a:r>
            <a:r>
              <a:rPr sz="2000" spc="9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IEEE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std</a:t>
            </a:r>
            <a:r>
              <a:rPr sz="20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729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3200" y="1721841"/>
            <a:ext cx="6022848" cy="3409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34620"/>
          </a:xfrm>
          <a:custGeom>
            <a:avLst/>
            <a:gdLst/>
            <a:ahLst/>
            <a:cxnLst/>
            <a:rect l="l" t="t" r="r" b="b"/>
            <a:pathLst>
              <a:path w="12192000" h="134619">
                <a:moveTo>
                  <a:pt x="12191987" y="2654"/>
                </a:moveTo>
                <a:lnTo>
                  <a:pt x="12129643" y="1460"/>
                </a:lnTo>
                <a:lnTo>
                  <a:pt x="11914124" y="63"/>
                </a:lnTo>
                <a:lnTo>
                  <a:pt x="11748135" y="1143"/>
                </a:lnTo>
                <a:lnTo>
                  <a:pt x="11748135" y="0"/>
                </a:lnTo>
                <a:lnTo>
                  <a:pt x="0" y="0"/>
                </a:lnTo>
                <a:lnTo>
                  <a:pt x="0" y="134048"/>
                </a:lnTo>
                <a:lnTo>
                  <a:pt x="11748135" y="134048"/>
                </a:lnTo>
                <a:lnTo>
                  <a:pt x="11748135" y="133070"/>
                </a:lnTo>
                <a:lnTo>
                  <a:pt x="11914124" y="134048"/>
                </a:lnTo>
                <a:lnTo>
                  <a:pt x="12129643" y="132778"/>
                </a:lnTo>
                <a:lnTo>
                  <a:pt x="12191987" y="131559"/>
                </a:lnTo>
                <a:lnTo>
                  <a:pt x="12191987" y="265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492297"/>
            <a:ext cx="70840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Examples of </a:t>
            </a:r>
            <a:r>
              <a:rPr sz="40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Requirement</a:t>
            </a:r>
            <a:r>
              <a:rPr lang="en-US" sz="40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796287"/>
            <a:ext cx="9989820" cy="26269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 algn="just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shall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maintain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record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payments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made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to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employees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account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salaries,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bonuses,</a:t>
            </a:r>
            <a:r>
              <a:rPr sz="2400" spc="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travel/daily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allowances, </a:t>
            </a:r>
            <a:r>
              <a:rPr sz="2400" spc="-6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medical</a:t>
            </a:r>
            <a:r>
              <a:rPr sz="24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allowances,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etc.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marR="239395" indent="-228600" algn="just">
              <a:lnSpc>
                <a:spcPts val="303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shall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interface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with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central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computer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send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daily </a:t>
            </a:r>
            <a:r>
              <a:rPr sz="2400" spc="-6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sales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every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retail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store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949198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5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r>
              <a:rPr sz="4800" spc="-1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800" spc="-45" dirty="0"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158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5"/>
              </a:lnSpc>
            </a:pPr>
            <a:fld id="{81D60167-4931-47E6-BA6A-407CBD079E47}" type="slidenum">
              <a:rPr sz="16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</a:t>
            </a:fld>
            <a:endParaRPr sz="16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580" y="1804238"/>
            <a:ext cx="9939655" cy="272728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69265" marR="208279" indent="-457200" algn="just">
              <a:lnSpc>
                <a:spcPct val="90000"/>
              </a:lnSpc>
              <a:spcBef>
                <a:spcPts val="2295"/>
              </a:spcBef>
              <a:buClr>
                <a:srgbClr val="E38312"/>
              </a:buClr>
              <a:buSzPct val="96875"/>
              <a:buFont typeface="Arial" panose="020B0604020202020204" pitchFamily="34" charset="0"/>
              <a:buChar char="•"/>
              <a:tabLst>
                <a:tab pos="376555" algn="l"/>
              </a:tabLst>
            </a:pP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The process of establishing the </a:t>
            </a:r>
            <a:r>
              <a:rPr sz="2400" u="sng" spc="-10" dirty="0">
                <a:latin typeface="Helvetica" panose="020B0604020202020204" pitchFamily="34" charset="0"/>
                <a:cs typeface="Helvetica" panose="020B0604020202020204" pitchFamily="34" charset="0"/>
              </a:rPr>
              <a:t>services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that the customer  requires from a system and the </a:t>
            </a:r>
            <a:r>
              <a:rPr sz="2400" u="sng" spc="-10" dirty="0">
                <a:latin typeface="Helvetica" panose="020B0604020202020204" pitchFamily="34" charset="0"/>
                <a:cs typeface="Helvetica" panose="020B0604020202020204" pitchFamily="34" charset="0"/>
              </a:rPr>
              <a:t>constraints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under which it  operates and is </a:t>
            </a:r>
            <a:r>
              <a:rPr sz="24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developed</a:t>
            </a:r>
            <a:r>
              <a:rPr lang="en-US" sz="24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sz="2400" spc="-1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indent="-457200" algn="just">
              <a:lnSpc>
                <a:spcPct val="100000"/>
              </a:lnSpc>
              <a:buClr>
                <a:srgbClr val="E38312"/>
              </a:buClr>
              <a:buFont typeface="Arial" panose="020B0604020202020204" pitchFamily="34" charset="0"/>
              <a:buChar char="•"/>
            </a:pP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69265" marR="208279" indent="-457200" algn="just">
              <a:lnSpc>
                <a:spcPct val="90000"/>
              </a:lnSpc>
              <a:spcBef>
                <a:spcPts val="2295"/>
              </a:spcBef>
              <a:buClr>
                <a:srgbClr val="E38312"/>
              </a:buClr>
              <a:buSzPct val="96875"/>
              <a:buFont typeface="Arial" panose="020B0604020202020204" pitchFamily="34" charset="0"/>
              <a:buChar char="•"/>
              <a:tabLst>
                <a:tab pos="376555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 themselves are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 descriptions of the </a:t>
            </a:r>
            <a:r>
              <a:rPr sz="2400" spc="-7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system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services and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constraints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that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are generated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during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the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engineering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process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78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20836" y="2337003"/>
            <a:ext cx="3007995" cy="1688283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 algn="ctr">
              <a:lnSpc>
                <a:spcPct val="85000"/>
              </a:lnSpc>
              <a:spcBef>
                <a:spcPts val="925"/>
              </a:spcBef>
            </a:pPr>
            <a:r>
              <a:rPr sz="40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Definition </a:t>
            </a:r>
            <a:r>
              <a:rPr sz="4000" spc="-3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 </a:t>
            </a:r>
            <a:r>
              <a:rPr sz="4000" spc="-2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13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40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40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</a:t>
            </a:r>
            <a:r>
              <a:rPr sz="4000" spc="-5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4000" spc="-12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40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40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40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4000" spc="-10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4000" spc="-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  </a:t>
            </a:r>
            <a:r>
              <a:rPr sz="4000" spc="-5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825382"/>
            <a:ext cx="7778795" cy="47115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object 7"/>
          <p:cNvSpPr/>
          <p:nvPr/>
        </p:nvSpPr>
        <p:spPr>
          <a:xfrm>
            <a:off x="8209788" y="4343400"/>
            <a:ext cx="3200400" cy="0"/>
          </a:xfrm>
          <a:custGeom>
            <a:avLst/>
            <a:gdLst/>
            <a:ahLst/>
            <a:cxnLst/>
            <a:rect l="l" t="t" r="r" b="b"/>
            <a:pathLst>
              <a:path w="3200400">
                <a:moveTo>
                  <a:pt x="0" y="0"/>
                </a:moveTo>
                <a:lnTo>
                  <a:pt x="3200400" y="0"/>
                </a:lnTo>
              </a:path>
            </a:pathLst>
          </a:custGeom>
          <a:ln w="635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7277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67454"/>
            <a:ext cx="8577581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90" dirty="0">
                <a:latin typeface="Helvetica" panose="020B0604020202020204" pitchFamily="34" charset="0"/>
                <a:cs typeface="Helvetica" panose="020B0604020202020204" pitchFamily="34" charset="0"/>
              </a:rPr>
              <a:t>Types</a:t>
            </a:r>
            <a:r>
              <a:rPr sz="5400" spc="-1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5400" spc="-2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5400" spc="-11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5400" spc="-65" dirty="0">
                <a:latin typeface="Helvetica" panose="020B0604020202020204" pitchFamily="34" charset="0"/>
                <a:cs typeface="Helvetica" panose="020B0604020202020204" pitchFamily="34" charset="0"/>
              </a:rPr>
              <a:t>requirement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89342" y="2278062"/>
            <a:ext cx="10074275" cy="1515745"/>
            <a:chOff x="1089342" y="2278062"/>
            <a:chExt cx="10074275" cy="1515745"/>
          </a:xfrm>
        </p:grpSpPr>
        <p:sp>
          <p:nvSpPr>
            <p:cNvPr id="4" name="object 4"/>
            <p:cNvSpPr/>
            <p:nvPr/>
          </p:nvSpPr>
          <p:spPr>
            <a:xfrm>
              <a:off x="1097280" y="2595372"/>
              <a:ext cx="10058400" cy="1190625"/>
            </a:xfrm>
            <a:custGeom>
              <a:avLst/>
              <a:gdLst/>
              <a:ahLst/>
              <a:cxnLst/>
              <a:rect l="l" t="t" r="r" b="b"/>
              <a:pathLst>
                <a:path w="10058400" h="1190625">
                  <a:moveTo>
                    <a:pt x="0" y="1190244"/>
                  </a:moveTo>
                  <a:lnTo>
                    <a:pt x="10058400" y="1190244"/>
                  </a:lnTo>
                  <a:lnTo>
                    <a:pt x="10058400" y="0"/>
                  </a:lnTo>
                  <a:lnTo>
                    <a:pt x="0" y="0"/>
                  </a:lnTo>
                  <a:lnTo>
                    <a:pt x="0" y="1190244"/>
                  </a:lnTo>
                  <a:close/>
                </a:path>
              </a:pathLst>
            </a:custGeom>
            <a:ln w="15875">
              <a:solidFill>
                <a:srgbClr val="E38312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00200" y="2286000"/>
              <a:ext cx="7040880" cy="619125"/>
            </a:xfrm>
            <a:custGeom>
              <a:avLst/>
              <a:gdLst/>
              <a:ahLst/>
              <a:cxnLst/>
              <a:rect l="l" t="t" r="r" b="b"/>
              <a:pathLst>
                <a:path w="7040880" h="619125">
                  <a:moveTo>
                    <a:pt x="6937756" y="0"/>
                  </a:moveTo>
                  <a:lnTo>
                    <a:pt x="103124" y="0"/>
                  </a:lnTo>
                  <a:lnTo>
                    <a:pt x="63007" y="8112"/>
                  </a:lnTo>
                  <a:lnTo>
                    <a:pt x="30225" y="30225"/>
                  </a:lnTo>
                  <a:lnTo>
                    <a:pt x="8112" y="63007"/>
                  </a:lnTo>
                  <a:lnTo>
                    <a:pt x="0" y="103124"/>
                  </a:lnTo>
                  <a:lnTo>
                    <a:pt x="0" y="515620"/>
                  </a:lnTo>
                  <a:lnTo>
                    <a:pt x="8112" y="555736"/>
                  </a:lnTo>
                  <a:lnTo>
                    <a:pt x="30225" y="588517"/>
                  </a:lnTo>
                  <a:lnTo>
                    <a:pt x="63007" y="610631"/>
                  </a:lnTo>
                  <a:lnTo>
                    <a:pt x="103124" y="618744"/>
                  </a:lnTo>
                  <a:lnTo>
                    <a:pt x="6937756" y="618744"/>
                  </a:lnTo>
                  <a:lnTo>
                    <a:pt x="6977872" y="610631"/>
                  </a:lnTo>
                  <a:lnTo>
                    <a:pt x="7010654" y="588518"/>
                  </a:lnTo>
                  <a:lnTo>
                    <a:pt x="7032767" y="555736"/>
                  </a:lnTo>
                  <a:lnTo>
                    <a:pt x="7040880" y="515620"/>
                  </a:lnTo>
                  <a:lnTo>
                    <a:pt x="7040880" y="103124"/>
                  </a:lnTo>
                  <a:lnTo>
                    <a:pt x="7032767" y="63007"/>
                  </a:lnTo>
                  <a:lnTo>
                    <a:pt x="7010654" y="30225"/>
                  </a:lnTo>
                  <a:lnTo>
                    <a:pt x="6977872" y="8112"/>
                  </a:lnTo>
                  <a:lnTo>
                    <a:pt x="6937756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600200" y="2286000"/>
              <a:ext cx="7040880" cy="619125"/>
            </a:xfrm>
            <a:custGeom>
              <a:avLst/>
              <a:gdLst/>
              <a:ahLst/>
              <a:cxnLst/>
              <a:rect l="l" t="t" r="r" b="b"/>
              <a:pathLst>
                <a:path w="7040880" h="619125">
                  <a:moveTo>
                    <a:pt x="0" y="103124"/>
                  </a:moveTo>
                  <a:lnTo>
                    <a:pt x="8112" y="63007"/>
                  </a:lnTo>
                  <a:lnTo>
                    <a:pt x="30225" y="30225"/>
                  </a:lnTo>
                  <a:lnTo>
                    <a:pt x="63007" y="8112"/>
                  </a:lnTo>
                  <a:lnTo>
                    <a:pt x="103124" y="0"/>
                  </a:lnTo>
                  <a:lnTo>
                    <a:pt x="6937756" y="0"/>
                  </a:lnTo>
                  <a:lnTo>
                    <a:pt x="6977872" y="8112"/>
                  </a:lnTo>
                  <a:lnTo>
                    <a:pt x="7010654" y="30225"/>
                  </a:lnTo>
                  <a:lnTo>
                    <a:pt x="7032767" y="63007"/>
                  </a:lnTo>
                  <a:lnTo>
                    <a:pt x="7040880" y="103124"/>
                  </a:lnTo>
                  <a:lnTo>
                    <a:pt x="7040880" y="515620"/>
                  </a:lnTo>
                  <a:lnTo>
                    <a:pt x="7032767" y="555736"/>
                  </a:lnTo>
                  <a:lnTo>
                    <a:pt x="7010654" y="588518"/>
                  </a:lnTo>
                  <a:lnTo>
                    <a:pt x="6977872" y="610631"/>
                  </a:lnTo>
                  <a:lnTo>
                    <a:pt x="6937756" y="618744"/>
                  </a:lnTo>
                  <a:lnTo>
                    <a:pt x="103124" y="618744"/>
                  </a:lnTo>
                  <a:lnTo>
                    <a:pt x="63007" y="610631"/>
                  </a:lnTo>
                  <a:lnTo>
                    <a:pt x="30225" y="588517"/>
                  </a:lnTo>
                  <a:lnTo>
                    <a:pt x="8112" y="555736"/>
                  </a:lnTo>
                  <a:lnTo>
                    <a:pt x="0" y="515620"/>
                  </a:lnTo>
                  <a:lnTo>
                    <a:pt x="0" y="103124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65122" y="2390597"/>
            <a:ext cx="9412478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User</a:t>
            </a:r>
            <a:r>
              <a:rPr sz="20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indent="-228600" algn="just">
              <a:lnSpc>
                <a:spcPts val="2420"/>
              </a:lnSpc>
              <a:buChar char="•"/>
              <a:tabLst>
                <a:tab pos="241300" algn="l"/>
              </a:tabLst>
            </a:pP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Statements</a:t>
            </a:r>
            <a:r>
              <a:rPr sz="2000" spc="39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000" spc="39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natural</a:t>
            </a:r>
            <a:r>
              <a:rPr sz="2000" spc="39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language</a:t>
            </a:r>
            <a:r>
              <a:rPr sz="2000" spc="39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plus</a:t>
            </a:r>
            <a:r>
              <a:rPr sz="2000" spc="38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diagrams</a:t>
            </a:r>
            <a:r>
              <a:rPr sz="2000" spc="39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38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40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services</a:t>
            </a:r>
            <a:r>
              <a:rPr sz="2000" spc="39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39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>
              <a:lnSpc>
                <a:spcPts val="2420"/>
              </a:lnSpc>
            </a:pP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provides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its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operational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constraints.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Written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customers.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89342" y="3891978"/>
            <a:ext cx="10074275" cy="1814195"/>
            <a:chOff x="1089342" y="3891978"/>
            <a:chExt cx="10074275" cy="1814195"/>
          </a:xfrm>
        </p:grpSpPr>
        <p:sp>
          <p:nvSpPr>
            <p:cNvPr id="9" name="object 9"/>
            <p:cNvSpPr/>
            <p:nvPr/>
          </p:nvSpPr>
          <p:spPr>
            <a:xfrm>
              <a:off x="1097280" y="4209287"/>
              <a:ext cx="10058400" cy="1489075"/>
            </a:xfrm>
            <a:custGeom>
              <a:avLst/>
              <a:gdLst/>
              <a:ahLst/>
              <a:cxnLst/>
              <a:rect l="l" t="t" r="r" b="b"/>
              <a:pathLst>
                <a:path w="10058400" h="1489075">
                  <a:moveTo>
                    <a:pt x="0" y="1488948"/>
                  </a:moveTo>
                  <a:lnTo>
                    <a:pt x="10058400" y="1488948"/>
                  </a:lnTo>
                  <a:lnTo>
                    <a:pt x="10058400" y="0"/>
                  </a:lnTo>
                  <a:lnTo>
                    <a:pt x="0" y="0"/>
                  </a:lnTo>
                  <a:lnTo>
                    <a:pt x="0" y="1488948"/>
                  </a:lnTo>
                  <a:close/>
                </a:path>
              </a:pathLst>
            </a:custGeom>
            <a:ln w="15875">
              <a:solidFill>
                <a:srgbClr val="E38312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3899915"/>
              <a:ext cx="7040880" cy="619125"/>
            </a:xfrm>
            <a:custGeom>
              <a:avLst/>
              <a:gdLst/>
              <a:ahLst/>
              <a:cxnLst/>
              <a:rect l="l" t="t" r="r" b="b"/>
              <a:pathLst>
                <a:path w="7040880" h="619125">
                  <a:moveTo>
                    <a:pt x="6937756" y="0"/>
                  </a:moveTo>
                  <a:lnTo>
                    <a:pt x="103124" y="0"/>
                  </a:lnTo>
                  <a:lnTo>
                    <a:pt x="63007" y="8112"/>
                  </a:lnTo>
                  <a:lnTo>
                    <a:pt x="30225" y="30225"/>
                  </a:lnTo>
                  <a:lnTo>
                    <a:pt x="8112" y="63007"/>
                  </a:lnTo>
                  <a:lnTo>
                    <a:pt x="0" y="103123"/>
                  </a:lnTo>
                  <a:lnTo>
                    <a:pt x="0" y="515619"/>
                  </a:lnTo>
                  <a:lnTo>
                    <a:pt x="8112" y="555736"/>
                  </a:lnTo>
                  <a:lnTo>
                    <a:pt x="30225" y="588517"/>
                  </a:lnTo>
                  <a:lnTo>
                    <a:pt x="63007" y="610631"/>
                  </a:lnTo>
                  <a:lnTo>
                    <a:pt x="103124" y="618743"/>
                  </a:lnTo>
                  <a:lnTo>
                    <a:pt x="6937756" y="618743"/>
                  </a:lnTo>
                  <a:lnTo>
                    <a:pt x="6977872" y="610631"/>
                  </a:lnTo>
                  <a:lnTo>
                    <a:pt x="7010654" y="588517"/>
                  </a:lnTo>
                  <a:lnTo>
                    <a:pt x="7032767" y="555736"/>
                  </a:lnTo>
                  <a:lnTo>
                    <a:pt x="7040880" y="515619"/>
                  </a:lnTo>
                  <a:lnTo>
                    <a:pt x="7040880" y="103123"/>
                  </a:lnTo>
                  <a:lnTo>
                    <a:pt x="7032767" y="63007"/>
                  </a:lnTo>
                  <a:lnTo>
                    <a:pt x="7010654" y="30225"/>
                  </a:lnTo>
                  <a:lnTo>
                    <a:pt x="6977872" y="8112"/>
                  </a:lnTo>
                  <a:lnTo>
                    <a:pt x="6937756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600200" y="3899915"/>
              <a:ext cx="7040880" cy="619125"/>
            </a:xfrm>
            <a:custGeom>
              <a:avLst/>
              <a:gdLst/>
              <a:ahLst/>
              <a:cxnLst/>
              <a:rect l="l" t="t" r="r" b="b"/>
              <a:pathLst>
                <a:path w="7040880" h="619125">
                  <a:moveTo>
                    <a:pt x="0" y="103123"/>
                  </a:moveTo>
                  <a:lnTo>
                    <a:pt x="8112" y="63007"/>
                  </a:lnTo>
                  <a:lnTo>
                    <a:pt x="30225" y="30225"/>
                  </a:lnTo>
                  <a:lnTo>
                    <a:pt x="63007" y="8112"/>
                  </a:lnTo>
                  <a:lnTo>
                    <a:pt x="103124" y="0"/>
                  </a:lnTo>
                  <a:lnTo>
                    <a:pt x="6937756" y="0"/>
                  </a:lnTo>
                  <a:lnTo>
                    <a:pt x="6977872" y="8112"/>
                  </a:lnTo>
                  <a:lnTo>
                    <a:pt x="7010654" y="30225"/>
                  </a:lnTo>
                  <a:lnTo>
                    <a:pt x="7032767" y="63007"/>
                  </a:lnTo>
                  <a:lnTo>
                    <a:pt x="7040880" y="103123"/>
                  </a:lnTo>
                  <a:lnTo>
                    <a:pt x="7040880" y="515619"/>
                  </a:lnTo>
                  <a:lnTo>
                    <a:pt x="7032767" y="555736"/>
                  </a:lnTo>
                  <a:lnTo>
                    <a:pt x="7010654" y="588517"/>
                  </a:lnTo>
                  <a:lnTo>
                    <a:pt x="6977872" y="610631"/>
                  </a:lnTo>
                  <a:lnTo>
                    <a:pt x="6937756" y="618743"/>
                  </a:lnTo>
                  <a:lnTo>
                    <a:pt x="103124" y="618743"/>
                  </a:lnTo>
                  <a:lnTo>
                    <a:pt x="63007" y="610631"/>
                  </a:lnTo>
                  <a:lnTo>
                    <a:pt x="30225" y="588517"/>
                  </a:lnTo>
                  <a:lnTo>
                    <a:pt x="8112" y="555736"/>
                  </a:lnTo>
                  <a:lnTo>
                    <a:pt x="0" y="515619"/>
                  </a:lnTo>
                  <a:lnTo>
                    <a:pt x="0" y="103123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65122" y="4005453"/>
            <a:ext cx="9031478" cy="14470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0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requirements</a:t>
            </a:r>
            <a:endParaRPr sz="20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marR="5080" indent="-228600" algn="just">
              <a:lnSpc>
                <a:spcPct val="917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structured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document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setting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out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detailed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descriptions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the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system’s </a:t>
            </a:r>
            <a:r>
              <a:rPr sz="2000" spc="-45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functions,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services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operational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constraints.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Defines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be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implemented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so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may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be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part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contract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client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contractor.</a:t>
            </a:r>
            <a:endParaRPr sz="2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158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5"/>
              </a:lnSpc>
            </a:pPr>
            <a:fld id="{81D60167-4931-47E6-BA6A-407CBD079E47}" type="slidenum">
              <a:rPr sz="1600" dirty="0">
                <a:latin typeface="Helvetica" panose="020B0604020202020204" pitchFamily="34" charset="0"/>
                <a:cs typeface="Helvetica" panose="020B0604020202020204" pitchFamily="34" charset="0"/>
              </a:rPr>
              <a:t>12</a:t>
            </a:fld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004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906" t="5208" r="3125" b="7292"/>
          <a:stretch/>
        </p:blipFill>
        <p:spPr>
          <a:xfrm>
            <a:off x="1295400" y="18473"/>
            <a:ext cx="9067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64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20836" y="2337003"/>
            <a:ext cx="3119120" cy="1688283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 algn="ctr">
              <a:lnSpc>
                <a:spcPct val="85000"/>
              </a:lnSpc>
              <a:spcBef>
                <a:spcPts val="925"/>
              </a:spcBef>
            </a:pPr>
            <a:r>
              <a:rPr sz="4000" spc="-4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User </a:t>
            </a:r>
            <a:r>
              <a:rPr sz="4000" spc="-4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sz="4000" spc="-3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9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system </a:t>
            </a:r>
            <a:r>
              <a:rPr sz="4000" spc="-8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13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40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40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</a:t>
            </a:r>
            <a:r>
              <a:rPr sz="4000" spc="-5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4000" spc="-13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40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eme</a:t>
            </a:r>
            <a:r>
              <a:rPr sz="4000" spc="-10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40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4000" spc="-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672" y="693387"/>
            <a:ext cx="6678167" cy="49043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209788" y="4343400"/>
            <a:ext cx="3200400" cy="0"/>
          </a:xfrm>
          <a:custGeom>
            <a:avLst/>
            <a:gdLst/>
            <a:ahLst/>
            <a:cxnLst/>
            <a:rect l="l" t="t" r="r" b="b"/>
            <a:pathLst>
              <a:path w="3200400">
                <a:moveTo>
                  <a:pt x="0" y="0"/>
                </a:moveTo>
                <a:lnTo>
                  <a:pt x="3200400" y="0"/>
                </a:lnTo>
              </a:path>
            </a:pathLst>
          </a:custGeom>
          <a:ln w="635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1920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220836" y="1144981"/>
            <a:ext cx="3120390" cy="2473113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 algn="ctr">
              <a:lnSpc>
                <a:spcPct val="85000"/>
              </a:lnSpc>
              <a:spcBef>
                <a:spcPts val="925"/>
              </a:spcBef>
            </a:pPr>
            <a:r>
              <a:rPr sz="3600" spc="-7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Readers </a:t>
            </a:r>
            <a:r>
              <a:rPr sz="3600" spc="-3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 </a:t>
            </a:r>
            <a:r>
              <a:rPr sz="3600" spc="-2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spc="-8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different </a:t>
            </a:r>
            <a:r>
              <a:rPr sz="3600" spc="-8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spc="-4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types </a:t>
            </a:r>
            <a:r>
              <a:rPr sz="3600" spc="-3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 </a:t>
            </a:r>
            <a:r>
              <a:rPr sz="3600" spc="-2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spc="-12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36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36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</a:t>
            </a:r>
            <a:r>
              <a:rPr sz="3600" spc="-5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3600" spc="-12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36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36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3600" spc="-6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3600" spc="-10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3600" spc="-50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3600" spc="-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  </a:t>
            </a:r>
            <a:r>
              <a:rPr sz="3600" spc="-55" dirty="0">
                <a:solidFill>
                  <a:srgbClr val="252525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specification</a:t>
            </a:r>
            <a:endParaRPr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213" y="1354289"/>
            <a:ext cx="6496671" cy="361501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209788" y="4343400"/>
            <a:ext cx="3200400" cy="0"/>
          </a:xfrm>
          <a:custGeom>
            <a:avLst/>
            <a:gdLst/>
            <a:ahLst/>
            <a:cxnLst/>
            <a:rect l="l" t="t" r="r" b="b"/>
            <a:pathLst>
              <a:path w="3200400">
                <a:moveTo>
                  <a:pt x="0" y="0"/>
                </a:moveTo>
                <a:lnTo>
                  <a:pt x="3200400" y="0"/>
                </a:lnTo>
              </a:path>
            </a:pathLst>
          </a:custGeom>
          <a:ln w="6350">
            <a:solidFill>
              <a:srgbClr val="626F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1796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4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8200" y="838200"/>
            <a:ext cx="3104338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600" spc="-20" dirty="0">
                <a:latin typeface="Helvetica" panose="020B0604020202020204" pitchFamily="34" charset="0"/>
                <a:cs typeface="Helvetica" panose="020B0604020202020204" pitchFamily="34" charset="0"/>
              </a:rPr>
              <a:t>Users</a:t>
            </a:r>
            <a:r>
              <a:rPr sz="36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spc="-1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36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r>
              <a:rPr sz="36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3600" spc="-3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Stakeholders</a:t>
            </a:r>
            <a:r>
              <a:rPr lang="en-US" sz="3600" spc="-3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76199"/>
            <a:ext cx="4906136" cy="618896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05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05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05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05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05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05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05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05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05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05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05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05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34620"/>
          </a:xfrm>
          <a:custGeom>
            <a:avLst/>
            <a:gdLst/>
            <a:ahLst/>
            <a:cxnLst/>
            <a:rect l="l" t="t" r="r" b="b"/>
            <a:pathLst>
              <a:path w="12192000" h="134619">
                <a:moveTo>
                  <a:pt x="12191987" y="2654"/>
                </a:moveTo>
                <a:lnTo>
                  <a:pt x="12129643" y="1460"/>
                </a:lnTo>
                <a:lnTo>
                  <a:pt x="11914124" y="63"/>
                </a:lnTo>
                <a:lnTo>
                  <a:pt x="11748135" y="1143"/>
                </a:lnTo>
                <a:lnTo>
                  <a:pt x="11748135" y="0"/>
                </a:lnTo>
                <a:lnTo>
                  <a:pt x="0" y="0"/>
                </a:lnTo>
                <a:lnTo>
                  <a:pt x="0" y="134048"/>
                </a:lnTo>
                <a:lnTo>
                  <a:pt x="11748135" y="134048"/>
                </a:lnTo>
                <a:lnTo>
                  <a:pt x="11748135" y="133070"/>
                </a:lnTo>
                <a:lnTo>
                  <a:pt x="11914124" y="134048"/>
                </a:lnTo>
                <a:lnTo>
                  <a:pt x="12129643" y="132778"/>
                </a:lnTo>
                <a:lnTo>
                  <a:pt x="12191987" y="131559"/>
                </a:lnTo>
                <a:lnTo>
                  <a:pt x="12191987" y="265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5318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</a:t>
            </a:r>
            <a:r>
              <a:rPr sz="40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dirty="0"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796287"/>
            <a:ext cx="4236720" cy="26513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Systematic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process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Core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activities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Elicitation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9135" algn="l"/>
              </a:tabLst>
            </a:pP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r>
              <a:rPr sz="20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Documentation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Validation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9135" algn="l"/>
              </a:tabLst>
            </a:pP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Management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34620"/>
          </a:xfrm>
          <a:custGeom>
            <a:avLst/>
            <a:gdLst/>
            <a:ahLst/>
            <a:cxnLst/>
            <a:rect l="l" t="t" r="r" b="b"/>
            <a:pathLst>
              <a:path w="12192000" h="134619">
                <a:moveTo>
                  <a:pt x="12191987" y="2654"/>
                </a:moveTo>
                <a:lnTo>
                  <a:pt x="12129643" y="1460"/>
                </a:lnTo>
                <a:lnTo>
                  <a:pt x="11914124" y="63"/>
                </a:lnTo>
                <a:lnTo>
                  <a:pt x="11748135" y="1143"/>
                </a:lnTo>
                <a:lnTo>
                  <a:pt x="11748135" y="0"/>
                </a:lnTo>
                <a:lnTo>
                  <a:pt x="0" y="0"/>
                </a:lnTo>
                <a:lnTo>
                  <a:pt x="0" y="134048"/>
                </a:lnTo>
                <a:lnTo>
                  <a:pt x="11748135" y="134048"/>
                </a:lnTo>
                <a:lnTo>
                  <a:pt x="11748135" y="133070"/>
                </a:lnTo>
                <a:lnTo>
                  <a:pt x="11914124" y="134048"/>
                </a:lnTo>
                <a:lnTo>
                  <a:pt x="12129643" y="132778"/>
                </a:lnTo>
                <a:lnTo>
                  <a:pt x="12191987" y="131559"/>
                </a:lnTo>
                <a:lnTo>
                  <a:pt x="12191987" y="2654"/>
                </a:lnTo>
                <a:close/>
              </a:path>
            </a:pathLst>
          </a:custGeom>
          <a:solidFill>
            <a:srgbClr val="009FEE"/>
          </a:solidFill>
        </p:spPr>
        <p:txBody>
          <a:bodyPr wrap="square" lIns="0" tIns="0" rIns="0" bIns="0" rtlCol="0"/>
          <a:lstStyle/>
          <a:p>
            <a:endParaRPr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16039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4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760459"/>
            <a:ext cx="3239770" cy="18844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Communication</a:t>
            </a:r>
            <a:endParaRPr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Verbal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vs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non-verbal</a:t>
            </a:r>
            <a:endParaRPr sz="20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9135" algn="l"/>
              </a:tabLst>
            </a:pP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Formal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vs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informal</a:t>
            </a:r>
            <a:endParaRPr sz="20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8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Qualities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RE</a:t>
            </a:r>
            <a:endParaRPr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130"/>
                </a:moveTo>
                <a:lnTo>
                  <a:pt x="12188558" y="1155"/>
                </a:lnTo>
                <a:lnTo>
                  <a:pt x="12188558" y="0"/>
                </a:lnTo>
                <a:lnTo>
                  <a:pt x="0" y="0"/>
                </a:lnTo>
                <a:lnTo>
                  <a:pt x="0" y="140144"/>
                </a:lnTo>
                <a:lnTo>
                  <a:pt x="12188558" y="140144"/>
                </a:lnTo>
                <a:lnTo>
                  <a:pt x="12188558" y="139077"/>
                </a:lnTo>
                <a:lnTo>
                  <a:pt x="12192000" y="139090"/>
                </a:lnTo>
                <a:lnTo>
                  <a:pt x="12192000" y="113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4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256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60" dirty="0">
                <a:latin typeface="Helvetica" panose="020B0604020202020204" pitchFamily="34" charset="0"/>
                <a:cs typeface="Helvetica" panose="020B0604020202020204" pitchFamily="34" charset="0"/>
              </a:rPr>
              <a:t>Type</a:t>
            </a:r>
            <a:r>
              <a:rPr sz="36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36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3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05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05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05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05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05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05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05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05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05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05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05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05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05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05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05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05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05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0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05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710712"/>
            <a:ext cx="5300980" cy="120161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Functional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20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Non functional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20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Domain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(constraints)</a:t>
            </a:r>
            <a:endParaRPr sz="2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5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566060"/>
            <a:ext cx="10972800" cy="44678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69265" indent="-457200" algn="just">
              <a:lnSpc>
                <a:spcPct val="100000"/>
              </a:lnSpc>
              <a:spcBef>
                <a:spcPts val="300"/>
              </a:spcBef>
              <a:buClr>
                <a:srgbClr val="E38312"/>
              </a:buClr>
              <a:buSzPct val="96153"/>
              <a:buFont typeface="Arial" panose="020B0604020202020204" pitchFamily="34" charset="0"/>
              <a:buChar char="•"/>
              <a:tabLst>
                <a:tab pos="308610" algn="l"/>
              </a:tabLst>
            </a:pPr>
            <a:r>
              <a:rPr sz="2400" b="1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Functional</a:t>
            </a:r>
            <a:r>
              <a:rPr sz="2400" b="1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b="1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2400" b="1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014095" marR="10160" lvl="2" indent="-342900" algn="just">
              <a:lnSpc>
                <a:spcPts val="2380"/>
              </a:lnSpc>
              <a:spcBef>
                <a:spcPts val="459"/>
              </a:spcBef>
              <a:buClr>
                <a:srgbClr val="E38312"/>
              </a:buClr>
              <a:buSzPct val="95454"/>
              <a:buFont typeface="Wingdings" panose="05000000000000000000" pitchFamily="2" charset="2"/>
              <a:buChar char="Ø"/>
              <a:tabLst>
                <a:tab pos="464184" algn="l"/>
              </a:tabLst>
            </a:pPr>
            <a:r>
              <a:rPr sz="2000" spc="-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Statements</a:t>
            </a:r>
            <a:r>
              <a:rPr sz="2000" spc="2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2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services</a:t>
            </a:r>
            <a:r>
              <a:rPr sz="2000" spc="2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2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000" spc="2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sz="2000" spc="2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provide,</a:t>
            </a:r>
            <a:r>
              <a:rPr sz="2000" spc="204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sz="2000" spc="2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2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000" spc="2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sz="2000" spc="2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react</a:t>
            </a:r>
            <a:r>
              <a:rPr sz="2000" spc="2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3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to </a:t>
            </a:r>
            <a:r>
              <a:rPr sz="2000" spc="-484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particular</a:t>
            </a:r>
            <a:r>
              <a:rPr sz="2000" spc="-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inputs and</a:t>
            </a:r>
            <a:r>
              <a:rPr sz="2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sz="2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000" spc="3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sz="2000" spc="-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behave</a:t>
            </a:r>
            <a:r>
              <a:rPr sz="2000" spc="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particular situations</a:t>
            </a:r>
            <a:endParaRPr sz="20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013460" lvl="2" indent="-342900" algn="just">
              <a:spcBef>
                <a:spcPts val="295"/>
              </a:spcBef>
              <a:buClr>
                <a:srgbClr val="E38312"/>
              </a:buClr>
              <a:buSzPct val="95454"/>
              <a:buFont typeface="Wingdings" panose="05000000000000000000" pitchFamily="2" charset="2"/>
              <a:buChar char="Ø"/>
              <a:tabLst>
                <a:tab pos="464184" algn="l"/>
              </a:tabLst>
            </a:pPr>
            <a:r>
              <a:rPr sz="20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May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state</a:t>
            </a:r>
            <a:r>
              <a:rPr sz="2000" spc="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the</a:t>
            </a:r>
            <a:r>
              <a:rPr sz="2000" spc="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000" spc="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sz="2000" spc="-1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sz="2000" spc="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do</a:t>
            </a:r>
            <a:endParaRPr sz="20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69265" indent="-457200" algn="just">
              <a:spcBef>
                <a:spcPts val="300"/>
              </a:spcBef>
              <a:buClr>
                <a:srgbClr val="E38312"/>
              </a:buClr>
              <a:buSzPct val="96153"/>
              <a:buFont typeface="Arial" panose="020B0604020202020204" pitchFamily="34" charset="0"/>
              <a:buChar char="•"/>
              <a:tabLst>
                <a:tab pos="308610" algn="l"/>
              </a:tabLst>
            </a:pPr>
            <a:r>
              <a:rPr sz="2400" b="1" spc="-5" dirty="0">
                <a:latin typeface="Helvetica" panose="020B0604020202020204" pitchFamily="34" charset="0"/>
                <a:cs typeface="Helvetica" panose="020B0604020202020204" pitchFamily="34" charset="0"/>
              </a:rPr>
              <a:t>Non functional </a:t>
            </a:r>
            <a:r>
              <a:rPr sz="2400" b="1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lang="en-US" sz="2400" b="1" spc="-5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926465" lvl="3" indent="-342900" algn="just">
              <a:spcBef>
                <a:spcPts val="300"/>
              </a:spcBef>
              <a:buClr>
                <a:srgbClr val="E38312"/>
              </a:buClr>
              <a:buSzPct val="95454"/>
              <a:buFont typeface="Wingdings" panose="05000000000000000000" pitchFamily="2" charset="2"/>
              <a:buChar char="Ø"/>
              <a:tabLst>
                <a:tab pos="464184" algn="l"/>
              </a:tabLst>
            </a:pPr>
            <a:r>
              <a:rPr lang="en-US"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These define system properties and constraints e.g. reliability,  response time, and storage requirements. Constraints are I/O  device capability, system representations, </a:t>
            </a:r>
            <a:r>
              <a:rPr lang="en-US"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etc.</a:t>
            </a:r>
          </a:p>
          <a:p>
            <a:pPr marL="926465" lvl="3" indent="-342900" algn="just">
              <a:spcBef>
                <a:spcPts val="300"/>
              </a:spcBef>
              <a:buClr>
                <a:srgbClr val="E38312"/>
              </a:buClr>
              <a:buSzPct val="95454"/>
              <a:buFont typeface="Wingdings" panose="05000000000000000000" pitchFamily="2" charset="2"/>
              <a:buChar char="Ø"/>
              <a:tabLst>
                <a:tab pos="464184" algn="l"/>
              </a:tabLst>
            </a:pPr>
            <a:r>
              <a:rPr lang="en-US"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Non </a:t>
            </a:r>
            <a:r>
              <a:rPr lang="en-US"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functional requirements may be more critical than  functional requirements. If these are not met, the system may  be useless</a:t>
            </a:r>
            <a:r>
              <a:rPr lang="en-US"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sz="2400" b="1" spc="-5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69265" indent="-457200" algn="just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6153"/>
              <a:buFont typeface="Arial" panose="020B0604020202020204" pitchFamily="34" charset="0"/>
              <a:buChar char="•"/>
              <a:tabLst>
                <a:tab pos="308610" algn="l"/>
              </a:tabLst>
            </a:pPr>
            <a:r>
              <a:rPr sz="2400" b="1" spc="-5" dirty="0">
                <a:latin typeface="Helvetica" panose="020B0604020202020204" pitchFamily="34" charset="0"/>
                <a:cs typeface="Helvetica" panose="020B0604020202020204" pitchFamily="34" charset="0"/>
              </a:rPr>
              <a:t>Domain </a:t>
            </a:r>
            <a:r>
              <a:rPr sz="2400" b="1" spc="-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lang="en-US" sz="2400" b="1" spc="-5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926465" lvl="1" indent="-457200" algn="just">
              <a:spcBef>
                <a:spcPts val="1260"/>
              </a:spcBef>
              <a:buClr>
                <a:srgbClr val="E38312"/>
              </a:buClr>
              <a:buSzPct val="96153"/>
              <a:buFont typeface="Wingdings" panose="05000000000000000000" pitchFamily="2" charset="2"/>
              <a:buChar char="Ø"/>
              <a:tabLst>
                <a:tab pos="308610" algn="l"/>
              </a:tabLst>
            </a:pPr>
            <a:r>
              <a:rPr lang="en-US"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Domain requirements are expectations related to a particular type of software, purpose or industry vertical. 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130"/>
                </a:moveTo>
                <a:lnTo>
                  <a:pt x="12188558" y="1155"/>
                </a:lnTo>
                <a:lnTo>
                  <a:pt x="12188558" y="0"/>
                </a:lnTo>
                <a:lnTo>
                  <a:pt x="0" y="0"/>
                </a:lnTo>
                <a:lnTo>
                  <a:pt x="0" y="140144"/>
                </a:lnTo>
                <a:lnTo>
                  <a:pt x="12188558" y="140144"/>
                </a:lnTo>
                <a:lnTo>
                  <a:pt x="12188558" y="139077"/>
                </a:lnTo>
                <a:lnTo>
                  <a:pt x="12192000" y="139090"/>
                </a:lnTo>
                <a:lnTo>
                  <a:pt x="12192000" y="113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/>
          <p:cNvSpPr txBox="1">
            <a:spLocks/>
          </p:cNvSpPr>
          <p:nvPr/>
        </p:nvSpPr>
        <p:spPr>
          <a:xfrm>
            <a:off x="916939" y="609676"/>
            <a:ext cx="49256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3600" kern="0" spc="-60" smtClean="0">
                <a:latin typeface="Helvetica" panose="020B0604020202020204" pitchFamily="34" charset="0"/>
                <a:cs typeface="Helvetica" panose="020B0604020202020204" pitchFamily="34" charset="0"/>
              </a:rPr>
              <a:t>Type</a:t>
            </a:r>
            <a:r>
              <a:rPr lang="en-US" sz="3600" kern="0" spc="-25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3600" kern="0" smtClean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n-US" sz="3600" kern="0" spc="-25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3600" kern="0" spc="-20" smtClean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lang="en-US" sz="3600" kern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90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4580" y="533400"/>
            <a:ext cx="9263381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5400" spc="-45" dirty="0">
                <a:latin typeface="Helvetica" panose="020B0604020202020204" pitchFamily="34" charset="0"/>
                <a:cs typeface="Helvetica" panose="020B0604020202020204" pitchFamily="34" charset="0"/>
              </a:rPr>
              <a:t>Functional</a:t>
            </a:r>
            <a:r>
              <a:rPr sz="5400" spc="-1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5400" spc="-65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152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just">
              <a:lnSpc>
                <a:spcPts val="1105"/>
              </a:lnSpc>
            </a:pPr>
            <a:fld id="{81D60167-4931-47E6-BA6A-407CBD079E47}" type="slidenum">
              <a:rPr sz="1600" dirty="0">
                <a:latin typeface="Helvetica" panose="020B0604020202020204" pitchFamily="34" charset="0"/>
                <a:cs typeface="Helvetica" panose="020B0604020202020204" pitchFamily="34" charset="0"/>
              </a:rPr>
              <a:pPr marL="38100" algn="just">
                <a:lnSpc>
                  <a:spcPts val="1105"/>
                </a:lnSpc>
              </a:pPr>
              <a:t>21</a:t>
            </a:fld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3816" y="1905000"/>
            <a:ext cx="96503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 functional requirement is a statement of what a product (system, subsystem, system component, device or software program) must do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base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Example:     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The control system shall prevent engine </a:t>
            </a:r>
            <a:r>
              <a:rPr lang="en-U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overspeed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/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625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054"/>
                </a:moveTo>
                <a:lnTo>
                  <a:pt x="12176379" y="1155"/>
                </a:lnTo>
                <a:lnTo>
                  <a:pt x="12176379" y="0"/>
                </a:lnTo>
                <a:lnTo>
                  <a:pt x="0" y="0"/>
                </a:lnTo>
                <a:lnTo>
                  <a:pt x="0" y="140144"/>
                </a:lnTo>
                <a:lnTo>
                  <a:pt x="12176379" y="140144"/>
                </a:lnTo>
                <a:lnTo>
                  <a:pt x="12176379" y="139077"/>
                </a:lnTo>
                <a:lnTo>
                  <a:pt x="12192000" y="139166"/>
                </a:lnTo>
                <a:lnTo>
                  <a:pt x="12192000" y="105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96748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Helvetica" panose="020B0604020202020204" pitchFamily="34" charset="0"/>
                <a:cs typeface="Helvetica" panose="020B0604020202020204" pitchFamily="34" charset="0"/>
              </a:rPr>
              <a:t>Functional</a:t>
            </a:r>
            <a:r>
              <a:rPr sz="4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r>
              <a:rPr sz="4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4000" spc="-5" dirty="0">
                <a:latin typeface="Helvetica" panose="020B0604020202020204" pitchFamily="34" charset="0"/>
                <a:cs typeface="Helvetica" panose="020B0604020202020204" pitchFamily="34" charset="0"/>
              </a:rPr>
              <a:t> HMS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796287"/>
            <a:ext cx="10342880" cy="3151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user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u="sng" spc="-10" dirty="0">
                <a:latin typeface="Helvetica" panose="020B0604020202020204" pitchFamily="34" charset="0"/>
                <a:cs typeface="Helvetica" panose="020B0604020202020204" pitchFamily="34" charset="0"/>
              </a:rPr>
              <a:t>shall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be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able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search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appointments</a:t>
            </a:r>
            <a:r>
              <a:rPr sz="2400" spc="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lists</a:t>
            </a:r>
            <a:r>
              <a:rPr sz="24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clinics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marR="407034" indent="-228600" algn="just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4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shall</a:t>
            </a:r>
            <a:r>
              <a:rPr sz="24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generate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each </a:t>
            </a:r>
            <a:r>
              <a:rPr sz="2400" spc="-70" dirty="0">
                <a:latin typeface="Helvetica" panose="020B0604020202020204" pitchFamily="34" charset="0"/>
                <a:cs typeface="Helvetica" panose="020B0604020202020204" pitchFamily="34" charset="0"/>
              </a:rPr>
              <a:t>day,</a:t>
            </a:r>
            <a:r>
              <a:rPr sz="24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 clinic,</a:t>
            </a:r>
            <a:r>
              <a:rPr sz="24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list</a:t>
            </a:r>
            <a:r>
              <a:rPr sz="24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patients </a:t>
            </a:r>
            <a:r>
              <a:rPr sz="2400" spc="-6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who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are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attend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appointments</a:t>
            </a:r>
            <a:r>
              <a:rPr sz="2400" spc="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day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marR="5080" indent="-228600" algn="just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staff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member</a:t>
            </a:r>
            <a:r>
              <a:rPr sz="24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using</a:t>
            </a:r>
            <a:r>
              <a:rPr sz="2400"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400" spc="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shall</a:t>
            </a:r>
            <a:r>
              <a:rPr sz="24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be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uniquely</a:t>
            </a:r>
            <a:r>
              <a:rPr sz="24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identified</a:t>
            </a:r>
            <a:r>
              <a:rPr sz="24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sz="24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his </a:t>
            </a:r>
            <a:r>
              <a:rPr sz="2400" spc="-6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or her</a:t>
            </a:r>
            <a:r>
              <a:rPr sz="24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8-digit</a:t>
            </a:r>
            <a:r>
              <a:rPr sz="24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employee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number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054"/>
                </a:moveTo>
                <a:lnTo>
                  <a:pt x="12176379" y="1155"/>
                </a:lnTo>
                <a:lnTo>
                  <a:pt x="12176379" y="0"/>
                </a:lnTo>
                <a:lnTo>
                  <a:pt x="0" y="0"/>
                </a:lnTo>
                <a:lnTo>
                  <a:pt x="0" y="140144"/>
                </a:lnTo>
                <a:lnTo>
                  <a:pt x="12176379" y="140144"/>
                </a:lnTo>
                <a:lnTo>
                  <a:pt x="12176379" y="139077"/>
                </a:lnTo>
                <a:lnTo>
                  <a:pt x="12192000" y="139166"/>
                </a:lnTo>
                <a:lnTo>
                  <a:pt x="12192000" y="105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6611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Helvetica" panose="020B0604020202020204" pitchFamily="34" charset="0"/>
                <a:cs typeface="Helvetica" panose="020B0604020202020204" pitchFamily="34" charset="0"/>
              </a:rPr>
              <a:t>Non-functional</a:t>
            </a:r>
            <a:r>
              <a:rPr sz="4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607" y="1676400"/>
            <a:ext cx="11049000" cy="407803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793750" indent="-228600" algn="just">
              <a:lnSpc>
                <a:spcPts val="313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These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define </a:t>
            </a:r>
            <a:r>
              <a:rPr sz="2400" u="sng" spc="-25" dirty="0">
                <a:latin typeface="Helvetica" panose="020B0604020202020204" pitchFamily="34" charset="0"/>
                <a:cs typeface="Helvetica" panose="020B0604020202020204" pitchFamily="34" charset="0"/>
              </a:rPr>
              <a:t>system </a:t>
            </a:r>
            <a:r>
              <a:rPr sz="2400" u="sng" spc="-10" dirty="0">
                <a:latin typeface="Helvetica" panose="020B0604020202020204" pitchFamily="34" charset="0"/>
                <a:cs typeface="Helvetica" panose="020B0604020202020204" pitchFamily="34" charset="0"/>
              </a:rPr>
              <a:t>properties </a:t>
            </a:r>
            <a:r>
              <a:rPr sz="2400" u="sng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sz="2400" u="sng" spc="-15" dirty="0">
                <a:latin typeface="Helvetica" panose="020B0604020202020204" pitchFamily="34" charset="0"/>
                <a:cs typeface="Helvetica" panose="020B0604020202020204" pitchFamily="34" charset="0"/>
              </a:rPr>
              <a:t>constraints </a:t>
            </a:r>
            <a:r>
              <a:rPr sz="2400" spc="5" dirty="0">
                <a:latin typeface="Helvetica" panose="020B0604020202020204" pitchFamily="34" charset="0"/>
                <a:cs typeface="Helvetica" panose="020B0604020202020204" pitchFamily="34" charset="0"/>
              </a:rPr>
              <a:t>e.g.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reliability, </a:t>
            </a:r>
            <a:r>
              <a:rPr sz="2400" spc="-6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response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time, and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storage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requirements. Constraints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I/O </a:t>
            </a:r>
            <a:r>
              <a:rPr sz="2400" spc="-6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device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capability,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representations,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etc.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marR="5080" indent="-228600" algn="just">
              <a:lnSpc>
                <a:spcPts val="313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Process requirements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may </a:t>
            </a:r>
            <a:r>
              <a:rPr sz="2400" spc="5" dirty="0">
                <a:latin typeface="Helvetica" panose="020B0604020202020204" pitchFamily="34" charset="0"/>
                <a:cs typeface="Helvetica" panose="020B0604020202020204" pitchFamily="34" charset="0"/>
              </a:rPr>
              <a:t>also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be specified mandating a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particular </a:t>
            </a:r>
            <a:r>
              <a:rPr sz="2400" spc="-6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IDE,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programming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language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or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development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method.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1300" marR="160655" indent="-228600" algn="just">
              <a:lnSpc>
                <a:spcPts val="313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Non-functional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may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be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more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critical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than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functional </a:t>
            </a:r>
            <a:r>
              <a:rPr sz="2400" spc="-6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requirements.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If these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are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met,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 the</a:t>
            </a:r>
            <a:r>
              <a:rPr sz="24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may 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be useless.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054"/>
                </a:moveTo>
                <a:lnTo>
                  <a:pt x="12176379" y="1155"/>
                </a:lnTo>
                <a:lnTo>
                  <a:pt x="12176379" y="0"/>
                </a:lnTo>
                <a:lnTo>
                  <a:pt x="0" y="0"/>
                </a:lnTo>
                <a:lnTo>
                  <a:pt x="0" y="140144"/>
                </a:lnTo>
                <a:lnTo>
                  <a:pt x="12176379" y="140144"/>
                </a:lnTo>
                <a:lnTo>
                  <a:pt x="12176379" y="139077"/>
                </a:lnTo>
                <a:lnTo>
                  <a:pt x="12192000" y="139166"/>
                </a:lnTo>
                <a:lnTo>
                  <a:pt x="12192000" y="105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 sz="16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sz="16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97510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Examples of </a:t>
            </a:r>
            <a:r>
              <a:rPr sz="4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Non-functional</a:t>
            </a:r>
            <a:r>
              <a:rPr sz="4000" spc="-4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479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>
              <a:lnSpc>
                <a:spcPct val="100000"/>
              </a:lnSpc>
            </a:pP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00000"/>
              </a:lnSpc>
            </a:pP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1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1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1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1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1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1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1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6938" y="1752600"/>
            <a:ext cx="99796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Each page must load within 2 seconds</a:t>
            </a:r>
            <a:r>
              <a:rPr lang="en-US" sz="2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process must finish within 3 hours so data is available by 8 a.m. local time after an overnight update.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system must meet Web Content Accessibility Guidelines WCAG 2.1.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Database 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security must meet HIPAA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10006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054"/>
                </a:moveTo>
                <a:lnTo>
                  <a:pt x="12176379" y="1155"/>
                </a:lnTo>
                <a:lnTo>
                  <a:pt x="12176379" y="0"/>
                </a:lnTo>
                <a:lnTo>
                  <a:pt x="0" y="0"/>
                </a:lnTo>
                <a:lnTo>
                  <a:pt x="0" y="140144"/>
                </a:lnTo>
                <a:lnTo>
                  <a:pt x="12176379" y="140144"/>
                </a:lnTo>
                <a:lnTo>
                  <a:pt x="12176379" y="139077"/>
                </a:lnTo>
                <a:lnTo>
                  <a:pt x="12192000" y="139166"/>
                </a:lnTo>
                <a:lnTo>
                  <a:pt x="12192000" y="105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9834" y="392131"/>
            <a:ext cx="10436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>
                <a:latin typeface="Helvetica" panose="020B0604020202020204" pitchFamily="34" charset="0"/>
                <a:cs typeface="Helvetica" panose="020B0604020202020204" pitchFamily="34" charset="0"/>
              </a:rPr>
              <a:t>Types</a:t>
            </a:r>
            <a:r>
              <a:rPr sz="4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4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4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400" dirty="0">
                <a:latin typeface="Helvetica" panose="020B0604020202020204" pitchFamily="34" charset="0"/>
                <a:cs typeface="Helvetica" panose="020B0604020202020204" pitchFamily="34" charset="0"/>
              </a:rPr>
              <a:t>Non-functional</a:t>
            </a:r>
            <a:r>
              <a:rPr sz="44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4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 sz="4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354" y="1395045"/>
            <a:ext cx="8465820" cy="475030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IO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VE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GI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G  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SCIENCES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51544"/>
            <a:ext cx="933958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4800" spc="-35" dirty="0">
                <a:latin typeface="Helvetica" panose="020B0604020202020204" pitchFamily="34" charset="0"/>
                <a:cs typeface="Helvetica" panose="020B0604020202020204" pitchFamily="34" charset="0"/>
              </a:rPr>
              <a:t>Non</a:t>
            </a:r>
            <a:r>
              <a:rPr sz="4800" spc="-1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800" spc="-45" dirty="0">
                <a:latin typeface="Helvetica" panose="020B0604020202020204" pitchFamily="34" charset="0"/>
                <a:cs typeface="Helvetica" panose="020B0604020202020204" pitchFamily="34" charset="0"/>
              </a:rPr>
              <a:t>functional</a:t>
            </a:r>
            <a:r>
              <a:rPr sz="4800" spc="-1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800" spc="-55" dirty="0">
                <a:latin typeface="Helvetica" panose="020B0604020202020204" pitchFamily="34" charset="0"/>
                <a:cs typeface="Helvetica" panose="020B0604020202020204" pitchFamily="34" charset="0"/>
              </a:rPr>
              <a:t>classifications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5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92390" y="2143950"/>
            <a:ext cx="3081020" cy="475771"/>
          </a:xfrm>
          <a:prstGeom prst="rect">
            <a:avLst/>
          </a:prstGeom>
          <a:solidFill>
            <a:srgbClr val="BC572C"/>
          </a:solidFill>
        </p:spPr>
        <p:txBody>
          <a:bodyPr vert="horz" wrap="square" lIns="0" tIns="196850" rIns="0" bIns="0" rtlCol="0">
            <a:spAutoFit/>
          </a:bodyPr>
          <a:lstStyle/>
          <a:p>
            <a:pPr marL="353695" algn="just">
              <a:lnSpc>
                <a:spcPct val="100000"/>
              </a:lnSpc>
              <a:spcBef>
                <a:spcPts val="1550"/>
              </a:spcBef>
            </a:pPr>
            <a:r>
              <a:rPr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Product</a:t>
            </a:r>
            <a:r>
              <a:rPr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2390" y="2920301"/>
            <a:ext cx="3081020" cy="1615442"/>
          </a:xfrm>
          <a:prstGeom prst="rect">
            <a:avLst/>
          </a:prstGeom>
          <a:solidFill>
            <a:srgbClr val="E8D1CD">
              <a:alpha val="90194"/>
            </a:srgbClr>
          </a:solidFill>
        </p:spPr>
        <p:txBody>
          <a:bodyPr vert="horz" wrap="square" lIns="0" tIns="85725" rIns="0" bIns="0" rtlCol="0">
            <a:spAutoFit/>
          </a:bodyPr>
          <a:lstStyle/>
          <a:p>
            <a:pPr marL="347980" marR="200660" indent="-229235" algn="just">
              <a:lnSpc>
                <a:spcPct val="91700"/>
              </a:lnSpc>
              <a:spcBef>
                <a:spcPts val="675"/>
              </a:spcBef>
              <a:buChar char="•"/>
              <a:tabLst>
                <a:tab pos="348615" algn="l"/>
              </a:tabLst>
            </a:pP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which </a:t>
            </a:r>
            <a:r>
              <a:rPr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specify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that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delivered product must </a:t>
            </a:r>
            <a:r>
              <a:rPr spc="-45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5" dirty="0">
                <a:latin typeface="Helvetica" panose="020B0604020202020204" pitchFamily="34" charset="0"/>
                <a:cs typeface="Helvetica" panose="020B0604020202020204" pitchFamily="34" charset="0"/>
              </a:rPr>
              <a:t>behave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in a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particular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25" dirty="0">
                <a:latin typeface="Helvetica" panose="020B0604020202020204" pitchFamily="34" charset="0"/>
                <a:cs typeface="Helvetica" panose="020B0604020202020204" pitchFamily="34" charset="0"/>
              </a:rPr>
              <a:t>way</a:t>
            </a:r>
            <a:r>
              <a:rPr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e.g. </a:t>
            </a:r>
            <a:r>
              <a:rPr spc="-15" dirty="0">
                <a:latin typeface="Helvetica" panose="020B0604020202020204" pitchFamily="34" charset="0"/>
                <a:cs typeface="Helvetica" panose="020B0604020202020204" pitchFamily="34" charset="0"/>
              </a:rPr>
              <a:t>execution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speed, </a:t>
            </a:r>
            <a:r>
              <a:rPr spc="-20" dirty="0">
                <a:latin typeface="Helvetica" panose="020B0604020202020204" pitchFamily="34" charset="0"/>
                <a:cs typeface="Helvetica" panose="020B0604020202020204" pitchFamily="34" charset="0"/>
              </a:rPr>
              <a:t>reliability,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etc.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85398" y="2143950"/>
            <a:ext cx="3081020" cy="666208"/>
          </a:xfrm>
          <a:prstGeom prst="rect">
            <a:avLst/>
          </a:prstGeom>
          <a:solidFill>
            <a:srgbClr val="855540"/>
          </a:solidFill>
        </p:spPr>
        <p:txBody>
          <a:bodyPr vert="horz" wrap="square" lIns="0" tIns="50165" rIns="0" bIns="0" rtlCol="0">
            <a:spAutoFit/>
          </a:bodyPr>
          <a:lstStyle/>
          <a:p>
            <a:pPr marL="760095" algn="just">
              <a:lnSpc>
                <a:spcPts val="2420"/>
              </a:lnSpc>
              <a:spcBef>
                <a:spcPts val="395"/>
              </a:spcBef>
            </a:pPr>
            <a:r>
              <a:rPr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Organizational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8990" algn="just">
              <a:lnSpc>
                <a:spcPts val="2420"/>
              </a:lnSpc>
            </a:pPr>
            <a:r>
              <a:rPr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5398" y="2920301"/>
            <a:ext cx="3081020" cy="1870256"/>
          </a:xfrm>
          <a:prstGeom prst="rect">
            <a:avLst/>
          </a:prstGeom>
          <a:solidFill>
            <a:srgbClr val="D9D1CE">
              <a:alpha val="90194"/>
            </a:srgbClr>
          </a:solidFill>
        </p:spPr>
        <p:txBody>
          <a:bodyPr vert="horz" wrap="square" lIns="0" tIns="85725" rIns="0" bIns="0" rtlCol="0">
            <a:spAutoFit/>
          </a:bodyPr>
          <a:lstStyle/>
          <a:p>
            <a:pPr marL="349250" marR="325120" indent="-228600" algn="just">
              <a:lnSpc>
                <a:spcPct val="91600"/>
              </a:lnSpc>
              <a:spcBef>
                <a:spcPts val="675"/>
              </a:spcBef>
              <a:buChar char="•"/>
              <a:tabLst>
                <a:tab pos="349885" algn="l"/>
              </a:tabLst>
            </a:pP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which </a:t>
            </a:r>
            <a:r>
              <a:rPr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consequence of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5" dirty="0">
                <a:latin typeface="Helvetica" panose="020B0604020202020204" pitchFamily="34" charset="0"/>
                <a:cs typeface="Helvetica" panose="020B0604020202020204" pitchFamily="34" charset="0"/>
              </a:rPr>
              <a:t>organizational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policies </a:t>
            </a:r>
            <a:r>
              <a:rPr spc="-45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procedures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e.g. </a:t>
            </a:r>
            <a:r>
              <a:rPr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process standards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 used, implementation </a:t>
            </a:r>
            <a:r>
              <a:rPr spc="-45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requirements, etc.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79930" y="2143950"/>
            <a:ext cx="3081020" cy="475771"/>
          </a:xfrm>
          <a:prstGeom prst="rect">
            <a:avLst/>
          </a:prstGeom>
          <a:solidFill>
            <a:srgbClr val="9B8356"/>
          </a:solidFill>
        </p:spPr>
        <p:txBody>
          <a:bodyPr vert="horz" wrap="square" lIns="0" tIns="196850" rIns="0" bIns="0" rtlCol="0">
            <a:spAutoFit/>
          </a:bodyPr>
          <a:lstStyle/>
          <a:p>
            <a:pPr marL="334645" algn="just">
              <a:lnSpc>
                <a:spcPct val="100000"/>
              </a:lnSpc>
              <a:spcBef>
                <a:spcPts val="1550"/>
              </a:spcBef>
            </a:pPr>
            <a:r>
              <a:rPr spc="-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External</a:t>
            </a:r>
            <a:r>
              <a:rPr spc="-2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9930" y="2920301"/>
            <a:ext cx="3081020" cy="2553263"/>
          </a:xfrm>
          <a:prstGeom prst="rect">
            <a:avLst/>
          </a:prstGeom>
          <a:solidFill>
            <a:srgbClr val="DED9D1">
              <a:alpha val="90194"/>
            </a:srgbClr>
          </a:solidFill>
        </p:spPr>
        <p:txBody>
          <a:bodyPr vert="horz" wrap="square" lIns="0" tIns="85725" rIns="0" bIns="0" rtlCol="0">
            <a:spAutoFit/>
          </a:bodyPr>
          <a:lstStyle/>
          <a:p>
            <a:pPr marL="349250" marR="340360" indent="-228600" algn="just">
              <a:lnSpc>
                <a:spcPct val="91600"/>
              </a:lnSpc>
              <a:spcBef>
                <a:spcPts val="675"/>
              </a:spcBef>
              <a:buChar char="•"/>
              <a:tabLst>
                <a:tab pos="349885" algn="l"/>
              </a:tabLst>
            </a:pP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which </a:t>
            </a:r>
            <a:r>
              <a:rPr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arise </a:t>
            </a:r>
            <a:r>
              <a:rPr spc="-15" dirty="0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20" dirty="0">
                <a:latin typeface="Helvetica" panose="020B0604020202020204" pitchFamily="34" charset="0"/>
                <a:cs typeface="Helvetica" panose="020B0604020202020204" pitchFamily="34" charset="0"/>
              </a:rPr>
              <a:t>factors </a:t>
            </a:r>
            <a:r>
              <a:rPr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which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are external to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25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its </a:t>
            </a:r>
            <a:r>
              <a:rPr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development</a:t>
            </a:r>
            <a:r>
              <a:rPr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process,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9250" marR="600075" algn="just">
              <a:lnSpc>
                <a:spcPts val="2300"/>
              </a:lnSpc>
              <a:spcBef>
                <a:spcPts val="60"/>
              </a:spcBef>
            </a:pP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e.g.</a:t>
            </a:r>
            <a:r>
              <a:rPr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interoperability </a:t>
            </a:r>
            <a:r>
              <a:rPr spc="-45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requirements,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legislative </a:t>
            </a:r>
            <a:r>
              <a:rPr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requirements,</a:t>
            </a:r>
            <a:r>
              <a:rPr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etc.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32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054"/>
                </a:moveTo>
                <a:lnTo>
                  <a:pt x="12176379" y="1155"/>
                </a:lnTo>
                <a:lnTo>
                  <a:pt x="12176379" y="0"/>
                </a:lnTo>
                <a:lnTo>
                  <a:pt x="0" y="0"/>
                </a:lnTo>
                <a:lnTo>
                  <a:pt x="0" y="140144"/>
                </a:lnTo>
                <a:lnTo>
                  <a:pt x="12176379" y="140144"/>
                </a:lnTo>
                <a:lnTo>
                  <a:pt x="12176379" y="139077"/>
                </a:lnTo>
                <a:lnTo>
                  <a:pt x="12192000" y="139166"/>
                </a:lnTo>
                <a:lnTo>
                  <a:pt x="12192000" y="1054"/>
                </a:lnTo>
                <a:close/>
              </a:path>
            </a:pathLst>
          </a:custGeom>
          <a:solidFill>
            <a:srgbClr val="77923B"/>
          </a:solidFill>
        </p:spPr>
        <p:txBody>
          <a:bodyPr wrap="square" lIns="0" tIns="0" rIns="0" bIns="0" rtlCol="0"/>
          <a:lstStyle/>
          <a:p>
            <a:pPr algn="just"/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algn="just"/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9600" y="235652"/>
            <a:ext cx="1060145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sz="4400" dirty="0">
                <a:latin typeface="Helvetica" panose="020B0604020202020204" pitchFamily="34" charset="0"/>
                <a:cs typeface="Helvetica" panose="020B0604020202020204" pitchFamily="34" charset="0"/>
              </a:rPr>
              <a:t> Functional</a:t>
            </a:r>
            <a:r>
              <a:rPr sz="44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4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r>
              <a:rPr sz="4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400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4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Example</a:t>
            </a:r>
            <a:endParaRPr sz="4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9643236" y="6337706"/>
            <a:ext cx="1752600" cy="6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1140"/>
              </a:lnSpc>
            </a:pP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pc="-135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</a:p>
          <a:p>
            <a:pPr algn="just">
              <a:lnSpc>
                <a:spcPct val="100000"/>
              </a:lnSpc>
            </a:pPr>
            <a:r>
              <a:rPr spc="-55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pc="-2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pc="-3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pc="-55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pc="-40" dirty="0"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pc="-35" dirty="0"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240"/>
              </a:lnSpc>
            </a:pP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200" spc="-1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IO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</a:t>
            </a:r>
            <a:r>
              <a:rPr sz="12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12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</a:t>
            </a:r>
            <a:r>
              <a:rPr sz="12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2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12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2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endParaRPr sz="12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 algn="just">
              <a:lnSpc>
                <a:spcPct val="100000"/>
              </a:lnSpc>
            </a:pPr>
            <a:r>
              <a:rPr sz="12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12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1200" spc="-2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2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1200" spc="-1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2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200" spc="-5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200" spc="-3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1200" spc="-5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1200" spc="-4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GI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12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  </a:t>
            </a:r>
            <a:r>
              <a:rPr sz="1200" spc="-35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SCIENCES</a:t>
            </a:r>
            <a:endParaRPr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9" b="8205"/>
          <a:stretch/>
        </p:blipFill>
        <p:spPr>
          <a:xfrm>
            <a:off x="228600" y="1828800"/>
            <a:ext cx="11631972" cy="375619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432"/>
            <a:ext cx="12192000" cy="140335"/>
          </a:xfrm>
          <a:custGeom>
            <a:avLst/>
            <a:gdLst/>
            <a:ahLst/>
            <a:cxnLst/>
            <a:rect l="l" t="t" r="r" b="b"/>
            <a:pathLst>
              <a:path w="12192000" h="140334">
                <a:moveTo>
                  <a:pt x="12192000" y="1054"/>
                </a:moveTo>
                <a:lnTo>
                  <a:pt x="12176379" y="1155"/>
                </a:lnTo>
                <a:lnTo>
                  <a:pt x="12176379" y="0"/>
                </a:lnTo>
                <a:lnTo>
                  <a:pt x="0" y="0"/>
                </a:lnTo>
                <a:lnTo>
                  <a:pt x="0" y="140144"/>
                </a:lnTo>
                <a:lnTo>
                  <a:pt x="12176379" y="140144"/>
                </a:lnTo>
                <a:lnTo>
                  <a:pt x="12176379" y="139077"/>
                </a:lnTo>
                <a:lnTo>
                  <a:pt x="12192000" y="139166"/>
                </a:lnTo>
                <a:lnTo>
                  <a:pt x="12192000" y="1054"/>
                </a:lnTo>
                <a:close/>
              </a:path>
            </a:pathLst>
          </a:custGeom>
          <a:solidFill>
            <a:srgbClr val="7792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265167"/>
            <a:ext cx="12190730" cy="592455"/>
            <a:chOff x="0" y="6265167"/>
            <a:chExt cx="12190730" cy="592455"/>
          </a:xfrm>
        </p:grpSpPr>
        <p:sp>
          <p:nvSpPr>
            <p:cNvPr id="4" name="object 4"/>
            <p:cNvSpPr/>
            <p:nvPr/>
          </p:nvSpPr>
          <p:spPr>
            <a:xfrm>
              <a:off x="0" y="6265167"/>
              <a:ext cx="12190730" cy="592455"/>
            </a:xfrm>
            <a:custGeom>
              <a:avLst/>
              <a:gdLst/>
              <a:ahLst/>
              <a:cxnLst/>
              <a:rect l="l" t="t" r="r" b="b"/>
              <a:pathLst>
                <a:path w="12190730" h="592454">
                  <a:moveTo>
                    <a:pt x="12190349" y="0"/>
                  </a:moveTo>
                  <a:lnTo>
                    <a:pt x="0" y="0"/>
                  </a:lnTo>
                  <a:lnTo>
                    <a:pt x="0" y="592404"/>
                  </a:lnTo>
                  <a:lnTo>
                    <a:pt x="12190349" y="592404"/>
                  </a:lnTo>
                  <a:lnTo>
                    <a:pt x="12190349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392" y="6298692"/>
              <a:ext cx="533400" cy="533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8334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Helvetica" panose="020B0604020202020204" pitchFamily="34" charset="0"/>
                <a:cs typeface="Helvetica" panose="020B0604020202020204" pitchFamily="34" charset="0"/>
              </a:rPr>
              <a:t>Non-Functional</a:t>
            </a:r>
            <a:r>
              <a:rPr sz="4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20" dirty="0">
                <a:latin typeface="Helvetica" panose="020B0604020202020204" pitchFamily="34" charset="0"/>
                <a:cs typeface="Helvetica" panose="020B0604020202020204" pitchFamily="34" charset="0"/>
              </a:rPr>
              <a:t>Requirements</a:t>
            </a:r>
            <a:r>
              <a:rPr sz="4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4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4000" spc="-5" dirty="0">
                <a:latin typeface="Helvetica" panose="020B0604020202020204" pitchFamily="34" charset="0"/>
                <a:cs typeface="Helvetica" panose="020B0604020202020204" pitchFamily="34" charset="0"/>
              </a:rPr>
              <a:t>Metrics</a:t>
            </a:r>
            <a:endParaRPr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pc="-35" dirty="0"/>
              <a:t>N</a:t>
            </a:r>
            <a:r>
              <a:rPr spc="-135" dirty="0"/>
              <a:t>A</a:t>
            </a:r>
            <a:r>
              <a:rPr spc="-35" dirty="0"/>
              <a:t>T</a:t>
            </a:r>
            <a:r>
              <a:rPr spc="-40" dirty="0"/>
              <a:t>IO</a:t>
            </a:r>
            <a:r>
              <a:rPr spc="-35" dirty="0"/>
              <a:t>NA</a:t>
            </a:r>
            <a:r>
              <a:rPr dirty="0"/>
              <a:t>L</a:t>
            </a:r>
            <a:r>
              <a:rPr spc="-10" dirty="0"/>
              <a:t> </a:t>
            </a:r>
            <a:r>
              <a:rPr spc="-40" dirty="0"/>
              <a:t>U</a:t>
            </a:r>
            <a:r>
              <a:rPr spc="-35" dirty="0"/>
              <a:t>N</a:t>
            </a:r>
            <a:r>
              <a:rPr spc="-40" dirty="0"/>
              <a:t>I</a:t>
            </a:r>
            <a:r>
              <a:rPr spc="-35" dirty="0"/>
              <a:t>VE</a:t>
            </a:r>
            <a:r>
              <a:rPr spc="-55" dirty="0"/>
              <a:t>R</a:t>
            </a:r>
            <a:r>
              <a:rPr spc="-40" dirty="0"/>
              <a:t>SI</a:t>
            </a:r>
            <a:r>
              <a:rPr spc="-35" dirty="0"/>
              <a:t>T</a:t>
            </a:r>
            <a:r>
              <a:rPr dirty="0"/>
              <a:t>Y</a:t>
            </a:r>
            <a:r>
              <a:rPr spc="-20" dirty="0"/>
              <a:t> </a:t>
            </a:r>
            <a:r>
              <a:rPr spc="-40" dirty="0"/>
              <a:t>O</a:t>
            </a:r>
            <a:r>
              <a:rPr dirty="0"/>
              <a:t>F</a:t>
            </a:r>
          </a:p>
          <a:p>
            <a:pPr>
              <a:lnSpc>
                <a:spcPct val="100000"/>
              </a:lnSpc>
            </a:pPr>
            <a:r>
              <a:rPr spc="-55" dirty="0"/>
              <a:t>C</a:t>
            </a:r>
            <a:r>
              <a:rPr spc="-40" dirty="0"/>
              <a:t>O</a:t>
            </a:r>
            <a:r>
              <a:rPr spc="-30" dirty="0"/>
              <a:t>M</a:t>
            </a:r>
            <a:r>
              <a:rPr spc="-35" dirty="0"/>
              <a:t>P</a:t>
            </a:r>
            <a:r>
              <a:rPr spc="-40" dirty="0"/>
              <a:t>U</a:t>
            </a:r>
            <a:r>
              <a:rPr spc="-35" dirty="0"/>
              <a:t>T</a:t>
            </a:r>
            <a:r>
              <a:rPr spc="-40" dirty="0"/>
              <a:t>I</a:t>
            </a:r>
            <a:r>
              <a:rPr spc="-20" dirty="0"/>
              <a:t>N</a:t>
            </a:r>
            <a:r>
              <a:rPr dirty="0"/>
              <a:t>G</a:t>
            </a:r>
            <a:r>
              <a:rPr spc="-10" dirty="0"/>
              <a:t> </a:t>
            </a:r>
            <a:r>
              <a:rPr spc="-35" dirty="0"/>
              <a:t>AN</a:t>
            </a:r>
            <a:r>
              <a:rPr dirty="0"/>
              <a:t>D</a:t>
            </a:r>
            <a:r>
              <a:rPr spc="-50" dirty="0"/>
              <a:t> </a:t>
            </a:r>
            <a:r>
              <a:rPr spc="-35" dirty="0"/>
              <a:t>E</a:t>
            </a:r>
            <a:r>
              <a:rPr spc="-30" dirty="0"/>
              <a:t>M</a:t>
            </a:r>
            <a:r>
              <a:rPr spc="-35" dirty="0"/>
              <a:t>E</a:t>
            </a:r>
            <a:r>
              <a:rPr spc="-55" dirty="0"/>
              <a:t>R</a:t>
            </a:r>
            <a:r>
              <a:rPr spc="-40" dirty="0"/>
              <a:t>GI</a:t>
            </a:r>
            <a:r>
              <a:rPr spc="-35" dirty="0"/>
              <a:t>N</a:t>
            </a:r>
            <a:r>
              <a:rPr dirty="0"/>
              <a:t>G  </a:t>
            </a:r>
            <a:r>
              <a:rPr spc="-35" dirty="0"/>
              <a:t>SCIENCES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630536" y="6325006"/>
            <a:ext cx="177800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1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IO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VE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GI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G  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SCIENCES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278365"/>
              </p:ext>
            </p:extLst>
          </p:nvPr>
        </p:nvGraphicFramePr>
        <p:xfrm>
          <a:off x="762000" y="2028733"/>
          <a:ext cx="10516235" cy="37035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9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Property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Measure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marL="80010">
                        <a:lnSpc>
                          <a:spcPts val="2115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Speed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15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Processed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transactions/second,</a:t>
                      </a:r>
                      <a:r>
                        <a:rPr sz="18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User/event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response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time,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Screen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refresh time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marL="80010">
                        <a:lnSpc>
                          <a:spcPts val="2115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Size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15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Mbytes,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ROM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chips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773">
                <a:tc>
                  <a:txBody>
                    <a:bodyPr/>
                    <a:lstStyle/>
                    <a:p>
                      <a:pPr marL="80010">
                        <a:lnSpc>
                          <a:spcPts val="2115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Ease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use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15"/>
                        </a:lnSpc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time,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help frames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525">
                <a:tc>
                  <a:txBody>
                    <a:bodyPr/>
                    <a:lstStyle/>
                    <a:p>
                      <a:pPr marL="80010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Reliability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Mean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time to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failure,</a:t>
                      </a:r>
                      <a:r>
                        <a:rPr sz="1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Probability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unavailability,</a:t>
                      </a:r>
                      <a:r>
                        <a:rPr sz="18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Rate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failure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occurrence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80010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Robustness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72390">
                        <a:lnSpc>
                          <a:spcPts val="2160"/>
                        </a:lnSpc>
                        <a:spcBef>
                          <a:spcPts val="3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800" spc="2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2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restart</a:t>
                      </a:r>
                      <a:r>
                        <a:rPr sz="1800" spc="2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800" spc="22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failure,</a:t>
                      </a:r>
                      <a:r>
                        <a:rPr sz="1800" spc="22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Percentage</a:t>
                      </a:r>
                      <a:r>
                        <a:rPr sz="1800" spc="2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22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events</a:t>
                      </a:r>
                      <a:r>
                        <a:rPr sz="1800" spc="2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causing</a:t>
                      </a:r>
                      <a:r>
                        <a:rPr sz="1800" spc="22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failure,</a:t>
                      </a:r>
                      <a:r>
                        <a:rPr sz="1800" spc="22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Probability</a:t>
                      </a:r>
                      <a:r>
                        <a:rPr sz="1800" spc="2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229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800" spc="-48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corruption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failure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marL="80010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Portability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Percentage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target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dependent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statements,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 target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systems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149">
                <a:tc>
                  <a:txBody>
                    <a:bodyPr/>
                    <a:lstStyle/>
                    <a:p>
                      <a:pPr marL="80010">
                        <a:lnSpc>
                          <a:spcPts val="212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Availability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2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Availability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system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over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time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e.g., 24hr/day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52400"/>
            <a:ext cx="9406166" cy="6172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8986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81000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Domain requirements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/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1143000"/>
            <a:ext cx="1066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Domain requirements reflect the environment in which the system operates so, when we talk about an application domain we mean environments such as train operation, medical records, e-commerce etc</a:t>
            </a:r>
            <a:r>
              <a:rPr lang="en-US" dirty="0" smtClean="0">
                <a:solidFill>
                  <a:srgbClr val="33333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Describe system characteristics and features that reflect the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May be new functional requirements, constraints on existing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requirements or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may define specific computations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If domain requirements are not satisfied, the system may be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unworkable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267200"/>
            <a:ext cx="6485182" cy="18137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101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1163</Words>
  <Application>Microsoft Office PowerPoint</Application>
  <PresentationFormat>Widescreen</PresentationFormat>
  <Paragraphs>203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ＭＳ Ｐゴシック</vt:lpstr>
      <vt:lpstr>Arial</vt:lpstr>
      <vt:lpstr>Arial MT</vt:lpstr>
      <vt:lpstr>Calibri</vt:lpstr>
      <vt:lpstr>Calibri Light</vt:lpstr>
      <vt:lpstr>Helvetica</vt:lpstr>
      <vt:lpstr>Wingdings</vt:lpstr>
      <vt:lpstr>Office Theme</vt:lpstr>
      <vt:lpstr>Software Engineering Requirement Engineering</vt:lpstr>
      <vt:lpstr>PowerPoint Presentation</vt:lpstr>
      <vt:lpstr>PowerPoint Presentation</vt:lpstr>
      <vt:lpstr>Problems</vt:lpstr>
      <vt:lpstr>PowerPoint Presentation</vt:lpstr>
      <vt:lpstr>Flight-Booking System Example</vt:lpstr>
      <vt:lpstr>Requirement Engineering</vt:lpstr>
      <vt:lpstr>Requirement?</vt:lpstr>
      <vt:lpstr>Examples of Requirements</vt:lpstr>
      <vt:lpstr>Requirements Engineering</vt:lpstr>
      <vt:lpstr>Definition of  Requirement  Engineering</vt:lpstr>
      <vt:lpstr>Types of requirement</vt:lpstr>
      <vt:lpstr>PowerPoint Presentation</vt:lpstr>
      <vt:lpstr>User and  system  requirements</vt:lpstr>
      <vt:lpstr>PowerPoint Presentation</vt:lpstr>
      <vt:lpstr>Users of Requirements (Stakeholders)</vt:lpstr>
      <vt:lpstr>Requirement Engineering</vt:lpstr>
      <vt:lpstr>Requirements</vt:lpstr>
      <vt:lpstr>Type of Requirements</vt:lpstr>
      <vt:lpstr>PowerPoint Presentation</vt:lpstr>
      <vt:lpstr>Functional requirements</vt:lpstr>
      <vt:lpstr>Functional Requirements – HMS</vt:lpstr>
      <vt:lpstr>Non-functional Requirements</vt:lpstr>
      <vt:lpstr>Examples of Non-functional Requirements</vt:lpstr>
      <vt:lpstr>Types of Non-functional Requirements</vt:lpstr>
      <vt:lpstr>Non functional classifications</vt:lpstr>
      <vt:lpstr>Non- Functional Requirements – Example</vt:lpstr>
      <vt:lpstr>Non-Functional Requirements – Metrics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 Abdul Ghafoor</dc:creator>
  <cp:lastModifiedBy>A653</cp:lastModifiedBy>
  <cp:revision>39</cp:revision>
  <dcterms:created xsi:type="dcterms:W3CDTF">2024-02-14T06:05:41Z</dcterms:created>
  <dcterms:modified xsi:type="dcterms:W3CDTF">2024-02-18T15:55:10Z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2024-02-14T00:00:00Z</vt:filetime>
  </property>
</Properties>
</file>