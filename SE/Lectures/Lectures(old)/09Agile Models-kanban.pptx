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93" r:id="rId2"/>
    <p:sldId id="302" r:id="rId3"/>
    <p:sldId id="303" r:id="rId4"/>
    <p:sldId id="304" r:id="rId5"/>
    <p:sldId id="305" r:id="rId6"/>
    <p:sldId id="306" r:id="rId7"/>
    <p:sldId id="307" r:id="rId8"/>
    <p:sldId id="308" r:id="rId9"/>
    <p:sldId id="309" r:id="rId1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181" autoAdjust="0"/>
  </p:normalViewPr>
  <p:slideViewPr>
    <p:cSldViewPr>
      <p:cViewPr varScale="1">
        <p:scale>
          <a:sx n="117" d="100"/>
          <a:sy n="117" d="100"/>
        </p:scale>
        <p:origin x="1938"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A7C6A5C-7CFF-4934-916C-AB59147EEF47}" type="datetimeFigureOut">
              <a:rPr lang="en-US" smtClean="0"/>
              <a:t>2/17/2025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0038184-CC5E-4457-B07A-A30F1A8923FA}" type="slidenum">
              <a:rPr lang="en-US" smtClean="0"/>
              <a:t>‹#›</a:t>
            </a:fld>
            <a:endParaRPr lang="en-US"/>
          </a:p>
        </p:txBody>
      </p:sp>
    </p:spTree>
    <p:extLst>
      <p:ext uri="{BB962C8B-B14F-4D97-AF65-F5344CB8AC3E}">
        <p14:creationId xmlns:p14="http://schemas.microsoft.com/office/powerpoint/2010/main" val="136452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222222"/>
                </a:solidFill>
                <a:effectLst/>
                <a:latin typeface="Inter"/>
              </a:rPr>
              <a:t>kanban</a:t>
            </a:r>
            <a:r>
              <a:rPr lang="en-US" b="0" i="0" dirty="0">
                <a:solidFill>
                  <a:srgbClr val="222222"/>
                </a:solidFill>
                <a:effectLst/>
                <a:latin typeface="Inter"/>
              </a:rPr>
              <a:t> is not unique in its focus on continuous improvement, it stands out through slow and smooth integration into the team’s working process.</a:t>
            </a:r>
          </a:p>
          <a:p>
            <a:r>
              <a:rPr lang="en-US" dirty="0"/>
              <a:t>Transparency</a:t>
            </a:r>
          </a:p>
          <a:p>
            <a:r>
              <a:rPr lang="en-US" dirty="0"/>
              <a:t>It is very transparent – everyone knows what others are doing, every team member’s online week planner is visible, the workload is clear, and any bottlenecks can be spotted right away.</a:t>
            </a:r>
          </a:p>
          <a:p>
            <a:r>
              <a:rPr lang="en-US" dirty="0"/>
              <a:t>In many teams, especially when it comes to software development, the key role of the project manager is to guide the team and facilitate their work, instead of actively managing and standing in the way. The levels of transparency and visibility that Kanban offers leave PMs assured that their teams know what they should be doing and when. As a result, such a non-invasive yet efficient system boosts creativity and promotes focus on important tasks.</a:t>
            </a:r>
          </a:p>
        </p:txBody>
      </p:sp>
      <p:sp>
        <p:nvSpPr>
          <p:cNvPr id="4" name="Slide Number Placeholder 3"/>
          <p:cNvSpPr>
            <a:spLocks noGrp="1"/>
          </p:cNvSpPr>
          <p:nvPr>
            <p:ph type="sldNum" sz="quarter" idx="5"/>
          </p:nvPr>
        </p:nvSpPr>
        <p:spPr/>
        <p:txBody>
          <a:bodyPr/>
          <a:lstStyle/>
          <a:p>
            <a:fld id="{80038184-CC5E-4457-B07A-A30F1A8923FA}" type="slidenum">
              <a:rPr lang="en-US" smtClean="0"/>
              <a:t>9</a:t>
            </a:fld>
            <a:endParaRPr lang="en-US"/>
          </a:p>
        </p:txBody>
      </p:sp>
    </p:spTree>
    <p:extLst>
      <p:ext uri="{BB962C8B-B14F-4D97-AF65-F5344CB8AC3E}">
        <p14:creationId xmlns:p14="http://schemas.microsoft.com/office/powerpoint/2010/main" val="2048286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a:lnSpc>
                <a:spcPts val="1140"/>
              </a:lnSpc>
            </a:pPr>
            <a:r>
              <a:rPr spc="-35" dirty="0"/>
              <a:t>N</a:t>
            </a:r>
            <a:r>
              <a:rPr spc="-135" dirty="0"/>
              <a:t>A</a:t>
            </a:r>
            <a:r>
              <a:rPr spc="-35" dirty="0"/>
              <a:t>T</a:t>
            </a:r>
            <a:r>
              <a:rPr spc="-40" dirty="0"/>
              <a:t>IO</a:t>
            </a:r>
            <a:r>
              <a:rPr spc="-35" dirty="0"/>
              <a:t>NA</a:t>
            </a:r>
            <a:r>
              <a:rPr dirty="0"/>
              <a:t>L</a:t>
            </a:r>
            <a:r>
              <a:rPr spc="-10" dirty="0"/>
              <a:t> </a:t>
            </a:r>
            <a:r>
              <a:rPr spc="-40" dirty="0"/>
              <a:t>U</a:t>
            </a:r>
            <a:r>
              <a:rPr spc="-35" dirty="0"/>
              <a:t>N</a:t>
            </a:r>
            <a:r>
              <a:rPr spc="-40" dirty="0"/>
              <a:t>I</a:t>
            </a:r>
            <a:r>
              <a:rPr spc="-35" dirty="0"/>
              <a:t>VE</a:t>
            </a:r>
            <a:r>
              <a:rPr spc="-55" dirty="0"/>
              <a:t>R</a:t>
            </a:r>
            <a:r>
              <a:rPr spc="-40" dirty="0"/>
              <a:t>SI</a:t>
            </a:r>
            <a:r>
              <a:rPr spc="-35" dirty="0"/>
              <a:t>T</a:t>
            </a:r>
            <a:r>
              <a:rPr dirty="0"/>
              <a:t>Y</a:t>
            </a:r>
            <a:r>
              <a:rPr spc="-20" dirty="0"/>
              <a:t> </a:t>
            </a:r>
            <a:r>
              <a:rPr spc="-40" dirty="0"/>
              <a:t>O</a:t>
            </a:r>
            <a:r>
              <a:rPr dirty="0"/>
              <a:t>F</a:t>
            </a:r>
          </a:p>
          <a:p>
            <a:pPr>
              <a:lnSpc>
                <a:spcPct val="100000"/>
              </a:lnSpc>
            </a:pPr>
            <a:r>
              <a:rPr spc="-55" dirty="0"/>
              <a:t>C</a:t>
            </a:r>
            <a:r>
              <a:rPr spc="-40" dirty="0"/>
              <a:t>O</a:t>
            </a:r>
            <a:r>
              <a:rPr spc="-30" dirty="0"/>
              <a:t>M</a:t>
            </a:r>
            <a:r>
              <a:rPr spc="-35" dirty="0"/>
              <a:t>P</a:t>
            </a:r>
            <a:r>
              <a:rPr spc="-40" dirty="0"/>
              <a:t>U</a:t>
            </a:r>
            <a:r>
              <a:rPr spc="-35" dirty="0"/>
              <a:t>T</a:t>
            </a:r>
            <a:r>
              <a:rPr spc="-40" dirty="0"/>
              <a:t>I</a:t>
            </a:r>
            <a:r>
              <a:rPr spc="-20" dirty="0"/>
              <a:t>N</a:t>
            </a:r>
            <a:r>
              <a:rPr dirty="0"/>
              <a:t>G</a:t>
            </a:r>
            <a:r>
              <a:rPr spc="-10" dirty="0"/>
              <a:t> </a:t>
            </a:r>
            <a:r>
              <a:rPr spc="-35" dirty="0"/>
              <a:t>AN</a:t>
            </a:r>
            <a:r>
              <a:rPr dirty="0"/>
              <a:t>D</a:t>
            </a:r>
            <a:r>
              <a:rPr spc="-50" dirty="0"/>
              <a:t> </a:t>
            </a:r>
            <a:r>
              <a:rPr spc="-35" dirty="0"/>
              <a:t>E</a:t>
            </a:r>
            <a:r>
              <a:rPr spc="-30" dirty="0"/>
              <a:t>M</a:t>
            </a:r>
            <a:r>
              <a:rPr spc="-35" dirty="0"/>
              <a:t>E</a:t>
            </a:r>
            <a:r>
              <a:rPr spc="-55" dirty="0"/>
              <a:t>R</a:t>
            </a:r>
            <a:r>
              <a:rPr spc="-40" dirty="0"/>
              <a:t>GI</a:t>
            </a:r>
            <a:r>
              <a:rPr spc="-35" dirty="0"/>
              <a:t>N</a:t>
            </a:r>
            <a:r>
              <a:rPr dirty="0"/>
              <a:t>G  </a:t>
            </a:r>
            <a:r>
              <a:rPr spc="-35" dirty="0"/>
              <a:t>SCIENCES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3200" b="1" i="0">
                <a:solidFill>
                  <a:srgbClr val="C00000"/>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a:lnSpc>
                <a:spcPts val="1140"/>
              </a:lnSpc>
            </a:pPr>
            <a:r>
              <a:rPr spc="-35" dirty="0"/>
              <a:t>N</a:t>
            </a:r>
            <a:r>
              <a:rPr spc="-135" dirty="0"/>
              <a:t>A</a:t>
            </a:r>
            <a:r>
              <a:rPr spc="-35" dirty="0"/>
              <a:t>T</a:t>
            </a:r>
            <a:r>
              <a:rPr spc="-40" dirty="0"/>
              <a:t>IO</a:t>
            </a:r>
            <a:r>
              <a:rPr spc="-35" dirty="0"/>
              <a:t>NA</a:t>
            </a:r>
            <a:r>
              <a:rPr dirty="0"/>
              <a:t>L</a:t>
            </a:r>
            <a:r>
              <a:rPr spc="-10" dirty="0"/>
              <a:t> </a:t>
            </a:r>
            <a:r>
              <a:rPr spc="-40" dirty="0"/>
              <a:t>U</a:t>
            </a:r>
            <a:r>
              <a:rPr spc="-35" dirty="0"/>
              <a:t>N</a:t>
            </a:r>
            <a:r>
              <a:rPr spc="-40" dirty="0"/>
              <a:t>I</a:t>
            </a:r>
            <a:r>
              <a:rPr spc="-35" dirty="0"/>
              <a:t>VE</a:t>
            </a:r>
            <a:r>
              <a:rPr spc="-55" dirty="0"/>
              <a:t>R</a:t>
            </a:r>
            <a:r>
              <a:rPr spc="-40" dirty="0"/>
              <a:t>SI</a:t>
            </a:r>
            <a:r>
              <a:rPr spc="-35" dirty="0"/>
              <a:t>T</a:t>
            </a:r>
            <a:r>
              <a:rPr dirty="0"/>
              <a:t>Y</a:t>
            </a:r>
            <a:r>
              <a:rPr spc="-20" dirty="0"/>
              <a:t> </a:t>
            </a:r>
            <a:r>
              <a:rPr spc="-40" dirty="0"/>
              <a:t>O</a:t>
            </a:r>
            <a:r>
              <a:rPr dirty="0"/>
              <a:t>F</a:t>
            </a:r>
          </a:p>
          <a:p>
            <a:pPr>
              <a:lnSpc>
                <a:spcPct val="100000"/>
              </a:lnSpc>
            </a:pPr>
            <a:r>
              <a:rPr spc="-55" dirty="0"/>
              <a:t>C</a:t>
            </a:r>
            <a:r>
              <a:rPr spc="-40" dirty="0"/>
              <a:t>O</a:t>
            </a:r>
            <a:r>
              <a:rPr spc="-30" dirty="0"/>
              <a:t>M</a:t>
            </a:r>
            <a:r>
              <a:rPr spc="-35" dirty="0"/>
              <a:t>P</a:t>
            </a:r>
            <a:r>
              <a:rPr spc="-40" dirty="0"/>
              <a:t>U</a:t>
            </a:r>
            <a:r>
              <a:rPr spc="-35" dirty="0"/>
              <a:t>T</a:t>
            </a:r>
            <a:r>
              <a:rPr spc="-40" dirty="0"/>
              <a:t>I</a:t>
            </a:r>
            <a:r>
              <a:rPr spc="-20" dirty="0"/>
              <a:t>N</a:t>
            </a:r>
            <a:r>
              <a:rPr dirty="0"/>
              <a:t>G</a:t>
            </a:r>
            <a:r>
              <a:rPr spc="-10" dirty="0"/>
              <a:t> </a:t>
            </a:r>
            <a:r>
              <a:rPr spc="-35" dirty="0"/>
              <a:t>AN</a:t>
            </a:r>
            <a:r>
              <a:rPr dirty="0"/>
              <a:t>D</a:t>
            </a:r>
            <a:r>
              <a:rPr spc="-50" dirty="0"/>
              <a:t> </a:t>
            </a:r>
            <a:r>
              <a:rPr spc="-35" dirty="0"/>
              <a:t>E</a:t>
            </a:r>
            <a:r>
              <a:rPr spc="-30" dirty="0"/>
              <a:t>M</a:t>
            </a:r>
            <a:r>
              <a:rPr spc="-35" dirty="0"/>
              <a:t>E</a:t>
            </a:r>
            <a:r>
              <a:rPr spc="-55" dirty="0"/>
              <a:t>R</a:t>
            </a:r>
            <a:r>
              <a:rPr spc="-40" dirty="0"/>
              <a:t>GI</a:t>
            </a:r>
            <a:r>
              <a:rPr spc="-35" dirty="0"/>
              <a:t>N</a:t>
            </a:r>
            <a:r>
              <a:rPr dirty="0"/>
              <a:t>G  </a:t>
            </a:r>
            <a:r>
              <a:rPr spc="-35" dirty="0"/>
              <a:t>SCIENCES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a:lnSpc>
                <a:spcPts val="1140"/>
              </a:lnSpc>
            </a:pPr>
            <a:r>
              <a:rPr spc="-35" dirty="0"/>
              <a:t>N</a:t>
            </a:r>
            <a:r>
              <a:rPr spc="-135" dirty="0"/>
              <a:t>A</a:t>
            </a:r>
            <a:r>
              <a:rPr spc="-35" dirty="0"/>
              <a:t>T</a:t>
            </a:r>
            <a:r>
              <a:rPr spc="-40" dirty="0"/>
              <a:t>IO</a:t>
            </a:r>
            <a:r>
              <a:rPr spc="-35" dirty="0"/>
              <a:t>NA</a:t>
            </a:r>
            <a:r>
              <a:rPr dirty="0"/>
              <a:t>L</a:t>
            </a:r>
            <a:r>
              <a:rPr spc="-10" dirty="0"/>
              <a:t> </a:t>
            </a:r>
            <a:r>
              <a:rPr spc="-40" dirty="0"/>
              <a:t>U</a:t>
            </a:r>
            <a:r>
              <a:rPr spc="-35" dirty="0"/>
              <a:t>N</a:t>
            </a:r>
            <a:r>
              <a:rPr spc="-40" dirty="0"/>
              <a:t>I</a:t>
            </a:r>
            <a:r>
              <a:rPr spc="-35" dirty="0"/>
              <a:t>VE</a:t>
            </a:r>
            <a:r>
              <a:rPr spc="-55" dirty="0"/>
              <a:t>R</a:t>
            </a:r>
            <a:r>
              <a:rPr spc="-40" dirty="0"/>
              <a:t>SI</a:t>
            </a:r>
            <a:r>
              <a:rPr spc="-35" dirty="0"/>
              <a:t>T</a:t>
            </a:r>
            <a:r>
              <a:rPr dirty="0"/>
              <a:t>Y</a:t>
            </a:r>
            <a:r>
              <a:rPr spc="-20" dirty="0"/>
              <a:t> </a:t>
            </a:r>
            <a:r>
              <a:rPr spc="-40" dirty="0"/>
              <a:t>O</a:t>
            </a:r>
            <a:r>
              <a:rPr dirty="0"/>
              <a:t>F</a:t>
            </a:r>
          </a:p>
          <a:p>
            <a:pPr>
              <a:lnSpc>
                <a:spcPct val="100000"/>
              </a:lnSpc>
            </a:pPr>
            <a:r>
              <a:rPr spc="-55" dirty="0"/>
              <a:t>C</a:t>
            </a:r>
            <a:r>
              <a:rPr spc="-40" dirty="0"/>
              <a:t>O</a:t>
            </a:r>
            <a:r>
              <a:rPr spc="-30" dirty="0"/>
              <a:t>M</a:t>
            </a:r>
            <a:r>
              <a:rPr spc="-35" dirty="0"/>
              <a:t>P</a:t>
            </a:r>
            <a:r>
              <a:rPr spc="-40" dirty="0"/>
              <a:t>U</a:t>
            </a:r>
            <a:r>
              <a:rPr spc="-35" dirty="0"/>
              <a:t>T</a:t>
            </a:r>
            <a:r>
              <a:rPr spc="-40" dirty="0"/>
              <a:t>I</a:t>
            </a:r>
            <a:r>
              <a:rPr spc="-20" dirty="0"/>
              <a:t>N</a:t>
            </a:r>
            <a:r>
              <a:rPr dirty="0"/>
              <a:t>G</a:t>
            </a:r>
            <a:r>
              <a:rPr spc="-10" dirty="0"/>
              <a:t> </a:t>
            </a:r>
            <a:r>
              <a:rPr spc="-35" dirty="0"/>
              <a:t>AN</a:t>
            </a:r>
            <a:r>
              <a:rPr dirty="0"/>
              <a:t>D</a:t>
            </a:r>
            <a:r>
              <a:rPr spc="-50" dirty="0"/>
              <a:t> </a:t>
            </a:r>
            <a:r>
              <a:rPr spc="-35" dirty="0"/>
              <a:t>E</a:t>
            </a:r>
            <a:r>
              <a:rPr spc="-30" dirty="0"/>
              <a:t>M</a:t>
            </a:r>
            <a:r>
              <a:rPr spc="-35" dirty="0"/>
              <a:t>E</a:t>
            </a:r>
            <a:r>
              <a:rPr spc="-55" dirty="0"/>
              <a:t>R</a:t>
            </a:r>
            <a:r>
              <a:rPr spc="-40" dirty="0"/>
              <a:t>GI</a:t>
            </a:r>
            <a:r>
              <a:rPr spc="-35" dirty="0"/>
              <a:t>N</a:t>
            </a:r>
            <a:r>
              <a:rPr dirty="0"/>
              <a:t>G  </a:t>
            </a:r>
            <a:r>
              <a:rPr spc="-35" dirty="0"/>
              <a:t>SCIENCES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a:lnSpc>
                <a:spcPts val="1140"/>
              </a:lnSpc>
            </a:pPr>
            <a:r>
              <a:rPr spc="-35" dirty="0"/>
              <a:t>N</a:t>
            </a:r>
            <a:r>
              <a:rPr spc="-135" dirty="0"/>
              <a:t>A</a:t>
            </a:r>
            <a:r>
              <a:rPr spc="-35" dirty="0"/>
              <a:t>T</a:t>
            </a:r>
            <a:r>
              <a:rPr spc="-40" dirty="0"/>
              <a:t>IO</a:t>
            </a:r>
            <a:r>
              <a:rPr spc="-35" dirty="0"/>
              <a:t>NA</a:t>
            </a:r>
            <a:r>
              <a:rPr dirty="0"/>
              <a:t>L</a:t>
            </a:r>
            <a:r>
              <a:rPr spc="-10" dirty="0"/>
              <a:t> </a:t>
            </a:r>
            <a:r>
              <a:rPr spc="-40" dirty="0"/>
              <a:t>U</a:t>
            </a:r>
            <a:r>
              <a:rPr spc="-35" dirty="0"/>
              <a:t>N</a:t>
            </a:r>
            <a:r>
              <a:rPr spc="-40" dirty="0"/>
              <a:t>I</a:t>
            </a:r>
            <a:r>
              <a:rPr spc="-35" dirty="0"/>
              <a:t>VE</a:t>
            </a:r>
            <a:r>
              <a:rPr spc="-55" dirty="0"/>
              <a:t>R</a:t>
            </a:r>
            <a:r>
              <a:rPr spc="-40" dirty="0"/>
              <a:t>SI</a:t>
            </a:r>
            <a:r>
              <a:rPr spc="-35" dirty="0"/>
              <a:t>T</a:t>
            </a:r>
            <a:r>
              <a:rPr dirty="0"/>
              <a:t>Y</a:t>
            </a:r>
            <a:r>
              <a:rPr spc="-20" dirty="0"/>
              <a:t> </a:t>
            </a:r>
            <a:r>
              <a:rPr spc="-40" dirty="0"/>
              <a:t>O</a:t>
            </a:r>
            <a:r>
              <a:rPr dirty="0"/>
              <a:t>F</a:t>
            </a:r>
          </a:p>
          <a:p>
            <a:pPr>
              <a:lnSpc>
                <a:spcPct val="100000"/>
              </a:lnSpc>
            </a:pPr>
            <a:r>
              <a:rPr spc="-55" dirty="0"/>
              <a:t>C</a:t>
            </a:r>
            <a:r>
              <a:rPr spc="-40" dirty="0"/>
              <a:t>O</a:t>
            </a:r>
            <a:r>
              <a:rPr spc="-30" dirty="0"/>
              <a:t>M</a:t>
            </a:r>
            <a:r>
              <a:rPr spc="-35" dirty="0"/>
              <a:t>P</a:t>
            </a:r>
            <a:r>
              <a:rPr spc="-40" dirty="0"/>
              <a:t>U</a:t>
            </a:r>
            <a:r>
              <a:rPr spc="-35" dirty="0"/>
              <a:t>T</a:t>
            </a:r>
            <a:r>
              <a:rPr spc="-40" dirty="0"/>
              <a:t>I</a:t>
            </a:r>
            <a:r>
              <a:rPr spc="-20" dirty="0"/>
              <a:t>N</a:t>
            </a:r>
            <a:r>
              <a:rPr dirty="0"/>
              <a:t>G</a:t>
            </a:r>
            <a:r>
              <a:rPr spc="-10" dirty="0"/>
              <a:t> </a:t>
            </a:r>
            <a:r>
              <a:rPr spc="-35" dirty="0"/>
              <a:t>AN</a:t>
            </a:r>
            <a:r>
              <a:rPr dirty="0"/>
              <a:t>D</a:t>
            </a:r>
            <a:r>
              <a:rPr spc="-50" dirty="0"/>
              <a:t> </a:t>
            </a:r>
            <a:r>
              <a:rPr spc="-35" dirty="0"/>
              <a:t>E</a:t>
            </a:r>
            <a:r>
              <a:rPr spc="-30" dirty="0"/>
              <a:t>M</a:t>
            </a:r>
            <a:r>
              <a:rPr spc="-35" dirty="0"/>
              <a:t>E</a:t>
            </a:r>
            <a:r>
              <a:rPr spc="-55" dirty="0"/>
              <a:t>R</a:t>
            </a:r>
            <a:r>
              <a:rPr spc="-40" dirty="0"/>
              <a:t>GI</a:t>
            </a:r>
            <a:r>
              <a:rPr spc="-35" dirty="0"/>
              <a:t>N</a:t>
            </a:r>
            <a:r>
              <a:rPr dirty="0"/>
              <a:t>G  </a:t>
            </a:r>
            <a:r>
              <a:rPr spc="-35" dirty="0"/>
              <a:t>SCIENCES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265167"/>
            <a:ext cx="12190730" cy="592455"/>
          </a:xfrm>
          <a:custGeom>
            <a:avLst/>
            <a:gdLst/>
            <a:ahLst/>
            <a:cxnLst/>
            <a:rect l="l" t="t" r="r" b="b"/>
            <a:pathLst>
              <a:path w="12190730" h="592454">
                <a:moveTo>
                  <a:pt x="12190349" y="0"/>
                </a:moveTo>
                <a:lnTo>
                  <a:pt x="0" y="0"/>
                </a:lnTo>
                <a:lnTo>
                  <a:pt x="0" y="592404"/>
                </a:lnTo>
                <a:lnTo>
                  <a:pt x="12190349" y="592404"/>
                </a:lnTo>
                <a:lnTo>
                  <a:pt x="12190349" y="0"/>
                </a:lnTo>
                <a:close/>
              </a:path>
            </a:pathLst>
          </a:custGeom>
          <a:solidFill>
            <a:srgbClr val="FF82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518392" y="6298692"/>
            <a:ext cx="533400" cy="533400"/>
          </a:xfrm>
          <a:prstGeom prst="rect">
            <a:avLst/>
          </a:prstGeom>
        </p:spPr>
      </p:pic>
      <p:sp>
        <p:nvSpPr>
          <p:cNvPr id="18" name="bg object 18"/>
          <p:cNvSpPr/>
          <p:nvPr/>
        </p:nvSpPr>
        <p:spPr>
          <a:xfrm>
            <a:off x="0" y="6265167"/>
            <a:ext cx="12190730" cy="592455"/>
          </a:xfrm>
          <a:custGeom>
            <a:avLst/>
            <a:gdLst/>
            <a:ahLst/>
            <a:cxnLst/>
            <a:rect l="l" t="t" r="r" b="b"/>
            <a:pathLst>
              <a:path w="12190730" h="592454">
                <a:moveTo>
                  <a:pt x="12190349" y="0"/>
                </a:moveTo>
                <a:lnTo>
                  <a:pt x="0" y="0"/>
                </a:lnTo>
                <a:lnTo>
                  <a:pt x="0" y="592404"/>
                </a:lnTo>
                <a:lnTo>
                  <a:pt x="12190349" y="592404"/>
                </a:lnTo>
                <a:lnTo>
                  <a:pt x="12190349" y="0"/>
                </a:lnTo>
                <a:close/>
              </a:path>
            </a:pathLst>
          </a:custGeom>
          <a:solidFill>
            <a:srgbClr val="FF82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18392" y="6298692"/>
            <a:ext cx="533400" cy="533400"/>
          </a:xfrm>
          <a:prstGeom prst="rect">
            <a:avLst/>
          </a:prstGeom>
        </p:spPr>
      </p:pic>
      <p:sp>
        <p:nvSpPr>
          <p:cNvPr id="2" name="Holder 2"/>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a:lnSpc>
                <a:spcPts val="1140"/>
              </a:lnSpc>
            </a:pPr>
            <a:r>
              <a:rPr spc="-35" dirty="0"/>
              <a:t>N</a:t>
            </a:r>
            <a:r>
              <a:rPr spc="-135" dirty="0"/>
              <a:t>A</a:t>
            </a:r>
            <a:r>
              <a:rPr spc="-35" dirty="0"/>
              <a:t>T</a:t>
            </a:r>
            <a:r>
              <a:rPr spc="-40" dirty="0"/>
              <a:t>IO</a:t>
            </a:r>
            <a:r>
              <a:rPr spc="-35" dirty="0"/>
              <a:t>NA</a:t>
            </a:r>
            <a:r>
              <a:rPr dirty="0"/>
              <a:t>L</a:t>
            </a:r>
            <a:r>
              <a:rPr spc="-10" dirty="0"/>
              <a:t> </a:t>
            </a:r>
            <a:r>
              <a:rPr spc="-40" dirty="0"/>
              <a:t>U</a:t>
            </a:r>
            <a:r>
              <a:rPr spc="-35" dirty="0"/>
              <a:t>N</a:t>
            </a:r>
            <a:r>
              <a:rPr spc="-40" dirty="0"/>
              <a:t>I</a:t>
            </a:r>
            <a:r>
              <a:rPr spc="-35" dirty="0"/>
              <a:t>VE</a:t>
            </a:r>
            <a:r>
              <a:rPr spc="-55" dirty="0"/>
              <a:t>R</a:t>
            </a:r>
            <a:r>
              <a:rPr spc="-40" dirty="0"/>
              <a:t>SI</a:t>
            </a:r>
            <a:r>
              <a:rPr spc="-35" dirty="0"/>
              <a:t>T</a:t>
            </a:r>
            <a:r>
              <a:rPr dirty="0"/>
              <a:t>Y</a:t>
            </a:r>
            <a:r>
              <a:rPr spc="-20" dirty="0"/>
              <a:t> </a:t>
            </a:r>
            <a:r>
              <a:rPr spc="-40" dirty="0"/>
              <a:t>O</a:t>
            </a:r>
            <a:r>
              <a:rPr dirty="0"/>
              <a:t>F</a:t>
            </a:r>
          </a:p>
          <a:p>
            <a:pPr>
              <a:lnSpc>
                <a:spcPct val="100000"/>
              </a:lnSpc>
            </a:pPr>
            <a:r>
              <a:rPr spc="-55" dirty="0"/>
              <a:t>C</a:t>
            </a:r>
            <a:r>
              <a:rPr spc="-40" dirty="0"/>
              <a:t>O</a:t>
            </a:r>
            <a:r>
              <a:rPr spc="-30" dirty="0"/>
              <a:t>M</a:t>
            </a:r>
            <a:r>
              <a:rPr spc="-35" dirty="0"/>
              <a:t>P</a:t>
            </a:r>
            <a:r>
              <a:rPr spc="-40" dirty="0"/>
              <a:t>U</a:t>
            </a:r>
            <a:r>
              <a:rPr spc="-35" dirty="0"/>
              <a:t>T</a:t>
            </a:r>
            <a:r>
              <a:rPr spc="-40" dirty="0"/>
              <a:t>I</a:t>
            </a:r>
            <a:r>
              <a:rPr spc="-20" dirty="0"/>
              <a:t>N</a:t>
            </a:r>
            <a:r>
              <a:rPr dirty="0"/>
              <a:t>G</a:t>
            </a:r>
            <a:r>
              <a:rPr spc="-10" dirty="0"/>
              <a:t> </a:t>
            </a:r>
            <a:r>
              <a:rPr spc="-35" dirty="0"/>
              <a:t>AN</a:t>
            </a:r>
            <a:r>
              <a:rPr dirty="0"/>
              <a:t>D</a:t>
            </a:r>
            <a:r>
              <a:rPr spc="-50" dirty="0"/>
              <a:t> </a:t>
            </a:r>
            <a:r>
              <a:rPr spc="-35" dirty="0"/>
              <a:t>E</a:t>
            </a:r>
            <a:r>
              <a:rPr spc="-30" dirty="0"/>
              <a:t>M</a:t>
            </a:r>
            <a:r>
              <a:rPr spc="-35" dirty="0"/>
              <a:t>E</a:t>
            </a:r>
            <a:r>
              <a:rPr spc="-55" dirty="0"/>
              <a:t>R</a:t>
            </a:r>
            <a:r>
              <a:rPr spc="-40" dirty="0"/>
              <a:t>GI</a:t>
            </a:r>
            <a:r>
              <a:rPr spc="-35" dirty="0"/>
              <a:t>N</a:t>
            </a:r>
            <a:r>
              <a:rPr dirty="0"/>
              <a:t>G  </a:t>
            </a:r>
            <a:r>
              <a:rPr spc="-35" dirty="0"/>
              <a:t>SCIENCES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265167"/>
            <a:ext cx="12190730" cy="592455"/>
          </a:xfrm>
          <a:custGeom>
            <a:avLst/>
            <a:gdLst/>
            <a:ahLst/>
            <a:cxnLst/>
            <a:rect l="l" t="t" r="r" b="b"/>
            <a:pathLst>
              <a:path w="12190730" h="592454">
                <a:moveTo>
                  <a:pt x="12190349" y="0"/>
                </a:moveTo>
                <a:lnTo>
                  <a:pt x="0" y="0"/>
                </a:lnTo>
                <a:lnTo>
                  <a:pt x="0" y="592404"/>
                </a:lnTo>
                <a:lnTo>
                  <a:pt x="12190349" y="592404"/>
                </a:lnTo>
                <a:lnTo>
                  <a:pt x="12190349" y="0"/>
                </a:lnTo>
                <a:close/>
              </a:path>
            </a:pathLst>
          </a:custGeom>
          <a:solidFill>
            <a:srgbClr val="FF82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11518392" y="6298692"/>
            <a:ext cx="533400" cy="533400"/>
          </a:xfrm>
          <a:prstGeom prst="rect">
            <a:avLst/>
          </a:prstGeom>
        </p:spPr>
      </p:pic>
      <p:sp>
        <p:nvSpPr>
          <p:cNvPr id="2" name="Holder 2"/>
          <p:cNvSpPr>
            <a:spLocks noGrp="1"/>
          </p:cNvSpPr>
          <p:nvPr>
            <p:ph type="title"/>
          </p:nvPr>
        </p:nvSpPr>
        <p:spPr>
          <a:xfrm>
            <a:off x="2037969" y="1182751"/>
            <a:ext cx="8116061" cy="1393825"/>
          </a:xfrm>
          <a:prstGeom prst="rect">
            <a:avLst/>
          </a:prstGeom>
        </p:spPr>
        <p:txBody>
          <a:bodyPr wrap="square" lIns="0" tIns="0" rIns="0" bIns="0">
            <a:spAutoFit/>
          </a:bodyPr>
          <a:lstStyle>
            <a:lvl1pPr>
              <a:defRPr sz="3200" b="1" i="0">
                <a:solidFill>
                  <a:srgbClr val="C00000"/>
                </a:solidFill>
                <a:latin typeface="Cambria"/>
                <a:cs typeface="Cambria"/>
              </a:defRPr>
            </a:lvl1pPr>
          </a:lstStyle>
          <a:p>
            <a:endParaRPr/>
          </a:p>
        </p:txBody>
      </p:sp>
      <p:sp>
        <p:nvSpPr>
          <p:cNvPr id="3" name="Holder 3"/>
          <p:cNvSpPr>
            <a:spLocks noGrp="1"/>
          </p:cNvSpPr>
          <p:nvPr>
            <p:ph type="body" idx="1"/>
          </p:nvPr>
        </p:nvSpPr>
        <p:spPr>
          <a:xfrm>
            <a:off x="2037969" y="1182751"/>
            <a:ext cx="8116061" cy="1393825"/>
          </a:xfrm>
          <a:prstGeom prst="rect">
            <a:avLst/>
          </a:prstGeom>
        </p:spPr>
        <p:txBody>
          <a:bodyPr wrap="square" lIns="0" tIns="0" rIns="0" bIns="0">
            <a:spAutoFit/>
          </a:bodyPr>
          <a:lstStyle>
            <a:lvl1pPr>
              <a:defRPr sz="3200" b="1" i="0">
                <a:solidFill>
                  <a:srgbClr val="C00000"/>
                </a:solidFill>
                <a:latin typeface="Cambria"/>
                <a:cs typeface="Cambria"/>
              </a:defRPr>
            </a:lvl1pPr>
          </a:lstStyle>
          <a:p>
            <a:endParaRPr/>
          </a:p>
        </p:txBody>
      </p:sp>
      <p:sp>
        <p:nvSpPr>
          <p:cNvPr id="4" name="Holder 4"/>
          <p:cNvSpPr>
            <a:spLocks noGrp="1"/>
          </p:cNvSpPr>
          <p:nvPr>
            <p:ph type="ftr" sz="quarter" idx="5"/>
          </p:nvPr>
        </p:nvSpPr>
        <p:spPr>
          <a:xfrm>
            <a:off x="9643236" y="6337706"/>
            <a:ext cx="1752600" cy="518159"/>
          </a:xfrm>
          <a:prstGeom prst="rect">
            <a:avLst/>
          </a:prstGeom>
        </p:spPr>
        <p:txBody>
          <a:bodyPr wrap="square" lIns="0" tIns="0" rIns="0" bIns="0">
            <a:spAutoFit/>
          </a:bodyPr>
          <a:lstStyle>
            <a:lvl1pPr>
              <a:defRPr sz="1200" b="0" i="0">
                <a:solidFill>
                  <a:schemeClr val="bg1"/>
                </a:solidFill>
                <a:latin typeface="Calibri"/>
                <a:cs typeface="Calibri"/>
              </a:defRPr>
            </a:lvl1pPr>
          </a:lstStyle>
          <a:p>
            <a:pPr>
              <a:lnSpc>
                <a:spcPts val="1140"/>
              </a:lnSpc>
            </a:pPr>
            <a:r>
              <a:rPr spc="-35" dirty="0"/>
              <a:t>N</a:t>
            </a:r>
            <a:r>
              <a:rPr spc="-135" dirty="0"/>
              <a:t>A</a:t>
            </a:r>
            <a:r>
              <a:rPr spc="-35" dirty="0"/>
              <a:t>T</a:t>
            </a:r>
            <a:r>
              <a:rPr spc="-40" dirty="0"/>
              <a:t>IO</a:t>
            </a:r>
            <a:r>
              <a:rPr spc="-35" dirty="0"/>
              <a:t>NA</a:t>
            </a:r>
            <a:r>
              <a:rPr dirty="0"/>
              <a:t>L</a:t>
            </a:r>
            <a:r>
              <a:rPr spc="-10" dirty="0"/>
              <a:t> </a:t>
            </a:r>
            <a:r>
              <a:rPr spc="-40" dirty="0"/>
              <a:t>U</a:t>
            </a:r>
            <a:r>
              <a:rPr spc="-35" dirty="0"/>
              <a:t>N</a:t>
            </a:r>
            <a:r>
              <a:rPr spc="-40" dirty="0"/>
              <a:t>I</a:t>
            </a:r>
            <a:r>
              <a:rPr spc="-35" dirty="0"/>
              <a:t>VE</a:t>
            </a:r>
            <a:r>
              <a:rPr spc="-55" dirty="0"/>
              <a:t>R</a:t>
            </a:r>
            <a:r>
              <a:rPr spc="-40" dirty="0"/>
              <a:t>SI</a:t>
            </a:r>
            <a:r>
              <a:rPr spc="-35" dirty="0"/>
              <a:t>T</a:t>
            </a:r>
            <a:r>
              <a:rPr dirty="0"/>
              <a:t>Y</a:t>
            </a:r>
            <a:r>
              <a:rPr spc="-20" dirty="0"/>
              <a:t> </a:t>
            </a:r>
            <a:r>
              <a:rPr spc="-40" dirty="0"/>
              <a:t>O</a:t>
            </a:r>
            <a:r>
              <a:rPr dirty="0"/>
              <a:t>F</a:t>
            </a:r>
          </a:p>
          <a:p>
            <a:pPr>
              <a:lnSpc>
                <a:spcPct val="100000"/>
              </a:lnSpc>
            </a:pPr>
            <a:r>
              <a:rPr spc="-55" dirty="0"/>
              <a:t>C</a:t>
            </a:r>
            <a:r>
              <a:rPr spc="-40" dirty="0"/>
              <a:t>O</a:t>
            </a:r>
            <a:r>
              <a:rPr spc="-30" dirty="0"/>
              <a:t>M</a:t>
            </a:r>
            <a:r>
              <a:rPr spc="-35" dirty="0"/>
              <a:t>P</a:t>
            </a:r>
            <a:r>
              <a:rPr spc="-40" dirty="0"/>
              <a:t>U</a:t>
            </a:r>
            <a:r>
              <a:rPr spc="-35" dirty="0"/>
              <a:t>T</a:t>
            </a:r>
            <a:r>
              <a:rPr spc="-40" dirty="0"/>
              <a:t>I</a:t>
            </a:r>
            <a:r>
              <a:rPr spc="-20" dirty="0"/>
              <a:t>N</a:t>
            </a:r>
            <a:r>
              <a:rPr dirty="0"/>
              <a:t>G</a:t>
            </a:r>
            <a:r>
              <a:rPr spc="-10" dirty="0"/>
              <a:t> </a:t>
            </a:r>
            <a:r>
              <a:rPr spc="-35" dirty="0"/>
              <a:t>AN</a:t>
            </a:r>
            <a:r>
              <a:rPr dirty="0"/>
              <a:t>D</a:t>
            </a:r>
            <a:r>
              <a:rPr spc="-50" dirty="0"/>
              <a:t> </a:t>
            </a:r>
            <a:r>
              <a:rPr spc="-35" dirty="0"/>
              <a:t>E</a:t>
            </a:r>
            <a:r>
              <a:rPr spc="-30" dirty="0"/>
              <a:t>M</a:t>
            </a:r>
            <a:r>
              <a:rPr spc="-35" dirty="0"/>
              <a:t>E</a:t>
            </a:r>
            <a:r>
              <a:rPr spc="-55" dirty="0"/>
              <a:t>R</a:t>
            </a:r>
            <a:r>
              <a:rPr spc="-40" dirty="0"/>
              <a:t>GI</a:t>
            </a:r>
            <a:r>
              <a:rPr spc="-35" dirty="0"/>
              <a:t>N</a:t>
            </a:r>
            <a:r>
              <a:rPr dirty="0"/>
              <a:t>G  </a:t>
            </a:r>
            <a:r>
              <a:rPr spc="-35" dirty="0"/>
              <a:t>SCIENCES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2/17/2025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43236" y="6337706"/>
            <a:ext cx="1752600" cy="518159"/>
          </a:xfrm>
          <a:prstGeom prst="rect">
            <a:avLst/>
          </a:prstGeom>
        </p:spPr>
        <p:txBody>
          <a:bodyPr vert="horz" wrap="square" lIns="0" tIns="0" rIns="0" bIns="0" rtlCol="0">
            <a:spAutoFit/>
          </a:bodyPr>
          <a:lstStyle/>
          <a:p>
            <a:pPr>
              <a:lnSpc>
                <a:spcPts val="1140"/>
              </a:lnSpc>
            </a:pPr>
            <a:r>
              <a:rPr sz="1200" spc="-35" dirty="0">
                <a:solidFill>
                  <a:srgbClr val="FFFFFF"/>
                </a:solidFill>
                <a:latin typeface="Calibri"/>
                <a:cs typeface="Calibri"/>
              </a:rPr>
              <a:t>N</a:t>
            </a:r>
            <a:r>
              <a:rPr sz="1200" spc="-135" dirty="0">
                <a:solidFill>
                  <a:srgbClr val="FFFFFF"/>
                </a:solidFill>
                <a:latin typeface="Calibri"/>
                <a:cs typeface="Calibri"/>
              </a:rPr>
              <a:t>A</a:t>
            </a:r>
            <a:r>
              <a:rPr sz="1200" spc="-35" dirty="0">
                <a:solidFill>
                  <a:srgbClr val="FFFFFF"/>
                </a:solidFill>
                <a:latin typeface="Calibri"/>
                <a:cs typeface="Calibri"/>
              </a:rPr>
              <a:t>T</a:t>
            </a:r>
            <a:r>
              <a:rPr sz="1200" spc="-40" dirty="0">
                <a:solidFill>
                  <a:srgbClr val="FFFFFF"/>
                </a:solidFill>
                <a:latin typeface="Calibri"/>
                <a:cs typeface="Calibri"/>
              </a:rPr>
              <a:t>IO</a:t>
            </a:r>
            <a:r>
              <a:rPr sz="1200" spc="-35" dirty="0">
                <a:solidFill>
                  <a:srgbClr val="FFFFFF"/>
                </a:solidFill>
                <a:latin typeface="Calibri"/>
                <a:cs typeface="Calibri"/>
              </a:rPr>
              <a:t>NA</a:t>
            </a:r>
            <a:r>
              <a:rPr sz="1200" dirty="0">
                <a:solidFill>
                  <a:srgbClr val="FFFFFF"/>
                </a:solidFill>
                <a:latin typeface="Calibri"/>
                <a:cs typeface="Calibri"/>
              </a:rPr>
              <a:t>L</a:t>
            </a:r>
            <a:r>
              <a:rPr sz="1200" spc="-10" dirty="0">
                <a:solidFill>
                  <a:srgbClr val="FFFFFF"/>
                </a:solidFill>
                <a:latin typeface="Calibri"/>
                <a:cs typeface="Calibri"/>
              </a:rPr>
              <a:t> </a:t>
            </a:r>
            <a:r>
              <a:rPr sz="1200" spc="-40" dirty="0">
                <a:solidFill>
                  <a:srgbClr val="FFFFFF"/>
                </a:solidFill>
                <a:latin typeface="Calibri"/>
                <a:cs typeface="Calibri"/>
              </a:rPr>
              <a:t>U</a:t>
            </a:r>
            <a:r>
              <a:rPr sz="1200" spc="-35" dirty="0">
                <a:solidFill>
                  <a:srgbClr val="FFFFFF"/>
                </a:solidFill>
                <a:latin typeface="Calibri"/>
                <a:cs typeface="Calibri"/>
              </a:rPr>
              <a:t>N</a:t>
            </a:r>
            <a:r>
              <a:rPr sz="1200" spc="-40" dirty="0">
                <a:solidFill>
                  <a:srgbClr val="FFFFFF"/>
                </a:solidFill>
                <a:latin typeface="Calibri"/>
                <a:cs typeface="Calibri"/>
              </a:rPr>
              <a:t>I</a:t>
            </a:r>
            <a:r>
              <a:rPr sz="1200" spc="-35" dirty="0">
                <a:solidFill>
                  <a:srgbClr val="FFFFFF"/>
                </a:solidFill>
                <a:latin typeface="Calibri"/>
                <a:cs typeface="Calibri"/>
              </a:rPr>
              <a:t>VE</a:t>
            </a:r>
            <a:r>
              <a:rPr sz="1200" spc="-55" dirty="0">
                <a:solidFill>
                  <a:srgbClr val="FFFFFF"/>
                </a:solidFill>
                <a:latin typeface="Calibri"/>
                <a:cs typeface="Calibri"/>
              </a:rPr>
              <a:t>R</a:t>
            </a:r>
            <a:r>
              <a:rPr sz="1200" spc="-40" dirty="0">
                <a:solidFill>
                  <a:srgbClr val="FFFFFF"/>
                </a:solidFill>
                <a:latin typeface="Calibri"/>
                <a:cs typeface="Calibri"/>
              </a:rPr>
              <a:t>SI</a:t>
            </a:r>
            <a:r>
              <a:rPr sz="1200" spc="-35" dirty="0">
                <a:solidFill>
                  <a:srgbClr val="FFFFFF"/>
                </a:solidFill>
                <a:latin typeface="Calibri"/>
                <a:cs typeface="Calibri"/>
              </a:rPr>
              <a:t>T</a:t>
            </a:r>
            <a:r>
              <a:rPr sz="1200" dirty="0">
                <a:solidFill>
                  <a:srgbClr val="FFFFFF"/>
                </a:solidFill>
                <a:latin typeface="Calibri"/>
                <a:cs typeface="Calibri"/>
              </a:rPr>
              <a:t>Y</a:t>
            </a:r>
            <a:r>
              <a:rPr sz="1200" spc="-20" dirty="0">
                <a:solidFill>
                  <a:srgbClr val="FFFFFF"/>
                </a:solidFill>
                <a:latin typeface="Calibri"/>
                <a:cs typeface="Calibri"/>
              </a:rPr>
              <a:t> </a:t>
            </a:r>
            <a:r>
              <a:rPr sz="1200" spc="-40" dirty="0">
                <a:solidFill>
                  <a:srgbClr val="FFFFFF"/>
                </a:solidFill>
                <a:latin typeface="Calibri"/>
                <a:cs typeface="Calibri"/>
              </a:rPr>
              <a:t>O</a:t>
            </a:r>
            <a:r>
              <a:rPr sz="1200" dirty="0">
                <a:solidFill>
                  <a:srgbClr val="FFFFFF"/>
                </a:solidFill>
                <a:latin typeface="Calibri"/>
                <a:cs typeface="Calibri"/>
              </a:rPr>
              <a:t>F</a:t>
            </a:r>
            <a:endParaRPr sz="1200">
              <a:latin typeface="Calibri"/>
              <a:cs typeface="Calibri"/>
            </a:endParaRPr>
          </a:p>
          <a:p>
            <a:pPr>
              <a:lnSpc>
                <a:spcPct val="100000"/>
              </a:lnSpc>
            </a:pPr>
            <a:r>
              <a:rPr sz="1200" spc="-55" dirty="0">
                <a:solidFill>
                  <a:srgbClr val="FFFFFF"/>
                </a:solidFill>
                <a:latin typeface="Calibri"/>
                <a:cs typeface="Calibri"/>
              </a:rPr>
              <a:t>C</a:t>
            </a:r>
            <a:r>
              <a:rPr sz="1200" spc="-40" dirty="0">
                <a:solidFill>
                  <a:srgbClr val="FFFFFF"/>
                </a:solidFill>
                <a:latin typeface="Calibri"/>
                <a:cs typeface="Calibri"/>
              </a:rPr>
              <a:t>O</a:t>
            </a:r>
            <a:r>
              <a:rPr sz="1200" spc="-30" dirty="0">
                <a:solidFill>
                  <a:srgbClr val="FFFFFF"/>
                </a:solidFill>
                <a:latin typeface="Calibri"/>
                <a:cs typeface="Calibri"/>
              </a:rPr>
              <a:t>M</a:t>
            </a:r>
            <a:r>
              <a:rPr sz="1200" spc="-35" dirty="0">
                <a:solidFill>
                  <a:srgbClr val="FFFFFF"/>
                </a:solidFill>
                <a:latin typeface="Calibri"/>
                <a:cs typeface="Calibri"/>
              </a:rPr>
              <a:t>P</a:t>
            </a:r>
            <a:r>
              <a:rPr sz="1200" spc="-40" dirty="0">
                <a:solidFill>
                  <a:srgbClr val="FFFFFF"/>
                </a:solidFill>
                <a:latin typeface="Calibri"/>
                <a:cs typeface="Calibri"/>
              </a:rPr>
              <a:t>U</a:t>
            </a:r>
            <a:r>
              <a:rPr sz="1200" spc="-35" dirty="0">
                <a:solidFill>
                  <a:srgbClr val="FFFFFF"/>
                </a:solidFill>
                <a:latin typeface="Calibri"/>
                <a:cs typeface="Calibri"/>
              </a:rPr>
              <a:t>T</a:t>
            </a:r>
            <a:r>
              <a:rPr sz="1200" spc="-40" dirty="0">
                <a:solidFill>
                  <a:srgbClr val="FFFFFF"/>
                </a:solidFill>
                <a:latin typeface="Calibri"/>
                <a:cs typeface="Calibri"/>
              </a:rPr>
              <a:t>I</a:t>
            </a:r>
            <a:r>
              <a:rPr sz="1200" spc="-20" dirty="0">
                <a:solidFill>
                  <a:srgbClr val="FFFFFF"/>
                </a:solidFill>
                <a:latin typeface="Calibri"/>
                <a:cs typeface="Calibri"/>
              </a:rPr>
              <a:t>N</a:t>
            </a:r>
            <a:r>
              <a:rPr sz="1200" dirty="0">
                <a:solidFill>
                  <a:srgbClr val="FFFFFF"/>
                </a:solidFill>
                <a:latin typeface="Calibri"/>
                <a:cs typeface="Calibri"/>
              </a:rPr>
              <a:t>G</a:t>
            </a:r>
            <a:r>
              <a:rPr sz="1200" spc="-10" dirty="0">
                <a:solidFill>
                  <a:srgbClr val="FFFFFF"/>
                </a:solidFill>
                <a:latin typeface="Calibri"/>
                <a:cs typeface="Calibri"/>
              </a:rPr>
              <a:t> </a:t>
            </a:r>
            <a:r>
              <a:rPr sz="1200" spc="-35" dirty="0">
                <a:solidFill>
                  <a:srgbClr val="FFFFFF"/>
                </a:solidFill>
                <a:latin typeface="Calibri"/>
                <a:cs typeface="Calibri"/>
              </a:rPr>
              <a:t>AN</a:t>
            </a:r>
            <a:r>
              <a:rPr sz="1200" dirty="0">
                <a:solidFill>
                  <a:srgbClr val="FFFFFF"/>
                </a:solidFill>
                <a:latin typeface="Calibri"/>
                <a:cs typeface="Calibri"/>
              </a:rPr>
              <a:t>D</a:t>
            </a:r>
            <a:r>
              <a:rPr sz="1200" spc="-50" dirty="0">
                <a:solidFill>
                  <a:srgbClr val="FFFFFF"/>
                </a:solidFill>
                <a:latin typeface="Calibri"/>
                <a:cs typeface="Calibri"/>
              </a:rPr>
              <a:t> </a:t>
            </a:r>
            <a:r>
              <a:rPr sz="1200" spc="-35" dirty="0">
                <a:solidFill>
                  <a:srgbClr val="FFFFFF"/>
                </a:solidFill>
                <a:latin typeface="Calibri"/>
                <a:cs typeface="Calibri"/>
              </a:rPr>
              <a:t>E</a:t>
            </a:r>
            <a:r>
              <a:rPr sz="1200" spc="-30" dirty="0">
                <a:solidFill>
                  <a:srgbClr val="FFFFFF"/>
                </a:solidFill>
                <a:latin typeface="Calibri"/>
                <a:cs typeface="Calibri"/>
              </a:rPr>
              <a:t>M</a:t>
            </a:r>
            <a:r>
              <a:rPr sz="1200" spc="-35" dirty="0">
                <a:solidFill>
                  <a:srgbClr val="FFFFFF"/>
                </a:solidFill>
                <a:latin typeface="Calibri"/>
                <a:cs typeface="Calibri"/>
              </a:rPr>
              <a:t>E</a:t>
            </a:r>
            <a:r>
              <a:rPr sz="1200" spc="-55" dirty="0">
                <a:solidFill>
                  <a:srgbClr val="FFFFFF"/>
                </a:solidFill>
                <a:latin typeface="Calibri"/>
                <a:cs typeface="Calibri"/>
              </a:rPr>
              <a:t>R</a:t>
            </a:r>
            <a:r>
              <a:rPr sz="1200" spc="-40" dirty="0">
                <a:solidFill>
                  <a:srgbClr val="FFFFFF"/>
                </a:solidFill>
                <a:latin typeface="Calibri"/>
                <a:cs typeface="Calibri"/>
              </a:rPr>
              <a:t>GI</a:t>
            </a:r>
            <a:r>
              <a:rPr sz="1200" spc="-35" dirty="0">
                <a:solidFill>
                  <a:srgbClr val="FFFFFF"/>
                </a:solidFill>
                <a:latin typeface="Calibri"/>
                <a:cs typeface="Calibri"/>
              </a:rPr>
              <a:t>N</a:t>
            </a:r>
            <a:r>
              <a:rPr sz="1200" dirty="0">
                <a:solidFill>
                  <a:srgbClr val="FFFFFF"/>
                </a:solidFill>
                <a:latin typeface="Calibri"/>
                <a:cs typeface="Calibri"/>
              </a:rPr>
              <a:t>G  </a:t>
            </a:r>
            <a:r>
              <a:rPr sz="1200" spc="-35" dirty="0">
                <a:solidFill>
                  <a:srgbClr val="FFFFFF"/>
                </a:solidFill>
                <a:latin typeface="Calibri"/>
                <a:cs typeface="Calibri"/>
              </a:rPr>
              <a:t>SCIENCES</a:t>
            </a:r>
            <a:endParaRPr sz="1200">
              <a:latin typeface="Calibri"/>
              <a:cs typeface="Calibri"/>
            </a:endParaRPr>
          </a:p>
        </p:txBody>
      </p:sp>
      <p:pic>
        <p:nvPicPr>
          <p:cNvPr id="3" name="object 3"/>
          <p:cNvPicPr/>
          <p:nvPr/>
        </p:nvPicPr>
        <p:blipFill>
          <a:blip r:embed="rId2" cstate="print"/>
          <a:stretch>
            <a:fillRect/>
          </a:stretch>
        </p:blipFill>
        <p:spPr>
          <a:xfrm>
            <a:off x="11518392" y="6298691"/>
            <a:ext cx="533400" cy="533400"/>
          </a:xfrm>
          <a:prstGeom prst="rect">
            <a:avLst/>
          </a:prstGeom>
        </p:spPr>
      </p:pic>
      <p:grpSp>
        <p:nvGrpSpPr>
          <p:cNvPr id="4" name="object 4"/>
          <p:cNvGrpSpPr/>
          <p:nvPr/>
        </p:nvGrpSpPr>
        <p:grpSpPr>
          <a:xfrm>
            <a:off x="0" y="6129521"/>
            <a:ext cx="9139555" cy="728345"/>
            <a:chOff x="0" y="6129521"/>
            <a:chExt cx="9139555" cy="728345"/>
          </a:xfrm>
        </p:grpSpPr>
        <p:sp>
          <p:nvSpPr>
            <p:cNvPr id="5" name="object 5"/>
            <p:cNvSpPr/>
            <p:nvPr/>
          </p:nvSpPr>
          <p:spPr>
            <a:xfrm>
              <a:off x="0" y="6129521"/>
              <a:ext cx="3066415" cy="728345"/>
            </a:xfrm>
            <a:custGeom>
              <a:avLst/>
              <a:gdLst/>
              <a:ahLst/>
              <a:cxnLst/>
              <a:rect l="l" t="t" r="r" b="b"/>
              <a:pathLst>
                <a:path w="3066415" h="728345">
                  <a:moveTo>
                    <a:pt x="3066288" y="0"/>
                  </a:moveTo>
                  <a:lnTo>
                    <a:pt x="0" y="0"/>
                  </a:lnTo>
                  <a:lnTo>
                    <a:pt x="0" y="727951"/>
                  </a:lnTo>
                  <a:lnTo>
                    <a:pt x="3066288" y="727951"/>
                  </a:lnTo>
                  <a:lnTo>
                    <a:pt x="3066288" y="0"/>
                  </a:lnTo>
                  <a:close/>
                </a:path>
              </a:pathLst>
            </a:custGeom>
            <a:solidFill>
              <a:srgbClr val="009EF3"/>
            </a:solidFill>
          </p:spPr>
          <p:txBody>
            <a:bodyPr wrap="square" lIns="0" tIns="0" rIns="0" bIns="0" rtlCol="0"/>
            <a:lstStyle/>
            <a:p>
              <a:endParaRPr/>
            </a:p>
          </p:txBody>
        </p:sp>
        <p:sp>
          <p:nvSpPr>
            <p:cNvPr id="6" name="object 6"/>
            <p:cNvSpPr/>
            <p:nvPr/>
          </p:nvSpPr>
          <p:spPr>
            <a:xfrm>
              <a:off x="3052572" y="6129521"/>
              <a:ext cx="6087110" cy="728345"/>
            </a:xfrm>
            <a:custGeom>
              <a:avLst/>
              <a:gdLst/>
              <a:ahLst/>
              <a:cxnLst/>
              <a:rect l="l" t="t" r="r" b="b"/>
              <a:pathLst>
                <a:path w="6087109" h="728345">
                  <a:moveTo>
                    <a:pt x="0" y="727951"/>
                  </a:moveTo>
                  <a:lnTo>
                    <a:pt x="6086856" y="727951"/>
                  </a:lnTo>
                  <a:lnTo>
                    <a:pt x="6086856" y="0"/>
                  </a:lnTo>
                  <a:lnTo>
                    <a:pt x="0" y="0"/>
                  </a:lnTo>
                  <a:lnTo>
                    <a:pt x="0" y="727951"/>
                  </a:lnTo>
                  <a:close/>
                </a:path>
              </a:pathLst>
            </a:custGeom>
            <a:solidFill>
              <a:srgbClr val="FFBE00"/>
            </a:solidFill>
          </p:spPr>
          <p:txBody>
            <a:bodyPr wrap="square" lIns="0" tIns="0" rIns="0" bIns="0" rtlCol="0"/>
            <a:lstStyle/>
            <a:p>
              <a:endParaRPr/>
            </a:p>
          </p:txBody>
        </p:sp>
      </p:grpSp>
      <p:sp>
        <p:nvSpPr>
          <p:cNvPr id="7" name="object 7"/>
          <p:cNvSpPr txBox="1"/>
          <p:nvPr/>
        </p:nvSpPr>
        <p:spPr>
          <a:xfrm>
            <a:off x="4603241" y="6315862"/>
            <a:ext cx="4098798" cy="320601"/>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FFFFFF"/>
                </a:solidFill>
                <a:latin typeface="Calibri"/>
                <a:cs typeface="Calibri"/>
              </a:rPr>
              <a:t>CS</a:t>
            </a:r>
            <a:r>
              <a:rPr sz="2000" spc="-20" dirty="0">
                <a:solidFill>
                  <a:srgbClr val="FFFFFF"/>
                </a:solidFill>
                <a:latin typeface="Calibri"/>
                <a:cs typeface="Calibri"/>
              </a:rPr>
              <a:t> </a:t>
            </a:r>
            <a:r>
              <a:rPr sz="2000" dirty="0">
                <a:solidFill>
                  <a:srgbClr val="FFFFFF"/>
                </a:solidFill>
                <a:latin typeface="Calibri"/>
                <a:cs typeface="Calibri"/>
              </a:rPr>
              <a:t>3</a:t>
            </a:r>
            <a:r>
              <a:rPr lang="en-US" sz="2000" dirty="0">
                <a:solidFill>
                  <a:srgbClr val="FFFFFF"/>
                </a:solidFill>
                <a:latin typeface="Calibri"/>
                <a:cs typeface="Calibri"/>
              </a:rPr>
              <a:t>009</a:t>
            </a:r>
            <a:r>
              <a:rPr sz="2000" spc="-25" dirty="0">
                <a:solidFill>
                  <a:srgbClr val="FFFFFF"/>
                </a:solidFill>
                <a:latin typeface="Calibri"/>
                <a:cs typeface="Calibri"/>
              </a:rPr>
              <a:t> </a:t>
            </a:r>
            <a:r>
              <a:rPr sz="2000" dirty="0">
                <a:solidFill>
                  <a:srgbClr val="FFFFFF"/>
                </a:solidFill>
                <a:latin typeface="Calibri"/>
                <a:cs typeface="Calibri"/>
              </a:rPr>
              <a:t>-</a:t>
            </a:r>
            <a:r>
              <a:rPr sz="2000" spc="-20" dirty="0">
                <a:solidFill>
                  <a:srgbClr val="FFFFFF"/>
                </a:solidFill>
                <a:latin typeface="Calibri"/>
                <a:cs typeface="Calibri"/>
              </a:rPr>
              <a:t> </a:t>
            </a:r>
            <a:r>
              <a:rPr sz="2000" spc="-10" dirty="0">
                <a:solidFill>
                  <a:srgbClr val="FFFFFF"/>
                </a:solidFill>
                <a:latin typeface="Calibri"/>
                <a:cs typeface="Calibri"/>
              </a:rPr>
              <a:t>Software</a:t>
            </a:r>
            <a:r>
              <a:rPr sz="2000" spc="-15" dirty="0">
                <a:solidFill>
                  <a:srgbClr val="FFFFFF"/>
                </a:solidFill>
                <a:latin typeface="Calibri"/>
                <a:cs typeface="Calibri"/>
              </a:rPr>
              <a:t> </a:t>
            </a:r>
            <a:r>
              <a:rPr sz="2000" dirty="0">
                <a:solidFill>
                  <a:srgbClr val="FFFFFF"/>
                </a:solidFill>
                <a:latin typeface="Calibri"/>
                <a:cs typeface="Calibri"/>
              </a:rPr>
              <a:t>Engineering</a:t>
            </a:r>
            <a:endParaRPr sz="2000" dirty="0">
              <a:latin typeface="Calibri"/>
              <a:cs typeface="Calibri"/>
            </a:endParaRPr>
          </a:p>
        </p:txBody>
      </p:sp>
      <p:sp>
        <p:nvSpPr>
          <p:cNvPr id="8" name="object 8"/>
          <p:cNvSpPr/>
          <p:nvPr/>
        </p:nvSpPr>
        <p:spPr>
          <a:xfrm>
            <a:off x="9139428" y="6129521"/>
            <a:ext cx="3052445" cy="728345"/>
          </a:xfrm>
          <a:custGeom>
            <a:avLst/>
            <a:gdLst/>
            <a:ahLst/>
            <a:cxnLst/>
            <a:rect l="l" t="t" r="r" b="b"/>
            <a:pathLst>
              <a:path w="3052445" h="728345">
                <a:moveTo>
                  <a:pt x="3052191" y="0"/>
                </a:moveTo>
                <a:lnTo>
                  <a:pt x="0" y="0"/>
                </a:lnTo>
                <a:lnTo>
                  <a:pt x="0" y="727951"/>
                </a:lnTo>
                <a:lnTo>
                  <a:pt x="3052191" y="727951"/>
                </a:lnTo>
                <a:lnTo>
                  <a:pt x="3052191" y="0"/>
                </a:lnTo>
                <a:close/>
              </a:path>
            </a:pathLst>
          </a:custGeom>
          <a:solidFill>
            <a:srgbClr val="FF8200"/>
          </a:solidFill>
        </p:spPr>
        <p:txBody>
          <a:bodyPr wrap="square" lIns="0" tIns="0" rIns="0" bIns="0" rtlCol="0"/>
          <a:lstStyle/>
          <a:p>
            <a:endParaRPr/>
          </a:p>
        </p:txBody>
      </p:sp>
      <p:sp>
        <p:nvSpPr>
          <p:cNvPr id="9" name="object 9"/>
          <p:cNvSpPr txBox="1"/>
          <p:nvPr/>
        </p:nvSpPr>
        <p:spPr>
          <a:xfrm>
            <a:off x="9211436" y="6182359"/>
            <a:ext cx="2082800" cy="666115"/>
          </a:xfrm>
          <a:prstGeom prst="rect">
            <a:avLst/>
          </a:prstGeom>
        </p:spPr>
        <p:txBody>
          <a:bodyPr vert="horz" wrap="square" lIns="0" tIns="12700" rIns="0" bIns="0" rtlCol="0">
            <a:spAutoFit/>
          </a:bodyPr>
          <a:lstStyle/>
          <a:p>
            <a:pPr marL="12700" marR="5080">
              <a:lnSpc>
                <a:spcPct val="100000"/>
              </a:lnSpc>
              <a:spcBef>
                <a:spcPts val="100"/>
              </a:spcBef>
            </a:pPr>
            <a:r>
              <a:rPr sz="1400" spc="-35" dirty="0">
                <a:solidFill>
                  <a:srgbClr val="FFFFFF"/>
                </a:solidFill>
                <a:latin typeface="Calibri"/>
                <a:cs typeface="Calibri"/>
              </a:rPr>
              <a:t>N</a:t>
            </a:r>
            <a:r>
              <a:rPr sz="1400" spc="-140" dirty="0">
                <a:solidFill>
                  <a:srgbClr val="FFFFFF"/>
                </a:solidFill>
                <a:latin typeface="Calibri"/>
                <a:cs typeface="Calibri"/>
              </a:rPr>
              <a:t>A</a:t>
            </a:r>
            <a:r>
              <a:rPr sz="1400" spc="-40" dirty="0">
                <a:solidFill>
                  <a:srgbClr val="FFFFFF"/>
                </a:solidFill>
                <a:latin typeface="Calibri"/>
                <a:cs typeface="Calibri"/>
              </a:rPr>
              <a:t>T</a:t>
            </a:r>
            <a:r>
              <a:rPr sz="1400" spc="-45" dirty="0">
                <a:solidFill>
                  <a:srgbClr val="FFFFFF"/>
                </a:solidFill>
                <a:latin typeface="Calibri"/>
                <a:cs typeface="Calibri"/>
              </a:rPr>
              <a:t>IO</a:t>
            </a:r>
            <a:r>
              <a:rPr sz="1400" spc="-35" dirty="0">
                <a:solidFill>
                  <a:srgbClr val="FFFFFF"/>
                </a:solidFill>
                <a:latin typeface="Calibri"/>
                <a:cs typeface="Calibri"/>
              </a:rPr>
              <a:t>NA</a:t>
            </a:r>
            <a:r>
              <a:rPr sz="1400" dirty="0">
                <a:solidFill>
                  <a:srgbClr val="FFFFFF"/>
                </a:solidFill>
                <a:latin typeface="Calibri"/>
                <a:cs typeface="Calibri"/>
              </a:rPr>
              <a:t>L</a:t>
            </a:r>
            <a:r>
              <a:rPr sz="1400" spc="-55" dirty="0">
                <a:solidFill>
                  <a:srgbClr val="FFFFFF"/>
                </a:solidFill>
                <a:latin typeface="Calibri"/>
                <a:cs typeface="Calibri"/>
              </a:rPr>
              <a:t> </a:t>
            </a:r>
            <a:r>
              <a:rPr sz="1400" spc="-40" dirty="0">
                <a:solidFill>
                  <a:srgbClr val="FFFFFF"/>
                </a:solidFill>
                <a:latin typeface="Calibri"/>
                <a:cs typeface="Calibri"/>
              </a:rPr>
              <a:t>U</a:t>
            </a:r>
            <a:r>
              <a:rPr sz="1400" spc="-35" dirty="0">
                <a:solidFill>
                  <a:srgbClr val="FFFFFF"/>
                </a:solidFill>
                <a:latin typeface="Calibri"/>
                <a:cs typeface="Calibri"/>
              </a:rPr>
              <a:t>N</a:t>
            </a:r>
            <a:r>
              <a:rPr sz="1400" spc="-45" dirty="0">
                <a:solidFill>
                  <a:srgbClr val="FFFFFF"/>
                </a:solidFill>
                <a:latin typeface="Calibri"/>
                <a:cs typeface="Calibri"/>
              </a:rPr>
              <a:t>IV</a:t>
            </a:r>
            <a:r>
              <a:rPr sz="1400" spc="-40" dirty="0">
                <a:solidFill>
                  <a:srgbClr val="FFFFFF"/>
                </a:solidFill>
                <a:latin typeface="Calibri"/>
                <a:cs typeface="Calibri"/>
              </a:rPr>
              <a:t>E</a:t>
            </a:r>
            <a:r>
              <a:rPr sz="1400" spc="-55" dirty="0">
                <a:solidFill>
                  <a:srgbClr val="FFFFFF"/>
                </a:solidFill>
                <a:latin typeface="Calibri"/>
                <a:cs typeface="Calibri"/>
              </a:rPr>
              <a:t>R</a:t>
            </a:r>
            <a:r>
              <a:rPr sz="1400" spc="-35" dirty="0">
                <a:solidFill>
                  <a:srgbClr val="FFFFFF"/>
                </a:solidFill>
                <a:latin typeface="Calibri"/>
                <a:cs typeface="Calibri"/>
              </a:rPr>
              <a:t>S</a:t>
            </a:r>
            <a:r>
              <a:rPr sz="1400" spc="-45" dirty="0">
                <a:solidFill>
                  <a:srgbClr val="FFFFFF"/>
                </a:solidFill>
                <a:latin typeface="Calibri"/>
                <a:cs typeface="Calibri"/>
              </a:rPr>
              <a:t>I</a:t>
            </a:r>
            <a:r>
              <a:rPr sz="1400" spc="-40" dirty="0">
                <a:solidFill>
                  <a:srgbClr val="FFFFFF"/>
                </a:solidFill>
                <a:latin typeface="Calibri"/>
                <a:cs typeface="Calibri"/>
              </a:rPr>
              <a:t>T</a:t>
            </a:r>
            <a:r>
              <a:rPr sz="1400" dirty="0">
                <a:solidFill>
                  <a:srgbClr val="FFFFFF"/>
                </a:solidFill>
                <a:latin typeface="Calibri"/>
                <a:cs typeface="Calibri"/>
              </a:rPr>
              <a:t>Y</a:t>
            </a:r>
            <a:r>
              <a:rPr sz="1400" spc="-10" dirty="0">
                <a:solidFill>
                  <a:srgbClr val="FFFFFF"/>
                </a:solidFill>
                <a:latin typeface="Calibri"/>
                <a:cs typeface="Calibri"/>
              </a:rPr>
              <a:t> </a:t>
            </a:r>
            <a:r>
              <a:rPr sz="1400" spc="-45" dirty="0">
                <a:solidFill>
                  <a:srgbClr val="FFFFFF"/>
                </a:solidFill>
                <a:latin typeface="Calibri"/>
                <a:cs typeface="Calibri"/>
              </a:rPr>
              <a:t>O</a:t>
            </a:r>
            <a:r>
              <a:rPr sz="1400" dirty="0">
                <a:solidFill>
                  <a:srgbClr val="FFFFFF"/>
                </a:solidFill>
                <a:latin typeface="Calibri"/>
                <a:cs typeface="Calibri"/>
              </a:rPr>
              <a:t>F  </a:t>
            </a:r>
            <a:r>
              <a:rPr sz="1400" spc="-55" dirty="0">
                <a:solidFill>
                  <a:srgbClr val="FFFFFF"/>
                </a:solidFill>
                <a:latin typeface="Calibri"/>
                <a:cs typeface="Calibri"/>
              </a:rPr>
              <a:t>C</a:t>
            </a:r>
            <a:r>
              <a:rPr sz="1400" spc="-45" dirty="0">
                <a:solidFill>
                  <a:srgbClr val="FFFFFF"/>
                </a:solidFill>
                <a:latin typeface="Calibri"/>
                <a:cs typeface="Calibri"/>
              </a:rPr>
              <a:t>O</a:t>
            </a:r>
            <a:r>
              <a:rPr sz="1400" spc="-40" dirty="0">
                <a:solidFill>
                  <a:srgbClr val="FFFFFF"/>
                </a:solidFill>
                <a:latin typeface="Calibri"/>
                <a:cs typeface="Calibri"/>
              </a:rPr>
              <a:t>M</a:t>
            </a:r>
            <a:r>
              <a:rPr sz="1400" spc="-45" dirty="0">
                <a:solidFill>
                  <a:srgbClr val="FFFFFF"/>
                </a:solidFill>
                <a:latin typeface="Calibri"/>
                <a:cs typeface="Calibri"/>
              </a:rPr>
              <a:t>P</a:t>
            </a:r>
            <a:r>
              <a:rPr sz="1400" spc="-40" dirty="0">
                <a:solidFill>
                  <a:srgbClr val="FFFFFF"/>
                </a:solidFill>
                <a:latin typeface="Calibri"/>
                <a:cs typeface="Calibri"/>
              </a:rPr>
              <a:t>UT</a:t>
            </a:r>
            <a:r>
              <a:rPr sz="1400" spc="-45" dirty="0">
                <a:solidFill>
                  <a:srgbClr val="FFFFFF"/>
                </a:solidFill>
                <a:latin typeface="Calibri"/>
                <a:cs typeface="Calibri"/>
              </a:rPr>
              <a:t>I</a:t>
            </a:r>
            <a:r>
              <a:rPr sz="1400" spc="-35" dirty="0">
                <a:solidFill>
                  <a:srgbClr val="FFFFFF"/>
                </a:solidFill>
                <a:latin typeface="Calibri"/>
                <a:cs typeface="Calibri"/>
              </a:rPr>
              <a:t>N</a:t>
            </a:r>
            <a:r>
              <a:rPr sz="1400" dirty="0">
                <a:solidFill>
                  <a:srgbClr val="FFFFFF"/>
                </a:solidFill>
                <a:latin typeface="Calibri"/>
                <a:cs typeface="Calibri"/>
              </a:rPr>
              <a:t>G</a:t>
            </a:r>
            <a:r>
              <a:rPr sz="1400" spc="-20" dirty="0">
                <a:solidFill>
                  <a:srgbClr val="FFFFFF"/>
                </a:solidFill>
                <a:latin typeface="Calibri"/>
                <a:cs typeface="Calibri"/>
              </a:rPr>
              <a:t> </a:t>
            </a:r>
            <a:r>
              <a:rPr sz="1400" spc="-35" dirty="0">
                <a:solidFill>
                  <a:srgbClr val="FFFFFF"/>
                </a:solidFill>
                <a:latin typeface="Calibri"/>
                <a:cs typeface="Calibri"/>
              </a:rPr>
              <a:t>AN</a:t>
            </a:r>
            <a:r>
              <a:rPr sz="1400" dirty="0">
                <a:solidFill>
                  <a:srgbClr val="FFFFFF"/>
                </a:solidFill>
                <a:latin typeface="Calibri"/>
                <a:cs typeface="Calibri"/>
              </a:rPr>
              <a:t>D</a:t>
            </a:r>
            <a:r>
              <a:rPr sz="1400" spc="-65" dirty="0">
                <a:solidFill>
                  <a:srgbClr val="FFFFFF"/>
                </a:solidFill>
                <a:latin typeface="Calibri"/>
                <a:cs typeface="Calibri"/>
              </a:rPr>
              <a:t> </a:t>
            </a:r>
            <a:r>
              <a:rPr sz="1400" spc="-40" dirty="0">
                <a:solidFill>
                  <a:srgbClr val="FFFFFF"/>
                </a:solidFill>
                <a:latin typeface="Calibri"/>
                <a:cs typeface="Calibri"/>
              </a:rPr>
              <a:t>EME</a:t>
            </a:r>
            <a:r>
              <a:rPr sz="1400" spc="-45" dirty="0">
                <a:solidFill>
                  <a:srgbClr val="FFFFFF"/>
                </a:solidFill>
                <a:latin typeface="Calibri"/>
                <a:cs typeface="Calibri"/>
              </a:rPr>
              <a:t>R</a:t>
            </a:r>
            <a:r>
              <a:rPr sz="1400" spc="-35" dirty="0">
                <a:solidFill>
                  <a:srgbClr val="FFFFFF"/>
                </a:solidFill>
                <a:latin typeface="Calibri"/>
                <a:cs typeface="Calibri"/>
              </a:rPr>
              <a:t>G</a:t>
            </a:r>
            <a:r>
              <a:rPr sz="1400" spc="-45" dirty="0">
                <a:solidFill>
                  <a:srgbClr val="FFFFFF"/>
                </a:solidFill>
                <a:latin typeface="Calibri"/>
                <a:cs typeface="Calibri"/>
              </a:rPr>
              <a:t>I</a:t>
            </a:r>
            <a:r>
              <a:rPr sz="1400" spc="-35" dirty="0">
                <a:solidFill>
                  <a:srgbClr val="FFFFFF"/>
                </a:solidFill>
                <a:latin typeface="Calibri"/>
                <a:cs typeface="Calibri"/>
              </a:rPr>
              <a:t>N</a:t>
            </a:r>
            <a:r>
              <a:rPr sz="1400" dirty="0">
                <a:solidFill>
                  <a:srgbClr val="FFFFFF"/>
                </a:solidFill>
                <a:latin typeface="Calibri"/>
                <a:cs typeface="Calibri"/>
              </a:rPr>
              <a:t>G  </a:t>
            </a:r>
            <a:r>
              <a:rPr sz="1400" spc="-35" dirty="0">
                <a:solidFill>
                  <a:srgbClr val="FFFFFF"/>
                </a:solidFill>
                <a:latin typeface="Calibri"/>
                <a:cs typeface="Calibri"/>
              </a:rPr>
              <a:t>SCIENCES</a:t>
            </a:r>
            <a:endParaRPr sz="1400">
              <a:latin typeface="Calibri"/>
              <a:cs typeface="Calibri"/>
            </a:endParaRPr>
          </a:p>
        </p:txBody>
      </p:sp>
      <p:pic>
        <p:nvPicPr>
          <p:cNvPr id="10" name="object 10"/>
          <p:cNvPicPr/>
          <p:nvPr/>
        </p:nvPicPr>
        <p:blipFill>
          <a:blip r:embed="rId2" cstate="print"/>
          <a:stretch>
            <a:fillRect/>
          </a:stretch>
        </p:blipFill>
        <p:spPr>
          <a:xfrm>
            <a:off x="11353800" y="6190488"/>
            <a:ext cx="615696" cy="615695"/>
          </a:xfrm>
          <a:prstGeom prst="rect">
            <a:avLst/>
          </a:prstGeom>
        </p:spPr>
      </p:pic>
      <p:sp>
        <p:nvSpPr>
          <p:cNvPr id="11" name="object 11"/>
          <p:cNvSpPr txBox="1"/>
          <p:nvPr/>
        </p:nvSpPr>
        <p:spPr>
          <a:xfrm>
            <a:off x="272592" y="6322263"/>
            <a:ext cx="2428240"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FFFFFF"/>
                </a:solidFill>
                <a:latin typeface="Calibri"/>
                <a:cs typeface="Calibri"/>
              </a:rPr>
              <a:t>D</a:t>
            </a:r>
            <a:r>
              <a:rPr sz="1800" spc="-220" dirty="0">
                <a:solidFill>
                  <a:srgbClr val="FFFFFF"/>
                </a:solidFill>
                <a:latin typeface="Calibri"/>
                <a:cs typeface="Calibri"/>
              </a:rPr>
              <a:t>r</a:t>
            </a:r>
            <a:r>
              <a:rPr sz="1800" dirty="0">
                <a:solidFill>
                  <a:srgbClr val="FFFFFF"/>
                </a:solidFill>
                <a:latin typeface="Calibri"/>
                <a:cs typeface="Calibri"/>
              </a:rPr>
              <a:t>.</a:t>
            </a:r>
            <a:r>
              <a:rPr sz="1800" spc="-40" dirty="0">
                <a:solidFill>
                  <a:srgbClr val="FFFFFF"/>
                </a:solidFill>
                <a:latin typeface="Calibri"/>
                <a:cs typeface="Calibri"/>
              </a:rPr>
              <a:t> </a:t>
            </a:r>
            <a:r>
              <a:rPr lang="en-US" sz="1800" spc="-40" dirty="0" err="1">
                <a:solidFill>
                  <a:srgbClr val="FFFFFF"/>
                </a:solidFill>
                <a:latin typeface="Calibri"/>
                <a:cs typeface="Calibri"/>
              </a:rPr>
              <a:t>Syeda</a:t>
            </a:r>
            <a:r>
              <a:rPr lang="en-US" sz="1800" spc="-40" dirty="0">
                <a:solidFill>
                  <a:srgbClr val="FFFFFF"/>
                </a:solidFill>
                <a:latin typeface="Calibri"/>
                <a:cs typeface="Calibri"/>
              </a:rPr>
              <a:t> </a:t>
            </a:r>
            <a:r>
              <a:rPr lang="en-US" sz="1800" spc="-40" dirty="0" err="1">
                <a:solidFill>
                  <a:srgbClr val="FFFFFF"/>
                </a:solidFill>
                <a:latin typeface="Calibri"/>
                <a:cs typeface="Calibri"/>
              </a:rPr>
              <a:t>Javaria</a:t>
            </a:r>
            <a:r>
              <a:rPr lang="en-US" sz="1800" spc="-40" dirty="0">
                <a:solidFill>
                  <a:srgbClr val="FFFFFF"/>
                </a:solidFill>
                <a:latin typeface="Calibri"/>
                <a:cs typeface="Calibri"/>
              </a:rPr>
              <a:t> </a:t>
            </a:r>
            <a:r>
              <a:rPr lang="en-US" sz="1800" spc="-40" dirty="0" err="1">
                <a:solidFill>
                  <a:srgbClr val="FFFFFF"/>
                </a:solidFill>
                <a:latin typeface="Calibri"/>
                <a:cs typeface="Calibri"/>
              </a:rPr>
              <a:t>Imtiaz</a:t>
            </a:r>
            <a:endParaRPr sz="1800" dirty="0">
              <a:latin typeface="Calibri"/>
              <a:cs typeface="Calibri"/>
            </a:endParaRPr>
          </a:p>
        </p:txBody>
      </p:sp>
      <p:sp>
        <p:nvSpPr>
          <p:cNvPr id="12" name="object 12"/>
          <p:cNvSpPr txBox="1">
            <a:spLocks noGrp="1"/>
          </p:cNvSpPr>
          <p:nvPr>
            <p:ph type="body" idx="1"/>
          </p:nvPr>
        </p:nvSpPr>
        <p:spPr>
          <a:prstGeom prst="rect">
            <a:avLst/>
          </a:prstGeom>
        </p:spPr>
        <p:txBody>
          <a:bodyPr vert="horz" wrap="square" lIns="0" tIns="645367" rIns="0" bIns="0" rtlCol="0">
            <a:spAutoFit/>
          </a:bodyPr>
          <a:lstStyle/>
          <a:p>
            <a:pPr marL="78105" algn="ctr">
              <a:lnSpc>
                <a:spcPct val="100000"/>
              </a:lnSpc>
              <a:spcBef>
                <a:spcPts val="1760"/>
              </a:spcBef>
            </a:pPr>
            <a:r>
              <a:rPr spc="-25" dirty="0"/>
              <a:t>Software</a:t>
            </a:r>
            <a:r>
              <a:rPr spc="-60" dirty="0"/>
              <a:t> </a:t>
            </a:r>
            <a:r>
              <a:rPr spc="-5" dirty="0"/>
              <a:t>Engineering</a:t>
            </a:r>
          </a:p>
          <a:p>
            <a:pPr marL="78105" algn="ctr">
              <a:lnSpc>
                <a:spcPct val="100000"/>
              </a:lnSpc>
              <a:spcBef>
                <a:spcPts val="660"/>
              </a:spcBef>
            </a:pPr>
            <a:r>
              <a:rPr sz="2400" spc="-10" dirty="0">
                <a:latin typeface="Calibri"/>
                <a:cs typeface="Calibri"/>
              </a:rPr>
              <a:t>Software</a:t>
            </a:r>
            <a:r>
              <a:rPr sz="2400" spc="-25" dirty="0">
                <a:latin typeface="Calibri"/>
                <a:cs typeface="Calibri"/>
              </a:rPr>
              <a:t> </a:t>
            </a:r>
            <a:r>
              <a:rPr sz="2400" spc="-10" dirty="0">
                <a:latin typeface="Calibri"/>
                <a:cs typeface="Calibri"/>
              </a:rPr>
              <a:t>Process</a:t>
            </a:r>
            <a:r>
              <a:rPr sz="2400" spc="-15" dirty="0">
                <a:latin typeface="Calibri"/>
                <a:cs typeface="Calibri"/>
              </a:rPr>
              <a:t> </a:t>
            </a:r>
            <a:r>
              <a:rPr sz="2400" dirty="0">
                <a:latin typeface="Calibri"/>
                <a:cs typeface="Calibri"/>
              </a:rPr>
              <a:t>Models</a:t>
            </a:r>
            <a:r>
              <a:rPr sz="2400" spc="-4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Agile</a:t>
            </a:r>
            <a:r>
              <a:rPr sz="2400" spc="-20" dirty="0">
                <a:latin typeface="Calibri"/>
                <a:cs typeface="Calibri"/>
              </a:rPr>
              <a:t> </a:t>
            </a:r>
            <a:r>
              <a:rPr sz="2400" dirty="0">
                <a:latin typeface="Calibri"/>
                <a:cs typeface="Calibri"/>
              </a:rPr>
              <a:t>Models</a:t>
            </a:r>
          </a:p>
        </p:txBody>
      </p:sp>
      <p:pic>
        <p:nvPicPr>
          <p:cNvPr id="13" name="object 13"/>
          <p:cNvPicPr/>
          <p:nvPr/>
        </p:nvPicPr>
        <p:blipFill>
          <a:blip r:embed="rId3" cstate="print"/>
          <a:stretch>
            <a:fillRect/>
          </a:stretch>
        </p:blipFill>
        <p:spPr>
          <a:xfrm>
            <a:off x="3489959" y="4379061"/>
            <a:ext cx="5212080" cy="1606167"/>
          </a:xfrm>
          <a:prstGeom prst="rect">
            <a:avLst/>
          </a:prstGeom>
        </p:spPr>
      </p:pic>
    </p:spTree>
    <p:extLst>
      <p:ext uri="{BB962C8B-B14F-4D97-AF65-F5344CB8AC3E}">
        <p14:creationId xmlns:p14="http://schemas.microsoft.com/office/powerpoint/2010/main" val="285352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457200"/>
            <a:ext cx="9677400" cy="492443"/>
          </a:xfrm>
        </p:spPr>
        <p:txBody>
          <a:bodyPr/>
          <a:lstStyle/>
          <a:p>
            <a:r>
              <a:rPr lang="en-US" dirty="0">
                <a:latin typeface="Helvetica" panose="020B0604020202020204" pitchFamily="34" charset="0"/>
                <a:cs typeface="Helvetica" panose="020B0604020202020204" pitchFamily="34" charset="0"/>
              </a:rPr>
              <a:t>XP Practices Revision</a:t>
            </a:r>
          </a:p>
        </p:txBody>
      </p:sp>
      <p:sp>
        <p:nvSpPr>
          <p:cNvPr id="4" name="TextBox 3"/>
          <p:cNvSpPr txBox="1"/>
          <p:nvPr/>
        </p:nvSpPr>
        <p:spPr>
          <a:xfrm>
            <a:off x="662709" y="1524000"/>
            <a:ext cx="9296400" cy="5078313"/>
          </a:xfrm>
          <a:prstGeom prst="rect">
            <a:avLst/>
          </a:prstGeom>
          <a:noFill/>
        </p:spPr>
        <p:txBody>
          <a:bodyPr wrap="square" rtlCol="0">
            <a:spAutoFit/>
          </a:bodyPr>
          <a:lstStyle/>
          <a:p>
            <a:pPr marL="285750" indent="-285750">
              <a:buFont typeface="Wingdings" panose="05000000000000000000" pitchFamily="2" charset="2"/>
              <a:buChar char="§"/>
            </a:pPr>
            <a:r>
              <a:rPr lang="en-US" b="1" dirty="0">
                <a:latin typeface="Helvetica" panose="020B0604020202020204" pitchFamily="34" charset="0"/>
                <a:cs typeface="Helvetica" panose="020B0604020202020204" pitchFamily="34" charset="0"/>
              </a:rPr>
              <a:t>Faster feedback</a:t>
            </a:r>
          </a:p>
          <a:p>
            <a:pPr marL="800100" lvl="1" indent="-342900">
              <a:buFont typeface="+mj-lt"/>
              <a:buAutoNum type="arabicPeriod"/>
            </a:pPr>
            <a:r>
              <a:rPr lang="en-US" dirty="0">
                <a:latin typeface="Helvetica" panose="020B0604020202020204" pitchFamily="34" charset="0"/>
                <a:cs typeface="Helvetica" panose="020B0604020202020204" pitchFamily="34" charset="0"/>
              </a:rPr>
              <a:t>Test driven development</a:t>
            </a:r>
          </a:p>
          <a:p>
            <a:pPr marL="800100" lvl="1" indent="-342900">
              <a:buFont typeface="+mj-lt"/>
              <a:buAutoNum type="arabicPeriod"/>
            </a:pPr>
            <a:r>
              <a:rPr lang="en-US" dirty="0">
                <a:latin typeface="Helvetica" panose="020B0604020202020204" pitchFamily="34" charset="0"/>
                <a:cs typeface="Helvetica" panose="020B0604020202020204" pitchFamily="34" charset="0"/>
              </a:rPr>
              <a:t>Onsite customer</a:t>
            </a:r>
          </a:p>
          <a:p>
            <a:pPr marL="800100" lvl="1" indent="-342900">
              <a:buFont typeface="+mj-lt"/>
              <a:buAutoNum type="arabicPeriod"/>
            </a:pPr>
            <a:r>
              <a:rPr lang="en-US" dirty="0">
                <a:latin typeface="Helvetica" panose="020B0604020202020204" pitchFamily="34" charset="0"/>
                <a:cs typeface="Helvetica" panose="020B0604020202020204" pitchFamily="34" charset="0"/>
              </a:rPr>
              <a:t>Pair programming</a:t>
            </a:r>
          </a:p>
          <a:p>
            <a:pPr marL="285750" indent="-285750">
              <a:buFont typeface="Wingdings" panose="05000000000000000000" pitchFamily="2" charset="2"/>
              <a:buChar char="§"/>
            </a:pPr>
            <a:r>
              <a:rPr lang="en-US" b="1" dirty="0">
                <a:latin typeface="Helvetica" panose="020B0604020202020204" pitchFamily="34" charset="0"/>
                <a:cs typeface="Helvetica" panose="020B0604020202020204" pitchFamily="34" charset="0"/>
              </a:rPr>
              <a:t>Continuous process</a:t>
            </a:r>
          </a:p>
          <a:p>
            <a:pPr marL="800100" lvl="1" indent="-342900">
              <a:buFont typeface="+mj-lt"/>
              <a:buAutoNum type="arabicPeriod" startAt="4"/>
            </a:pPr>
            <a:r>
              <a:rPr lang="en-US" dirty="0">
                <a:latin typeface="Helvetica" panose="020B0604020202020204" pitchFamily="34" charset="0"/>
                <a:cs typeface="Helvetica" panose="020B0604020202020204" pitchFamily="34" charset="0"/>
              </a:rPr>
              <a:t>Continuous integration</a:t>
            </a:r>
          </a:p>
          <a:p>
            <a:pPr marL="800100" lvl="1" indent="-342900">
              <a:buFont typeface="+mj-lt"/>
              <a:buAutoNum type="arabicPeriod" startAt="4"/>
            </a:pPr>
            <a:r>
              <a:rPr lang="en-US" dirty="0">
                <a:latin typeface="Helvetica" panose="020B0604020202020204" pitchFamily="34" charset="0"/>
                <a:cs typeface="Helvetica" panose="020B0604020202020204" pitchFamily="34" charset="0"/>
              </a:rPr>
              <a:t>Refactoring </a:t>
            </a:r>
          </a:p>
          <a:p>
            <a:pPr marL="800100" lvl="1" indent="-342900">
              <a:buFont typeface="+mj-lt"/>
              <a:buAutoNum type="arabicPeriod" startAt="4"/>
            </a:pPr>
            <a:r>
              <a:rPr lang="en-US" dirty="0">
                <a:latin typeface="Helvetica" panose="020B0604020202020204" pitchFamily="34" charset="0"/>
                <a:cs typeface="Helvetica" panose="020B0604020202020204" pitchFamily="34" charset="0"/>
              </a:rPr>
              <a:t>Short releases</a:t>
            </a:r>
          </a:p>
          <a:p>
            <a:pPr marL="285750" indent="-285750">
              <a:buFont typeface="Wingdings" panose="05000000000000000000" pitchFamily="2" charset="2"/>
              <a:buChar char="§"/>
            </a:pPr>
            <a:r>
              <a:rPr lang="en-US" b="1" dirty="0">
                <a:latin typeface="Helvetica" panose="020B0604020202020204" pitchFamily="34" charset="0"/>
                <a:cs typeface="Helvetica" panose="020B0604020202020204" pitchFamily="34" charset="0"/>
              </a:rPr>
              <a:t>Shared understanding</a:t>
            </a:r>
          </a:p>
          <a:p>
            <a:pPr marL="800100" lvl="1" indent="-342900">
              <a:buFont typeface="+mj-lt"/>
              <a:buAutoNum type="arabicPeriod" startAt="7"/>
            </a:pPr>
            <a:r>
              <a:rPr lang="en-US" dirty="0">
                <a:latin typeface="Helvetica" panose="020B0604020202020204" pitchFamily="34" charset="0"/>
                <a:cs typeface="Helvetica" panose="020B0604020202020204" pitchFamily="34" charset="0"/>
              </a:rPr>
              <a:t>The planning game</a:t>
            </a:r>
          </a:p>
          <a:p>
            <a:pPr marL="800100" lvl="1" indent="-342900">
              <a:buFont typeface="+mj-lt"/>
              <a:buAutoNum type="arabicPeriod" startAt="7"/>
            </a:pPr>
            <a:r>
              <a:rPr lang="en-US" dirty="0">
                <a:latin typeface="Helvetica" panose="020B0604020202020204" pitchFamily="34" charset="0"/>
                <a:cs typeface="Helvetica" panose="020B0604020202020204" pitchFamily="34" charset="0"/>
              </a:rPr>
              <a:t>Simple Design</a:t>
            </a:r>
          </a:p>
          <a:p>
            <a:pPr marL="800100" lvl="1" indent="-342900">
              <a:buFont typeface="+mj-lt"/>
              <a:buAutoNum type="arabicPeriod" startAt="7"/>
            </a:pPr>
            <a:r>
              <a:rPr lang="en-US" dirty="0">
                <a:latin typeface="Helvetica" panose="020B0604020202020204" pitchFamily="34" charset="0"/>
                <a:cs typeface="Helvetica" panose="020B0604020202020204" pitchFamily="34" charset="0"/>
              </a:rPr>
              <a:t>System Metaphor</a:t>
            </a:r>
          </a:p>
          <a:p>
            <a:pPr marL="800100" lvl="1" indent="-342900">
              <a:buFont typeface="+mj-lt"/>
              <a:buAutoNum type="arabicPeriod" startAt="7"/>
            </a:pPr>
            <a:r>
              <a:rPr lang="en-US" dirty="0">
                <a:latin typeface="Helvetica" panose="020B0604020202020204" pitchFamily="34" charset="0"/>
                <a:cs typeface="Helvetica" panose="020B0604020202020204" pitchFamily="34" charset="0"/>
              </a:rPr>
              <a:t>Collective ownership</a:t>
            </a:r>
          </a:p>
          <a:p>
            <a:pPr marL="800100" lvl="1" indent="-342900">
              <a:buFont typeface="+mj-lt"/>
              <a:buAutoNum type="arabicPeriod" startAt="7"/>
            </a:pPr>
            <a:r>
              <a:rPr lang="en-US" dirty="0">
                <a:latin typeface="Helvetica" panose="020B0604020202020204" pitchFamily="34" charset="0"/>
                <a:cs typeface="Helvetica" panose="020B0604020202020204" pitchFamily="34" charset="0"/>
              </a:rPr>
              <a:t>Coding Standards</a:t>
            </a:r>
          </a:p>
          <a:p>
            <a:pPr marL="285750" indent="-285750">
              <a:buFont typeface="Wingdings" panose="05000000000000000000" pitchFamily="2" charset="2"/>
              <a:buChar char="§"/>
            </a:pPr>
            <a:r>
              <a:rPr lang="en-US" b="1" dirty="0">
                <a:latin typeface="Helvetica" panose="020B0604020202020204" pitchFamily="34" charset="0"/>
                <a:cs typeface="Helvetica" panose="020B0604020202020204" pitchFamily="34" charset="0"/>
              </a:rPr>
              <a:t>Developers welfare</a:t>
            </a:r>
          </a:p>
          <a:p>
            <a:pPr marL="800100" lvl="1" indent="-342900">
              <a:buFont typeface="+mj-lt"/>
              <a:buAutoNum type="arabicPeriod" startAt="12"/>
            </a:pPr>
            <a:r>
              <a:rPr lang="en-US" dirty="0">
                <a:latin typeface="Helvetica" panose="020B0604020202020204" pitchFamily="34" charset="0"/>
                <a:cs typeface="Helvetica" panose="020B0604020202020204" pitchFamily="34" charset="0"/>
              </a:rPr>
              <a:t>40-Hour Week</a:t>
            </a:r>
          </a:p>
          <a:p>
            <a:pPr marL="742950" lvl="1" indent="-285750">
              <a:buFont typeface="Arial" panose="020B0604020202020204" pitchFamily="34" charset="0"/>
              <a:buChar char="•"/>
            </a:pPr>
            <a:endParaRPr lang="en-US"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42362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BDE545-EBE6-47C8-AE5D-2E0049E4C180}"/>
              </a:ext>
            </a:extLst>
          </p:cNvPr>
          <p:cNvSpPr>
            <a:spLocks noGrp="1"/>
          </p:cNvSpPr>
          <p:nvPr>
            <p:ph type="body" idx="1"/>
          </p:nvPr>
        </p:nvSpPr>
        <p:spPr>
          <a:xfrm>
            <a:off x="762000" y="228600"/>
            <a:ext cx="10820400" cy="1477328"/>
          </a:xfrm>
        </p:spPr>
        <p:txBody>
          <a:bodyPr/>
          <a:lstStyle/>
          <a:p>
            <a:r>
              <a:rPr lang="en-US" dirty="0"/>
              <a:t>Kanban Methodology: The Simplest Agile Framework</a:t>
            </a:r>
          </a:p>
          <a:p>
            <a:endParaRPr lang="en-US" dirty="0"/>
          </a:p>
        </p:txBody>
      </p:sp>
      <p:sp>
        <p:nvSpPr>
          <p:cNvPr id="4" name="TextBox 3">
            <a:extLst>
              <a:ext uri="{FF2B5EF4-FFF2-40B4-BE49-F238E27FC236}">
                <a16:creationId xmlns:a16="http://schemas.microsoft.com/office/drawing/2014/main" id="{C27C7F5F-13F7-4914-A98B-D667695DEEE1}"/>
              </a:ext>
            </a:extLst>
          </p:cNvPr>
          <p:cNvSpPr txBox="1"/>
          <p:nvPr/>
        </p:nvSpPr>
        <p:spPr>
          <a:xfrm>
            <a:off x="788436" y="1295400"/>
            <a:ext cx="10565363" cy="830997"/>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Helvetica" panose="020B0604020202020204" pitchFamily="34" charset="0"/>
                <a:cs typeface="Helvetica" panose="020B0604020202020204" pitchFamily="34" charset="0"/>
              </a:rPr>
              <a:t>"Kanban" (</a:t>
            </a:r>
            <a:r>
              <a:rPr lang="ja-JP" altLang="en-US" sz="1600" dirty="0">
                <a:latin typeface="Helvetica" panose="020B0604020202020204" pitchFamily="34" charset="0"/>
                <a:cs typeface="Helvetica" panose="020B0604020202020204" pitchFamily="34" charset="0"/>
              </a:rPr>
              <a:t>かんばん</a:t>
            </a:r>
            <a:r>
              <a:rPr lang="en-US" altLang="ja-JP" sz="1600" dirty="0">
                <a:latin typeface="Helvetica" panose="020B0604020202020204" pitchFamily="34" charset="0"/>
                <a:cs typeface="Helvetica" panose="020B0604020202020204" pitchFamily="34" charset="0"/>
              </a:rPr>
              <a:t>) </a:t>
            </a:r>
            <a:r>
              <a:rPr lang="en-US" sz="1600" dirty="0">
                <a:latin typeface="Helvetica" panose="020B0604020202020204" pitchFamily="34" charset="0"/>
                <a:cs typeface="Helvetica" panose="020B0604020202020204" pitchFamily="34" charset="0"/>
              </a:rPr>
              <a:t>is a Japanese word that translates directly as "visual card." </a:t>
            </a:r>
          </a:p>
          <a:p>
            <a:pPr marL="285750" indent="-285750" algn="just">
              <a:buFont typeface="Arial" panose="020B0604020202020204" pitchFamily="34" charset="0"/>
              <a:buChar char="•"/>
            </a:pPr>
            <a:r>
              <a:rPr lang="en-US" sz="1600" dirty="0">
                <a:latin typeface="Helvetica" panose="020B0604020202020204" pitchFamily="34" charset="0"/>
                <a:cs typeface="Helvetica" panose="020B0604020202020204" pitchFamily="34" charset="0"/>
              </a:rPr>
              <a:t>This methodology, Kanban involves </a:t>
            </a:r>
            <a:r>
              <a:rPr lang="en-US" sz="1600" dirty="0">
                <a:solidFill>
                  <a:srgbClr val="0070C0"/>
                </a:solidFill>
                <a:latin typeface="Helvetica" panose="020B0604020202020204" pitchFamily="34" charset="0"/>
                <a:cs typeface="Helvetica" panose="020B0604020202020204" pitchFamily="34" charset="0"/>
              </a:rPr>
              <a:t>creating visual cards </a:t>
            </a:r>
            <a:r>
              <a:rPr lang="en-US" sz="1600" dirty="0">
                <a:latin typeface="Helvetica" panose="020B0604020202020204" pitchFamily="34" charset="0"/>
                <a:cs typeface="Helvetica" panose="020B0604020202020204" pitchFamily="34" charset="0"/>
              </a:rPr>
              <a:t>that list details about a task and organizing them into lists on a board that represent different stages of a production process. </a:t>
            </a:r>
          </a:p>
        </p:txBody>
      </p:sp>
      <p:sp>
        <p:nvSpPr>
          <p:cNvPr id="11" name="TextBox 10">
            <a:extLst>
              <a:ext uri="{FF2B5EF4-FFF2-40B4-BE49-F238E27FC236}">
                <a16:creationId xmlns:a16="http://schemas.microsoft.com/office/drawing/2014/main" id="{24870568-D692-410B-967C-4C80C5F4CD16}"/>
              </a:ext>
            </a:extLst>
          </p:cNvPr>
          <p:cNvSpPr txBox="1"/>
          <p:nvPr/>
        </p:nvSpPr>
        <p:spPr>
          <a:xfrm>
            <a:off x="1143000" y="2531477"/>
            <a:ext cx="9963538" cy="1323439"/>
          </a:xfrm>
          <a:prstGeom prst="rect">
            <a:avLst/>
          </a:prstGeom>
          <a:noFill/>
          <a:ln>
            <a:solidFill>
              <a:schemeClr val="tx1"/>
            </a:solidFill>
          </a:ln>
        </p:spPr>
        <p:txBody>
          <a:bodyPr wrap="square">
            <a:spAutoFit/>
          </a:bodyPr>
          <a:lstStyle/>
          <a:p>
            <a:pPr marL="285750" indent="-285750" algn="just">
              <a:buFont typeface="Wingdings" panose="05000000000000000000" pitchFamily="2" charset="2"/>
              <a:buChar char="Ø"/>
            </a:pPr>
            <a:r>
              <a:rPr lang="en-US" sz="1600" b="1" dirty="0">
                <a:latin typeface="Helvetica" panose="020B0604020202020204" pitchFamily="34" charset="0"/>
                <a:cs typeface="Helvetica" panose="020B0604020202020204" pitchFamily="34" charset="0"/>
              </a:rPr>
              <a:t>History</a:t>
            </a:r>
            <a:r>
              <a:rPr lang="en-US" sz="1600" dirty="0">
                <a:latin typeface="Helvetica" panose="020B0604020202020204" pitchFamily="34" charset="0"/>
                <a:cs typeface="Helvetica" panose="020B0604020202020204" pitchFamily="34" charset="0"/>
              </a:rPr>
              <a:t>: The Kanban methodology was invented by Toyota back in the 1950s as a way of organizing car factory floors and ensuring each car part was made with the same level of care at every step. </a:t>
            </a:r>
          </a:p>
          <a:p>
            <a:pPr marL="285750" indent="-285750" algn="just">
              <a:buFont typeface="Wingdings" panose="05000000000000000000" pitchFamily="2" charset="2"/>
              <a:buChar char="Ø"/>
            </a:pPr>
            <a:r>
              <a:rPr lang="en-US" sz="1600" dirty="0">
                <a:latin typeface="Helvetica" panose="020B0604020202020204" pitchFamily="34" charset="0"/>
                <a:cs typeface="Helvetica" panose="020B0604020202020204" pitchFamily="34" charset="0"/>
              </a:rPr>
              <a:t>Back then, the Kanban methodology was managed with Post-it notes on a whiteboard. </a:t>
            </a:r>
          </a:p>
          <a:p>
            <a:pPr marL="285750" indent="-285750" algn="just">
              <a:buFont typeface="Wingdings" panose="05000000000000000000" pitchFamily="2" charset="2"/>
              <a:buChar char="Ø"/>
            </a:pPr>
            <a:r>
              <a:rPr lang="en-US" sz="1600" dirty="0">
                <a:latin typeface="Helvetica" panose="020B0604020202020204" pitchFamily="34" charset="0"/>
                <a:cs typeface="Helvetica" panose="020B0604020202020204" pitchFamily="34" charset="0"/>
              </a:rPr>
              <a:t>As a Toyota factory worker, you'd know where to pick up work on a part, thanks to its Kanban card detailing progress and production stage."</a:t>
            </a:r>
          </a:p>
        </p:txBody>
      </p:sp>
      <p:sp>
        <p:nvSpPr>
          <p:cNvPr id="14" name="TextBox 13">
            <a:extLst>
              <a:ext uri="{FF2B5EF4-FFF2-40B4-BE49-F238E27FC236}">
                <a16:creationId xmlns:a16="http://schemas.microsoft.com/office/drawing/2014/main" id="{79C8C3DE-FBEF-4423-B693-9854064E42DC}"/>
              </a:ext>
            </a:extLst>
          </p:cNvPr>
          <p:cNvSpPr txBox="1"/>
          <p:nvPr/>
        </p:nvSpPr>
        <p:spPr>
          <a:xfrm>
            <a:off x="1346717" y="4388077"/>
            <a:ext cx="9448800" cy="584775"/>
          </a:xfrm>
          <a:prstGeom prst="rect">
            <a:avLst/>
          </a:prstGeom>
          <a:noFill/>
        </p:spPr>
        <p:txBody>
          <a:bodyPr wrap="square">
            <a:spAutoFit/>
          </a:bodyPr>
          <a:lstStyle/>
          <a:p>
            <a:pPr algn="ctr"/>
            <a:r>
              <a:rPr lang="en-US" sz="1600" b="1" i="1" dirty="0">
                <a:solidFill>
                  <a:srgbClr val="00B050"/>
                </a:solidFill>
                <a:latin typeface="Helvetica" panose="020B0604020202020204" pitchFamily="34" charset="0"/>
                <a:cs typeface="Helvetica" panose="020B0604020202020204" pitchFamily="34" charset="0"/>
              </a:rPr>
              <a:t>Today, Kanban boards have evolved from factory whiteboards to our computer screens in the form of digital Kanban apps.</a:t>
            </a:r>
          </a:p>
        </p:txBody>
      </p:sp>
    </p:spTree>
    <p:extLst>
      <p:ext uri="{BB962C8B-B14F-4D97-AF65-F5344CB8AC3E}">
        <p14:creationId xmlns:p14="http://schemas.microsoft.com/office/powerpoint/2010/main" val="2000613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91F4F4-2DC6-4687-A023-6AF79105C962}"/>
              </a:ext>
            </a:extLst>
          </p:cNvPr>
          <p:cNvSpPr>
            <a:spLocks noGrp="1"/>
          </p:cNvSpPr>
          <p:nvPr>
            <p:ph type="body" idx="1"/>
          </p:nvPr>
        </p:nvSpPr>
        <p:spPr>
          <a:xfrm>
            <a:off x="76201" y="0"/>
            <a:ext cx="5257800" cy="381000"/>
          </a:xfrm>
        </p:spPr>
        <p:txBody>
          <a:bodyPr/>
          <a:lstStyle/>
          <a:p>
            <a:pPr algn="l"/>
            <a:r>
              <a:rPr lang="en-US" dirty="0"/>
              <a:t>What is a Kanban board?</a:t>
            </a:r>
          </a:p>
          <a:p>
            <a:br>
              <a:rPr lang="en-US" dirty="0"/>
            </a:br>
            <a:endParaRPr lang="en-US" dirty="0"/>
          </a:p>
        </p:txBody>
      </p:sp>
      <p:pic>
        <p:nvPicPr>
          <p:cNvPr id="5" name="Picture 4">
            <a:extLst>
              <a:ext uri="{FF2B5EF4-FFF2-40B4-BE49-F238E27FC236}">
                <a16:creationId xmlns:a16="http://schemas.microsoft.com/office/drawing/2014/main" id="{70148E1A-A147-4B1D-9268-F0A2F59BBE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544229"/>
            <a:ext cx="3942596" cy="1852946"/>
          </a:xfrm>
          <a:prstGeom prst="rect">
            <a:avLst/>
          </a:prstGeom>
        </p:spPr>
      </p:pic>
      <p:pic>
        <p:nvPicPr>
          <p:cNvPr id="6" name="Picture 5">
            <a:extLst>
              <a:ext uri="{FF2B5EF4-FFF2-40B4-BE49-F238E27FC236}">
                <a16:creationId xmlns:a16="http://schemas.microsoft.com/office/drawing/2014/main" id="{A7316955-4985-4795-82B1-BB80D6623B15}"/>
              </a:ext>
            </a:extLst>
          </p:cNvPr>
          <p:cNvPicPr>
            <a:picLocks noChangeAspect="1"/>
          </p:cNvPicPr>
          <p:nvPr/>
        </p:nvPicPr>
        <p:blipFill>
          <a:blip r:embed="rId3"/>
          <a:stretch>
            <a:fillRect/>
          </a:stretch>
        </p:blipFill>
        <p:spPr>
          <a:xfrm>
            <a:off x="5334000" y="155121"/>
            <a:ext cx="5638799" cy="26018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852E7F80-AC86-4F3C-8CD0-24C46669B67F}"/>
              </a:ext>
            </a:extLst>
          </p:cNvPr>
          <p:cNvPicPr>
            <a:picLocks noChangeAspect="1"/>
          </p:cNvPicPr>
          <p:nvPr/>
        </p:nvPicPr>
        <p:blipFill>
          <a:blip r:embed="rId4"/>
          <a:stretch>
            <a:fillRect/>
          </a:stretch>
        </p:blipFill>
        <p:spPr>
          <a:xfrm>
            <a:off x="2356882" y="2756986"/>
            <a:ext cx="7549118" cy="40576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2266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B39D1-A56E-4706-9CCF-D93B9016FAB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A5CF0FC-B96F-4572-8533-CD9891A62AEE}"/>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C5E1A9DF-F6D3-4EA8-839D-C305093D8CA8}"/>
              </a:ext>
            </a:extLst>
          </p:cNvPr>
          <p:cNvPicPr>
            <a:picLocks noChangeAspect="1"/>
          </p:cNvPicPr>
          <p:nvPr/>
        </p:nvPicPr>
        <p:blipFill>
          <a:blip r:embed="rId2"/>
          <a:stretch>
            <a:fillRect/>
          </a:stretch>
        </p:blipFill>
        <p:spPr>
          <a:xfrm>
            <a:off x="304800" y="304800"/>
            <a:ext cx="11125200" cy="5771198"/>
          </a:xfrm>
          <a:prstGeom prst="rect">
            <a:avLst/>
          </a:prstGeom>
        </p:spPr>
      </p:pic>
    </p:spTree>
    <p:extLst>
      <p:ext uri="{BB962C8B-B14F-4D97-AF65-F5344CB8AC3E}">
        <p14:creationId xmlns:p14="http://schemas.microsoft.com/office/powerpoint/2010/main" val="150835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8DE728-34D7-414F-8AC9-E175E8738FCE}"/>
              </a:ext>
            </a:extLst>
          </p:cNvPr>
          <p:cNvSpPr>
            <a:spLocks noGrp="1"/>
          </p:cNvSpPr>
          <p:nvPr>
            <p:ph type="body" idx="1"/>
          </p:nvPr>
        </p:nvSpPr>
        <p:spPr>
          <a:xfrm>
            <a:off x="1295400" y="402335"/>
            <a:ext cx="8116061" cy="1477328"/>
          </a:xfrm>
        </p:spPr>
        <p:txBody>
          <a:bodyPr/>
          <a:lstStyle/>
          <a:p>
            <a:pPr algn="l"/>
            <a:r>
              <a:rPr lang="en-US" dirty="0"/>
              <a:t>What Kanban is not</a:t>
            </a:r>
          </a:p>
          <a:p>
            <a:br>
              <a:rPr lang="en-US" dirty="0"/>
            </a:br>
            <a:endParaRPr lang="en-US" dirty="0"/>
          </a:p>
        </p:txBody>
      </p:sp>
      <p:sp>
        <p:nvSpPr>
          <p:cNvPr id="5" name="TextBox 4">
            <a:extLst>
              <a:ext uri="{FF2B5EF4-FFF2-40B4-BE49-F238E27FC236}">
                <a16:creationId xmlns:a16="http://schemas.microsoft.com/office/drawing/2014/main" id="{3834C7B8-E932-4F7D-97E2-921322F08DCF}"/>
              </a:ext>
            </a:extLst>
          </p:cNvPr>
          <p:cNvSpPr txBox="1"/>
          <p:nvPr/>
        </p:nvSpPr>
        <p:spPr>
          <a:xfrm>
            <a:off x="914400" y="1447800"/>
            <a:ext cx="10363200" cy="3970318"/>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Helvetica" panose="020B0604020202020204" pitchFamily="34" charset="0"/>
                <a:cs typeface="Helvetica" panose="020B0604020202020204" pitchFamily="34" charset="0"/>
              </a:rPr>
              <a:t>Technically, it would be incorrect to say that the Kanban method is a project management framework because it doesn’t provide the guidelines on how the project must be executed. Scrum, Lean, Waterfall, and other methodologies go into great detail in talking about the stages that projects must go through and the rituals that must accompany those stages. Kanban, however, </a:t>
            </a:r>
            <a:r>
              <a:rPr lang="en-US" b="1" dirty="0">
                <a:solidFill>
                  <a:srgbClr val="0070C0"/>
                </a:solidFill>
                <a:latin typeface="Helvetica" panose="020B0604020202020204" pitchFamily="34" charset="0"/>
                <a:cs typeface="Helvetica" panose="020B0604020202020204" pitchFamily="34" charset="0"/>
              </a:rPr>
              <a:t>is best used as an add-on to one of those methodologies, like Agile, </a:t>
            </a:r>
            <a:r>
              <a:rPr lang="en-US" dirty="0">
                <a:latin typeface="Helvetica" panose="020B0604020202020204" pitchFamily="34" charset="0"/>
                <a:cs typeface="Helvetica" panose="020B0604020202020204" pitchFamily="34" charset="0"/>
              </a:rPr>
              <a:t>for example.</a:t>
            </a:r>
          </a:p>
          <a:p>
            <a:pPr marL="285750" indent="-285750" algn="just">
              <a:buFont typeface="Arial" panose="020B0604020202020204" pitchFamily="34" charset="0"/>
              <a:buChar char="•"/>
            </a:pPr>
            <a:endParaRPr lang="en-US"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dirty="0">
                <a:latin typeface="Helvetica" panose="020B0604020202020204" pitchFamily="34" charset="0"/>
                <a:cs typeface="Helvetica" panose="020B0604020202020204" pitchFamily="34" charset="0"/>
              </a:rPr>
              <a:t>It is also not rare to see companies using a hybrid of Scrum and Kanban (also known as </a:t>
            </a:r>
            <a:r>
              <a:rPr lang="en-US" b="1" dirty="0" err="1">
                <a:solidFill>
                  <a:srgbClr val="0070C0"/>
                </a:solidFill>
                <a:latin typeface="Helvetica" panose="020B0604020202020204" pitchFamily="34" charset="0"/>
                <a:cs typeface="Helvetica" panose="020B0604020202020204" pitchFamily="34" charset="0"/>
              </a:rPr>
              <a:t>Scrumban</a:t>
            </a:r>
            <a:r>
              <a:rPr lang="en-US" dirty="0">
                <a:latin typeface="Helvetica" panose="020B0604020202020204" pitchFamily="34" charset="0"/>
                <a:cs typeface="Helvetica" panose="020B0604020202020204" pitchFamily="34" charset="0"/>
              </a:rPr>
              <a:t>).</a:t>
            </a:r>
          </a:p>
          <a:p>
            <a:pPr marL="285750" indent="-285750" algn="just">
              <a:buFont typeface="Arial" panose="020B0604020202020204" pitchFamily="34" charset="0"/>
              <a:buChar char="•"/>
            </a:pPr>
            <a:endParaRPr lang="en-US" dirty="0">
              <a:latin typeface="Helvetica" panose="020B0604020202020204" pitchFamily="34" charset="0"/>
              <a:cs typeface="Helvetica" panose="020B0604020202020204" pitchFamily="34" charset="0"/>
            </a:endParaRPr>
          </a:p>
          <a:p>
            <a:pPr algn="just"/>
            <a:endParaRPr lang="en-US"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dirty="0">
                <a:latin typeface="Helvetica" panose="020B0604020202020204" pitchFamily="34" charset="0"/>
                <a:cs typeface="Helvetica" panose="020B0604020202020204" pitchFamily="34" charset="0"/>
              </a:rPr>
              <a:t>Kanban boards, in turn, are a great tool that helps manage tasks, balance the workload, and </a:t>
            </a:r>
            <a:r>
              <a:rPr lang="en-US" dirty="0">
                <a:solidFill>
                  <a:srgbClr val="0070C0"/>
                </a:solidFill>
                <a:latin typeface="Helvetica" panose="020B0604020202020204" pitchFamily="34" charset="0"/>
                <a:cs typeface="Helvetica" panose="020B0604020202020204" pitchFamily="34" charset="0"/>
              </a:rPr>
              <a:t>get an instant glance at the state of things</a:t>
            </a:r>
          </a:p>
          <a:p>
            <a:pPr marL="285750" indent="-285750" algn="just">
              <a:buFont typeface="Arial" panose="020B0604020202020204" pitchFamily="34" charset="0"/>
              <a:buChar char="•"/>
            </a:pPr>
            <a:endParaRPr lang="en-US" dirty="0">
              <a:solidFill>
                <a:srgbClr val="0070C0"/>
              </a:solidFill>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endParaRPr lang="en-US" dirty="0">
              <a:solidFill>
                <a:srgbClr val="0070C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507430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7A9D67-266F-41BF-9F67-7EF5CD3CD347}"/>
              </a:ext>
            </a:extLst>
          </p:cNvPr>
          <p:cNvPicPr>
            <a:picLocks noChangeAspect="1"/>
          </p:cNvPicPr>
          <p:nvPr/>
        </p:nvPicPr>
        <p:blipFill>
          <a:blip r:embed="rId2"/>
          <a:stretch>
            <a:fillRect/>
          </a:stretch>
        </p:blipFill>
        <p:spPr>
          <a:xfrm>
            <a:off x="2438400" y="953217"/>
            <a:ext cx="6783376" cy="4344591"/>
          </a:xfrm>
          <a:prstGeom prst="rect">
            <a:avLst/>
          </a:prstGeom>
        </p:spPr>
      </p:pic>
      <p:sp>
        <p:nvSpPr>
          <p:cNvPr id="6" name="TextBox 5">
            <a:extLst>
              <a:ext uri="{FF2B5EF4-FFF2-40B4-BE49-F238E27FC236}">
                <a16:creationId xmlns:a16="http://schemas.microsoft.com/office/drawing/2014/main" id="{A821BCD4-E458-4202-92A8-2A8A60554710}"/>
              </a:ext>
            </a:extLst>
          </p:cNvPr>
          <p:cNvSpPr txBox="1"/>
          <p:nvPr/>
        </p:nvSpPr>
        <p:spPr>
          <a:xfrm>
            <a:off x="152400" y="1125141"/>
            <a:ext cx="2362200" cy="1015663"/>
          </a:xfrm>
          <a:prstGeom prst="rect">
            <a:avLst/>
          </a:prstGeom>
          <a:noFill/>
        </p:spPr>
        <p:txBody>
          <a:bodyPr wrap="square">
            <a:spAutoFit/>
          </a:bodyPr>
          <a:lstStyle/>
          <a:p>
            <a:pPr algn="just"/>
            <a:r>
              <a:rPr lang="en-US" sz="1200" b="1" dirty="0">
                <a:solidFill>
                  <a:srgbClr val="FFC000"/>
                </a:solidFill>
              </a:rPr>
              <a:t>"Kanban systems are loved for visualizing work. The Kanban board tracks tasks from start to finish, providing clear progress visibility."</a:t>
            </a:r>
          </a:p>
        </p:txBody>
      </p:sp>
      <p:sp>
        <p:nvSpPr>
          <p:cNvPr id="8" name="TextBox 7">
            <a:extLst>
              <a:ext uri="{FF2B5EF4-FFF2-40B4-BE49-F238E27FC236}">
                <a16:creationId xmlns:a16="http://schemas.microsoft.com/office/drawing/2014/main" id="{D0B46509-A04D-4855-82A0-BA68D6833038}"/>
              </a:ext>
            </a:extLst>
          </p:cNvPr>
          <p:cNvSpPr txBox="1"/>
          <p:nvPr/>
        </p:nvSpPr>
        <p:spPr>
          <a:xfrm>
            <a:off x="152400" y="2438400"/>
            <a:ext cx="2286000" cy="1384995"/>
          </a:xfrm>
          <a:prstGeom prst="rect">
            <a:avLst/>
          </a:prstGeom>
          <a:noFill/>
        </p:spPr>
        <p:txBody>
          <a:bodyPr wrap="square">
            <a:spAutoFit/>
          </a:bodyPr>
          <a:lstStyle/>
          <a:p>
            <a:pPr algn="just"/>
            <a:r>
              <a:rPr lang="en-US" sz="1200" b="1" dirty="0">
                <a:solidFill>
                  <a:schemeClr val="accent2">
                    <a:lumMod val="75000"/>
                  </a:schemeClr>
                </a:solidFill>
              </a:rPr>
              <a:t>"Kanban emphasizes WIP limits to boost efficiency and early delivery. By focusing on fewer tasks at a time, teams reduce cycle time and improve workflow. The ideal WIP limit is team-specific and flexible."</a:t>
            </a:r>
          </a:p>
        </p:txBody>
      </p:sp>
      <p:sp>
        <p:nvSpPr>
          <p:cNvPr id="10" name="TextBox 9">
            <a:extLst>
              <a:ext uri="{FF2B5EF4-FFF2-40B4-BE49-F238E27FC236}">
                <a16:creationId xmlns:a16="http://schemas.microsoft.com/office/drawing/2014/main" id="{1B62A0AA-F813-40BB-93D5-9F177F6C0626}"/>
              </a:ext>
            </a:extLst>
          </p:cNvPr>
          <p:cNvSpPr txBox="1"/>
          <p:nvPr/>
        </p:nvSpPr>
        <p:spPr>
          <a:xfrm>
            <a:off x="125963" y="4039463"/>
            <a:ext cx="2312437" cy="1846659"/>
          </a:xfrm>
          <a:prstGeom prst="rect">
            <a:avLst/>
          </a:prstGeom>
          <a:noFill/>
        </p:spPr>
        <p:txBody>
          <a:bodyPr wrap="square">
            <a:spAutoFit/>
          </a:bodyPr>
          <a:lstStyle/>
          <a:p>
            <a:pPr algn="just"/>
            <a:r>
              <a:rPr lang="en-US" dirty="0">
                <a:solidFill>
                  <a:srgbClr val="7030A0"/>
                </a:solidFill>
              </a:rPr>
              <a:t>"</a:t>
            </a:r>
            <a:r>
              <a:rPr lang="en-US" sz="1200" b="1" dirty="0">
                <a:solidFill>
                  <a:srgbClr val="7030A0"/>
                </a:solidFill>
              </a:rPr>
              <a:t>Kanban’s core practices work together, especially managing workflow to support WIP limits. The goal is to move tasks smoothly through each stage by removing obstacles like delays or unnecessary steps. Online time management tools can help simplify this process."</a:t>
            </a:r>
          </a:p>
        </p:txBody>
      </p:sp>
      <p:sp>
        <p:nvSpPr>
          <p:cNvPr id="12" name="TextBox 11">
            <a:extLst>
              <a:ext uri="{FF2B5EF4-FFF2-40B4-BE49-F238E27FC236}">
                <a16:creationId xmlns:a16="http://schemas.microsoft.com/office/drawing/2014/main" id="{0108F2C6-B626-4141-BD8B-744F64D70F8F}"/>
              </a:ext>
            </a:extLst>
          </p:cNvPr>
          <p:cNvSpPr txBox="1"/>
          <p:nvPr/>
        </p:nvSpPr>
        <p:spPr>
          <a:xfrm>
            <a:off x="9144000" y="1632972"/>
            <a:ext cx="2590800" cy="830997"/>
          </a:xfrm>
          <a:prstGeom prst="rect">
            <a:avLst/>
          </a:prstGeom>
          <a:noFill/>
        </p:spPr>
        <p:txBody>
          <a:bodyPr wrap="square">
            <a:spAutoFit/>
          </a:bodyPr>
          <a:lstStyle/>
          <a:p>
            <a:pPr algn="just"/>
            <a:r>
              <a:rPr lang="en-US" sz="1200" b="1" dirty="0">
                <a:solidFill>
                  <a:srgbClr val="00B050"/>
                </a:solidFill>
              </a:rPr>
              <a:t>"Kanban doesn’t set process rules, but they must be clear to the team. In an ideal setup, tasks flow smoothly without delays from confusion."</a:t>
            </a:r>
          </a:p>
        </p:txBody>
      </p:sp>
      <p:sp>
        <p:nvSpPr>
          <p:cNvPr id="14" name="TextBox 13">
            <a:extLst>
              <a:ext uri="{FF2B5EF4-FFF2-40B4-BE49-F238E27FC236}">
                <a16:creationId xmlns:a16="http://schemas.microsoft.com/office/drawing/2014/main" id="{311EAF2B-4221-40E1-B928-784914BA187E}"/>
              </a:ext>
            </a:extLst>
          </p:cNvPr>
          <p:cNvSpPr txBox="1"/>
          <p:nvPr/>
        </p:nvSpPr>
        <p:spPr>
          <a:xfrm>
            <a:off x="9144000" y="2667000"/>
            <a:ext cx="2590800" cy="1015663"/>
          </a:xfrm>
          <a:prstGeom prst="rect">
            <a:avLst/>
          </a:prstGeom>
          <a:noFill/>
        </p:spPr>
        <p:txBody>
          <a:bodyPr wrap="square">
            <a:spAutoFit/>
          </a:bodyPr>
          <a:lstStyle/>
          <a:p>
            <a:pPr algn="just"/>
            <a:r>
              <a:rPr lang="en-US" sz="1200" b="1" dirty="0">
                <a:solidFill>
                  <a:schemeClr val="accent2"/>
                </a:solidFill>
              </a:rPr>
              <a:t>"Kanban feedback loops come from both clients and the team. Clients assess quality and usability, while the team shares insights on processes and improvements."</a:t>
            </a:r>
          </a:p>
        </p:txBody>
      </p:sp>
      <p:sp>
        <p:nvSpPr>
          <p:cNvPr id="16" name="TextBox 15">
            <a:extLst>
              <a:ext uri="{FF2B5EF4-FFF2-40B4-BE49-F238E27FC236}">
                <a16:creationId xmlns:a16="http://schemas.microsoft.com/office/drawing/2014/main" id="{9C865406-4059-4913-B27D-9E07363AA3E5}"/>
              </a:ext>
            </a:extLst>
          </p:cNvPr>
          <p:cNvSpPr txBox="1"/>
          <p:nvPr/>
        </p:nvSpPr>
        <p:spPr>
          <a:xfrm>
            <a:off x="9144000" y="3931580"/>
            <a:ext cx="2590800" cy="1200329"/>
          </a:xfrm>
          <a:prstGeom prst="rect">
            <a:avLst/>
          </a:prstGeom>
          <a:noFill/>
        </p:spPr>
        <p:txBody>
          <a:bodyPr wrap="square">
            <a:spAutoFit/>
          </a:bodyPr>
          <a:lstStyle/>
          <a:p>
            <a:pPr algn="just"/>
            <a:r>
              <a:rPr lang="en-US" sz="1200" b="1" dirty="0">
                <a:solidFill>
                  <a:srgbClr val="7030A0"/>
                </a:solidFill>
              </a:rPr>
              <a:t>"Kanban's sixth practice encourages continuous improvement. Stay open to new ideas, tools, and experiments. If time is a concern, try techniques to learn faster or use time management software."</a:t>
            </a:r>
          </a:p>
        </p:txBody>
      </p:sp>
    </p:spTree>
    <p:extLst>
      <p:ext uri="{BB962C8B-B14F-4D97-AF65-F5344CB8AC3E}">
        <p14:creationId xmlns:p14="http://schemas.microsoft.com/office/powerpoint/2010/main" val="372424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129535-3DF1-4C83-94D8-130349EAB5D7}"/>
              </a:ext>
            </a:extLst>
          </p:cNvPr>
          <p:cNvSpPr>
            <a:spLocks noGrp="1"/>
          </p:cNvSpPr>
          <p:nvPr>
            <p:ph type="body" idx="1"/>
          </p:nvPr>
        </p:nvSpPr>
        <p:spPr>
          <a:xfrm>
            <a:off x="1143000" y="304800"/>
            <a:ext cx="9677400" cy="1969770"/>
          </a:xfrm>
        </p:spPr>
        <p:txBody>
          <a:bodyPr/>
          <a:lstStyle/>
          <a:p>
            <a:pPr algn="l"/>
            <a:r>
              <a:rPr lang="en-US" dirty="0"/>
              <a:t>How does Kanban work? The Kanban board</a:t>
            </a:r>
          </a:p>
          <a:p>
            <a:br>
              <a:rPr lang="en-US" dirty="0"/>
            </a:br>
            <a:endParaRPr lang="en-US" dirty="0"/>
          </a:p>
        </p:txBody>
      </p:sp>
      <p:sp>
        <p:nvSpPr>
          <p:cNvPr id="5" name="TextBox 4">
            <a:extLst>
              <a:ext uri="{FF2B5EF4-FFF2-40B4-BE49-F238E27FC236}">
                <a16:creationId xmlns:a16="http://schemas.microsoft.com/office/drawing/2014/main" id="{F13F232B-AFDF-4FBD-80CE-FD680B9A0439}"/>
              </a:ext>
            </a:extLst>
          </p:cNvPr>
          <p:cNvSpPr txBox="1"/>
          <p:nvPr/>
        </p:nvSpPr>
        <p:spPr>
          <a:xfrm>
            <a:off x="762000" y="1295400"/>
            <a:ext cx="9982200" cy="3970318"/>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Helvetica" panose="020B0604020202020204" pitchFamily="34" charset="0"/>
                <a:cs typeface="Helvetica" panose="020B0604020202020204" pitchFamily="34" charset="0"/>
              </a:rPr>
              <a:t>Work items (tasks) are pulled from the backlog into the workflow with the key working tool being the Kanban board.</a:t>
            </a:r>
          </a:p>
          <a:p>
            <a:pPr marL="285750" indent="-285750" algn="just">
              <a:buFont typeface="Arial" panose="020B0604020202020204" pitchFamily="34" charset="0"/>
              <a:buChar char="•"/>
            </a:pPr>
            <a:endParaRPr lang="en-US" dirty="0">
              <a:latin typeface="Helvetica" panose="020B0604020202020204" pitchFamily="34" charset="0"/>
              <a:cs typeface="Helvetica" panose="020B0604020202020204" pitchFamily="34" charset="0"/>
            </a:endParaRPr>
          </a:p>
          <a:p>
            <a:pPr marL="285750" indent="-285750" algn="just">
              <a:buFont typeface="Arial" panose="020B0604020202020204" pitchFamily="34" charset="0"/>
              <a:buChar char="•"/>
            </a:pPr>
            <a:r>
              <a:rPr lang="en-US" dirty="0">
                <a:latin typeface="Helvetica" panose="020B0604020202020204" pitchFamily="34" charset="0"/>
                <a:cs typeface="Helvetica" panose="020B0604020202020204" pitchFamily="34" charset="0"/>
              </a:rPr>
              <a:t>The Kanban board has a number of columns that can look different for each team. However, most Kanban boards have the following columns:</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To do</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Work in progress</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Done</a:t>
            </a:r>
          </a:p>
          <a:p>
            <a:pPr marL="742950" lvl="1" indent="-285750">
              <a:buFont typeface="Wingdings" panose="05000000000000000000" pitchFamily="2" charset="2"/>
              <a:buChar char="Ø"/>
            </a:pPr>
            <a:endParaRPr lang="en-US" sz="16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All tasks are placed on the Kanban board to demonstrate the complete workload of the team or individual.</a:t>
            </a:r>
          </a:p>
          <a:p>
            <a:pPr marL="285750" indent="-285750">
              <a:buFont typeface="Arial" panose="020B0604020202020204" pitchFamily="34" charset="0"/>
              <a:buChar char="•"/>
            </a:pPr>
            <a:endParaRPr lang="en-US" sz="16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Each task is assigned a dedicated Kanban card that includes the following information:</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Name</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Description</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Deadline</a:t>
            </a:r>
          </a:p>
          <a:p>
            <a:pPr marL="742950" lvl="1" indent="-285750">
              <a:buFont typeface="Wingdings" panose="05000000000000000000" pitchFamily="2" charset="2"/>
              <a:buChar char="Ø"/>
            </a:pPr>
            <a:r>
              <a:rPr lang="en-US" sz="1400" dirty="0">
                <a:latin typeface="Helvetica" panose="020B0604020202020204" pitchFamily="34" charset="0"/>
                <a:cs typeface="Helvetica" panose="020B0604020202020204" pitchFamily="34" charset="0"/>
              </a:rPr>
              <a:t>Assigned team member (if applicable)</a:t>
            </a:r>
          </a:p>
        </p:txBody>
      </p:sp>
    </p:spTree>
    <p:extLst>
      <p:ext uri="{BB962C8B-B14F-4D97-AF65-F5344CB8AC3E}">
        <p14:creationId xmlns:p14="http://schemas.microsoft.com/office/powerpoint/2010/main" val="1168439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9BD369-BBD3-4685-97F6-E95848D93420}"/>
              </a:ext>
            </a:extLst>
          </p:cNvPr>
          <p:cNvPicPr>
            <a:picLocks noChangeAspect="1"/>
          </p:cNvPicPr>
          <p:nvPr/>
        </p:nvPicPr>
        <p:blipFill rotWithShape="1">
          <a:blip r:embed="rId3"/>
          <a:srcRect l="7207" t="5614" r="9189" b="11579"/>
          <a:stretch/>
        </p:blipFill>
        <p:spPr>
          <a:xfrm>
            <a:off x="3505200" y="685800"/>
            <a:ext cx="4419601" cy="4495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01859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453</TotalTime>
  <Words>827</Words>
  <Application>Microsoft Office PowerPoint</Application>
  <PresentationFormat>Widescreen</PresentationFormat>
  <Paragraphs>68</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vt:lpstr>
      <vt:lpstr>Helvetica</vt:lpstr>
      <vt:lpstr>Inter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 Abdul Ghafoor</dc:creator>
  <cp:lastModifiedBy>salman shah</cp:lastModifiedBy>
  <cp:revision>73</cp:revision>
  <dcterms:created xsi:type="dcterms:W3CDTF">2024-02-12T06:25:16Z</dcterms:created>
  <dcterms:modified xsi:type="dcterms:W3CDTF">2025-02-17T12:27:36Z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2022-02-23T00:00:00Z</vt:filetime>
  </property>
  <property fmtid="{D5CDD505-2E9C-101B-9397-08002B2CF9AE}" pid="3" name="Creator">
    <vt:lpwstr>Microsoft® PowerPoint® 2019</vt:lpwstr>
  </property>
  <property fmtid="{D5CDD505-2E9C-101B-9397-08002B2CF9AE}" pid="4" name="LastSaved">
    <vt:filetime>2024-02-12T00:00:00Z</vt:filetime>
  </property>
</Properties>
</file>