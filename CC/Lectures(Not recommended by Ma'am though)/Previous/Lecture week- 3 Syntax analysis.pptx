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306" r:id="rId7"/>
    <p:sldId id="307" r:id="rId8"/>
    <p:sldId id="261" r:id="rId9"/>
    <p:sldId id="303" r:id="rId10"/>
    <p:sldId id="304" r:id="rId11"/>
    <p:sldId id="309" r:id="rId12"/>
    <p:sldId id="305" r:id="rId13"/>
    <p:sldId id="286" r:id="rId14"/>
    <p:sldId id="287" r:id="rId15"/>
    <p:sldId id="288" r:id="rId16"/>
    <p:sldId id="289" r:id="rId17"/>
    <p:sldId id="310" r:id="rId18"/>
    <p:sldId id="311" r:id="rId19"/>
    <p:sldId id="290" r:id="rId20"/>
    <p:sldId id="292" r:id="rId21"/>
    <p:sldId id="265" r:id="rId22"/>
    <p:sldId id="270" r:id="rId23"/>
    <p:sldId id="298" r:id="rId24"/>
    <p:sldId id="299" r:id="rId25"/>
    <p:sldId id="315" r:id="rId26"/>
    <p:sldId id="267" r:id="rId27"/>
    <p:sldId id="312" r:id="rId28"/>
    <p:sldId id="313" r:id="rId29"/>
    <p:sldId id="317" r:id="rId30"/>
    <p:sldId id="318" r:id="rId31"/>
    <p:sldId id="319" r:id="rId32"/>
    <p:sldId id="320" r:id="rId33"/>
    <p:sldId id="321" r:id="rId34"/>
    <p:sldId id="322" r:id="rId35"/>
    <p:sldId id="326" r:id="rId36"/>
    <p:sldId id="327" r:id="rId37"/>
    <p:sldId id="328" r:id="rId38"/>
    <p:sldId id="329" r:id="rId39"/>
    <p:sldId id="331" r:id="rId40"/>
    <p:sldId id="323" r:id="rId41"/>
    <p:sldId id="330" r:id="rId42"/>
    <p:sldId id="314" r:id="rId43"/>
    <p:sldId id="347" r:id="rId44"/>
    <p:sldId id="345" r:id="rId45"/>
    <p:sldId id="274" r:id="rId46"/>
    <p:sldId id="334" r:id="rId47"/>
    <p:sldId id="332" r:id="rId48"/>
    <p:sldId id="333" r:id="rId49"/>
    <p:sldId id="340" r:id="rId50"/>
    <p:sldId id="341" r:id="rId51"/>
    <p:sldId id="342" r:id="rId52"/>
    <p:sldId id="335" r:id="rId53"/>
    <p:sldId id="336" r:id="rId54"/>
    <p:sldId id="337" r:id="rId55"/>
    <p:sldId id="338" r:id="rId56"/>
    <p:sldId id="339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7E9C6-F6E2-42E5-91CA-031A364C348B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A519-10C8-45A4-A133-7851BC6EB5A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969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7E9C6-F6E2-42E5-91CA-031A364C348B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A519-10C8-45A4-A133-7851BC6EB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96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7E9C6-F6E2-42E5-91CA-031A364C348B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A519-10C8-45A4-A133-7851BC6EB5A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674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7E9C6-F6E2-42E5-91CA-031A364C348B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A519-10C8-45A4-A133-7851BC6EB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85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7E9C6-F6E2-42E5-91CA-031A364C348B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A519-10C8-45A4-A133-7851BC6EB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2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7E9C6-F6E2-42E5-91CA-031A364C348B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A519-10C8-45A4-A133-7851BC6EB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002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7E9C6-F6E2-42E5-91CA-031A364C348B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A519-10C8-45A4-A133-7851BC6EB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218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BA7E9C6-F6E2-42E5-91CA-031A364C348B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43A519-10C8-45A4-A133-7851BC6EB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97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7E9C6-F6E2-42E5-91CA-031A364C348B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A519-10C8-45A4-A133-7851BC6EB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069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7E9C6-F6E2-42E5-91CA-031A364C348B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A519-10C8-45A4-A133-7851BC6EB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114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7E9C6-F6E2-42E5-91CA-031A364C348B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3A519-10C8-45A4-A133-7851BC6EB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77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BA7E9C6-F6E2-42E5-91CA-031A364C348B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643A519-10C8-45A4-A133-7851BC6EB5A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83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Syntax analysis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 </a:t>
            </a:r>
            <a:r>
              <a:rPr lang="en-US" dirty="0" smtClean="0"/>
              <a:t>3</a:t>
            </a:r>
          </a:p>
          <a:p>
            <a:r>
              <a:rPr lang="en-US" dirty="0" err="1" smtClean="0"/>
              <a:t>Amna</a:t>
            </a:r>
            <a:r>
              <a:rPr lang="en-US" dirty="0" smtClean="0"/>
              <a:t> </a:t>
            </a:r>
            <a:r>
              <a:rPr lang="en-US" smtClean="0"/>
              <a:t>Irum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196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Role of parser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4450" y="2176463"/>
            <a:ext cx="9174163" cy="407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41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Representatives of Grammar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8750" y="1737360"/>
            <a:ext cx="3714749" cy="474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472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Handling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3551" y="1985963"/>
            <a:ext cx="7759700" cy="431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319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Error-Recover Strategy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957388"/>
            <a:ext cx="8443595" cy="435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635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846" y="442776"/>
            <a:ext cx="8255725" cy="558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229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984" y="669718"/>
            <a:ext cx="7666672" cy="519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115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 Free Grammars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3450" y="1737360"/>
            <a:ext cx="8759825" cy="461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175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493353"/>
            <a:ext cx="7105650" cy="537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794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42656" y="911572"/>
            <a:ext cx="5708968" cy="43822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03" y="911572"/>
            <a:ext cx="5645953" cy="413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623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2634" y="423690"/>
            <a:ext cx="6768548" cy="14385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612" y="2391283"/>
            <a:ext cx="3091271" cy="29276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616" y="2795451"/>
            <a:ext cx="4979943" cy="142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468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6504" y="571500"/>
            <a:ext cx="7009009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862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5138" y="940526"/>
            <a:ext cx="8777738" cy="351894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681" y="4860063"/>
            <a:ext cx="5305425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373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5018" y="1011981"/>
            <a:ext cx="9042500" cy="391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729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546" y="778940"/>
            <a:ext cx="9631234" cy="19168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488391"/>
            <a:ext cx="7972425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516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2027" y="900954"/>
            <a:ext cx="9028906" cy="1000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670" y="2703980"/>
            <a:ext cx="8924224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485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920471"/>
            <a:ext cx="7667897" cy="387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452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Derivations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0240" y="1846263"/>
            <a:ext cx="7627402" cy="448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35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Left most derivation and Right most derivation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386" y="1845734"/>
            <a:ext cx="5219700" cy="29241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086" y="1822846"/>
            <a:ext cx="5144505" cy="233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951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8238" y="2424113"/>
            <a:ext cx="489585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647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1" y="438150"/>
            <a:ext cx="6560819" cy="510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819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Ambiguity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7350" y="1895475"/>
            <a:ext cx="794067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080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845" y="732064"/>
            <a:ext cx="9591638" cy="484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183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4360" y="1280160"/>
            <a:ext cx="8796334" cy="4153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532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0343" y="2794671"/>
            <a:ext cx="10058400" cy="1450757"/>
          </a:xfrm>
        </p:spPr>
        <p:txBody>
          <a:bodyPr/>
          <a:lstStyle/>
          <a:p>
            <a:r>
              <a:rPr lang="en-US" dirty="0" smtClean="0"/>
              <a:t>Check for 3+4*5 also 3-4-5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5561" y="1234050"/>
            <a:ext cx="7427875" cy="178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0553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Elimination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009774"/>
            <a:ext cx="9780270" cy="448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105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 free Grammar vs Regular </a:t>
            </a:r>
            <a:r>
              <a:rPr lang="en-US" dirty="0" err="1" smtClean="0"/>
              <a:t>Exp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Every construct that can be described by a regular expression can be described by a grammar,</a:t>
            </a:r>
          </a:p>
          <a:p>
            <a:r>
              <a:rPr lang="en-US" dirty="0" smtClean="0"/>
              <a:t>but not vice-versa.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947" y="3119437"/>
            <a:ext cx="8382466" cy="21002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5219700"/>
            <a:ext cx="98757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Fd2399443-Identity-H"/>
              </a:rPr>
              <a:t>"finite automata cannot count," meaning that</a:t>
            </a:r>
          </a:p>
          <a:p>
            <a:r>
              <a:rPr lang="en-US" dirty="0">
                <a:latin typeface="Fd2399443-Identity-H"/>
              </a:rPr>
              <a:t>a finite automaton cannot accept a language like </a:t>
            </a:r>
            <a:r>
              <a:rPr lang="en-US" dirty="0">
                <a:latin typeface="Fd2550547-Identity-H"/>
              </a:rPr>
              <a:t>{</a:t>
            </a:r>
            <a:r>
              <a:rPr lang="en-US" dirty="0">
                <a:latin typeface="Fd2251542-Identity-H"/>
              </a:rPr>
              <a:t>an </a:t>
            </a:r>
            <a:r>
              <a:rPr lang="en-US" dirty="0" err="1" smtClean="0">
                <a:latin typeface="Fd2399443-Identity-H"/>
              </a:rPr>
              <a:t>bn</a:t>
            </a:r>
            <a:r>
              <a:rPr lang="en-US" dirty="0" smtClean="0">
                <a:latin typeface="Fd2399443-Identity-H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73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583" y="1895474"/>
            <a:ext cx="10917793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95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r>
              <a:rPr lang="en-US" dirty="0" smtClean="0"/>
              <a:t>for ambiguous Grammars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45734"/>
            <a:ext cx="5982789" cy="4276514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9674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834668"/>
            <a:ext cx="7863840" cy="18882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722913"/>
            <a:ext cx="7863840" cy="245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2444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4556" y="917665"/>
            <a:ext cx="7733681" cy="498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778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Associativity Problem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881052"/>
            <a:ext cx="8291195" cy="399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536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0150" y="2190750"/>
            <a:ext cx="4772025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161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Precedence Problem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9166" y="1891802"/>
            <a:ext cx="7409589" cy="371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2115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7752" y="2031002"/>
            <a:ext cx="5765664" cy="123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3656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9794" y="2011680"/>
            <a:ext cx="7963944" cy="377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5202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45733"/>
            <a:ext cx="9402238" cy="340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564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841590"/>
            <a:ext cx="8817429" cy="181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4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 -&gt; R + R1 | R1 </a:t>
            </a:r>
            <a:endParaRPr lang="pt-BR" dirty="0" smtClean="0"/>
          </a:p>
          <a:p>
            <a:r>
              <a:rPr lang="pt-BR" dirty="0" smtClean="0"/>
              <a:t>R1 </a:t>
            </a:r>
            <a:r>
              <a:rPr lang="pt-BR" dirty="0"/>
              <a:t>-&gt; R1.R2 | </a:t>
            </a:r>
            <a:r>
              <a:rPr lang="pt-BR" dirty="0" smtClean="0"/>
              <a:t>R2</a:t>
            </a:r>
          </a:p>
          <a:p>
            <a:r>
              <a:rPr lang="pt-BR" dirty="0" smtClean="0"/>
              <a:t>R2 </a:t>
            </a:r>
            <a:r>
              <a:rPr lang="pt-BR" dirty="0"/>
              <a:t>-&gt; R2* | a | b | 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688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3254" y="1907178"/>
            <a:ext cx="8662434" cy="348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1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907177"/>
            <a:ext cx="8002437" cy="151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37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490998"/>
            <a:ext cx="6008370" cy="581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537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If-Else Ambiguous Grammar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009774"/>
            <a:ext cx="9780270" cy="448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228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Ambiguity elimination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4511" y="1881051"/>
            <a:ext cx="8502389" cy="4411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66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737360"/>
            <a:ext cx="6283233" cy="448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17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Grammar Rule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48194" y="2192124"/>
            <a:ext cx="11782697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1.Grammar Rules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Precedence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(from highest to lowest):</a:t>
            </a:r>
          </a:p>
          <a:p>
            <a:pPr marL="64008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Multiplicative operators (*, /, %) have the highest precedence.</a:t>
            </a:r>
          </a:p>
          <a:p>
            <a:pPr marL="64008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Additive operators (+, -) have the next level of precedence.</a:t>
            </a:r>
          </a:p>
          <a:p>
            <a:pPr marL="64008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Relational operators (&lt;, &gt;, &lt;=, &gt;=, ==, !=) have the lowest precedence.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Associativity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64008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Multiplicative and additive operators are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left-associative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64008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Relational operators are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left-to-right associative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(e.g., a &lt; b &lt; c is evaluated as (a &lt; b) &lt; c).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258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Grammar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555" y="1750423"/>
            <a:ext cx="9635228" cy="401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08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14845" y="2004764"/>
            <a:ext cx="33049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 + b * c &lt; d == e </a:t>
            </a:r>
          </a:p>
        </p:txBody>
      </p:sp>
    </p:spTree>
    <p:extLst>
      <p:ext uri="{BB962C8B-B14F-4D97-AF65-F5344CB8AC3E}">
        <p14:creationId xmlns:p14="http://schemas.microsoft.com/office/powerpoint/2010/main" val="1334178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Logical/ Relational and arithmetic operators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  → E || T | T                // Logical OR (lowest precedence</a:t>
            </a:r>
            <a:r>
              <a:rPr lang="en-US" dirty="0" smtClean="0"/>
              <a:t>)</a:t>
            </a:r>
          </a:p>
          <a:p>
            <a:r>
              <a:rPr lang="en-US" dirty="0" smtClean="0"/>
              <a:t>T  </a:t>
            </a:r>
            <a:r>
              <a:rPr lang="en-US" dirty="0"/>
              <a:t>→ T &amp;&amp; F | F                // Logical </a:t>
            </a:r>
            <a:r>
              <a:rPr lang="en-US" dirty="0" smtClean="0"/>
              <a:t>AND</a:t>
            </a:r>
          </a:p>
          <a:p>
            <a:r>
              <a:rPr lang="en-US" dirty="0" smtClean="0"/>
              <a:t>F  </a:t>
            </a:r>
            <a:r>
              <a:rPr lang="en-US" dirty="0"/>
              <a:t>→ F R G | G                 // Relational </a:t>
            </a:r>
            <a:r>
              <a:rPr lang="en-US" dirty="0" smtClean="0"/>
              <a:t>Operators</a:t>
            </a:r>
          </a:p>
          <a:p>
            <a:r>
              <a:rPr lang="en-US" dirty="0" smtClean="0"/>
              <a:t>G  </a:t>
            </a:r>
            <a:r>
              <a:rPr lang="en-US" dirty="0"/>
              <a:t>→ G + H | G - H | H         // </a:t>
            </a:r>
            <a:r>
              <a:rPr lang="en-US" dirty="0" smtClean="0"/>
              <a:t>Addition/Subtraction</a:t>
            </a:r>
          </a:p>
          <a:p>
            <a:r>
              <a:rPr lang="en-US" dirty="0" smtClean="0"/>
              <a:t>H  </a:t>
            </a:r>
            <a:r>
              <a:rPr lang="en-US" dirty="0"/>
              <a:t>→ H * I | H / I | I         // </a:t>
            </a:r>
            <a:r>
              <a:rPr lang="en-US" dirty="0" smtClean="0"/>
              <a:t>Multiplication/Division</a:t>
            </a:r>
          </a:p>
          <a:p>
            <a:r>
              <a:rPr lang="en-US" dirty="0" smtClean="0"/>
              <a:t>I  </a:t>
            </a:r>
            <a:r>
              <a:rPr lang="en-US" dirty="0"/>
              <a:t>→ ( E ) | id | !I           // Parentheses, Identifiers, Logical </a:t>
            </a:r>
            <a:r>
              <a:rPr lang="en-US" dirty="0" smtClean="0"/>
              <a:t>NOT</a:t>
            </a:r>
          </a:p>
          <a:p>
            <a:r>
              <a:rPr lang="en-US" dirty="0" smtClean="0"/>
              <a:t>R  </a:t>
            </a:r>
            <a:r>
              <a:rPr lang="en-US" dirty="0"/>
              <a:t>→ &lt; | &gt; | &lt;= | &gt;= | == | != // Relational Operators</a:t>
            </a:r>
          </a:p>
        </p:txBody>
      </p:sp>
    </p:spTree>
    <p:extLst>
      <p:ext uri="{BB962C8B-B14F-4D97-AF65-F5344CB8AC3E}">
        <p14:creationId xmlns:p14="http://schemas.microsoft.com/office/powerpoint/2010/main" val="2296717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Unary operator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5475" y="2100408"/>
            <a:ext cx="7771926" cy="345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134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2029" y="1011981"/>
            <a:ext cx="11230437" cy="465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120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Statement Grammar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1783" y="1807883"/>
            <a:ext cx="8335288" cy="346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1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14402"/>
            <a:ext cx="8939990" cy="409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410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Switch </a:t>
            </a:r>
            <a:r>
              <a:rPr lang="en-US" dirty="0" err="1" smtClean="0"/>
              <a:t>stmt</a:t>
            </a:r>
            <a:r>
              <a:rPr lang="en-US" dirty="0" smtClean="0"/>
              <a:t> and do-while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959428"/>
            <a:ext cx="9516846" cy="398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618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Declaration/ </a:t>
            </a:r>
            <a:r>
              <a:rPr lang="en-US" dirty="0" err="1" smtClean="0"/>
              <a:t>Defination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9086" y="1858190"/>
            <a:ext cx="11023897" cy="417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98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Call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8406" y="2416630"/>
            <a:ext cx="8340077" cy="255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615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9431</TotalTime>
  <Words>326</Words>
  <Application>Microsoft Office PowerPoint</Application>
  <PresentationFormat>Widescreen</PresentationFormat>
  <Paragraphs>58</Paragraphs>
  <Slides>56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Fd2251542-Identity-H</vt:lpstr>
      <vt:lpstr>Fd2399443-Identity-H</vt:lpstr>
      <vt:lpstr>Fd2550547-Identity-H</vt:lpstr>
      <vt:lpstr>Arial</vt:lpstr>
      <vt:lpstr>Calibri</vt:lpstr>
      <vt:lpstr>Calibri Light</vt:lpstr>
      <vt:lpstr>Retrospect</vt:lpstr>
      <vt:lpstr>Syntax analysis </vt:lpstr>
      <vt:lpstr>The Role of parser</vt:lpstr>
      <vt:lpstr>Representatives of Grammar</vt:lpstr>
      <vt:lpstr>Error Handling</vt:lpstr>
      <vt:lpstr>Error-Recover Strategy</vt:lpstr>
      <vt:lpstr>PowerPoint Presentation</vt:lpstr>
      <vt:lpstr>PowerPoint Presentation</vt:lpstr>
      <vt:lpstr>Context Free Grammars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Derivations</vt:lpstr>
      <vt:lpstr>Left most derivation and Right most derivation </vt:lpstr>
      <vt:lpstr>PowerPoint Presentation</vt:lpstr>
      <vt:lpstr>PowerPoint Presentation</vt:lpstr>
      <vt:lpstr>Ambiguity</vt:lpstr>
      <vt:lpstr>PowerPoint Presentation</vt:lpstr>
      <vt:lpstr>PowerPoint Presentation</vt:lpstr>
      <vt:lpstr>Check for 3+4*5 also 3-4-5</vt:lpstr>
      <vt:lpstr>Elimination </vt:lpstr>
      <vt:lpstr>Context free Grammar vs Regular Exp</vt:lpstr>
      <vt:lpstr>PowerPoint Presentation</vt:lpstr>
      <vt:lpstr>Example for ambiguous Grammars</vt:lpstr>
      <vt:lpstr>PowerPoint Presentation</vt:lpstr>
      <vt:lpstr>PowerPoint Presentation</vt:lpstr>
      <vt:lpstr>Associativity Problem </vt:lpstr>
      <vt:lpstr>Solution </vt:lpstr>
      <vt:lpstr>Precedence Problem</vt:lpstr>
      <vt:lpstr>Solution </vt:lpstr>
      <vt:lpstr>Examples</vt:lpstr>
      <vt:lpstr>PowerPoint Presentation</vt:lpstr>
      <vt:lpstr>Exercise</vt:lpstr>
      <vt:lpstr>Solution</vt:lpstr>
      <vt:lpstr>Examples</vt:lpstr>
      <vt:lpstr>PowerPoint Presentation</vt:lpstr>
      <vt:lpstr>PowerPoint Presentation</vt:lpstr>
      <vt:lpstr>If-Else Ambiguous Grammar </vt:lpstr>
      <vt:lpstr>Ambiguity elimination</vt:lpstr>
      <vt:lpstr>Question </vt:lpstr>
      <vt:lpstr>Grammar Rule</vt:lpstr>
      <vt:lpstr>Grammar</vt:lpstr>
      <vt:lpstr>Examples </vt:lpstr>
      <vt:lpstr>Logical/ Relational and arithmetic operators</vt:lpstr>
      <vt:lpstr>Unary operator</vt:lpstr>
      <vt:lpstr>PowerPoint Presentation</vt:lpstr>
      <vt:lpstr>Statement Grammar</vt:lpstr>
      <vt:lpstr>PowerPoint Presentation</vt:lpstr>
      <vt:lpstr>Switch stmt and do-while</vt:lpstr>
      <vt:lpstr>Function Declaration/ Defination</vt:lpstr>
      <vt:lpstr>Function Call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Syntax analysis</dc:title>
  <dc:creator>Moazzam Ali</dc:creator>
  <cp:lastModifiedBy>Moazzam Ali</cp:lastModifiedBy>
  <cp:revision>56</cp:revision>
  <dcterms:created xsi:type="dcterms:W3CDTF">2025-02-01T10:49:36Z</dcterms:created>
  <dcterms:modified xsi:type="dcterms:W3CDTF">2025-02-12T08:42:46Z</dcterms:modified>
</cp:coreProperties>
</file>