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F5AC0-B279-4FD5-9CEF-A4F2504CDE9D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FF8B-27C2-4469-9ABC-14CC23102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00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F5AC0-B279-4FD5-9CEF-A4F2504CDE9D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FF8B-27C2-4469-9ABC-14CC23102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076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F5AC0-B279-4FD5-9CEF-A4F2504CDE9D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FF8B-27C2-4469-9ABC-14CC23102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304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F5AC0-B279-4FD5-9CEF-A4F2504CDE9D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FF8B-27C2-4469-9ABC-14CC23102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045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F5AC0-B279-4FD5-9CEF-A4F2504CDE9D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FF8B-27C2-4469-9ABC-14CC23102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832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F5AC0-B279-4FD5-9CEF-A4F2504CDE9D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FF8B-27C2-4469-9ABC-14CC23102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67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F5AC0-B279-4FD5-9CEF-A4F2504CDE9D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FF8B-27C2-4469-9ABC-14CC23102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504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F5AC0-B279-4FD5-9CEF-A4F2504CDE9D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FF8B-27C2-4469-9ABC-14CC23102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11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F5AC0-B279-4FD5-9CEF-A4F2504CDE9D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FF8B-27C2-4469-9ABC-14CC23102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56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F5AC0-B279-4FD5-9CEF-A4F2504CDE9D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FF8B-27C2-4469-9ABC-14CC23102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709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F5AC0-B279-4FD5-9CEF-A4F2504CDE9D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FF8B-27C2-4469-9ABC-14CC23102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29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F5AC0-B279-4FD5-9CEF-A4F2504CDE9D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7FF8B-27C2-4469-9ABC-14CC23102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099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Semantic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602C34-F6C8-40AD-956D-763C27723C30}" type="datetime1">
              <a:rPr lang="en-US" altLang="en-US" smtClean="0"/>
              <a:pPr>
                <a:defRPr/>
              </a:pPr>
              <a:t>4/24/2025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I-</a:t>
            </a:r>
            <a:fld id="{ABFD1EDE-DDBB-45D2-A314-46443B8E2F42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3448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635812F-BC47-4CF2-968E-27DE9FE2787D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2662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551E80F6-F0CA-43CE-8B0F-8B6C7CF5127E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Attribute Grammars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/>
              <a:t>Idea: associate </a:t>
            </a:r>
            <a:r>
              <a:rPr lang="en-US" altLang="en-US" i="1">
                <a:solidFill>
                  <a:schemeClr val="folHlink"/>
                </a:solidFill>
              </a:rPr>
              <a:t>attributes</a:t>
            </a:r>
            <a:r>
              <a:rPr lang="en-US" altLang="en-US"/>
              <a:t> with each node in the (abstract) syntax tree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Examples of attributes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Type information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Storage location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Assignable (e.g., expression vs variable; lvalue vs rvalue for C/C++ programmers)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Value (for constant expressions)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etc. …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Notation: X.a if a is an attribute of node X</a:t>
            </a:r>
          </a:p>
        </p:txBody>
      </p:sp>
    </p:spTree>
    <p:extLst>
      <p:ext uri="{BB962C8B-B14F-4D97-AF65-F5344CB8AC3E}">
        <p14:creationId xmlns:p14="http://schemas.microsoft.com/office/powerpoint/2010/main" val="1301850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27651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06651" y="1752601"/>
            <a:ext cx="7491413" cy="4156075"/>
          </a:xfrm>
        </p:spPr>
      </p:pic>
      <p:sp>
        <p:nvSpPr>
          <p:cNvPr id="2765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B399C7-9E93-4C1B-8C93-10A0BE1200E9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276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4967FC3A-D7F1-42EE-AB06-468FDF242B02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869812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2867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AECA70D-4047-4DF8-B424-42B96D84611C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2867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286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ACE06D62-617D-4D63-974D-624853E39B6F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/>
          </a:p>
        </p:txBody>
      </p:sp>
      <p:pic>
        <p:nvPicPr>
          <p:cNvPr id="28679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688" y="1344614"/>
            <a:ext cx="6488112" cy="398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3285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2970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9E696E-F37F-4B79-8BF2-ABEA7958F033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2970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297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4F938F2F-794E-42B3-8E2E-FE75087E9222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/>
          </a:p>
        </p:txBody>
      </p:sp>
      <p:pic>
        <p:nvPicPr>
          <p:cNvPr id="29703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650" y="971550"/>
            <a:ext cx="86487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4163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30723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79700" y="914401"/>
            <a:ext cx="6459538" cy="5218113"/>
          </a:xfrm>
        </p:spPr>
      </p:pic>
      <p:sp>
        <p:nvSpPr>
          <p:cNvPr id="3072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E05CECB-1030-41FE-92E2-57445E7DF3DA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3072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307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85AF3B1B-0F50-4431-BF19-1DE6F0F1EEF2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38297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3174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62200" y="685800"/>
            <a:ext cx="7772400" cy="2165350"/>
          </a:xfrm>
        </p:spPr>
      </p:pic>
      <p:sp>
        <p:nvSpPr>
          <p:cNvPr id="3174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AFA50C-77AB-45D3-ADC4-3D6FE8637670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3174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317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FAB94633-B2FE-4DBF-88BA-599C154B74BC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885672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32771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97176" y="944563"/>
            <a:ext cx="6721475" cy="4991100"/>
          </a:xfrm>
        </p:spPr>
      </p:pic>
      <p:sp>
        <p:nvSpPr>
          <p:cNvPr id="3277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675BA9-2882-430A-A040-1AFA6B027FDE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3277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327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054D5BA2-0FBD-4EDD-AC9F-F416E069399B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8827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33795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62200" y="1219200"/>
            <a:ext cx="8210550" cy="2362200"/>
          </a:xfrm>
        </p:spPr>
      </p:pic>
      <p:sp>
        <p:nvSpPr>
          <p:cNvPr id="3379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18AD31E-80CD-4BBD-860D-ACEDB6677227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3379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337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FB1E8568-B017-4617-9E08-4AF1EA8164EC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48447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34819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17751" y="1066801"/>
            <a:ext cx="7199313" cy="5065713"/>
          </a:xfrm>
        </p:spPr>
      </p:pic>
      <p:sp>
        <p:nvSpPr>
          <p:cNvPr id="3482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055930-183E-4B64-8B03-8E42A513520D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3482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348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B22EC208-DBBD-4C48-85A3-3837287F4BB2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613676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35843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14625" y="838200"/>
            <a:ext cx="6629400" cy="4495800"/>
          </a:xfrm>
        </p:spPr>
      </p:pic>
      <p:sp>
        <p:nvSpPr>
          <p:cNvPr id="3584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703E69E-F0C6-4C57-A9F6-D6D8875A5654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3584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358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0EA9326D-5C0C-4810-8C92-F4D48E52D9A9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20127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mtClean="0"/>
              <a:t>Dependency Graph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3686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B37C9EE-8BB8-45D6-8A2B-10A22F4B577C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3686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368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10E4ABB1-4088-43CA-9AA9-D74AB735946D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677868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37891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25664" y="804864"/>
            <a:ext cx="8542337" cy="5438775"/>
          </a:xfrm>
        </p:spPr>
      </p:pic>
      <p:sp>
        <p:nvSpPr>
          <p:cNvPr id="3789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20AA594-6221-4B9F-BCE8-7BAE244AB002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3789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378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FF323D3D-6CE1-4A00-97C3-26AB6DE53C49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734380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3891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6388F1-DC65-421B-B764-143409CC9E59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3891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389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089A8EBF-5D68-4118-9038-834C3D22AE1E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200"/>
          </a:p>
        </p:txBody>
      </p:sp>
      <p:pic>
        <p:nvPicPr>
          <p:cNvPr id="38919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650" y="971550"/>
            <a:ext cx="86487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7247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39939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13038" y="1066800"/>
            <a:ext cx="6553200" cy="3619500"/>
          </a:xfrm>
        </p:spPr>
      </p:pic>
      <p:sp>
        <p:nvSpPr>
          <p:cNvPr id="3994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63A63F5-1C24-4C78-83AA-138DEBDA4E3A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3994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399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4654F5A2-B616-4154-9F5A-98EC98F51FFD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550023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40963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97176" y="944563"/>
            <a:ext cx="6721475" cy="4991100"/>
          </a:xfrm>
        </p:spPr>
      </p:pic>
      <p:sp>
        <p:nvSpPr>
          <p:cNvPr id="4096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E57BF27-B80A-4503-AFE5-41484C939938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4096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409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6F36D4D2-01B5-48ED-9D18-496B55E27EE8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427846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4198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AF71949-C061-417D-892C-4E5FD70F1176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4198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419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963BB6E8-FDDD-4B53-80DB-DF94AD245331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200"/>
          </a:p>
        </p:txBody>
      </p:sp>
      <p:pic>
        <p:nvPicPr>
          <p:cNvPr id="41991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6039" y="685801"/>
            <a:ext cx="7881937" cy="493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6568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43011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1" y="720726"/>
            <a:ext cx="7908925" cy="5522913"/>
          </a:xfrm>
        </p:spPr>
      </p:pic>
      <p:sp>
        <p:nvSpPr>
          <p:cNvPr id="4301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C927FDA-5475-4C55-AD1A-1F3BFC2C1841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4301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430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75CD6163-D8D3-4FBE-829D-90B1ED6F243B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296987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44035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52601" y="2362201"/>
            <a:ext cx="8410575" cy="2132013"/>
          </a:xfrm>
        </p:spPr>
      </p:pic>
      <p:sp>
        <p:nvSpPr>
          <p:cNvPr id="4403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93FFFD6-0315-486A-B095-776F62D6064E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4403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440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81D1F68E-17DE-4655-87C2-2CBC7205274D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04718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45059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6114" y="533400"/>
            <a:ext cx="8339137" cy="5867400"/>
          </a:xfrm>
        </p:spPr>
      </p:pic>
      <p:sp>
        <p:nvSpPr>
          <p:cNvPr id="4506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7499CA3-B95E-4F90-99D8-4CF767BF946C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4506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450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F2713990-83FD-4D60-B389-FC57614695B0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430716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46083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09801" y="2209800"/>
            <a:ext cx="7610475" cy="2895600"/>
          </a:xfrm>
        </p:spPr>
      </p:pic>
      <p:sp>
        <p:nvSpPr>
          <p:cNvPr id="4608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D36CE61-DE25-4053-A057-FB776D2850AA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4608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460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4D043A8E-CFEE-4EB2-ADE8-14ABF91296E8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834497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47107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43200" y="381000"/>
            <a:ext cx="7067550" cy="5988050"/>
          </a:xfrm>
        </p:spPr>
      </p:pic>
      <p:sp>
        <p:nvSpPr>
          <p:cNvPr id="4710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E55D92-1491-4448-8A9F-7C334FBC2BD5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4710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471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B8FFD291-55DC-4678-93F3-B6A82AF8B376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041855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48131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1" y="1981201"/>
            <a:ext cx="9090025" cy="3908425"/>
          </a:xfrm>
        </p:spPr>
      </p:pic>
      <p:sp>
        <p:nvSpPr>
          <p:cNvPr id="4813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A084CB-A8D5-4BFC-ABEE-906CC7B7BF6B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4813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481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BF24B221-B316-4ED2-BD06-B66B72E670FA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219661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4915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4F147D8-C98A-487E-93B6-E7533D2DC64C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4915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491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CEC052A2-8C62-4523-A2C8-6635D47E36BD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200"/>
          </a:p>
        </p:txBody>
      </p:sp>
      <p:pic>
        <p:nvPicPr>
          <p:cNvPr id="49159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900" y="1147764"/>
            <a:ext cx="8458200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8080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Synthesized Attribute</a:t>
            </a:r>
          </a:p>
        </p:txBody>
      </p:sp>
      <p:pic>
        <p:nvPicPr>
          <p:cNvPr id="50179" name="Content Placeholder 1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06688" y="2630488"/>
            <a:ext cx="7772400" cy="2889250"/>
          </a:xfrm>
        </p:spPr>
      </p:pic>
      <p:sp>
        <p:nvSpPr>
          <p:cNvPr id="5018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C73AE90-4266-4E3E-95FB-B0F497F83DB2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5018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501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B538A73E-F185-4477-82B6-A22B0DBBAE37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356016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14601" y="2286000"/>
            <a:ext cx="7464425" cy="1074738"/>
          </a:xfrm>
        </p:spPr>
      </p:pic>
      <p:sp>
        <p:nvSpPr>
          <p:cNvPr id="5120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CFEE2E4-3860-4AF3-8909-8478A1DB7D8C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5120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512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9DA5F10E-B1B5-46B4-8C27-672D4D891408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233211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5222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62200" y="381001"/>
            <a:ext cx="7315200" cy="6170613"/>
          </a:xfrm>
        </p:spPr>
      </p:pic>
      <p:sp>
        <p:nvSpPr>
          <p:cNvPr id="5222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EA710E5-A267-4BD1-BAB5-E166DA2E5244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5222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522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7A075928-D722-4521-9929-49F078BCA8AC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965486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Inherited Attribute</a:t>
            </a:r>
          </a:p>
        </p:txBody>
      </p:sp>
      <p:pic>
        <p:nvPicPr>
          <p:cNvPr id="53251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2286000"/>
            <a:ext cx="9124950" cy="1231900"/>
          </a:xfrm>
        </p:spPr>
      </p:pic>
      <p:sp>
        <p:nvSpPr>
          <p:cNvPr id="5325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0F69335-BE8D-4DB8-BD70-0A205A69E15A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5325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532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D60AF825-87C3-4FD4-9231-33FE09C0C6C9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200"/>
          </a:p>
        </p:txBody>
      </p:sp>
      <p:pic>
        <p:nvPicPr>
          <p:cNvPr id="53255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1" y="3886201"/>
            <a:ext cx="7445375" cy="143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4707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54275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41625" y="2362200"/>
            <a:ext cx="7626350" cy="2463800"/>
          </a:xfrm>
        </p:spPr>
      </p:pic>
      <p:sp>
        <p:nvSpPr>
          <p:cNvPr id="5427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4C0E24B-BC75-4682-B420-0699F7E5D39D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5427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542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EBDB024F-3A9D-4C2A-9075-3BE6EFA3B17C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251612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55299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74938" y="417514"/>
            <a:ext cx="6096000" cy="5805487"/>
          </a:xfrm>
        </p:spPr>
      </p:pic>
      <p:sp>
        <p:nvSpPr>
          <p:cNvPr id="5530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98BB1F-A6FD-465C-A1CA-2F0766C4D5FB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5530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553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341DF6F2-853F-4710-85BF-60D895725561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997157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56323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7400" y="76201"/>
            <a:ext cx="7239000" cy="6608763"/>
          </a:xfrm>
        </p:spPr>
      </p:pic>
      <p:sp>
        <p:nvSpPr>
          <p:cNvPr id="5632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29D245-8CD3-461C-BBC1-E41070C0F2D5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5632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563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00C87022-9465-49F1-A11C-56891856D053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101306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5734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95601" y="160338"/>
            <a:ext cx="5635625" cy="5967412"/>
          </a:xfrm>
        </p:spPr>
      </p:pic>
      <p:sp>
        <p:nvSpPr>
          <p:cNvPr id="5734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D665670-D7AC-4C46-84AE-E5CA2DF49B91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5734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573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AFD1230C-4E8A-446C-8F20-AFC52C1E0A51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62373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Attributes as parameters and return values</a:t>
            </a:r>
          </a:p>
        </p:txBody>
      </p:sp>
      <p:pic>
        <p:nvPicPr>
          <p:cNvPr id="58371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62087" y="2057400"/>
            <a:ext cx="9120188" cy="1860550"/>
          </a:xfrm>
        </p:spPr>
      </p:pic>
      <p:sp>
        <p:nvSpPr>
          <p:cNvPr id="5837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376C9C-D5C1-415C-8BF6-6420618F1AA3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5837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583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E79CCFA1-52A8-4C6B-8DFE-C8041BA3E6D0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200"/>
          </a:p>
        </p:txBody>
      </p:sp>
      <p:pic>
        <p:nvPicPr>
          <p:cNvPr id="58375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298950"/>
            <a:ext cx="86042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237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59395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1801" y="50801"/>
            <a:ext cx="5472113" cy="6081713"/>
          </a:xfrm>
        </p:spPr>
      </p:pic>
      <p:sp>
        <p:nvSpPr>
          <p:cNvPr id="5939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2048AAC-FD79-43BF-9DF3-33BB6A8C438D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5939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593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61CFAE70-C01D-481A-A316-1CA1C597C1AD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910629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60419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47938" y="1752600"/>
            <a:ext cx="7188200" cy="4127500"/>
          </a:xfrm>
        </p:spPr>
      </p:pic>
      <p:sp>
        <p:nvSpPr>
          <p:cNvPr id="6042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887B537-BAF4-47F6-BC35-74A47D03C763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6042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604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6517C9DA-C2A0-44E5-BFF7-123E92B7AE56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139027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61443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00251" y="1143001"/>
            <a:ext cx="7815263" cy="4989513"/>
          </a:xfrm>
        </p:spPr>
      </p:pic>
      <p:sp>
        <p:nvSpPr>
          <p:cNvPr id="6144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E8FA9F7-21D6-45C1-B52E-5F3077847D68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6144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614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73A825E6-81FF-4815-BB98-08E784F2CDE9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42226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Computation of Attribute During Parsing </a:t>
            </a:r>
          </a:p>
        </p:txBody>
      </p:sp>
      <p:pic>
        <p:nvPicPr>
          <p:cNvPr id="6246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11388" y="3276600"/>
            <a:ext cx="7491412" cy="1365250"/>
          </a:xfrm>
        </p:spPr>
      </p:pic>
      <p:sp>
        <p:nvSpPr>
          <p:cNvPr id="6246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11C803-A3F9-4588-AC31-16E5EFC2E327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6246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624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41A0A8A2-1EE3-47E1-A12F-85E60A0A5A24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727543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L-Atrribute</a:t>
            </a:r>
          </a:p>
        </p:txBody>
      </p:sp>
      <p:pic>
        <p:nvPicPr>
          <p:cNvPr id="63491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06688" y="2528888"/>
            <a:ext cx="7772400" cy="3092450"/>
          </a:xfrm>
        </p:spPr>
      </p:pic>
      <p:sp>
        <p:nvSpPr>
          <p:cNvPr id="6349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01E7DAC-663E-47C0-9F1C-57D876F60AF8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6349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634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0979E73C-B2E8-414C-BDB2-9B49ECDD07C4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803920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64515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73238" y="1676400"/>
            <a:ext cx="8705850" cy="4332288"/>
          </a:xfrm>
        </p:spPr>
      </p:pic>
      <p:sp>
        <p:nvSpPr>
          <p:cNvPr id="6451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2E7E50A-919F-4261-9250-E89F9BFB7189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6451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645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5B93F1F8-2060-40C0-B186-D68FCA4BBEFB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26836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Dependence of Attribute Computation on the Syntax</a:t>
            </a:r>
          </a:p>
        </p:txBody>
      </p:sp>
      <p:pic>
        <p:nvPicPr>
          <p:cNvPr id="65539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1800" y="1676400"/>
            <a:ext cx="4840288" cy="4840288"/>
          </a:xfrm>
        </p:spPr>
      </p:pic>
      <p:sp>
        <p:nvSpPr>
          <p:cNvPr id="6554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87A0A27-6042-4D60-B252-D143E6A93DAD}" type="datetime1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4/24/2025</a:t>
            </a:fld>
            <a:endParaRPr lang="en-US" altLang="en-US" sz="1200"/>
          </a:p>
        </p:txBody>
      </p:sp>
      <p:sp>
        <p:nvSpPr>
          <p:cNvPr id="6554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© 2002-05 Hal Perkins &amp; UW CSE</a:t>
            </a:r>
          </a:p>
        </p:txBody>
      </p:sp>
      <p:sp>
        <p:nvSpPr>
          <p:cNvPr id="655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I-</a:t>
            </a:r>
            <a:fld id="{9471D36A-85CD-4783-92C1-2A58A7B974F8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49344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smtClean="0"/>
              <a:t>Type Expressions and Type Constructors</a:t>
            </a:r>
            <a:endParaRPr lang="en-US" altLang="en-US" smtClean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>
          <a:xfrm>
            <a:off x="2152650" y="2355584"/>
            <a:ext cx="7524750" cy="3005670"/>
          </a:xfrm>
          <a:extLst/>
        </p:spPr>
        <p:txBody>
          <a:bodyPr vert="horz" lIns="0" tIns="89269" rIns="0" bIns="89269" rtlCol="0" anchor="ctr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defTabSz="685800">
              <a:buNone/>
              <a:defRPr/>
            </a:pPr>
            <a:r>
              <a:rPr lang="en-US" altLang="en-US" sz="1800" dirty="0">
                <a:latin typeface="+mn-lt"/>
              </a:rPr>
              <a:t/>
            </a:r>
            <a:br>
              <a:rPr lang="en-US" altLang="en-US" sz="1800" dirty="0">
                <a:latin typeface="+mn-lt"/>
              </a:rPr>
            </a:br>
            <a:r>
              <a:rPr lang="en-US" altLang="en-US" sz="2400" dirty="0">
                <a:latin typeface="Calibri" panose="020F0502020204030204" pitchFamily="34" charset="0"/>
              </a:rPr>
              <a:t>Type expressions denote the type of language constructs (variables, functions, etc.).</a:t>
            </a:r>
          </a:p>
          <a:p>
            <a:pPr marL="0" indent="0" defTabSz="685800">
              <a:buNone/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Basic Types (Primitive):</a:t>
            </a:r>
          </a:p>
          <a:p>
            <a:pPr marL="0" indent="0" defTabSz="685800">
              <a:buFontTx/>
              <a:buChar char="•"/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Atomic types provided by the language:</a:t>
            </a:r>
          </a:p>
          <a:p>
            <a:pPr marL="342900" lvl="1" indent="0" defTabSz="685800">
              <a:buFontTx/>
              <a:buChar char="•"/>
              <a:defRPr/>
            </a:pPr>
            <a:r>
              <a:rPr lang="en-US" altLang="en-US" dirty="0">
                <a:latin typeface="Calibri" panose="020F0502020204030204" pitchFamily="34" charset="0"/>
              </a:rPr>
              <a:t>integer, real, </a:t>
            </a:r>
            <a:r>
              <a:rPr lang="en-US" altLang="en-US" dirty="0" err="1">
                <a:latin typeface="Calibri" panose="020F0502020204030204" pitchFamily="34" charset="0"/>
              </a:rPr>
              <a:t>boolean</a:t>
            </a:r>
            <a:r>
              <a:rPr lang="en-US" altLang="en-US" dirty="0">
                <a:latin typeface="Calibri" panose="020F0502020204030204" pitchFamily="34" charset="0"/>
              </a:rPr>
              <a:t>, char, void</a:t>
            </a:r>
          </a:p>
          <a:p>
            <a:pPr marL="0" indent="0" defTabSz="685800">
              <a:buFontTx/>
              <a:buChar char="•"/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Examples:</a:t>
            </a:r>
          </a:p>
          <a:p>
            <a:pPr marL="342900" lvl="1" indent="0" defTabSz="685800">
              <a:buFontTx/>
              <a:buChar char="•"/>
              <a:defRPr/>
            </a:pPr>
            <a:r>
              <a:rPr lang="en-US" altLang="en-US" dirty="0">
                <a:latin typeface="Calibri" panose="020F0502020204030204" pitchFamily="34" charset="0"/>
              </a:rPr>
              <a:t>integer: Represents whole numbers (e.g., 42).</a:t>
            </a:r>
          </a:p>
          <a:p>
            <a:pPr marL="0" indent="0" defTabSz="685800">
              <a:buNone/>
              <a:defRPr/>
            </a:pPr>
            <a:endParaRPr lang="en-US" alt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188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Type constructors</a:t>
            </a:r>
          </a:p>
        </p:txBody>
      </p:sp>
      <p:pic>
        <p:nvPicPr>
          <p:cNvPr id="67587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7401" y="2251076"/>
            <a:ext cx="7953375" cy="4073525"/>
          </a:xfrm>
        </p:spPr>
      </p:pic>
    </p:spTree>
    <p:extLst>
      <p:ext uri="{BB962C8B-B14F-4D97-AF65-F5344CB8AC3E}">
        <p14:creationId xmlns:p14="http://schemas.microsoft.com/office/powerpoint/2010/main" val="2781956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1" y="152400"/>
            <a:ext cx="7953375" cy="1524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 smtClean="0">
                <a:latin typeface="fkGrotesk"/>
              </a:rPr>
              <a:t/>
            </a:r>
            <a:br>
              <a:rPr lang="en-US" altLang="en-US" dirty="0" smtClean="0">
                <a:latin typeface="fkGrotesk"/>
              </a:rPr>
            </a:br>
            <a:r>
              <a:rPr lang="en-US" altLang="en-US" dirty="0">
                <a:latin typeface="fkGrotesk"/>
              </a:rPr>
              <a:t/>
            </a:r>
            <a:br>
              <a:rPr lang="en-US" altLang="en-US" dirty="0">
                <a:latin typeface="fkGrotesk"/>
              </a:rPr>
            </a:br>
            <a:r>
              <a:rPr lang="en-US" altLang="en-US" dirty="0" smtClean="0">
                <a:latin typeface="fkGrotesk"/>
              </a:rPr>
              <a:t/>
            </a:r>
            <a:br>
              <a:rPr lang="en-US" altLang="en-US" dirty="0" smtClean="0">
                <a:latin typeface="fkGrotesk"/>
              </a:rPr>
            </a:br>
            <a:r>
              <a:rPr lang="en-US" altLang="en-US" dirty="0">
                <a:latin typeface="fkGrotesk"/>
              </a:rPr>
              <a:t/>
            </a:r>
            <a:br>
              <a:rPr lang="en-US" altLang="en-US" dirty="0">
                <a:latin typeface="fkGrotesk"/>
              </a:rPr>
            </a:br>
            <a:r>
              <a:rPr lang="en-US" altLang="en-US" dirty="0" smtClean="0">
                <a:latin typeface="fkGrotesk"/>
              </a:rPr>
              <a:t>Type </a:t>
            </a:r>
            <a:r>
              <a:rPr lang="en-US" altLang="en-US" dirty="0">
                <a:latin typeface="fkGrotesk"/>
              </a:rPr>
              <a:t>Names and Type </a:t>
            </a:r>
            <a:r>
              <a:rPr lang="en-US" altLang="en-US" dirty="0" smtClean="0">
                <a:latin typeface="fkGrotesk"/>
              </a:rPr>
              <a:t>Declarations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>
          <a:xfrm>
            <a:off x="1752600" y="2695463"/>
            <a:ext cx="8001000" cy="3233962"/>
          </a:xfrm>
          <a:extLst/>
        </p:spPr>
        <p:txBody>
          <a:bodyPr vert="horz" lIns="0" tIns="0" rIns="0" bIns="0" rtlCol="0" anchor="ctr">
            <a:spAutoFit/>
          </a:bodyPr>
          <a:lstStyle/>
          <a:p>
            <a:pPr marL="0" indent="0" defTabSz="685800">
              <a:spcBef>
                <a:spcPct val="0"/>
              </a:spcBef>
              <a:buNone/>
              <a:defRPr/>
            </a:pPr>
            <a:r>
              <a:rPr lang="en-US" altLang="en-US" sz="2000" dirty="0"/>
              <a:t>User-defined aliases for existing types, created using </a:t>
            </a:r>
            <a:r>
              <a:rPr lang="en-US" altLang="en-US" sz="2000" dirty="0" err="1"/>
              <a:t>typedef</a:t>
            </a:r>
            <a:r>
              <a:rPr lang="en-US" altLang="en-US" sz="2000" dirty="0"/>
              <a:t>.</a:t>
            </a:r>
          </a:p>
          <a:p>
            <a:pPr marL="0" indent="0" defTabSz="685800">
              <a:spcBef>
                <a:spcPct val="0"/>
              </a:spcBef>
              <a:buFontTx/>
              <a:buChar char="•"/>
              <a:defRPr/>
            </a:pPr>
            <a:r>
              <a:rPr lang="en-US" altLang="en-US" sz="2000" dirty="0"/>
              <a:t>Why Use Them?</a:t>
            </a:r>
          </a:p>
          <a:p>
            <a:pPr marL="342900" lvl="1" indent="0" defTabSz="685800">
              <a:spcBef>
                <a:spcPct val="0"/>
              </a:spcBef>
              <a:buFontTx/>
              <a:buChar char="•"/>
              <a:defRPr/>
            </a:pPr>
            <a:r>
              <a:rPr lang="en-US" altLang="en-US" sz="2000" dirty="0"/>
              <a:t>Increase code readability</a:t>
            </a:r>
          </a:p>
          <a:p>
            <a:pPr marL="342900" lvl="1" indent="0" defTabSz="685800">
              <a:spcBef>
                <a:spcPct val="0"/>
              </a:spcBef>
              <a:buFontTx/>
              <a:buChar char="•"/>
              <a:defRPr/>
            </a:pPr>
            <a:r>
              <a:rPr lang="en-US" altLang="en-US" sz="2000" dirty="0"/>
              <a:t>Simplify complex type usage</a:t>
            </a:r>
          </a:p>
          <a:p>
            <a:pPr marL="342900" lvl="1" indent="0" defTabSz="685800">
              <a:spcBef>
                <a:spcPct val="0"/>
              </a:spcBef>
              <a:buFontTx/>
              <a:buChar char="•"/>
              <a:defRPr/>
            </a:pPr>
            <a:r>
              <a:rPr lang="en-US" altLang="en-US" sz="2000" dirty="0"/>
              <a:t>Make code easier to maintain</a:t>
            </a:r>
          </a:p>
          <a:p>
            <a:pPr marL="0" indent="0" defTabSz="685800">
              <a:spcBef>
                <a:spcPct val="0"/>
              </a:spcBef>
              <a:buFontTx/>
              <a:buChar char="•"/>
              <a:defRPr/>
            </a:pPr>
            <a:r>
              <a:rPr lang="en-US" altLang="en-US" sz="2000" dirty="0"/>
              <a:t>Examples:</a:t>
            </a:r>
          </a:p>
          <a:p>
            <a:pPr marL="0" indent="0" defTabSz="685800">
              <a:spcBef>
                <a:spcPct val="0"/>
              </a:spcBef>
              <a:buNone/>
              <a:defRPr/>
            </a:pPr>
            <a:r>
              <a:rPr lang="en-US" altLang="en-US" sz="2000" b="1" dirty="0" err="1">
                <a:solidFill>
                  <a:srgbClr val="8959A8"/>
                </a:solidFill>
              </a:rPr>
              <a:t>typedef</a:t>
            </a:r>
            <a:r>
              <a:rPr lang="en-US" altLang="en-US" sz="2000" dirty="0">
                <a:solidFill>
                  <a:srgbClr val="4D4D4C"/>
                </a:solidFill>
              </a:rPr>
              <a:t> </a:t>
            </a:r>
            <a:r>
              <a:rPr lang="en-US" altLang="en-US" sz="2000" b="1" dirty="0">
                <a:solidFill>
                  <a:srgbClr val="8959A8"/>
                </a:solidFill>
              </a:rPr>
              <a:t>unsigned</a:t>
            </a:r>
            <a:r>
              <a:rPr lang="en-US" altLang="en-US" sz="2000" dirty="0">
                <a:solidFill>
                  <a:srgbClr val="4D4D4C"/>
                </a:solidFill>
              </a:rPr>
              <a:t> </a:t>
            </a:r>
            <a:r>
              <a:rPr lang="en-US" altLang="en-US" sz="2000" b="1" dirty="0">
                <a:solidFill>
                  <a:srgbClr val="8959A8"/>
                </a:solidFill>
              </a:rPr>
              <a:t>long</a:t>
            </a:r>
            <a:r>
              <a:rPr lang="en-US" altLang="en-US" sz="2000" dirty="0">
                <a:solidFill>
                  <a:srgbClr val="4D4D4C"/>
                </a:solidFill>
              </a:rPr>
              <a:t> </a:t>
            </a:r>
            <a:r>
              <a:rPr lang="en-US" altLang="en-US" sz="2000" dirty="0" err="1">
                <a:solidFill>
                  <a:srgbClr val="4D4D4C"/>
                </a:solidFill>
              </a:rPr>
              <a:t>ulong</a:t>
            </a:r>
            <a:r>
              <a:rPr lang="en-US" altLang="en-US" sz="2000" dirty="0">
                <a:solidFill>
                  <a:srgbClr val="4D4D4C"/>
                </a:solidFill>
              </a:rPr>
              <a:t>; </a:t>
            </a:r>
          </a:p>
          <a:p>
            <a:pPr marL="0" indent="0" defTabSz="685800">
              <a:spcBef>
                <a:spcPct val="0"/>
              </a:spcBef>
              <a:buNone/>
              <a:defRPr/>
            </a:pPr>
            <a:r>
              <a:rPr lang="en-US" altLang="en-US" sz="2000" b="1" dirty="0" err="1">
                <a:solidFill>
                  <a:srgbClr val="8959A8"/>
                </a:solidFill>
              </a:rPr>
              <a:t>typedef</a:t>
            </a:r>
            <a:r>
              <a:rPr lang="en-US" altLang="en-US" sz="2000" dirty="0">
                <a:solidFill>
                  <a:srgbClr val="4D4D4C"/>
                </a:solidFill>
              </a:rPr>
              <a:t> </a:t>
            </a:r>
            <a:r>
              <a:rPr lang="en-US" altLang="en-US" sz="2000" b="1" dirty="0" err="1">
                <a:solidFill>
                  <a:srgbClr val="8959A8"/>
                </a:solidFill>
              </a:rPr>
              <a:t>int</a:t>
            </a:r>
            <a:r>
              <a:rPr lang="en-US" altLang="en-US" sz="2000" dirty="0">
                <a:solidFill>
                  <a:srgbClr val="4D4D4C"/>
                </a:solidFill>
              </a:rPr>
              <a:t> Coordinate; </a:t>
            </a:r>
            <a:endParaRPr lang="en-US" altLang="en-US" sz="2000" dirty="0"/>
          </a:p>
          <a:p>
            <a:pPr marL="0" indent="0" defTabSz="685800">
              <a:spcBef>
                <a:spcPct val="0"/>
              </a:spcBef>
              <a:buNone/>
              <a:defRPr/>
            </a:pPr>
            <a:r>
              <a:rPr lang="en-US" altLang="en-US" sz="2000" dirty="0"/>
              <a:t>Usage: </a:t>
            </a:r>
            <a:r>
              <a:rPr lang="en-US" altLang="en-US" sz="2000" dirty="0" err="1">
                <a:solidFill>
                  <a:srgbClr val="4D4D4C"/>
                </a:solidFill>
              </a:rPr>
              <a:t>ulong</a:t>
            </a:r>
            <a:r>
              <a:rPr lang="en-US" altLang="en-US" sz="2000" dirty="0">
                <a:solidFill>
                  <a:srgbClr val="4D4D4C"/>
                </a:solidFill>
              </a:rPr>
              <a:t> </a:t>
            </a:r>
            <a:r>
              <a:rPr lang="en-US" altLang="en-US" sz="2000" dirty="0" err="1">
                <a:solidFill>
                  <a:srgbClr val="4D4D4C"/>
                </a:solidFill>
              </a:rPr>
              <a:t>fileSize</a:t>
            </a:r>
            <a:r>
              <a:rPr lang="en-US" altLang="en-US" sz="2000" dirty="0">
                <a:solidFill>
                  <a:srgbClr val="4D4D4C"/>
                </a:solidFill>
              </a:rPr>
              <a:t>; Coordinate x, y; </a:t>
            </a:r>
            <a:endParaRPr lang="en-US" altLang="en-US" sz="2000" dirty="0"/>
          </a:p>
          <a:p>
            <a:pPr marL="0" indent="0" defTabSz="685800">
              <a:spcBef>
                <a:spcPct val="0"/>
              </a:spcBef>
              <a:buFontTx/>
              <a:buChar char="•"/>
              <a:defRPr/>
            </a:pPr>
            <a:r>
              <a:rPr lang="en-US" altLang="en-US" sz="2000" dirty="0"/>
              <a:t>Benefit: Now, </a:t>
            </a:r>
            <a:r>
              <a:rPr lang="en-US" altLang="en-US" sz="2000" dirty="0" err="1"/>
              <a:t>ulong</a:t>
            </a:r>
            <a:r>
              <a:rPr lang="en-US" altLang="en-US" sz="2000" dirty="0"/>
              <a:t> and Coordinate can be used just like built-in types, making declarations clearer and less error-prone.</a:t>
            </a:r>
          </a:p>
          <a:p>
            <a:pPr marL="0" indent="0" defTabSz="685800">
              <a:spcBef>
                <a:spcPct val="0"/>
              </a:spcBef>
              <a:buNone/>
              <a:defRPr/>
            </a:pPr>
            <a:endParaRPr lang="en-US" altLang="en-US" sz="135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802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fkGrotesk"/>
              </a:rPr>
              <a:t/>
            </a:r>
            <a:br>
              <a:rPr lang="en-US" altLang="en-US" smtClean="0">
                <a:latin typeface="fkGrotesk"/>
              </a:rPr>
            </a:br>
            <a:r>
              <a:rPr lang="en-US" altLang="en-US" smtClean="0">
                <a:latin typeface="fkGrotesk"/>
              </a:rPr>
              <a:t>Struct Type Names and Declarations</a:t>
            </a:r>
            <a:endParaRPr lang="en-US" altLang="en-US" smtClean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>
          <a:xfrm>
            <a:off x="2152650" y="2551082"/>
            <a:ext cx="7416800" cy="3289362"/>
          </a:xfrm>
          <a:extLst/>
        </p:spPr>
        <p:txBody>
          <a:bodyPr vert="horz" lIns="0" tIns="0" rIns="0" bIns="0" rtlCol="0" anchor="ctr">
            <a:spAutoFit/>
          </a:bodyPr>
          <a:lstStyle/>
          <a:p>
            <a:pPr marL="0" indent="0" defTabSz="685800">
              <a:spcBef>
                <a:spcPct val="0"/>
              </a:spcBef>
              <a:buFontTx/>
              <a:buChar char="•"/>
              <a:defRPr/>
            </a:pPr>
            <a:r>
              <a:rPr lang="en-US" altLang="en-US" dirty="0" err="1" smtClean="0"/>
              <a:t>Struct</a:t>
            </a:r>
            <a:r>
              <a:rPr lang="en-US" altLang="en-US" dirty="0" smtClean="0"/>
              <a:t> Type Name:</a:t>
            </a:r>
            <a:br>
              <a:rPr lang="en-US" altLang="en-US" dirty="0" smtClean="0"/>
            </a:br>
            <a:r>
              <a:rPr lang="en-US" altLang="en-US" dirty="0" smtClean="0"/>
              <a:t>Used to define complex data structures with a single name.</a:t>
            </a:r>
          </a:p>
          <a:p>
            <a:pPr marL="0" indent="0" defTabSz="685800">
              <a:spcBef>
                <a:spcPct val="0"/>
              </a:spcBef>
              <a:buFontTx/>
              <a:buChar char="•"/>
              <a:defRPr/>
            </a:pPr>
            <a:r>
              <a:rPr lang="en-US" altLang="en-US" dirty="0" smtClean="0"/>
              <a:t>Example:</a:t>
            </a:r>
          </a:p>
          <a:p>
            <a:pPr marL="0" indent="0" defTabSz="685800">
              <a:spcBef>
                <a:spcPct val="0"/>
              </a:spcBef>
              <a:buNone/>
              <a:defRPr/>
            </a:pPr>
            <a:r>
              <a:rPr lang="en-US" altLang="en-US" b="1" dirty="0" err="1" smtClean="0">
                <a:solidFill>
                  <a:srgbClr val="8959A8"/>
                </a:solidFill>
              </a:rPr>
              <a:t>typedef</a:t>
            </a:r>
            <a:r>
              <a:rPr lang="en-US" altLang="en-US" dirty="0" smtClean="0">
                <a:solidFill>
                  <a:srgbClr val="4D4D4C"/>
                </a:solidFill>
              </a:rPr>
              <a:t> </a:t>
            </a:r>
            <a:r>
              <a:rPr lang="en-US" altLang="en-US" b="1" dirty="0" err="1" smtClean="0">
                <a:solidFill>
                  <a:srgbClr val="8959A8"/>
                </a:solidFill>
              </a:rPr>
              <a:t>struct</a:t>
            </a:r>
            <a:r>
              <a:rPr lang="en-US" altLang="en-US" dirty="0" smtClean="0">
                <a:solidFill>
                  <a:srgbClr val="4D4D4C"/>
                </a:solidFill>
              </a:rPr>
              <a:t> { </a:t>
            </a:r>
            <a:r>
              <a:rPr lang="en-US" altLang="en-US" b="1" dirty="0" smtClean="0">
                <a:solidFill>
                  <a:srgbClr val="8959A8"/>
                </a:solidFill>
              </a:rPr>
              <a:t>char</a:t>
            </a:r>
            <a:r>
              <a:rPr lang="en-US" altLang="en-US" dirty="0" smtClean="0">
                <a:solidFill>
                  <a:srgbClr val="4D4D4C"/>
                </a:solidFill>
              </a:rPr>
              <a:t> name[</a:t>
            </a:r>
            <a:r>
              <a:rPr lang="en-US" altLang="en-US" dirty="0" smtClean="0">
                <a:solidFill>
                  <a:srgbClr val="F5871F"/>
                </a:solidFill>
              </a:rPr>
              <a:t>20</a:t>
            </a:r>
            <a:r>
              <a:rPr lang="en-US" altLang="en-US" dirty="0" smtClean="0">
                <a:solidFill>
                  <a:srgbClr val="4D4D4C"/>
                </a:solidFill>
              </a:rPr>
              <a:t>]; </a:t>
            </a:r>
            <a:r>
              <a:rPr lang="en-US" altLang="en-US" b="1" dirty="0" err="1" smtClean="0">
                <a:solidFill>
                  <a:srgbClr val="8959A8"/>
                </a:solidFill>
              </a:rPr>
              <a:t>int</a:t>
            </a:r>
            <a:r>
              <a:rPr lang="en-US" altLang="en-US" dirty="0" smtClean="0">
                <a:solidFill>
                  <a:srgbClr val="4D4D4C"/>
                </a:solidFill>
              </a:rPr>
              <a:t> id; </a:t>
            </a:r>
            <a:r>
              <a:rPr lang="en-US" altLang="en-US" b="1" dirty="0" smtClean="0">
                <a:solidFill>
                  <a:srgbClr val="8959A8"/>
                </a:solidFill>
              </a:rPr>
              <a:t>float</a:t>
            </a:r>
            <a:r>
              <a:rPr lang="en-US" altLang="en-US" dirty="0" smtClean="0">
                <a:solidFill>
                  <a:srgbClr val="4D4D4C"/>
                </a:solidFill>
              </a:rPr>
              <a:t> </a:t>
            </a:r>
            <a:r>
              <a:rPr lang="en-US" altLang="en-US" dirty="0" err="1" smtClean="0">
                <a:solidFill>
                  <a:srgbClr val="4D4D4C"/>
                </a:solidFill>
              </a:rPr>
              <a:t>gpa</a:t>
            </a:r>
            <a:r>
              <a:rPr lang="en-US" altLang="en-US" dirty="0" smtClean="0">
                <a:solidFill>
                  <a:srgbClr val="4D4D4C"/>
                </a:solidFill>
              </a:rPr>
              <a:t>; } Student; </a:t>
            </a:r>
            <a:endParaRPr lang="en-US" altLang="en-US" dirty="0" smtClean="0"/>
          </a:p>
          <a:p>
            <a:pPr marL="0" indent="0" defTabSz="685800">
              <a:spcBef>
                <a:spcPct val="0"/>
              </a:spcBef>
              <a:buNone/>
              <a:defRPr/>
            </a:pPr>
            <a:r>
              <a:rPr lang="en-US" altLang="en-US" dirty="0" smtClean="0"/>
              <a:t>Usage:</a:t>
            </a:r>
          </a:p>
          <a:p>
            <a:pPr marL="0" indent="0" defTabSz="685800">
              <a:spcBef>
                <a:spcPct val="0"/>
              </a:spcBef>
              <a:buNone/>
              <a:defRPr/>
            </a:pPr>
            <a:r>
              <a:rPr lang="en-US" altLang="en-US" dirty="0" smtClean="0">
                <a:solidFill>
                  <a:srgbClr val="4D4D4C"/>
                </a:solidFill>
              </a:rPr>
              <a:t>Student s1, s2; s1.id = </a:t>
            </a:r>
            <a:r>
              <a:rPr lang="en-US" altLang="en-US" dirty="0" smtClean="0">
                <a:solidFill>
                  <a:srgbClr val="F5871F"/>
                </a:solidFill>
              </a:rPr>
              <a:t>1001</a:t>
            </a:r>
            <a:r>
              <a:rPr lang="en-US" altLang="en-US" dirty="0" smtClean="0">
                <a:solidFill>
                  <a:srgbClr val="4D4D4C"/>
                </a:solidFill>
              </a:rPr>
              <a:t>;</a:t>
            </a:r>
            <a:endParaRPr lang="en-US" altLang="en-US" dirty="0" smtClean="0"/>
          </a:p>
          <a:p>
            <a:pPr marL="0" indent="0" defTabSz="685800">
              <a:spcBef>
                <a:spcPct val="0"/>
              </a:spcBef>
              <a:buNone/>
              <a:defRPr/>
            </a:pPr>
            <a:endParaRPr lang="en-US" altLang="en-US" sz="135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813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500">
                <a:latin typeface="Arial" panose="020B0604020202020204" pitchFamily="34" charset="0"/>
              </a:rPr>
              <a:t/>
            </a:r>
            <a:br>
              <a:rPr lang="en-US" altLang="en-US" sz="4500">
                <a:latin typeface="Arial" panose="020B0604020202020204" pitchFamily="34" charset="0"/>
              </a:rPr>
            </a:br>
            <a:r>
              <a:rPr lang="en-US" altLang="en-US" smtClean="0">
                <a:latin typeface="fkGroteskNeue"/>
              </a:rPr>
              <a:t>Recursive Type</a:t>
            </a:r>
            <a:endParaRPr lang="en-US" altLang="en-US" smtClean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>
          <a:xfrm>
            <a:off x="2055813" y="2900705"/>
            <a:ext cx="7226300" cy="2056717"/>
          </a:xfrm>
          <a:extLst/>
        </p:spPr>
        <p:txBody>
          <a:bodyPr vert="horz" lIns="0" tIns="0" rIns="0" bIns="0" rtlCol="0" anchor="ctr">
            <a:spAutoFit/>
          </a:bodyPr>
          <a:lstStyle/>
          <a:p>
            <a:pPr marL="0" indent="0" defTabSz="685800">
              <a:spcBef>
                <a:spcPct val="0"/>
              </a:spcBef>
              <a:buNone/>
              <a:defRPr/>
            </a:pPr>
            <a:r>
              <a:rPr lang="en-US" altLang="en-US" sz="900" dirty="0">
                <a:latin typeface="fkGroteskNeue"/>
              </a:rPr>
              <a:t/>
            </a:r>
            <a:br>
              <a:rPr lang="en-US" altLang="en-US" sz="900" dirty="0">
                <a:latin typeface="fkGroteskNeue"/>
              </a:rPr>
            </a:br>
            <a:r>
              <a:rPr lang="en-US" altLang="en-US" sz="1800" dirty="0"/>
              <a:t>A type defined in terms of itself, commonly used for linked lists and trees.</a:t>
            </a:r>
          </a:p>
          <a:p>
            <a:pPr marL="0" indent="0" defTabSz="685800">
              <a:spcBef>
                <a:spcPct val="0"/>
              </a:spcBef>
              <a:buFontTx/>
              <a:buChar char="•"/>
              <a:defRPr/>
            </a:pPr>
            <a:r>
              <a:rPr lang="en-US" altLang="en-US" sz="1800" dirty="0"/>
              <a:t>C Example (Linked List Node):</a:t>
            </a:r>
          </a:p>
          <a:p>
            <a:pPr marL="0" indent="0" defTabSz="685800">
              <a:spcBef>
                <a:spcPct val="0"/>
              </a:spcBef>
              <a:buNone/>
              <a:defRPr/>
            </a:pPr>
            <a:endParaRPr lang="en-US" altLang="en-US" sz="1800" dirty="0"/>
          </a:p>
          <a:p>
            <a:pPr marL="0" indent="0" defTabSz="685800">
              <a:spcBef>
                <a:spcPct val="0"/>
              </a:spcBef>
              <a:buNone/>
              <a:defRPr/>
            </a:pPr>
            <a:r>
              <a:rPr lang="en-US" altLang="en-US" sz="1800" b="1" dirty="0" err="1">
                <a:solidFill>
                  <a:srgbClr val="8959A8"/>
                </a:solidFill>
              </a:rPr>
              <a:t>typedef</a:t>
            </a:r>
            <a:r>
              <a:rPr lang="en-US" altLang="en-US" sz="1800" dirty="0">
                <a:solidFill>
                  <a:srgbClr val="4D4D4C"/>
                </a:solidFill>
              </a:rPr>
              <a:t> </a:t>
            </a:r>
            <a:r>
              <a:rPr lang="en-US" altLang="en-US" sz="1800" b="1" dirty="0" err="1">
                <a:solidFill>
                  <a:srgbClr val="8959A8"/>
                </a:solidFill>
              </a:rPr>
              <a:t>struct</a:t>
            </a:r>
            <a:r>
              <a:rPr lang="en-US" altLang="en-US" sz="1800" dirty="0">
                <a:solidFill>
                  <a:srgbClr val="4D4D4C"/>
                </a:solidFill>
              </a:rPr>
              <a:t> </a:t>
            </a:r>
            <a:r>
              <a:rPr lang="en-US" altLang="en-US" sz="1800" dirty="0">
                <a:solidFill>
                  <a:srgbClr val="4271AE"/>
                </a:solidFill>
              </a:rPr>
              <a:t>Node</a:t>
            </a:r>
            <a:r>
              <a:rPr lang="en-US" altLang="en-US" sz="1800" dirty="0">
                <a:solidFill>
                  <a:srgbClr val="4D4D4C"/>
                </a:solidFill>
              </a:rPr>
              <a:t> </a:t>
            </a:r>
          </a:p>
          <a:p>
            <a:pPr marL="0" indent="0" defTabSz="685800">
              <a:spcBef>
                <a:spcPct val="0"/>
              </a:spcBef>
              <a:buNone/>
              <a:defRPr/>
            </a:pPr>
            <a:r>
              <a:rPr lang="en-US" altLang="en-US" sz="1800" dirty="0">
                <a:solidFill>
                  <a:srgbClr val="4D4D4C"/>
                </a:solidFill>
              </a:rPr>
              <a:t>{ </a:t>
            </a:r>
            <a:r>
              <a:rPr lang="en-US" altLang="en-US" sz="1800" b="1" dirty="0" err="1">
                <a:solidFill>
                  <a:srgbClr val="8959A8"/>
                </a:solidFill>
              </a:rPr>
              <a:t>int</a:t>
            </a:r>
            <a:r>
              <a:rPr lang="en-US" altLang="en-US" sz="1800" dirty="0">
                <a:solidFill>
                  <a:srgbClr val="4D4D4C"/>
                </a:solidFill>
              </a:rPr>
              <a:t> data; </a:t>
            </a:r>
          </a:p>
          <a:p>
            <a:pPr marL="0" indent="0" defTabSz="685800">
              <a:spcBef>
                <a:spcPct val="0"/>
              </a:spcBef>
              <a:buNone/>
              <a:defRPr/>
            </a:pPr>
            <a:r>
              <a:rPr lang="en-US" altLang="en-US" sz="1800" b="1" dirty="0" err="1">
                <a:solidFill>
                  <a:srgbClr val="8959A8"/>
                </a:solidFill>
              </a:rPr>
              <a:t>struct</a:t>
            </a:r>
            <a:r>
              <a:rPr lang="en-US" altLang="en-US" sz="1800" dirty="0">
                <a:solidFill>
                  <a:srgbClr val="4D4D4C"/>
                </a:solidFill>
              </a:rPr>
              <a:t> </a:t>
            </a:r>
            <a:r>
              <a:rPr lang="en-US" altLang="en-US" sz="1800" dirty="0">
                <a:solidFill>
                  <a:srgbClr val="4271AE"/>
                </a:solidFill>
              </a:rPr>
              <a:t>Node</a:t>
            </a:r>
            <a:r>
              <a:rPr lang="en-US" altLang="en-US" sz="1800" dirty="0">
                <a:solidFill>
                  <a:srgbClr val="4D4D4C"/>
                </a:solidFill>
              </a:rPr>
              <a:t> *next; } </a:t>
            </a:r>
          </a:p>
          <a:p>
            <a:pPr marL="0" indent="0" defTabSz="685800">
              <a:spcBef>
                <a:spcPct val="0"/>
              </a:spcBef>
              <a:buNone/>
              <a:defRPr/>
            </a:pPr>
            <a:r>
              <a:rPr lang="en-US" altLang="en-US" sz="1800" dirty="0">
                <a:solidFill>
                  <a:srgbClr val="4D4D4C"/>
                </a:solidFill>
              </a:rPr>
              <a:t>Node;</a:t>
            </a:r>
            <a:endParaRPr lang="en-US" altLang="en-US" sz="1800" dirty="0"/>
          </a:p>
          <a:p>
            <a:pPr marL="0" indent="0" defTabSz="685800">
              <a:spcBef>
                <a:spcPct val="0"/>
              </a:spcBef>
              <a:buNone/>
              <a:defRPr/>
            </a:pPr>
            <a:endParaRPr lang="en-US" altLang="en-US" sz="135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941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Type Equivalence</a:t>
            </a:r>
            <a:br>
              <a:rPr lang="en-US" altLang="en-US" smtClean="0"/>
            </a:br>
            <a:endParaRPr lang="en-US" altLang="en-US" smtClean="0"/>
          </a:p>
        </p:txBody>
      </p:sp>
      <p:sp>
        <p:nvSpPr>
          <p:cNvPr id="71683" name="Content Placeholder 2"/>
          <p:cNvSpPr>
            <a:spLocks noGrp="1"/>
          </p:cNvSpPr>
          <p:nvPr>
            <p:ph idx="1"/>
          </p:nvPr>
        </p:nvSpPr>
        <p:spPr>
          <a:xfrm>
            <a:off x="1752600" y="2017713"/>
            <a:ext cx="8726488" cy="4114800"/>
          </a:xfrm>
        </p:spPr>
        <p:txBody>
          <a:bodyPr/>
          <a:lstStyle/>
          <a:p>
            <a:r>
              <a:rPr lang="en-US" altLang="en-US" smtClean="0"/>
              <a:t>Type Equivalence:</a:t>
            </a:r>
            <a:br>
              <a:rPr lang="en-US" altLang="en-US" smtClean="0"/>
            </a:br>
            <a:r>
              <a:rPr lang="en-US" altLang="en-US" smtClean="0"/>
              <a:t>Determines when two types are considered the same by the compiler.</a:t>
            </a:r>
          </a:p>
          <a:p>
            <a:r>
              <a:rPr lang="en-US" altLang="en-US" smtClean="0"/>
              <a:t>Two principal forms:</a:t>
            </a:r>
          </a:p>
          <a:p>
            <a:pPr lvl="1"/>
            <a:r>
              <a:rPr lang="en-US" altLang="en-US" smtClean="0"/>
              <a:t>Name Equivalence: Types are equivalent if they have the same name or were declared in the same declaration.</a:t>
            </a:r>
          </a:p>
          <a:p>
            <a:pPr lvl="1"/>
            <a:r>
              <a:rPr lang="en-US" altLang="en-US" smtClean="0"/>
              <a:t>Structural Equivalence: Types are equivalent if their structures are built using the same type constructors from the same basic types.</a:t>
            </a:r>
          </a:p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18973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72707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03476" y="193676"/>
            <a:ext cx="7273925" cy="4384675"/>
          </a:xfrm>
        </p:spPr>
      </p:pic>
    </p:spTree>
    <p:extLst>
      <p:ext uri="{BB962C8B-B14F-4D97-AF65-F5344CB8AC3E}">
        <p14:creationId xmlns:p14="http://schemas.microsoft.com/office/powerpoint/2010/main" val="3202997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73731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E8990E2-D57F-484B-991E-6616993426EF}" type="datetime1">
              <a:rPr lang="en-US" altLang="en-US" smtClean="0"/>
              <a:pPr/>
              <a:t>4/24/2025</a:t>
            </a:fld>
            <a:endParaRPr lang="en-US" altLang="en-US" smtClean="0"/>
          </a:p>
        </p:txBody>
      </p:sp>
      <p:sp>
        <p:nvSpPr>
          <p:cNvPr id="7373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mtClean="0"/>
              <a:t>© 2002-05 Hal Perkins &amp; UW CSE</a:t>
            </a:r>
          </a:p>
        </p:txBody>
      </p:sp>
      <p:sp>
        <p:nvSpPr>
          <p:cNvPr id="737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mtClean="0"/>
              <a:t>I-</a:t>
            </a:r>
            <a:fld id="{ED609AD1-F281-4962-8388-4AB73DF869D9}" type="slidenum">
              <a:rPr lang="en-US" altLang="en-US" smtClean="0"/>
              <a:pPr/>
              <a:t>48</a:t>
            </a:fld>
            <a:endParaRPr lang="en-US" altLang="en-US" smtClean="0"/>
          </a:p>
        </p:txBody>
      </p:sp>
      <p:pic>
        <p:nvPicPr>
          <p:cNvPr id="73734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38550" y="2236788"/>
            <a:ext cx="4895850" cy="3448050"/>
          </a:xfrm>
        </p:spPr>
      </p:pic>
    </p:spTree>
    <p:extLst>
      <p:ext uri="{BB962C8B-B14F-4D97-AF65-F5344CB8AC3E}">
        <p14:creationId xmlns:p14="http://schemas.microsoft.com/office/powerpoint/2010/main" val="2461497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74755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52800" y="174626"/>
            <a:ext cx="5105400" cy="6856413"/>
          </a:xfrm>
        </p:spPr>
      </p:pic>
    </p:spTree>
    <p:extLst>
      <p:ext uri="{BB962C8B-B14F-4D97-AF65-F5344CB8AC3E}">
        <p14:creationId xmlns:p14="http://schemas.microsoft.com/office/powerpoint/2010/main" val="4150070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/>
              <a:t>Recursive Types and Type Equivalence </a:t>
            </a:r>
          </a:p>
        </p:txBody>
      </p:sp>
      <p:sp>
        <p:nvSpPr>
          <p:cNvPr id="75779" name="Content Placeholder 2"/>
          <p:cNvSpPr>
            <a:spLocks noGrp="1"/>
          </p:cNvSpPr>
          <p:nvPr>
            <p:ph idx="1"/>
          </p:nvPr>
        </p:nvSpPr>
        <p:spPr>
          <a:xfrm>
            <a:off x="1828800" y="2209800"/>
            <a:ext cx="8650288" cy="3962400"/>
          </a:xfrm>
        </p:spPr>
        <p:txBody>
          <a:bodyPr/>
          <a:lstStyle/>
          <a:p>
            <a:r>
              <a:rPr lang="en-US" altLang="en-US" dirty="0"/>
              <a:t>Recursive Type Equivalence:</a:t>
            </a:r>
            <a:br>
              <a:rPr lang="en-US" altLang="en-US" dirty="0"/>
            </a:br>
            <a:r>
              <a:rPr lang="en-US" altLang="en-US" dirty="0"/>
              <a:t>Recursive types can pose challenges for structural equivalence, as the type checker must recognize equivalence even when types refer to themselves.</a:t>
            </a:r>
          </a:p>
          <a:p>
            <a:r>
              <a:rPr lang="en-US" altLang="en-US" dirty="0" err="1"/>
              <a:t>struct</a:t>
            </a:r>
            <a:r>
              <a:rPr lang="en-US" altLang="en-US" dirty="0"/>
              <a:t> </a:t>
            </a:r>
            <a:r>
              <a:rPr lang="en-US" altLang="en-US" dirty="0" err="1"/>
              <a:t>NodeA</a:t>
            </a:r>
            <a:r>
              <a:rPr lang="en-US" altLang="en-US" dirty="0"/>
              <a:t> { </a:t>
            </a:r>
            <a:r>
              <a:rPr lang="en-US" altLang="en-US" dirty="0" err="1"/>
              <a:t>int</a:t>
            </a:r>
            <a:r>
              <a:rPr lang="en-US" altLang="en-US" dirty="0"/>
              <a:t> data; </a:t>
            </a:r>
            <a:r>
              <a:rPr lang="en-US" altLang="en-US" dirty="0" err="1"/>
              <a:t>struct</a:t>
            </a:r>
            <a:r>
              <a:rPr lang="en-US" altLang="en-US" dirty="0"/>
              <a:t> </a:t>
            </a:r>
            <a:r>
              <a:rPr lang="en-US" altLang="en-US" dirty="0" err="1"/>
              <a:t>NodeA</a:t>
            </a:r>
            <a:r>
              <a:rPr lang="en-US" altLang="en-US" dirty="0"/>
              <a:t>* next; }; </a:t>
            </a:r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430921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Type inference and Type Checking</a:t>
            </a:r>
          </a:p>
        </p:txBody>
      </p:sp>
      <p:pic>
        <p:nvPicPr>
          <p:cNvPr id="76803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2133600"/>
            <a:ext cx="9753600" cy="3352800"/>
          </a:xfrm>
        </p:spPr>
      </p:pic>
    </p:spTree>
    <p:extLst>
      <p:ext uri="{BB962C8B-B14F-4D97-AF65-F5344CB8AC3E}">
        <p14:creationId xmlns:p14="http://schemas.microsoft.com/office/powerpoint/2010/main" val="1524993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77827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62200" y="234951"/>
            <a:ext cx="7740650" cy="6372225"/>
          </a:xfrm>
        </p:spPr>
      </p:pic>
    </p:spTree>
    <p:extLst>
      <p:ext uri="{BB962C8B-B14F-4D97-AF65-F5344CB8AC3E}">
        <p14:creationId xmlns:p14="http://schemas.microsoft.com/office/powerpoint/2010/main" val="1262261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467</Words>
  <Application>Microsoft Office PowerPoint</Application>
  <PresentationFormat>Widescreen</PresentationFormat>
  <Paragraphs>179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Arial</vt:lpstr>
      <vt:lpstr>Calibri</vt:lpstr>
      <vt:lpstr>Calibri Light</vt:lpstr>
      <vt:lpstr>fkGrotesk</vt:lpstr>
      <vt:lpstr>fkGroteskNeue</vt:lpstr>
      <vt:lpstr>Tahoma</vt:lpstr>
      <vt:lpstr>Office Theme</vt:lpstr>
      <vt:lpstr>Semantic Analysis</vt:lpstr>
      <vt:lpstr>Attribute Grammars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Dependency Graph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Synthesized Attribute</vt:lpstr>
      <vt:lpstr>PowerPoint Presentation</vt:lpstr>
      <vt:lpstr>PowerPoint Presentation</vt:lpstr>
      <vt:lpstr>Inherited Attribute</vt:lpstr>
      <vt:lpstr>PowerPoint Presentation</vt:lpstr>
      <vt:lpstr>PowerPoint Presentation</vt:lpstr>
      <vt:lpstr>PowerPoint Presentation</vt:lpstr>
      <vt:lpstr>PowerPoint Presentation</vt:lpstr>
      <vt:lpstr>Attributes as parameters and return values</vt:lpstr>
      <vt:lpstr>PowerPoint Presentation</vt:lpstr>
      <vt:lpstr>PowerPoint Presentation</vt:lpstr>
      <vt:lpstr>PowerPoint Presentation</vt:lpstr>
      <vt:lpstr>Computation of Attribute During Parsing </vt:lpstr>
      <vt:lpstr>L-Atrribute</vt:lpstr>
      <vt:lpstr>PowerPoint Presentation</vt:lpstr>
      <vt:lpstr>Dependence of Attribute Computation on the Syntax</vt:lpstr>
      <vt:lpstr>Type Expressions and Type Constructors</vt:lpstr>
      <vt:lpstr>Type constructors</vt:lpstr>
      <vt:lpstr>    Type Names and Type Declarations</vt:lpstr>
      <vt:lpstr> Struct Type Names and Declarations</vt:lpstr>
      <vt:lpstr> Recursive Type</vt:lpstr>
      <vt:lpstr>Type Equivalence </vt:lpstr>
      <vt:lpstr>PowerPoint Presentation</vt:lpstr>
      <vt:lpstr>PowerPoint Presentation</vt:lpstr>
      <vt:lpstr>PowerPoint Presentation</vt:lpstr>
      <vt:lpstr> Recursive Types and Type Equivalence </vt:lpstr>
      <vt:lpstr>Type inference and Type Checking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Analysis</dc:title>
  <dc:creator>Moazzam Ali</dc:creator>
  <cp:lastModifiedBy>Moazzam Ali</cp:lastModifiedBy>
  <cp:revision>1</cp:revision>
  <dcterms:created xsi:type="dcterms:W3CDTF">2025-04-24T04:59:20Z</dcterms:created>
  <dcterms:modified xsi:type="dcterms:W3CDTF">2025-04-24T04:59:37Z</dcterms:modified>
</cp:coreProperties>
</file>