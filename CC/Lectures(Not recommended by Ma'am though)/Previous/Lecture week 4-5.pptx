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871" r:id="rId1"/>
  </p:sldMasterIdLst>
  <p:notesMasterIdLst>
    <p:notesMasterId r:id="rId34"/>
  </p:notesMasterIdLst>
  <p:handoutMasterIdLst>
    <p:handoutMasterId r:id="rId35"/>
  </p:handoutMasterIdLst>
  <p:sldIdLst>
    <p:sldId id="257" r:id="rId2"/>
    <p:sldId id="266" r:id="rId3"/>
    <p:sldId id="280" r:id="rId4"/>
    <p:sldId id="307" r:id="rId5"/>
    <p:sldId id="281" r:id="rId6"/>
    <p:sldId id="308" r:id="rId7"/>
    <p:sldId id="319" r:id="rId8"/>
    <p:sldId id="320" r:id="rId9"/>
    <p:sldId id="321" r:id="rId10"/>
    <p:sldId id="322" r:id="rId11"/>
    <p:sldId id="323" r:id="rId12"/>
    <p:sldId id="326" r:id="rId13"/>
    <p:sldId id="330" r:id="rId14"/>
    <p:sldId id="331" r:id="rId15"/>
    <p:sldId id="335" r:id="rId16"/>
    <p:sldId id="274" r:id="rId17"/>
    <p:sldId id="275" r:id="rId18"/>
    <p:sldId id="276" r:id="rId19"/>
    <p:sldId id="277" r:id="rId20"/>
    <p:sldId id="278" r:id="rId21"/>
    <p:sldId id="279" r:id="rId22"/>
    <p:sldId id="327" r:id="rId23"/>
    <p:sldId id="287" r:id="rId24"/>
    <p:sldId id="288" r:id="rId25"/>
    <p:sldId id="329" r:id="rId26"/>
    <p:sldId id="332" r:id="rId27"/>
    <p:sldId id="289" r:id="rId28"/>
    <p:sldId id="333" r:id="rId29"/>
    <p:sldId id="334" r:id="rId30"/>
    <p:sldId id="328" r:id="rId31"/>
    <p:sldId id="282" r:id="rId32"/>
    <p:sldId id="260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2" autoAdjust="0"/>
    <p:restoredTop sz="94590" autoAdjust="0"/>
  </p:normalViewPr>
  <p:slideViewPr>
    <p:cSldViewPr>
      <p:cViewPr varScale="1">
        <p:scale>
          <a:sx n="75" d="100"/>
          <a:sy n="75" d="100"/>
        </p:scale>
        <p:origin x="15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5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5BBB41-F13A-195D-C356-F072811B18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5CE78-7030-EAA3-45C9-5AB6DCF334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B1EF7B5-83E4-4542-BCC3-F4888EC2A3CD}" type="datetimeFigureOut">
              <a:rPr lang="en-US"/>
              <a:pPr>
                <a:defRPr/>
              </a:pPr>
              <a:t>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D019C1-E857-5AA5-4530-AC0A96ADF1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63FB5-DB36-C042-BD71-AA8E97F7CE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C04D518-C893-4BF8-9DEC-BE3E3B80627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9EF6407-C8EC-8501-A357-3DF2450CDD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A8C70829-3228-E233-2E74-8AAF91AF412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ECE9E84-69AB-B307-7E56-68A2D74CD7C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2862CA88-828D-B691-7BFE-499C51799DE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6499FC06-1861-6C93-49A6-0F8CB7C5AE4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1892204D-95F9-D4F5-53DE-6B133D5339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5D685ED8-29EA-4E38-902C-175248517A8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9FD5F2B1-46F4-5F15-3F18-4C68BBE51C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903747D4-683F-52D2-7CB8-0F3246F87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D172C84F-237D-A4BD-07B4-AADBF84CC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11E053A-AC1F-48AD-A8B9-27E10AE2D5C1}" type="slidenum">
              <a:rPr lang="ar-SA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9D49A89B-B891-B640-E939-7B3E29DF2C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5DE46C23-E5C9-7473-D4BF-35F3C6719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1F1BD782-9557-1130-C9CE-833DCAF55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CA79B3-140F-4BB4-BE46-CE899A23D354}" type="slidenum">
              <a:rPr lang="ar-SA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B31D-3539-4FAC-A722-39972286F285}" type="slidenum">
              <a:rPr lang="ar-SA" altLang="en-US" smtClean="0"/>
              <a:pPr/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460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E0629-94FB-4AFC-B243-2057DDA521C2}" type="slidenum">
              <a:rPr lang="ar-SA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764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5284-E995-4C49-824B-32FE993C415F}" type="slidenum">
              <a:rPr lang="ar-SA" altLang="en-US" smtClean="0"/>
              <a:pPr/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039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B5A8B-324D-4A0F-AB8F-60B5483304E4}" type="slidenum">
              <a:rPr lang="ar-SA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6687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E44A1-A08A-43B8-852B-F8F05BD12200}" type="slidenum">
              <a:rPr lang="ar-SA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4840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A44F-1D34-4951-A3E0-81C71BA3AE04}" type="slidenum">
              <a:rPr lang="ar-SA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2140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8BBA2-F2E7-4B81-BBE3-3FE141DE70C9}" type="slidenum">
              <a:rPr lang="ar-SA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078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C23055-E7DF-4284-AE6D-6BC7DD259C0B}" type="slidenum">
              <a:rPr lang="ar-SA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3911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D0825-6656-4A08-B47B-19EB91B9C2F3}" type="slidenum">
              <a:rPr lang="ar-SA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249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E520-A703-496E-A17F-A794CDBC4819}" type="slidenum">
              <a:rPr lang="ar-SA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328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F649-46DB-4234-BAA5-5CE5F4714D0D}" type="slidenum">
              <a:rPr lang="ar-SA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3109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C42C67-9F05-4DB0-A3FA-66D350145964}" type="slidenum">
              <a:rPr lang="ar-SA" altLang="en-US" smtClean="0"/>
              <a:pPr/>
              <a:t>‹#›</a:t>
            </a:fld>
            <a:endParaRPr lang="en-US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08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2" r:id="rId1"/>
    <p:sldLayoutId id="2147484873" r:id="rId2"/>
    <p:sldLayoutId id="2147484874" r:id="rId3"/>
    <p:sldLayoutId id="2147484875" r:id="rId4"/>
    <p:sldLayoutId id="2147484876" r:id="rId5"/>
    <p:sldLayoutId id="2147484877" r:id="rId6"/>
    <p:sldLayoutId id="2147484878" r:id="rId7"/>
    <p:sldLayoutId id="2147484879" r:id="rId8"/>
    <p:sldLayoutId id="2147484880" r:id="rId9"/>
    <p:sldLayoutId id="2147484881" r:id="rId10"/>
    <p:sldLayoutId id="2147484882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2DA0708-6B5A-5A5A-DD7C-D8720B9EBAE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82600" y="643467"/>
            <a:ext cx="5373505" cy="557106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5700">
                <a:solidFill>
                  <a:schemeClr val="tx1">
                    <a:alpha val="80000"/>
                  </a:schemeClr>
                </a:solidFill>
              </a:rPr>
              <a:t>Compiler Construction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6215B8E-342C-B1B8-04FA-75D55CAE34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338706" y="643467"/>
            <a:ext cx="2322694" cy="557106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1700" b="1"/>
              <a:t>Lecture week 04-05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E88467FF-E124-63C1-33DD-35B01585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fld id="{8DA00726-7E57-406A-956D-302B67ECC435}" type="slidenum">
              <a:rPr lang="ar-SA" altLang="en-US" sz="1200" smtClean="0">
                <a:latin typeface="Garamond" panose="02020404030301010803" pitchFamily="18" charset="0"/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</a:pPr>
              <a:t>1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E0BB1543-3CA8-B693-AFB3-0D403D0A0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97E5ECA1-DCD1-10F5-1E7E-6498FD646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Garamond" panose="02020404030301010803" pitchFamily="18" charset="0"/>
              <a:buAutoNum type="arabicPeriod"/>
            </a:pPr>
            <a:r>
              <a:rPr lang="en-US" altLang="en-US" sz="2600" dirty="0"/>
              <a:t>Parse Trees &amp; Abstract Syntax Trees</a:t>
            </a:r>
          </a:p>
          <a:p>
            <a:pPr marL="571500" indent="-571500">
              <a:buFont typeface="Garamond" panose="02020404030301010803" pitchFamily="18" charset="0"/>
              <a:buAutoNum type="arabicPeriod"/>
            </a:pPr>
            <a:r>
              <a:rPr lang="en-US" altLang="en-US" sz="2600" dirty="0"/>
              <a:t>Extended Notations: EBNF</a:t>
            </a:r>
          </a:p>
          <a:p>
            <a:pPr marL="571500" indent="-571500">
              <a:buFont typeface="Garamond" panose="02020404030301010803" pitchFamily="18" charset="0"/>
              <a:buAutoNum type="arabicPeriod"/>
            </a:pPr>
            <a:r>
              <a:rPr lang="en-US" altLang="en-US" sz="2600" dirty="0"/>
              <a:t>Syntax Diagram</a:t>
            </a:r>
          </a:p>
          <a:p>
            <a:pPr marL="571500" indent="-571500">
              <a:buFont typeface="Garamond" panose="02020404030301010803" pitchFamily="18" charset="0"/>
              <a:buAutoNum type="arabicPeriod"/>
            </a:pPr>
            <a:r>
              <a:rPr lang="en-US" altLang="en-US" sz="2600" dirty="0"/>
              <a:t>Top-down vs Bottom-up Parsing</a:t>
            </a:r>
          </a:p>
          <a:p>
            <a:pPr marL="571500" indent="-571500">
              <a:buFont typeface="Garamond" panose="02020404030301010803" pitchFamily="18" charset="0"/>
              <a:buAutoNum type="arabicPeriod"/>
            </a:pPr>
            <a:r>
              <a:rPr lang="en-US" altLang="en-US" sz="2600" dirty="0"/>
              <a:t>Removal of Left Recursion</a:t>
            </a:r>
          </a:p>
          <a:p>
            <a:pPr marL="571500" indent="-571500">
              <a:buFont typeface="Garamond" panose="02020404030301010803" pitchFamily="18" charset="0"/>
              <a:buAutoNum type="arabicPeriod"/>
            </a:pPr>
            <a:r>
              <a:rPr lang="en-US" altLang="en-US" sz="2600" dirty="0"/>
              <a:t>Left factoring</a:t>
            </a:r>
          </a:p>
        </p:txBody>
      </p:sp>
      <p:sp>
        <p:nvSpPr>
          <p:cNvPr id="7172" name="Slide Number Placeholder 4">
            <a:extLst>
              <a:ext uri="{FF2B5EF4-FFF2-40B4-BE49-F238E27FC236}">
                <a16:creationId xmlns:a16="http://schemas.microsoft.com/office/drawing/2014/main" id="{D23B38EA-8AD2-47DE-00CD-E2644A87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CC6D71-845E-44E5-8E3A-BB265CFE9821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AF298BAB-9E27-271E-6C6A-59B25EBFA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Parse Trees &amp; Abstract Syntax Trees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AFBB770D-640A-E79B-9C48-47DE806D3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600"/>
              <a:t>Parse Trees</a:t>
            </a:r>
          </a:p>
          <a:p>
            <a:pPr lvl="1"/>
            <a:r>
              <a:rPr lang="en-US" altLang="en-US" sz="2200"/>
              <a:t>A parsed tree corresponding to a derivation is a labeled tree in which </a:t>
            </a:r>
          </a:p>
          <a:p>
            <a:pPr lvl="2"/>
            <a:r>
              <a:rPr lang="en-US" altLang="en-US" sz="1800"/>
              <a:t>the interior nodes are labeled by nonterminals</a:t>
            </a:r>
          </a:p>
          <a:p>
            <a:pPr lvl="2"/>
            <a:r>
              <a:rPr lang="en-US" altLang="en-US" sz="1800"/>
              <a:t>the leaf nodes are labeled by terminals</a:t>
            </a:r>
          </a:p>
          <a:p>
            <a:pPr lvl="2"/>
            <a:r>
              <a:rPr lang="en-US" altLang="en-US" sz="1800"/>
              <a:t>children of each internal node represents the replacement of the associated nonterminal in one step of the derivation</a:t>
            </a:r>
          </a:p>
          <a:p>
            <a:pPr lvl="1"/>
            <a:r>
              <a:rPr lang="en-US" altLang="en-US" sz="2200"/>
              <a:t>The internal nodes can be numbered to show the order of derivation</a:t>
            </a:r>
          </a:p>
          <a:p>
            <a:pPr lvl="1"/>
            <a:r>
              <a:rPr lang="en-US" altLang="en-US" sz="2200"/>
              <a:t>Parse trees can do </a:t>
            </a:r>
            <a:r>
              <a:rPr lang="en-US" altLang="en-US" sz="2200" b="1"/>
              <a:t>left-most derivation</a:t>
            </a:r>
            <a:r>
              <a:rPr lang="en-US" altLang="en-US" sz="2200"/>
              <a:t> as well as </a:t>
            </a:r>
            <a:r>
              <a:rPr lang="en-US" altLang="en-US" sz="2200" b="1"/>
              <a:t>right-most derivation</a:t>
            </a:r>
          </a:p>
        </p:txBody>
      </p:sp>
      <p:sp>
        <p:nvSpPr>
          <p:cNvPr id="10244" name="Slide Number Placeholder 4">
            <a:extLst>
              <a:ext uri="{FF2B5EF4-FFF2-40B4-BE49-F238E27FC236}">
                <a16:creationId xmlns:a16="http://schemas.microsoft.com/office/drawing/2014/main" id="{11C51288-65AA-82A1-13EB-C523E6F7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13F551-2E95-4852-81D9-834B7452FEB3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BBA18F3-AA36-8334-B72C-FBFB2878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Parse Trees &amp; Abstract Syntax Trees </a:t>
            </a:r>
            <a:r>
              <a:rPr lang="en-US" altLang="en-US" sz="2400"/>
              <a:t>(Continue…)</a:t>
            </a:r>
            <a:endParaRPr lang="en-US" altLang="en-US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25BD6EA5-0B6F-4310-13C3-98290B360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581400"/>
            <a:ext cx="8229600" cy="2057400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altLang="en-US" sz="3200"/>
              <a:t>Exercise: </a:t>
            </a:r>
            <a:r>
              <a:rPr lang="en-US" altLang="en-US" sz="2800"/>
              <a:t>Construct a parse tree of expression </a:t>
            </a:r>
          </a:p>
          <a:p>
            <a:pPr marL="695325" lvl="2" indent="-342900"/>
            <a:r>
              <a:rPr lang="en-US" altLang="en-US" sz="2800">
                <a:solidFill>
                  <a:srgbClr val="FF0000"/>
                </a:solidFill>
              </a:rPr>
              <a:t>30 + 45</a:t>
            </a:r>
          </a:p>
          <a:p>
            <a:pPr marL="695325" lvl="2" indent="-342900"/>
            <a:r>
              <a:rPr lang="en-US" altLang="en-US" sz="2800">
                <a:solidFill>
                  <a:srgbClr val="FF0000"/>
                </a:solidFill>
              </a:rPr>
              <a:t>2 - ( 4 + 5 )</a:t>
            </a:r>
          </a:p>
          <a:p>
            <a:pPr marL="695325" lvl="2" indent="-342900"/>
            <a:r>
              <a:rPr lang="en-US" altLang="en-US" sz="2800">
                <a:solidFill>
                  <a:srgbClr val="FF0000"/>
                </a:solidFill>
              </a:rPr>
              <a:t>2 + 4 + 6 * 20</a:t>
            </a:r>
          </a:p>
        </p:txBody>
      </p:sp>
      <p:sp>
        <p:nvSpPr>
          <p:cNvPr id="11268" name="Slide Number Placeholder 4">
            <a:extLst>
              <a:ext uri="{FF2B5EF4-FFF2-40B4-BE49-F238E27FC236}">
                <a16:creationId xmlns:a16="http://schemas.microsoft.com/office/drawing/2014/main" id="{18296397-245C-9E4E-A1F8-B6231BCE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0CF094-FED0-4B3A-BC17-0FC29BF13590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B0B54099-1664-F107-E453-A435E803E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057400"/>
            <a:ext cx="72390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i="1"/>
              <a:t>exp</a:t>
            </a:r>
            <a:r>
              <a:rPr lang="en-US" altLang="en-US" sz="2600"/>
              <a:t>  </a:t>
            </a:r>
            <a:r>
              <a:rPr lang="en-US" altLang="en-US" sz="2600">
                <a:sym typeface="Symbol" panose="05050102010706020507" pitchFamily="18" charset="2"/>
              </a:rPr>
              <a:t></a:t>
            </a:r>
            <a:r>
              <a:rPr lang="en-US" altLang="en-US" sz="2600"/>
              <a:t>  </a:t>
            </a:r>
            <a:r>
              <a:rPr lang="en-US" altLang="en-US" sz="2600" i="1"/>
              <a:t>exp op exp</a:t>
            </a:r>
            <a:r>
              <a:rPr lang="en-US" altLang="en-US" sz="2600"/>
              <a:t> | </a:t>
            </a:r>
            <a:r>
              <a:rPr lang="en-US" altLang="en-US" sz="2600" b="1">
                <a:latin typeface="Courier New" panose="02070309020205020404" pitchFamily="49" charset="0"/>
              </a:rPr>
              <a:t>(</a:t>
            </a:r>
            <a:r>
              <a:rPr lang="en-US" altLang="en-US" sz="2600"/>
              <a:t> </a:t>
            </a:r>
            <a:r>
              <a:rPr lang="en-US" altLang="en-US" sz="2600" i="1"/>
              <a:t>exp </a:t>
            </a:r>
            <a:r>
              <a:rPr lang="en-US" altLang="en-US" sz="2600" b="1">
                <a:latin typeface="Courier New" panose="02070309020205020404" pitchFamily="49" charset="0"/>
              </a:rPr>
              <a:t>)</a:t>
            </a:r>
            <a:r>
              <a:rPr lang="en-US" altLang="en-US" sz="2600"/>
              <a:t> | </a:t>
            </a:r>
            <a:r>
              <a:rPr lang="en-US" altLang="en-US" sz="2600" b="1" i="1">
                <a:latin typeface="Courier New" panose="02070309020205020404" pitchFamily="49" charset="0"/>
              </a:rPr>
              <a:t>number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i="1"/>
              <a:t>op  </a:t>
            </a:r>
            <a:r>
              <a:rPr lang="en-US" altLang="en-US" sz="2600">
                <a:sym typeface="Symbol" panose="05050102010706020507" pitchFamily="18" charset="2"/>
              </a:rPr>
              <a:t></a:t>
            </a:r>
            <a:r>
              <a:rPr lang="en-US" altLang="en-US" sz="2600"/>
              <a:t>  </a:t>
            </a:r>
            <a:r>
              <a:rPr lang="en-US" altLang="en-US" sz="2600" b="1">
                <a:latin typeface="Courier New" panose="02070309020205020404" pitchFamily="49" charset="0"/>
              </a:rPr>
              <a:t>+</a:t>
            </a:r>
            <a:r>
              <a:rPr lang="en-US" altLang="en-US" sz="2600"/>
              <a:t> | </a:t>
            </a:r>
            <a:r>
              <a:rPr lang="en-US" altLang="en-US" sz="2600" b="1">
                <a:latin typeface="Courier New" panose="02070309020205020404" pitchFamily="49" charset="0"/>
              </a:rPr>
              <a:t>-</a:t>
            </a:r>
            <a:r>
              <a:rPr lang="en-US" altLang="en-US" sz="2600"/>
              <a:t> | </a:t>
            </a:r>
            <a:r>
              <a:rPr lang="en-US" altLang="en-US" sz="2600" b="1">
                <a:latin typeface="Courier New" panose="02070309020205020404" pitchFamily="49" charset="0"/>
              </a:rPr>
              <a:t>*</a:t>
            </a:r>
            <a:endParaRPr lang="en-US" altLang="en-US"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6C48AC30-594D-C485-104F-42A035D1E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Parse Trees &amp; Abstract Syntax Trees </a:t>
            </a:r>
            <a:r>
              <a:rPr lang="en-US" altLang="en-US" sz="2400"/>
              <a:t>(Continue…)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ED2F5473-41F2-CF59-5584-55B669A19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600"/>
              <a:t>Abstract Syntax Trees</a:t>
            </a:r>
          </a:p>
          <a:p>
            <a:pPr lvl="1"/>
            <a:r>
              <a:rPr lang="en-US" altLang="en-US" sz="2200"/>
              <a:t>A parse tree contains much more information than is absolutely necessary for a compiler</a:t>
            </a:r>
          </a:p>
          <a:p>
            <a:pPr lvl="1"/>
            <a:r>
              <a:rPr lang="en-US" altLang="en-US" sz="2200"/>
              <a:t>The meanings or semantics of the expression should be directly related to its syntactic structure</a:t>
            </a:r>
          </a:p>
          <a:p>
            <a:pPr lvl="1"/>
            <a:r>
              <a:rPr lang="en-US" altLang="en-US" sz="2200"/>
              <a:t>To imply this (e.g. 3+4) the root represents the operation by adding the values of two child exp sub-trees</a:t>
            </a:r>
          </a:p>
        </p:txBody>
      </p:sp>
      <p:sp>
        <p:nvSpPr>
          <p:cNvPr id="12292" name="Slide Number Placeholder 4">
            <a:extLst>
              <a:ext uri="{FF2B5EF4-FFF2-40B4-BE49-F238E27FC236}">
                <a16:creationId xmlns:a16="http://schemas.microsoft.com/office/drawing/2014/main" id="{DD7C3605-315A-F8F0-4402-31C16298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707B22-73FD-4A6F-83B2-9B39A159886E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4A2C13E9-3F45-3356-BA24-334F75C02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Parse Trees &amp; Abstract Syntax Trees </a:t>
            </a:r>
            <a:r>
              <a:rPr lang="en-US" altLang="en-US" sz="2400"/>
              <a:t>(Continue…)</a:t>
            </a:r>
            <a:endParaRPr lang="en-US" altLang="en-US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E9F6B376-4BFC-9F83-8F81-4073ACBDB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429000"/>
            <a:ext cx="8229600" cy="2514600"/>
          </a:xfrm>
        </p:spPr>
        <p:txBody>
          <a:bodyPr/>
          <a:lstStyle/>
          <a:p>
            <a:r>
              <a:rPr lang="en-US" altLang="en-US"/>
              <a:t>Exercise: Construct AST for the following expressions;</a:t>
            </a:r>
          </a:p>
          <a:p>
            <a:pPr lvl="1"/>
            <a:r>
              <a:rPr lang="en-US" altLang="en-US">
                <a:solidFill>
                  <a:srgbClr val="FF0000"/>
                </a:solidFill>
              </a:rPr>
              <a:t>3 + 4</a:t>
            </a:r>
          </a:p>
          <a:p>
            <a:pPr lvl="1"/>
            <a:r>
              <a:rPr lang="en-US" altLang="en-US">
                <a:solidFill>
                  <a:srgbClr val="FF0000"/>
                </a:solidFill>
              </a:rPr>
              <a:t>( 15 + 10 ) * 4</a:t>
            </a:r>
          </a:p>
          <a:p>
            <a:pPr lvl="1"/>
            <a:r>
              <a:rPr lang="en-US" altLang="en-US">
                <a:solidFill>
                  <a:srgbClr val="FF0000"/>
                </a:solidFill>
              </a:rPr>
              <a:t>( ( 20*15 ) + 4 )</a:t>
            </a:r>
          </a:p>
        </p:txBody>
      </p:sp>
      <p:sp>
        <p:nvSpPr>
          <p:cNvPr id="13316" name="Slide Number Placeholder 4">
            <a:extLst>
              <a:ext uri="{FF2B5EF4-FFF2-40B4-BE49-F238E27FC236}">
                <a16:creationId xmlns:a16="http://schemas.microsoft.com/office/drawing/2014/main" id="{8B925CC4-C129-3358-F1F4-3A84AA4A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2D8165-98B5-41E6-97AC-0750118D9272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A86831E0-2C47-4FDE-6818-E49A50DF5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057400"/>
            <a:ext cx="72390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i="1"/>
              <a:t>exp</a:t>
            </a:r>
            <a:r>
              <a:rPr lang="en-US" altLang="en-US" sz="2600"/>
              <a:t>  </a:t>
            </a:r>
            <a:r>
              <a:rPr lang="en-US" altLang="en-US" sz="2600">
                <a:sym typeface="Symbol" panose="05050102010706020507" pitchFamily="18" charset="2"/>
              </a:rPr>
              <a:t></a:t>
            </a:r>
            <a:r>
              <a:rPr lang="en-US" altLang="en-US" sz="2600"/>
              <a:t>  </a:t>
            </a:r>
            <a:r>
              <a:rPr lang="en-US" altLang="en-US" sz="2600" i="1"/>
              <a:t>exp op exp</a:t>
            </a:r>
            <a:r>
              <a:rPr lang="en-US" altLang="en-US" sz="2600"/>
              <a:t> | </a:t>
            </a:r>
            <a:r>
              <a:rPr lang="en-US" altLang="en-US" sz="2600" b="1">
                <a:latin typeface="Courier New" panose="02070309020205020404" pitchFamily="49" charset="0"/>
              </a:rPr>
              <a:t>(</a:t>
            </a:r>
            <a:r>
              <a:rPr lang="en-US" altLang="en-US" sz="2600"/>
              <a:t> </a:t>
            </a:r>
            <a:r>
              <a:rPr lang="en-US" altLang="en-US" sz="2600" i="1"/>
              <a:t>exp </a:t>
            </a:r>
            <a:r>
              <a:rPr lang="en-US" altLang="en-US" sz="2600" b="1">
                <a:latin typeface="Courier New" panose="02070309020205020404" pitchFamily="49" charset="0"/>
              </a:rPr>
              <a:t>)</a:t>
            </a:r>
            <a:r>
              <a:rPr lang="en-US" altLang="en-US" sz="2600"/>
              <a:t> | </a:t>
            </a:r>
            <a:r>
              <a:rPr lang="en-US" altLang="en-US" sz="2600" b="1" i="1">
                <a:latin typeface="Courier New" panose="02070309020205020404" pitchFamily="49" charset="0"/>
              </a:rPr>
              <a:t>number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i="1"/>
              <a:t>op  </a:t>
            </a:r>
            <a:r>
              <a:rPr lang="en-US" altLang="en-US" sz="2600">
                <a:sym typeface="Symbol" panose="05050102010706020507" pitchFamily="18" charset="2"/>
              </a:rPr>
              <a:t></a:t>
            </a:r>
            <a:r>
              <a:rPr lang="en-US" altLang="en-US" sz="2600"/>
              <a:t>  </a:t>
            </a:r>
            <a:r>
              <a:rPr lang="en-US" altLang="en-US" sz="2600" b="1">
                <a:latin typeface="Courier New" panose="02070309020205020404" pitchFamily="49" charset="0"/>
              </a:rPr>
              <a:t>+</a:t>
            </a:r>
            <a:r>
              <a:rPr lang="en-US" altLang="en-US" sz="2600"/>
              <a:t> | </a:t>
            </a:r>
            <a:r>
              <a:rPr lang="en-US" altLang="en-US" sz="2600" b="1">
                <a:latin typeface="Courier New" panose="02070309020205020404" pitchFamily="49" charset="0"/>
              </a:rPr>
              <a:t>-</a:t>
            </a:r>
            <a:r>
              <a:rPr lang="en-US" altLang="en-US" sz="2600"/>
              <a:t> | </a:t>
            </a:r>
            <a:r>
              <a:rPr lang="en-US" altLang="en-US" sz="2600" b="1">
                <a:latin typeface="Courier New" panose="02070309020205020404" pitchFamily="49" charset="0"/>
              </a:rPr>
              <a:t>*</a:t>
            </a:r>
            <a:endParaRPr lang="en-US" altLang="en-US"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EAF1241F-95E3-2E1F-10D9-BC1A6C7359A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8600" y="277813"/>
            <a:ext cx="8229600" cy="1139825"/>
          </a:xfrm>
        </p:spPr>
        <p:txBody>
          <a:bodyPr/>
          <a:lstStyle/>
          <a:p>
            <a:r>
              <a:rPr lang="en-US" altLang="en-US" dirty="0"/>
              <a:t>Extended BNF (EBNF)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1D6181BE-F256-39B5-4391-DCF08E5AD62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600200"/>
            <a:ext cx="8229600" cy="4530725"/>
          </a:xfrm>
        </p:spPr>
        <p:txBody>
          <a:bodyPr/>
          <a:lstStyle/>
          <a:p>
            <a:r>
              <a:rPr lang="en-US" altLang="en-US" dirty="0"/>
              <a:t>So far: Backus-Naur Form (BNF)</a:t>
            </a:r>
          </a:p>
          <a:p>
            <a:pPr lvl="1"/>
            <a:r>
              <a:rPr lang="en-US" altLang="en-US" dirty="0" err="1"/>
              <a:t>Metasymbols</a:t>
            </a:r>
            <a:r>
              <a:rPr lang="en-US" altLang="en-US" dirty="0"/>
              <a:t> are | </a:t>
            </a:r>
            <a:r>
              <a:rPr lang="en-US" altLang="en-US" dirty="0">
                <a:sym typeface="Symbol" panose="05050102010706020507" pitchFamily="18" charset="2"/>
              </a:rPr>
              <a:t> </a:t>
            </a:r>
          </a:p>
          <a:p>
            <a:r>
              <a:rPr lang="en-US" altLang="en-US" dirty="0"/>
              <a:t>Extended BNF (EBNF):</a:t>
            </a:r>
          </a:p>
          <a:p>
            <a:pPr lvl="1"/>
            <a:r>
              <a:rPr lang="en-US" altLang="en-US" dirty="0"/>
              <a:t>New </a:t>
            </a:r>
            <a:r>
              <a:rPr lang="en-US" altLang="en-US" dirty="0" err="1"/>
              <a:t>metasymbols</a:t>
            </a:r>
            <a:r>
              <a:rPr lang="en-US" altLang="en-US" dirty="0"/>
              <a:t> […] and {…}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 largely eliminated by these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Parenthesis: Grouping:</a:t>
            </a:r>
          </a:p>
          <a:p>
            <a:pPr lvl="1"/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exp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exp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lang="en-US" altLang="en-US" dirty="0">
                <a:latin typeface="Courier New" panose="02070309020205020404" pitchFamily="49" charset="0"/>
                <a:sym typeface="Symbol" panose="05050102010706020507" pitchFamily="18" charset="2"/>
              </a:rPr>
              <a:t>+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dirty="0">
                <a:latin typeface="Courier New" panose="02070309020205020404" pitchFamily="49" charset="0"/>
                <a:sym typeface="Symbol" panose="05050102010706020507" pitchFamily="18" charset="2"/>
              </a:rPr>
              <a:t>-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term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term</a:t>
            </a:r>
            <a:endParaRPr lang="en-US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exp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exp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Courier New" panose="02070309020205020404" pitchFamily="49" charset="0"/>
                <a:sym typeface="Symbol" panose="05050102010706020507" pitchFamily="18" charset="2"/>
              </a:rPr>
              <a:t>+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term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exp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Courier New" panose="02070309020205020404" pitchFamily="49" charset="0"/>
                <a:sym typeface="Symbol" panose="05050102010706020507" pitchFamily="18" charset="2"/>
              </a:rPr>
              <a:t>-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term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term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The , operator: Concatenation 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C25F20EB-7BDC-0932-9F48-F4EE2FD5E48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63C3522E-0738-432A-8740-7835B213E8BB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083A674A-EBE0-E021-34CB-AE5AB5C3A3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7813"/>
            <a:ext cx="8229600" cy="1139825"/>
          </a:xfrm>
        </p:spPr>
        <p:txBody>
          <a:bodyPr/>
          <a:lstStyle/>
          <a:p>
            <a:r>
              <a:rPr lang="en-US" altLang="en-US"/>
              <a:t>EBNF Metasymbols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8CADEBCC-CB8B-9A7F-DFD6-D12C9EAA417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28600" y="1600200"/>
            <a:ext cx="8229600" cy="4530725"/>
          </a:xfrm>
        </p:spPr>
        <p:txBody>
          <a:bodyPr/>
          <a:lstStyle/>
          <a:p>
            <a:r>
              <a:rPr lang="en-US" altLang="en-US" dirty="0"/>
              <a:t>Brackets […] mean “optional” (like ? in regular expressions):</a:t>
            </a:r>
          </a:p>
          <a:p>
            <a:pPr lvl="1"/>
            <a:r>
              <a:rPr lang="en-US" altLang="en-US" i="1" dirty="0">
                <a:latin typeface="Times New Roman" panose="02020603050405020304" pitchFamily="18" charset="0"/>
              </a:rPr>
              <a:t>if-</a:t>
            </a:r>
            <a:r>
              <a:rPr lang="en-US" altLang="en-US" i="1" dirty="0" err="1">
                <a:latin typeface="Times New Roman" panose="02020603050405020304" pitchFamily="18" charset="0"/>
              </a:rPr>
              <a:t>stmt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Courier New" panose="02070309020205020404" pitchFamily="49" charset="0"/>
              </a:rPr>
              <a:t>if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Courier New" panose="02070309020205020404" pitchFamily="49" charset="0"/>
              </a:rPr>
              <a:t>(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</a:rPr>
              <a:t>exp </a:t>
            </a:r>
            <a:r>
              <a:rPr lang="en-US" altLang="en-US" dirty="0">
                <a:latin typeface="Courier New" panose="02070309020205020404" pitchFamily="49" charset="0"/>
              </a:rPr>
              <a:t>)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i="1" dirty="0" err="1">
                <a:latin typeface="Times New Roman" panose="02020603050405020304" pitchFamily="18" charset="0"/>
              </a:rPr>
              <a:t>stmt</a:t>
            </a:r>
            <a:endParaRPr lang="en-US" altLang="en-US" i="1" dirty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	      </a:t>
            </a:r>
            <a:r>
              <a:rPr lang="en-US" altLang="en-US" dirty="0">
                <a:latin typeface="Times New Roman" panose="02020603050405020304" pitchFamily="18" charset="0"/>
              </a:rPr>
              <a:t>| </a:t>
            </a:r>
            <a:r>
              <a:rPr lang="en-US" altLang="en-US" dirty="0">
                <a:latin typeface="Courier New" panose="02070309020205020404" pitchFamily="49" charset="0"/>
              </a:rPr>
              <a:t>if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Courier New" panose="02070309020205020404" pitchFamily="49" charset="0"/>
              </a:rPr>
              <a:t>(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</a:rPr>
              <a:t>exp </a:t>
            </a:r>
            <a:r>
              <a:rPr lang="en-US" altLang="en-US" dirty="0">
                <a:latin typeface="Courier New" panose="02070309020205020404" pitchFamily="49" charset="0"/>
              </a:rPr>
              <a:t>)</a:t>
            </a:r>
            <a:r>
              <a:rPr lang="en-US" altLang="en-US" i="1" dirty="0" err="1">
                <a:latin typeface="Times New Roman" panose="02020603050405020304" pitchFamily="18" charset="0"/>
              </a:rPr>
              <a:t>stmt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Courier New" panose="02070309020205020404" pitchFamily="49" charset="0"/>
              </a:rPr>
              <a:t>else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i="1" dirty="0" err="1">
                <a:latin typeface="Times New Roman" panose="02020603050405020304" pitchFamily="18" charset="0"/>
              </a:rPr>
              <a:t>stmt</a:t>
            </a:r>
            <a:br>
              <a:rPr lang="en-US" altLang="en-US" i="1" dirty="0">
                <a:latin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</a:rPr>
              <a:t>becomes:</a:t>
            </a:r>
            <a:br>
              <a:rPr lang="en-US" altLang="en-US" dirty="0">
                <a:latin typeface="Times New Roman" panose="02020603050405020304" pitchFamily="18" charset="0"/>
              </a:rPr>
            </a:br>
            <a:r>
              <a:rPr lang="en-US" altLang="en-US" i="1" dirty="0">
                <a:latin typeface="Times New Roman" panose="02020603050405020304" pitchFamily="18" charset="0"/>
              </a:rPr>
              <a:t>if-</a:t>
            </a:r>
            <a:r>
              <a:rPr lang="en-US" altLang="en-US" i="1" dirty="0" err="1">
                <a:latin typeface="Times New Roman" panose="02020603050405020304" pitchFamily="18" charset="0"/>
              </a:rPr>
              <a:t>stmt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Courier New" panose="02070309020205020404" pitchFamily="49" charset="0"/>
              </a:rPr>
              <a:t>if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Courier New" panose="02070309020205020404" pitchFamily="49" charset="0"/>
              </a:rPr>
              <a:t>(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</a:rPr>
              <a:t>exp </a:t>
            </a:r>
            <a:r>
              <a:rPr lang="en-US" altLang="en-US" dirty="0">
                <a:latin typeface="Courier New" panose="02070309020205020404" pitchFamily="49" charset="0"/>
              </a:rPr>
              <a:t>)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i="1" dirty="0" err="1">
                <a:latin typeface="Times New Roman" panose="02020603050405020304" pitchFamily="18" charset="0"/>
              </a:rPr>
              <a:t>stmt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Courier New" panose="02070309020205020404" pitchFamily="49" charset="0"/>
              </a:rPr>
              <a:t>else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i="1" dirty="0" err="1">
                <a:latin typeface="Times New Roman" panose="02020603050405020304" pitchFamily="18" charset="0"/>
              </a:rPr>
              <a:t>stmt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]0</a:t>
            </a: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9EF133F2-FAD1-03E8-DBDC-1979AC8432C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F8F46803-0BDB-4A2E-991C-77D03A4C5092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7BFE83D-FBC9-A6D8-135F-B1ACE6488A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7813"/>
            <a:ext cx="8229600" cy="1139825"/>
          </a:xfrm>
        </p:spPr>
        <p:txBody>
          <a:bodyPr/>
          <a:lstStyle/>
          <a:p>
            <a:r>
              <a:rPr lang="en-US" altLang="en-US"/>
              <a:t>EBNF Metasymbols </a:t>
            </a:r>
            <a:r>
              <a:rPr lang="en-US" altLang="en-US" sz="2400"/>
              <a:t>(Continue…)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4F1ED0FB-ADD7-BFE5-3EE4-79D1BD8E70E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81000" y="1600200"/>
            <a:ext cx="8229600" cy="4530725"/>
          </a:xfrm>
        </p:spPr>
        <p:txBody>
          <a:bodyPr/>
          <a:lstStyle/>
          <a:p>
            <a:r>
              <a:rPr lang="en-US" altLang="en-US" dirty="0"/>
              <a:t>Braces {…} mean “repetition” (like * in regular expressions</a:t>
            </a:r>
          </a:p>
          <a:p>
            <a:r>
              <a:rPr lang="en-US" altLang="en-US" dirty="0"/>
              <a:t>Replace </a:t>
            </a:r>
            <a:r>
              <a:rPr lang="en-US" altLang="en-US" i="1" dirty="0"/>
              <a:t>only</a:t>
            </a:r>
            <a:r>
              <a:rPr lang="en-US" altLang="en-US" dirty="0"/>
              <a:t> left-recursive repetition:</a:t>
            </a:r>
          </a:p>
          <a:p>
            <a:pPr lvl="1"/>
            <a:r>
              <a:rPr lang="en-US" altLang="en-US" i="1" dirty="0">
                <a:latin typeface="Times New Roman" panose="02020603050405020304" pitchFamily="18" charset="0"/>
              </a:rPr>
              <a:t>exp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exp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Courier New" panose="02070309020205020404" pitchFamily="49" charset="0"/>
                <a:sym typeface="Symbol" panose="05050102010706020507" pitchFamily="18" charset="2"/>
              </a:rPr>
              <a:t>+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term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term 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becomes:</a:t>
            </a:r>
            <a:b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en-US" i="1" dirty="0">
                <a:latin typeface="Times New Roman" panose="02020603050405020304" pitchFamily="18" charset="0"/>
              </a:rPr>
              <a:t>exp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term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{ </a:t>
            </a:r>
            <a:r>
              <a:rPr lang="en-US" altLang="en-US" dirty="0">
                <a:latin typeface="Courier New" panose="02070309020205020404" pitchFamily="49" charset="0"/>
                <a:sym typeface="Symbol" panose="05050102010706020507" pitchFamily="18" charset="2"/>
              </a:rPr>
              <a:t>+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term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endParaRPr lang="en-US" altLang="en-US" dirty="0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3BEB1F35-5B3F-206B-DE69-1B0022AADC03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81CA77FB-BD46-4255-9BB1-8D9A70417F80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CC0AEAEF-A4D3-AC33-4223-A9F4664499D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7813"/>
            <a:ext cx="8229600" cy="1139825"/>
          </a:xfrm>
        </p:spPr>
        <p:txBody>
          <a:bodyPr/>
          <a:lstStyle/>
          <a:p>
            <a:r>
              <a:rPr lang="en-US" altLang="en-US"/>
              <a:t>Syntax Diagrams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6E50FEE1-3CDF-DB89-5F37-A7EFC1FFE0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4800" y="1600200"/>
            <a:ext cx="8229600" cy="4530725"/>
          </a:xfrm>
        </p:spPr>
        <p:txBody>
          <a:bodyPr>
            <a:normAutofit/>
          </a:bodyPr>
          <a:lstStyle/>
          <a:p>
            <a:r>
              <a:rPr lang="en-US" altLang="en-US" sz="2600" dirty="0"/>
              <a:t>Graphical representation for visually representing EBNF rules are called </a:t>
            </a:r>
            <a:r>
              <a:rPr lang="en-US" altLang="en-US" sz="2600" b="1" dirty="0"/>
              <a:t>syntax diagrams</a:t>
            </a:r>
            <a:endParaRPr lang="en-US" altLang="en-US" sz="2600" dirty="0"/>
          </a:p>
          <a:p>
            <a:r>
              <a:rPr lang="en-US" altLang="en-US" sz="2600" dirty="0"/>
              <a:t>In syntax diagrams</a:t>
            </a:r>
          </a:p>
          <a:p>
            <a:pPr lvl="1"/>
            <a:r>
              <a:rPr lang="en-US" altLang="en-US" sz="2200" dirty="0"/>
              <a:t>Nonterminal labels for each diagram represent the grammar rule defining that nonterminal</a:t>
            </a:r>
          </a:p>
          <a:p>
            <a:pPr lvl="1"/>
            <a:r>
              <a:rPr lang="en-US" altLang="en-US" sz="2200" dirty="0"/>
              <a:t>Arrow lines represent sequence and choices</a:t>
            </a:r>
          </a:p>
          <a:p>
            <a:pPr lvl="1"/>
            <a:r>
              <a:rPr lang="en-US" altLang="en-US" sz="2200" dirty="0"/>
              <a:t>A square or rectangle box is used to indicate non-terminals</a:t>
            </a:r>
          </a:p>
          <a:p>
            <a:pPr lvl="1"/>
            <a:r>
              <a:rPr lang="en-US" altLang="en-US" sz="2200" dirty="0"/>
              <a:t>A round or oval box is used to indicate a terminal</a:t>
            </a:r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6A3AEDD1-A813-82A9-42F5-C416C701EC5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4F1EF47C-300D-45D2-8EBE-0EEBB442A963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C121F0CB-56C1-1F80-C0C2-A535D3FA060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7813"/>
            <a:ext cx="8229600" cy="1139825"/>
          </a:xfrm>
        </p:spPr>
        <p:txBody>
          <a:bodyPr/>
          <a:lstStyle/>
          <a:p>
            <a:r>
              <a:rPr lang="en-US" altLang="en-US"/>
              <a:t>Syntax Diagrams </a:t>
            </a:r>
            <a:r>
              <a:rPr lang="en-US" altLang="en-US" sz="2600"/>
              <a:t>(Continue…)</a:t>
            </a:r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A764D18F-D8CC-494E-6F7C-C388AB1FC85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DFFF5F6B-9BB0-430A-AB11-2FAAE84296CA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graphicFrame>
        <p:nvGraphicFramePr>
          <p:cNvPr id="22532" name="Object 3">
            <a:extLst>
              <a:ext uri="{FF2B5EF4-FFF2-40B4-BE49-F238E27FC236}">
                <a16:creationId xmlns:a16="http://schemas.microsoft.com/office/drawing/2014/main" id="{AE586C40-FEC2-4138-781F-551DE324ED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3810000"/>
          <a:ext cx="7924800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rawing" r:id="rId2" imgW="5505727" imgH="1248269" progId="MSDraw.Drawing.8.1">
                  <p:embed/>
                </p:oleObj>
              </mc:Choice>
              <mc:Fallback>
                <p:oleObj name="Drawing" r:id="rId2" imgW="5505727" imgH="1248269" progId="MSDraw.Drawing.8.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810000"/>
                        <a:ext cx="7924800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3" name="Picture 6" descr="C:\Users\jBillu\Desktop\Untitled.png">
            <a:extLst>
              <a:ext uri="{FF2B5EF4-FFF2-40B4-BE49-F238E27FC236}">
                <a16:creationId xmlns:a16="http://schemas.microsoft.com/office/drawing/2014/main" id="{BB3AB5A4-BDCA-9608-C244-06A38A301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3" y="1447800"/>
            <a:ext cx="8504237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85DB9CE-116E-6147-CABC-2DB362EF6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Syntax Diagrams </a:t>
            </a:r>
            <a:r>
              <a:rPr lang="en-US" altLang="en-US" sz="2600"/>
              <a:t>(Continue…)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5A159CE-3AAA-3EDB-226C-98D265785F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Exercise</a:t>
            </a:r>
          </a:p>
          <a:p>
            <a:pPr lvl="1"/>
            <a:r>
              <a:rPr lang="en-US" altLang="en-US" dirty="0"/>
              <a:t>Draw a syntax diagram for variable declaration</a:t>
            </a:r>
          </a:p>
          <a:p>
            <a:pPr lvl="2"/>
            <a:r>
              <a:rPr lang="en-US" altLang="en-US" dirty="0"/>
              <a:t>e.g. int x;</a:t>
            </a:r>
          </a:p>
          <a:p>
            <a:pPr lvl="2"/>
            <a:r>
              <a:rPr lang="en-US" altLang="en-US" dirty="0"/>
              <a:t>e.g. int </a:t>
            </a:r>
            <a:r>
              <a:rPr lang="en-US" altLang="en-US" dirty="0" err="1"/>
              <a:t>x,y</a:t>
            </a:r>
            <a:r>
              <a:rPr lang="en-US" altLang="en-US" dirty="0"/>
              <a:t>;</a:t>
            </a:r>
          </a:p>
          <a:p>
            <a:pPr lvl="2"/>
            <a:r>
              <a:rPr lang="en-US" altLang="en-US" dirty="0"/>
              <a:t>e.g. int x=10,y=20,z;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26418-6237-720F-FACB-D973DB7E9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DF0F5-5F85-2C94-BD8F-FBDAE2BDF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Basic types of Parsers: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 down Parsing (start from start variable and ends on leaves)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Recursive Descent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LL(1) Parser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Bottom up Parsing (start from terminals and ends on start variable)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Precedence Parsers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buFont typeface="+mj-lt"/>
              <a:buAutoNum type="roman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Simple Precedence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buFont typeface="+mj-lt"/>
              <a:buAutoNum type="roman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LR Parsers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SLR</a:t>
            </a:r>
          </a:p>
          <a:p>
            <a:pPr marL="1143000" marR="0" lvl="2" indent="-228600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LALR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23A14-DF60-C454-BB5D-ADFDC2B2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E0629-94FB-4AFC-B243-2057DDA521C2}" type="slidenum">
              <a:rPr lang="ar-SA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20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60DD5-F45A-D359-A83D-6FA436F64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D2E18-6534-DBBF-1802-8D186F92C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78866"/>
          </a:xfrm>
        </p:spPr>
        <p:txBody>
          <a:bodyPr>
            <a:normAutofit fontScale="25000" lnSpcReduction="20000"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6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 DOWN PARSER:</a:t>
            </a:r>
          </a:p>
          <a:p>
            <a:pPr marL="342900" marR="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US" sz="6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 from start variable and ends on leaves</a:t>
            </a:r>
          </a:p>
          <a:p>
            <a:pPr marL="342900" marR="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US" sz="6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operation </a:t>
            </a:r>
            <a:r>
              <a:rPr lang="en-US" sz="6400" dirty="0">
                <a:effectLst/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à</a:t>
            </a:r>
            <a:r>
              <a:rPr lang="en-US" sz="6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Generation/ Substitution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sz="6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Left most derivation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6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BOTTOM UP PARSER:</a:t>
            </a:r>
          </a:p>
          <a:p>
            <a:pPr marL="342900" marR="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US" sz="6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 from leaves and ends on Start variable</a:t>
            </a:r>
          </a:p>
          <a:p>
            <a:pPr marL="342900" marR="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US" sz="6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Reverse of Right most derivation</a:t>
            </a:r>
          </a:p>
          <a:p>
            <a:pPr marL="342900" marR="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US" sz="6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operations</a:t>
            </a:r>
          </a:p>
          <a:p>
            <a:pPr marL="742950" marR="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6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Shift (Reads input string)</a:t>
            </a:r>
          </a:p>
          <a:p>
            <a:pPr marL="742950" marR="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6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 (String of symbols are replaced with non-terminal)</a:t>
            </a:r>
          </a:p>
          <a:p>
            <a:pPr marL="342900" marR="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US" sz="6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Stopping criteria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6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stop when we reach the start variable and complete input string is read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E4678-3A30-E08D-44F4-329F0D48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E0629-94FB-4AFC-B243-2057DDA521C2}" type="slidenum">
              <a:rPr lang="ar-SA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0340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655A-8312-7B7B-453D-8800D1DC2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856396"/>
          </a:xfrm>
        </p:spPr>
        <p:txBody>
          <a:bodyPr>
            <a:noAutofit/>
          </a:bodyPr>
          <a:lstStyle/>
          <a:p>
            <a:r>
              <a:rPr lang="en-US" sz="3000" dirty="0"/>
              <a:t>Difference between Top-down and Bottom-up Parsing</a:t>
            </a:r>
          </a:p>
        </p:txBody>
      </p:sp>
      <p:pic>
        <p:nvPicPr>
          <p:cNvPr id="6" name="Content Placeholder 5" descr="A notebook with writing on it&#10;&#10;AI-generated content may be incorrect.">
            <a:extLst>
              <a:ext uri="{FF2B5EF4-FFF2-40B4-BE49-F238E27FC236}">
                <a16:creationId xmlns:a16="http://schemas.microsoft.com/office/drawing/2014/main" id="{91198150-337D-8EB8-0082-F05EA1E1B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258055"/>
            <a:ext cx="6126982" cy="503587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4FC98-F8A6-B0FD-9809-FE7264570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E0629-94FB-4AFC-B243-2057DDA521C2}" type="slidenum">
              <a:rPr lang="ar-SA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3316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>
            <a:extLst>
              <a:ext uri="{FF2B5EF4-FFF2-40B4-BE49-F238E27FC236}">
                <a16:creationId xmlns:a16="http://schemas.microsoft.com/office/drawing/2014/main" id="{0394E644-1508-5805-7A87-487757EA77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800E44-B67E-439E-AB01-15D2E1531CB0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7171" name="Title 1">
            <a:extLst>
              <a:ext uri="{FF2B5EF4-FFF2-40B4-BE49-F238E27FC236}">
                <a16:creationId xmlns:a16="http://schemas.microsoft.com/office/drawing/2014/main" id="{1E0C9910-3EEE-AD2D-DC93-D62AF5ED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Top-Down Parsing</a:t>
            </a:r>
          </a:p>
        </p:txBody>
      </p:sp>
      <p:sp>
        <p:nvSpPr>
          <p:cNvPr id="7172" name="Content Placeholder 2">
            <a:extLst>
              <a:ext uri="{FF2B5EF4-FFF2-40B4-BE49-F238E27FC236}">
                <a16:creationId xmlns:a16="http://schemas.microsoft.com/office/drawing/2014/main" id="{31B419CF-A1A4-1094-7B10-0DAA103F0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/>
              <a:t>A top-down parsing algorithm parses an input string of tokens by tracing out the steps in left-most derivation</a:t>
            </a:r>
          </a:p>
          <a:p>
            <a:pPr lvl="1"/>
            <a:r>
              <a:rPr lang="en-US" altLang="en-US" sz="2200"/>
              <a:t>Parse trees implies preorder tree traversals</a:t>
            </a:r>
          </a:p>
          <a:p>
            <a:r>
              <a:rPr lang="en-US" altLang="en-US" sz="2600"/>
              <a:t>Top-down parsers come in two forms; </a:t>
            </a:r>
            <a:r>
              <a:rPr lang="en-US" altLang="en-US" sz="2600" b="1"/>
              <a:t>backtracking parsers</a:t>
            </a:r>
            <a:r>
              <a:rPr lang="en-US" altLang="en-US" sz="2600"/>
              <a:t> and </a:t>
            </a:r>
            <a:r>
              <a:rPr lang="en-US" altLang="en-US" sz="2600" b="1"/>
              <a:t>predictive parsers</a:t>
            </a:r>
          </a:p>
          <a:p>
            <a:pPr lvl="1"/>
            <a:r>
              <a:rPr lang="en-US" altLang="en-US" sz="2200"/>
              <a:t>A predictive parser attempts to predict the next construction in the input string using one or more lookahead tokens</a:t>
            </a:r>
          </a:p>
          <a:p>
            <a:pPr lvl="1"/>
            <a:r>
              <a:rPr lang="en-US" altLang="en-US" sz="2200"/>
              <a:t>A backtracking parser will try different possibilities for a parse of the input, backing up an arbitrary amount in the input if one possibility fails </a:t>
            </a:r>
          </a:p>
        </p:txBody>
      </p:sp>
      <p:sp>
        <p:nvSpPr>
          <p:cNvPr id="7173" name="Slide Number Placeholder 3">
            <a:extLst>
              <a:ext uri="{FF2B5EF4-FFF2-40B4-BE49-F238E27FC236}">
                <a16:creationId xmlns:a16="http://schemas.microsoft.com/office/drawing/2014/main" id="{A659D1D9-250D-AC8D-BAB5-94FD40B5A59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639979CC-B7B1-4A9B-8208-845A68C44997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B8FC29E3-19AC-D452-5F79-B205C207C9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A2864D-5D51-4A13-AF21-AEB4EFFECEB5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8195" name="Title 1">
            <a:extLst>
              <a:ext uri="{FF2B5EF4-FFF2-40B4-BE49-F238E27FC236}">
                <a16:creationId xmlns:a16="http://schemas.microsoft.com/office/drawing/2014/main" id="{167978AE-153E-22FA-2E1A-2858C43E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Top-Down Parsing </a:t>
            </a:r>
            <a:r>
              <a:rPr lang="en-US" altLang="en-US" sz="2400"/>
              <a:t>(Continue…)</a:t>
            </a:r>
          </a:p>
        </p:txBody>
      </p:sp>
      <p:sp>
        <p:nvSpPr>
          <p:cNvPr id="8196" name="Content Placeholder 2">
            <a:extLst>
              <a:ext uri="{FF2B5EF4-FFF2-40B4-BE49-F238E27FC236}">
                <a16:creationId xmlns:a16="http://schemas.microsoft.com/office/drawing/2014/main" id="{3B657D39-0C8C-866A-8633-CA61CCC73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/>
              <a:t>Backtracking parsers are more powerful than predictive parsers</a:t>
            </a:r>
          </a:p>
          <a:p>
            <a:r>
              <a:rPr lang="en-US" altLang="en-US" sz="2600"/>
              <a:t>Backtracking parsers are much slower, requiring exponential time in general and, therefore, are unusable for practical compilers</a:t>
            </a:r>
          </a:p>
          <a:p>
            <a:r>
              <a:rPr lang="en-US" altLang="en-US" sz="2600"/>
              <a:t>Two popular top-down parsing algorithms</a:t>
            </a:r>
          </a:p>
          <a:p>
            <a:pPr marL="800100" lvl="1" indent="-457200">
              <a:buFont typeface="Garamond" panose="02020404030301010803" pitchFamily="18" charset="0"/>
              <a:buAutoNum type="arabicPeriod"/>
            </a:pPr>
            <a:r>
              <a:rPr lang="en-US" altLang="en-US" sz="2200"/>
              <a:t>Recursive-Descent Parsing</a:t>
            </a:r>
          </a:p>
          <a:p>
            <a:pPr marL="800100" lvl="1" indent="-457200">
              <a:buFont typeface="Garamond" panose="02020404030301010803" pitchFamily="18" charset="0"/>
              <a:buAutoNum type="arabicPeriod"/>
            </a:pPr>
            <a:r>
              <a:rPr lang="en-US" altLang="en-US" sz="2200"/>
              <a:t>LL(1)  Parsing</a:t>
            </a:r>
          </a:p>
        </p:txBody>
      </p:sp>
      <p:sp>
        <p:nvSpPr>
          <p:cNvPr id="8197" name="Slide Number Placeholder 3">
            <a:extLst>
              <a:ext uri="{FF2B5EF4-FFF2-40B4-BE49-F238E27FC236}">
                <a16:creationId xmlns:a16="http://schemas.microsoft.com/office/drawing/2014/main" id="{538C3C1C-0E02-1497-D344-50458D72C07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CBDE355E-85DC-4040-A757-7129CCE2FF8E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F84DD262-07A7-DB13-ED34-68ABD81450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203A69-B5B8-440D-8879-C7A2268A7F56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9219" name="Title 1">
            <a:extLst>
              <a:ext uri="{FF2B5EF4-FFF2-40B4-BE49-F238E27FC236}">
                <a16:creationId xmlns:a16="http://schemas.microsoft.com/office/drawing/2014/main" id="{DF13BBA6-2EFC-0725-C082-37151FFE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Recursive Decent Parsing</a:t>
            </a:r>
          </a:p>
        </p:txBody>
      </p:sp>
      <p:sp>
        <p:nvSpPr>
          <p:cNvPr id="9220" name="Content Placeholder 2">
            <a:extLst>
              <a:ext uri="{FF2B5EF4-FFF2-40B4-BE49-F238E27FC236}">
                <a16:creationId xmlns:a16="http://schemas.microsoft.com/office/drawing/2014/main" id="{358D73E8-0C4E-2E0A-DAD0-887C75C8E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/>
              <a:t>The idea of Recursive Decent Algorithm is simple;</a:t>
            </a:r>
          </a:p>
          <a:p>
            <a:pPr lvl="1"/>
            <a:r>
              <a:rPr lang="en-US" altLang="en-US" sz="2200"/>
              <a:t>We view the grammar rule for a nonterminal A as a definition for a procedure that will recognize an A</a:t>
            </a:r>
          </a:p>
          <a:p>
            <a:pPr lvl="1"/>
            <a:r>
              <a:rPr lang="en-US" altLang="en-US" sz="2200"/>
              <a:t>The right hand side of the grammar rule for A specifies the structure of the code for this procedure</a:t>
            </a:r>
          </a:p>
          <a:p>
            <a:pPr lvl="1"/>
            <a:r>
              <a:rPr lang="en-US" altLang="en-US" sz="2200"/>
              <a:t>The sequence of terminals on RHS correspond to matches of input</a:t>
            </a:r>
          </a:p>
          <a:p>
            <a:pPr lvl="1"/>
            <a:r>
              <a:rPr lang="en-US" altLang="en-US" sz="2200"/>
              <a:t>The sequence of non terminals on RHS correspond to call to other procedures</a:t>
            </a:r>
          </a:p>
          <a:p>
            <a:pPr lvl="1"/>
            <a:r>
              <a:rPr lang="en-US" altLang="en-US" sz="2200"/>
              <a:t>The choices on RHS correspond to alternatives (case or if-statements) within the code</a:t>
            </a:r>
          </a:p>
        </p:txBody>
      </p:sp>
      <p:sp>
        <p:nvSpPr>
          <p:cNvPr id="9221" name="Slide Number Placeholder 3">
            <a:extLst>
              <a:ext uri="{FF2B5EF4-FFF2-40B4-BE49-F238E27FC236}">
                <a16:creationId xmlns:a16="http://schemas.microsoft.com/office/drawing/2014/main" id="{2BF3C679-26B4-DC02-2E14-8A58EB3FD7F9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3FCAEF1A-4FF6-4DAE-8848-E5B6FE272523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4C80572F-D40B-92EE-E8A6-909844D442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6CC317-B0E6-47B3-B9AF-DD63EC408D53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0243" name="Title 1">
            <a:extLst>
              <a:ext uri="{FF2B5EF4-FFF2-40B4-BE49-F238E27FC236}">
                <a16:creationId xmlns:a16="http://schemas.microsoft.com/office/drawing/2014/main" id="{F15ACE04-CF97-E110-4249-6C17D2E55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Recursive Decent Example</a:t>
            </a:r>
          </a:p>
        </p:txBody>
      </p:sp>
      <p:sp>
        <p:nvSpPr>
          <p:cNvPr id="10244" name="Content Placeholder 2">
            <a:extLst>
              <a:ext uri="{FF2B5EF4-FFF2-40B4-BE49-F238E27FC236}">
                <a16:creationId xmlns:a16="http://schemas.microsoft.com/office/drawing/2014/main" id="{C9B45F67-330C-C766-CEED-D2B0D09BE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600"/>
              <a:t>Grammar rule: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i="1"/>
              <a:t>		factor </a:t>
            </a:r>
            <a:r>
              <a:rPr lang="en-US" altLang="en-US" sz="2200">
                <a:sym typeface="Symbol" panose="05050102010706020507" pitchFamily="18" charset="2"/>
              </a:rPr>
              <a:t></a:t>
            </a:r>
            <a:r>
              <a:rPr lang="en-US" altLang="en-US" sz="2200"/>
              <a:t> </a:t>
            </a:r>
            <a:r>
              <a:rPr lang="en-US" altLang="en-US" sz="2200">
                <a:latin typeface="Courier New" panose="02070309020205020404" pitchFamily="49" charset="0"/>
              </a:rPr>
              <a:t>(</a:t>
            </a:r>
            <a:r>
              <a:rPr lang="en-US" altLang="en-US" sz="2200"/>
              <a:t> </a:t>
            </a:r>
            <a:r>
              <a:rPr lang="en-US" altLang="en-US" sz="2200" i="1"/>
              <a:t>exp </a:t>
            </a:r>
            <a:r>
              <a:rPr lang="en-US" altLang="en-US" sz="2200">
                <a:latin typeface="Courier New" panose="02070309020205020404" pitchFamily="49" charset="0"/>
              </a:rPr>
              <a:t>)</a:t>
            </a:r>
            <a:r>
              <a:rPr lang="en-US" altLang="en-US" sz="2200"/>
              <a:t> | </a:t>
            </a:r>
            <a:r>
              <a:rPr lang="en-US" altLang="en-US" sz="2200" i="1">
                <a:latin typeface="Courier New" panose="02070309020205020404" pitchFamily="49" charset="0"/>
              </a:rPr>
              <a:t>number</a:t>
            </a:r>
            <a:endParaRPr lang="en-US" altLang="en-US" sz="220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600"/>
              <a:t>Code:</a:t>
            </a:r>
          </a:p>
          <a:p>
            <a:pPr lvl="2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void factor(void) {</a:t>
            </a:r>
          </a:p>
          <a:p>
            <a:pPr lvl="2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  if(token == </a:t>
            </a:r>
            <a:r>
              <a:rPr lang="en-US" altLang="en-US" i="1">
                <a:latin typeface="Courier New" panose="02070309020205020404" pitchFamily="49" charset="0"/>
              </a:rPr>
              <a:t>number</a:t>
            </a:r>
            <a:r>
              <a:rPr lang="en-US" altLang="en-US">
                <a:latin typeface="Courier New" panose="02070309020205020404" pitchFamily="49" charset="0"/>
              </a:rPr>
              <a:t>) </a:t>
            </a:r>
          </a:p>
          <a:p>
            <a:pPr lvl="2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    match(</a:t>
            </a:r>
            <a:r>
              <a:rPr lang="en-US" altLang="en-US" i="1">
                <a:latin typeface="Courier New" panose="02070309020205020404" pitchFamily="49" charset="0"/>
              </a:rPr>
              <a:t>number</a:t>
            </a:r>
            <a:r>
              <a:rPr lang="en-US" altLang="en-US">
                <a:latin typeface="Courier New" panose="02070309020205020404" pitchFamily="49" charset="0"/>
              </a:rPr>
              <a:t>);</a:t>
            </a:r>
          </a:p>
          <a:p>
            <a:pPr lvl="2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  else {</a:t>
            </a:r>
          </a:p>
          <a:p>
            <a:pPr lvl="2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    match(‘(‘);</a:t>
            </a:r>
          </a:p>
          <a:p>
            <a:pPr lvl="2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    exp();</a:t>
            </a:r>
          </a:p>
          <a:p>
            <a:pPr lvl="2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    match(‘)’);</a:t>
            </a:r>
          </a:p>
          <a:p>
            <a:pPr lvl="2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  }</a:t>
            </a:r>
          </a:p>
          <a:p>
            <a:pPr lvl="2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245" name="Slide Number Placeholder 3">
            <a:extLst>
              <a:ext uri="{FF2B5EF4-FFF2-40B4-BE49-F238E27FC236}">
                <a16:creationId xmlns:a16="http://schemas.microsoft.com/office/drawing/2014/main" id="{990D1A8F-3352-0F5D-3E52-ADEB6EC96C0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6C7D63E2-EAA8-4C4B-BB4B-A77705867D6A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>
            <a:extLst>
              <a:ext uri="{FF2B5EF4-FFF2-40B4-BE49-F238E27FC236}">
                <a16:creationId xmlns:a16="http://schemas.microsoft.com/office/drawing/2014/main" id="{67734860-18F5-4D17-C599-65F6648A4B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8FD150-B23C-404E-8B38-5676C8E10463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1267" name="Title 1">
            <a:extLst>
              <a:ext uri="{FF2B5EF4-FFF2-40B4-BE49-F238E27FC236}">
                <a16:creationId xmlns:a16="http://schemas.microsoft.com/office/drawing/2014/main" id="{0B89EFF2-000D-2485-8FCE-D760AE35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Recursive Decent Example </a:t>
            </a:r>
            <a:r>
              <a:rPr lang="en-US" altLang="en-US" sz="2600"/>
              <a:t>(Discussion)</a:t>
            </a:r>
          </a:p>
        </p:txBody>
      </p:sp>
      <p:sp>
        <p:nvSpPr>
          <p:cNvPr id="11268" name="Content Placeholder 2">
            <a:extLst>
              <a:ext uri="{FF2B5EF4-FFF2-40B4-BE49-F238E27FC236}">
                <a16:creationId xmlns:a16="http://schemas.microsoft.com/office/drawing/2014/main" id="{B76BCFCE-0A22-806F-2AE8-343FB5713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/>
              <a:t>How lookahead is not a problem in this example?</a:t>
            </a:r>
          </a:p>
          <a:p>
            <a:pPr lvl="1"/>
            <a:r>
              <a:rPr lang="en-US" altLang="en-US" sz="2200"/>
              <a:t>if the token is </a:t>
            </a:r>
            <a:r>
              <a:rPr lang="en-US" altLang="en-US" sz="2200" i="1"/>
              <a:t>number</a:t>
            </a:r>
            <a:r>
              <a:rPr lang="en-US" altLang="en-US" sz="2200"/>
              <a:t>, go one way, if the token is ‘(‘ go the other, and if the token is neither, declare error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200"/>
          </a:p>
          <a:p>
            <a:pPr lvl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void match(Token expect) {</a:t>
            </a:r>
          </a:p>
          <a:p>
            <a:pPr lvl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if (token == expect) </a:t>
            </a:r>
          </a:p>
          <a:p>
            <a:pPr lvl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 getToken();</a:t>
            </a:r>
          </a:p>
          <a:p>
            <a:pPr lvl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  else</a:t>
            </a:r>
          </a:p>
          <a:p>
            <a:pPr lvl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 error(token,expect);</a:t>
            </a:r>
          </a:p>
          <a:p>
            <a:pPr lvl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  <a:p>
            <a:endParaRPr lang="en-US" altLang="en-US"/>
          </a:p>
        </p:txBody>
      </p:sp>
      <p:sp>
        <p:nvSpPr>
          <p:cNvPr id="11269" name="Slide Number Placeholder 3">
            <a:extLst>
              <a:ext uri="{FF2B5EF4-FFF2-40B4-BE49-F238E27FC236}">
                <a16:creationId xmlns:a16="http://schemas.microsoft.com/office/drawing/2014/main" id="{0D02EC97-F4E9-92B4-6C34-A642415D608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C8EDA7F-4B83-42E3-87A0-2FD21FAFAB29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>
            <a:extLst>
              <a:ext uri="{FF2B5EF4-FFF2-40B4-BE49-F238E27FC236}">
                <a16:creationId xmlns:a16="http://schemas.microsoft.com/office/drawing/2014/main" id="{3253DA64-B6F0-4479-6EAB-612FF1C82E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FE33056-678D-4CEF-8568-7BAED154098D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2291" name="Title 1">
            <a:extLst>
              <a:ext uri="{FF2B5EF4-FFF2-40B4-BE49-F238E27FC236}">
                <a16:creationId xmlns:a16="http://schemas.microsoft.com/office/drawing/2014/main" id="{425D84BE-9C60-0C1A-1DF6-CE6B680ED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Error Handling in RD is Tricky!</a:t>
            </a:r>
          </a:p>
        </p:txBody>
      </p:sp>
      <p:sp>
        <p:nvSpPr>
          <p:cNvPr id="12292" name="Content Placeholder 2">
            <a:extLst>
              <a:ext uri="{FF2B5EF4-FFF2-40B4-BE49-F238E27FC236}">
                <a16:creationId xmlns:a16="http://schemas.microsoft.com/office/drawing/2014/main" id="{0310C60C-6FA0-DF7B-D2F7-11167CBD3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/>
              <a:t>If an error occurs, we must somehow gracefully exit possibly many recursive calls</a:t>
            </a:r>
          </a:p>
          <a:p>
            <a:r>
              <a:rPr lang="en-US" altLang="en-US" sz="2600"/>
              <a:t>Best solution: use exception handling to manage </a:t>
            </a:r>
            <a:r>
              <a:rPr lang="en-US" altLang="en-US" sz="2600" b="1"/>
              <a:t>stack unwinding </a:t>
            </a:r>
            <a:r>
              <a:rPr lang="en-US" altLang="en-US" sz="2600"/>
              <a:t>(which C doesn’t have!)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600"/>
          </a:p>
          <a:p>
            <a:r>
              <a:rPr lang="en-US" altLang="en-US" sz="2600"/>
              <a:t>But there are worse problems: left recursion doesn’t work!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600"/>
          </a:p>
        </p:txBody>
      </p:sp>
      <p:sp>
        <p:nvSpPr>
          <p:cNvPr id="12293" name="Slide Number Placeholder 3">
            <a:extLst>
              <a:ext uri="{FF2B5EF4-FFF2-40B4-BE49-F238E27FC236}">
                <a16:creationId xmlns:a16="http://schemas.microsoft.com/office/drawing/2014/main" id="{E853115B-6AB1-AEA5-14FC-9E38C7C5AE8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F1055052-AFAD-4E89-AE5D-CD1800B1CDD5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8FDA5BB5-810A-0FC7-B7C2-19C355DE47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7798E2-DA36-4EF1-BAAF-096AEBD8E300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3315" name="Title 1">
            <a:extLst>
              <a:ext uri="{FF2B5EF4-FFF2-40B4-BE49-F238E27FC236}">
                <a16:creationId xmlns:a16="http://schemas.microsoft.com/office/drawing/2014/main" id="{D3ADBCAB-0A39-4763-98C5-C94F93765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Left Recursion is Impossible</a:t>
            </a:r>
          </a:p>
        </p:txBody>
      </p:sp>
      <p:sp>
        <p:nvSpPr>
          <p:cNvPr id="13316" name="Content Placeholder 2">
            <a:extLst>
              <a:ext uri="{FF2B5EF4-FFF2-40B4-BE49-F238E27FC236}">
                <a16:creationId xmlns:a16="http://schemas.microsoft.com/office/drawing/2014/main" id="{750564C5-3E15-5AB9-EF0F-450DBC9BB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sz="2600"/>
              <a:t>Grammar</a:t>
            </a:r>
            <a:endParaRPr lang="en-US" altLang="en-US" sz="2600" i="1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i="1">
                <a:latin typeface="Courier New" panose="02070309020205020404" pitchFamily="49" charset="0"/>
                <a:cs typeface="Courier New" panose="02070309020205020404" pitchFamily="49" charset="0"/>
              </a:rPr>
              <a:t>		exp </a:t>
            </a: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00" i="1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00" i="1">
                <a:latin typeface="Courier New" panose="02070309020205020404" pitchFamily="49" charset="0"/>
                <a:cs typeface="Courier New" panose="02070309020205020404" pitchFamily="49" charset="0"/>
              </a:rPr>
              <a:t>addop</a:t>
            </a: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00" i="1">
                <a:latin typeface="Courier New" panose="02070309020205020404" pitchFamily="49" charset="0"/>
                <a:cs typeface="Courier New" panose="02070309020205020404" pitchFamily="49" charset="0"/>
              </a:rPr>
              <a:t>term</a:t>
            </a: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altLang="en-US" sz="2200" i="1">
                <a:latin typeface="Courier New" panose="02070309020205020404" pitchFamily="49" charset="0"/>
                <a:cs typeface="Courier New" panose="02070309020205020404" pitchFamily="49" charset="0"/>
              </a:rPr>
              <a:t>term</a:t>
            </a:r>
          </a:p>
          <a:p>
            <a:r>
              <a:rPr lang="en-US" altLang="en-US" sz="2600"/>
              <a:t>Code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void exp(void)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	  if (token == ??)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 	exp(); // uh, oh!!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 	addop();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 	term();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	  } else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  	term();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13317" name="Slide Number Placeholder 3">
            <a:extLst>
              <a:ext uri="{FF2B5EF4-FFF2-40B4-BE49-F238E27FC236}">
                <a16:creationId xmlns:a16="http://schemas.microsoft.com/office/drawing/2014/main" id="{3F8D531E-35F9-F193-439C-61CCAA56C25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E36D42B-2E07-4654-8E22-8CEA8B8B1552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>
            <a:extLst>
              <a:ext uri="{FF2B5EF4-FFF2-40B4-BE49-F238E27FC236}">
                <a16:creationId xmlns:a16="http://schemas.microsoft.com/office/drawing/2014/main" id="{D2161127-E968-187C-0499-D50D4103CA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6F147F-A7B1-422D-A2FC-B4F3FE064958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4339" name="Title 1">
            <a:extLst>
              <a:ext uri="{FF2B5EF4-FFF2-40B4-BE49-F238E27FC236}">
                <a16:creationId xmlns:a16="http://schemas.microsoft.com/office/drawing/2014/main" id="{84FF8FCE-D78D-C73F-C022-59B659950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Repetition &amp; Choice: Using EBNF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E0CF4028-D8BD-631C-49B4-267900EAB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600"/>
              <a:t>Consider the following grammar and try to write its pseudo code for recursive descent;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/>
              <a:t>	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if-stmt</a:t>
            </a:r>
            <a:r>
              <a:rPr lang="en-US" altLang="en-US" sz="2400"/>
              <a:t> </a:t>
            </a:r>
            <a:r>
              <a:rPr lang="en-US" altLang="en-US" sz="2400">
                <a:sym typeface="Symbol" panose="05050102010706020507" pitchFamily="18" charset="2"/>
              </a:rPr>
              <a:t> </a:t>
            </a:r>
            <a:r>
              <a:rPr lang="en-US" altLang="en-US" sz="2400" b="1">
                <a:sym typeface="Symbol" panose="05050102010706020507" pitchFamily="18" charset="2"/>
              </a:rPr>
              <a:t>if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exp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 b="1">
                <a:sym typeface="Symbol" panose="05050102010706020507" pitchFamily="18" charset="2"/>
              </a:rPr>
              <a:t>)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statement</a:t>
            </a:r>
            <a:r>
              <a:rPr lang="en-US" altLang="en-US" sz="2400">
                <a:sym typeface="Symbol" panose="05050102010706020507" pitchFamily="18" charset="2"/>
              </a:rPr>
              <a:t> |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sym typeface="Symbol" panose="05050102010706020507" pitchFamily="18" charset="2"/>
              </a:rPr>
              <a:t>	               i</a:t>
            </a:r>
            <a:r>
              <a:rPr lang="en-US" altLang="en-US" sz="2400" b="1">
                <a:sym typeface="Symbol" panose="05050102010706020507" pitchFamily="18" charset="2"/>
              </a:rPr>
              <a:t>f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exp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 b="1">
                <a:sym typeface="Symbol" panose="05050102010706020507" pitchFamily="18" charset="2"/>
              </a:rPr>
              <a:t>)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statement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 b="1">
                <a:sym typeface="Symbol" panose="05050102010706020507" pitchFamily="18" charset="2"/>
              </a:rPr>
              <a:t>else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statement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60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en-US" sz="2600">
                <a:cs typeface="Times New Roman" panose="02020603050405020304" pitchFamily="18" charset="0"/>
                <a:sym typeface="Symbol" panose="05050102010706020507" pitchFamily="18" charset="2"/>
              </a:rPr>
              <a:t>Consider the following grammar and try to convert it in recursive descent compatible grammar: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6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exp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exp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addop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term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term</a:t>
            </a:r>
            <a:endParaRPr lang="en-US" altLang="en-US" sz="26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600" i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14341" name="Slide Number Placeholder 3">
            <a:extLst>
              <a:ext uri="{FF2B5EF4-FFF2-40B4-BE49-F238E27FC236}">
                <a16:creationId xmlns:a16="http://schemas.microsoft.com/office/drawing/2014/main" id="{205B9221-5F5C-159B-6A2B-F9F597B5AB8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17C9F0E1-B463-4EC9-B83E-097923549188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38C0AD34-7E06-7528-2E7F-5830178A70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D9B618-12A9-48AB-84F1-4F250647405F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7411" name="Title 1">
            <a:extLst>
              <a:ext uri="{FF2B5EF4-FFF2-40B4-BE49-F238E27FC236}">
                <a16:creationId xmlns:a16="http://schemas.microsoft.com/office/drawing/2014/main" id="{DD410F3C-4B00-9F51-3C84-0BDA7DF2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Removing Left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D10BD-F9DC-215B-04E9-245AD1BA9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600" dirty="0"/>
              <a:t>LL(1) suffers the same problem due to left recursion as RD does</a:t>
            </a:r>
          </a:p>
          <a:p>
            <a:pPr>
              <a:defRPr/>
            </a:pPr>
            <a:r>
              <a:rPr lang="en-US" sz="2600" dirty="0"/>
              <a:t>EBNF is not a solution for LL(1) hence we need to rewrite grammar and remove left recursion from it</a:t>
            </a:r>
          </a:p>
          <a:p>
            <a:pPr>
              <a:defRPr/>
            </a:pPr>
            <a:r>
              <a:rPr lang="en-US" sz="2600" dirty="0"/>
              <a:t>Consider the following case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sz="2200" dirty="0">
                <a:ea typeface="+mn-ea"/>
                <a:sym typeface="Symbol" pitchFamily="18" charset="2"/>
              </a:rPr>
              <a:t>	A  A</a:t>
            </a:r>
            <a:r>
              <a:rPr lang="el-GR" sz="2200" dirty="0">
                <a:sym typeface="Symbol" pitchFamily="18" charset="2"/>
              </a:rPr>
              <a:t>α</a:t>
            </a:r>
            <a:r>
              <a:rPr lang="en-US" sz="2200" dirty="0">
                <a:ea typeface="+mn-ea"/>
                <a:sym typeface="Symbol" pitchFamily="18" charset="2"/>
              </a:rPr>
              <a:t> | </a:t>
            </a:r>
            <a:r>
              <a:rPr lang="el-GR" sz="2200" dirty="0">
                <a:sym typeface="Symbol" pitchFamily="18" charset="2"/>
              </a:rPr>
              <a:t>β</a:t>
            </a:r>
            <a:endParaRPr lang="en-US" sz="2200" dirty="0">
              <a:ea typeface="+mn-ea"/>
              <a:sym typeface="Symbol" pitchFamily="18" charset="2"/>
            </a:endParaRPr>
          </a:p>
          <a:p>
            <a:pPr lvl="1">
              <a:defRPr/>
            </a:pPr>
            <a:r>
              <a:rPr lang="en-US" sz="2200" dirty="0">
                <a:sym typeface="Symbol" pitchFamily="18" charset="2"/>
              </a:rPr>
              <a:t>Here </a:t>
            </a:r>
            <a:r>
              <a:rPr lang="el-GR" sz="2200" dirty="0">
                <a:sym typeface="Symbol" pitchFamily="18" charset="2"/>
              </a:rPr>
              <a:t>α </a:t>
            </a:r>
            <a:r>
              <a:rPr lang="en-US" sz="2200" dirty="0">
                <a:sym typeface="Symbol" pitchFamily="18" charset="2"/>
              </a:rPr>
              <a:t>and </a:t>
            </a:r>
            <a:r>
              <a:rPr lang="el-GR" sz="2200" dirty="0">
                <a:sym typeface="Symbol" pitchFamily="18" charset="2"/>
              </a:rPr>
              <a:t>β</a:t>
            </a:r>
            <a:r>
              <a:rPr lang="en-US" sz="2200" dirty="0">
                <a:sym typeface="Symbol" pitchFamily="18" charset="2"/>
              </a:rPr>
              <a:t> are combination of terminals and </a:t>
            </a:r>
            <a:r>
              <a:rPr lang="en-US" sz="2200" dirty="0" err="1">
                <a:sym typeface="Symbol" pitchFamily="18" charset="2"/>
              </a:rPr>
              <a:t>nonterminals</a:t>
            </a:r>
            <a:r>
              <a:rPr lang="en-US" sz="2200" dirty="0">
                <a:sym typeface="Symbol" pitchFamily="18" charset="2"/>
              </a:rPr>
              <a:t> where </a:t>
            </a:r>
            <a:r>
              <a:rPr lang="el-GR" sz="2200" dirty="0">
                <a:sym typeface="Symbol" pitchFamily="18" charset="2"/>
              </a:rPr>
              <a:t>β</a:t>
            </a:r>
            <a:r>
              <a:rPr lang="en-US" sz="2200" dirty="0">
                <a:sym typeface="Symbol" pitchFamily="18" charset="2"/>
              </a:rPr>
              <a:t> does not begin with A</a:t>
            </a:r>
          </a:p>
          <a:p>
            <a:pPr lvl="1">
              <a:defRPr/>
            </a:pPr>
            <a:r>
              <a:rPr lang="en-US" sz="2200" dirty="0">
                <a:sym typeface="Symbol" pitchFamily="18" charset="2"/>
              </a:rPr>
              <a:t>This type of grammar will generate string of type </a:t>
            </a:r>
            <a:r>
              <a:rPr lang="el-GR" sz="2200" dirty="0">
                <a:sym typeface="Symbol" pitchFamily="18" charset="2"/>
              </a:rPr>
              <a:t>β</a:t>
            </a:r>
            <a:r>
              <a:rPr lang="en-US" sz="2200" dirty="0">
                <a:sym typeface="Symbol" pitchFamily="18" charset="2"/>
              </a:rPr>
              <a:t>[</a:t>
            </a:r>
            <a:r>
              <a:rPr lang="el-GR" sz="2200" dirty="0">
                <a:sym typeface="Symbol" pitchFamily="18" charset="2"/>
              </a:rPr>
              <a:t>αα</a:t>
            </a:r>
            <a:r>
              <a:rPr lang="en-US" sz="2200" dirty="0">
                <a:sym typeface="Symbol" pitchFamily="18" charset="2"/>
              </a:rPr>
              <a:t>….]</a:t>
            </a:r>
          </a:p>
          <a:p>
            <a:pPr lvl="1">
              <a:defRPr/>
            </a:pPr>
            <a:r>
              <a:rPr lang="en-US" sz="2200" dirty="0">
                <a:sym typeface="Symbol" pitchFamily="18" charset="2"/>
              </a:rPr>
              <a:t>The resultant will be:		A  </a:t>
            </a:r>
            <a:r>
              <a:rPr lang="el-GR" sz="2200" dirty="0">
                <a:sym typeface="Symbol" pitchFamily="18" charset="2"/>
              </a:rPr>
              <a:t>β</a:t>
            </a:r>
            <a:r>
              <a:rPr lang="en-US" sz="2200" dirty="0">
                <a:sym typeface="Symbol" pitchFamily="18" charset="2"/>
              </a:rPr>
              <a:t>A’ 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sz="2200" dirty="0">
                <a:sym typeface="Symbol" pitchFamily="18" charset="2"/>
              </a:rPr>
              <a:t>						A’  </a:t>
            </a:r>
            <a:r>
              <a:rPr lang="el-GR" sz="2200" dirty="0">
                <a:sym typeface="Symbol" pitchFamily="18" charset="2"/>
              </a:rPr>
              <a:t>α</a:t>
            </a:r>
            <a:r>
              <a:rPr lang="en-US" sz="2200" dirty="0">
                <a:sym typeface="Symbol" pitchFamily="18" charset="2"/>
              </a:rPr>
              <a:t>A’ | </a:t>
            </a:r>
          </a:p>
        </p:txBody>
      </p:sp>
      <p:sp>
        <p:nvSpPr>
          <p:cNvPr id="17413" name="Slide Number Placeholder 3">
            <a:extLst>
              <a:ext uri="{FF2B5EF4-FFF2-40B4-BE49-F238E27FC236}">
                <a16:creationId xmlns:a16="http://schemas.microsoft.com/office/drawing/2014/main" id="{474F3B1F-49BF-4F02-E3C8-0144BBE2C8E4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52D20715-CFA4-4BE9-BF63-03ADF37CF482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B543-F8EA-8F1A-04A3-AC6969C49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Elimination of Left Recursion Algorithm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A73EC1-B38A-BF47-7306-E940FF08C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7964" y="1846263"/>
            <a:ext cx="6172521" cy="40227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58E59-9E9B-00FE-B72B-4AA79A72B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E0629-94FB-4AFC-B243-2057DDA521C2}" type="slidenum">
              <a:rPr lang="ar-SA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227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53C3A-BA1F-A087-1FEC-801A245D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283B0-FD76-DC06-12B0-FC27FAA40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 </a:t>
            </a:r>
            <a:r>
              <a:rPr lang="en-US" sz="1800" dirty="0">
                <a:effectLst/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à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X ab | Ya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 </a:t>
            </a:r>
            <a:r>
              <a:rPr lang="en-US" sz="1800" dirty="0">
                <a:effectLst/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à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X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X ab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bcX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|ab Y</a:t>
            </a:r>
          </a:p>
          <a:p>
            <a:pPr marL="251460" marR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 </a:t>
            </a:r>
            <a:r>
              <a:rPr lang="en-US" sz="1800" dirty="0">
                <a:effectLst/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à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Z a | bb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Z </a:t>
            </a:r>
            <a:r>
              <a:rPr lang="en-US" sz="1800" dirty="0">
                <a:effectLst/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à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b | aa</a:t>
            </a:r>
          </a:p>
          <a:p>
            <a:pPr marL="251460" marR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4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1800" dirty="0">
                <a:effectLst/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à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 |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bB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B </a:t>
            </a:r>
            <a:r>
              <a:rPr lang="en-US" sz="1800" dirty="0">
                <a:effectLst/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à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 bb |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C </a:t>
            </a:r>
            <a:r>
              <a:rPr lang="en-US" sz="1800" dirty="0">
                <a:effectLst/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à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ab | Abb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A0A1F-3F3D-7ED8-82D5-375B50C8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E0629-94FB-4AFC-B243-2057DDA521C2}" type="slidenum">
              <a:rPr lang="ar-SA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0670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>
            <a:extLst>
              <a:ext uri="{FF2B5EF4-FFF2-40B4-BE49-F238E27FC236}">
                <a16:creationId xmlns:a16="http://schemas.microsoft.com/office/drawing/2014/main" id="{2C3DF224-93ED-E0AA-BD2D-733CDB8B17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76749D-3FD4-4FBD-9365-8C2DBD825553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8435" name="Title 1">
            <a:extLst>
              <a:ext uri="{FF2B5EF4-FFF2-40B4-BE49-F238E27FC236}">
                <a16:creationId xmlns:a16="http://schemas.microsoft.com/office/drawing/2014/main" id="{F7A63D95-69B6-9871-E46F-0CDE7C1A2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Left Factoring</a:t>
            </a:r>
          </a:p>
        </p:txBody>
      </p:sp>
      <p:sp>
        <p:nvSpPr>
          <p:cNvPr id="18436" name="Content Placeholder 2">
            <a:extLst>
              <a:ext uri="{FF2B5EF4-FFF2-40B4-BE49-F238E27FC236}">
                <a16:creationId xmlns:a16="http://schemas.microsoft.com/office/drawing/2014/main" id="{284BF55E-A938-7966-8AEC-876F01B36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sz="2600"/>
              <a:t>Left factoring is required when two or more grammar rule choices share a common prefix string, as in the rule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sz="2600"/>
              <a:t>	A </a:t>
            </a:r>
            <a:r>
              <a:rPr lang="en-US" altLang="en-US" sz="2800">
                <a:sym typeface="Symbol" panose="05050102010706020507" pitchFamily="18" charset="2"/>
              </a:rPr>
              <a:t> </a:t>
            </a:r>
            <a:r>
              <a:rPr lang="el-GR" altLang="en-US" sz="2800">
                <a:sym typeface="Symbol" panose="05050102010706020507" pitchFamily="18" charset="2"/>
              </a:rPr>
              <a:t>αβ</a:t>
            </a:r>
            <a:r>
              <a:rPr lang="en-US" altLang="en-US" sz="2800">
                <a:sym typeface="Symbol" panose="05050102010706020507" pitchFamily="18" charset="2"/>
              </a:rPr>
              <a:t> | </a:t>
            </a:r>
            <a:r>
              <a:rPr lang="el-GR" altLang="en-US" sz="2800">
                <a:sym typeface="Symbol" panose="05050102010706020507" pitchFamily="18" charset="2"/>
              </a:rPr>
              <a:t>αγ</a:t>
            </a:r>
            <a:endParaRPr lang="en-US" altLang="en-US" sz="2600"/>
          </a:p>
          <a:p>
            <a:r>
              <a:rPr lang="en-US" altLang="en-US" sz="2600"/>
              <a:t>Obviously an LL(1) parser cannot distinguish between the production choices in such a situation</a:t>
            </a:r>
          </a:p>
          <a:p>
            <a:r>
              <a:rPr lang="en-US" altLang="en-US" sz="2600"/>
              <a:t>The solution in this case is to ‘factor’ the </a:t>
            </a:r>
            <a:r>
              <a:rPr lang="el-GR" altLang="en-US" sz="2600">
                <a:sym typeface="Symbol" panose="05050102010706020507" pitchFamily="18" charset="2"/>
              </a:rPr>
              <a:t>α</a:t>
            </a:r>
            <a:r>
              <a:rPr lang="en-US" altLang="en-US" sz="2600"/>
              <a:t> out in the left and rewrite the rule as two rules;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sz="2600"/>
              <a:t>	A </a:t>
            </a:r>
            <a:r>
              <a:rPr lang="en-US" altLang="en-US" sz="2600">
                <a:sym typeface="Symbol" panose="05050102010706020507" pitchFamily="18" charset="2"/>
              </a:rPr>
              <a:t> </a:t>
            </a:r>
            <a:r>
              <a:rPr lang="el-GR" altLang="en-US" sz="2600">
                <a:sym typeface="Symbol" panose="05050102010706020507" pitchFamily="18" charset="2"/>
              </a:rPr>
              <a:t>α</a:t>
            </a:r>
            <a:r>
              <a:rPr lang="en-US" altLang="en-US" sz="2600">
                <a:sym typeface="Symbol" panose="05050102010706020507" pitchFamily="18" charset="2"/>
              </a:rPr>
              <a:t>A’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sz="2600"/>
              <a:t>	A’ </a:t>
            </a:r>
            <a:r>
              <a:rPr lang="en-US" altLang="en-US" sz="2600">
                <a:sym typeface="Symbol" panose="05050102010706020507" pitchFamily="18" charset="2"/>
              </a:rPr>
              <a:t> </a:t>
            </a:r>
            <a:r>
              <a:rPr lang="el-GR" altLang="en-US" sz="2600">
                <a:sym typeface="Symbol" panose="05050102010706020507" pitchFamily="18" charset="2"/>
              </a:rPr>
              <a:t>β</a:t>
            </a:r>
            <a:r>
              <a:rPr lang="en-US" altLang="en-US" sz="2600">
                <a:sym typeface="Symbol" panose="05050102010706020507" pitchFamily="18" charset="2"/>
              </a:rPr>
              <a:t> | </a:t>
            </a:r>
            <a:r>
              <a:rPr lang="el-GR" altLang="en-US" sz="2600">
                <a:sym typeface="Symbol" panose="05050102010706020507" pitchFamily="18" charset="2"/>
              </a:rPr>
              <a:t>γ</a:t>
            </a:r>
            <a:endParaRPr lang="en-US" altLang="en-US" sz="2600"/>
          </a:p>
          <a:p>
            <a:pPr>
              <a:buFont typeface="Wingdings" panose="05000000000000000000" pitchFamily="2" charset="2"/>
              <a:buNone/>
            </a:pPr>
            <a:endParaRPr lang="en-US" altLang="en-US" sz="2600"/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36E98225-BA09-F62A-5B0A-1F61E818B034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A0A793AF-9BDF-4252-ABA5-56C959FEE0A7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0F3E7-25F3-0F52-FE80-D770017A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49B70-15BA-E893-310F-936005499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800" dirty="0" err="1">
                <a:solidFill>
                  <a:schemeClr val="tx1"/>
                </a:solidFill>
                <a:effectLst/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à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acd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</a:t>
            </a:r>
            <a:r>
              <a:rPr lang="en-US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abc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</a:t>
            </a:r>
            <a:r>
              <a:rPr lang="en-US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acf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51460" marR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 </a:t>
            </a:r>
            <a:r>
              <a:rPr lang="en-US" sz="1800" dirty="0">
                <a:solidFill>
                  <a:schemeClr val="tx1"/>
                </a:solidFill>
                <a:effectLst/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à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aX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</a:t>
            </a:r>
            <a:r>
              <a:rPr lang="en-US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X </a:t>
            </a:r>
            <a:r>
              <a:rPr lang="en-US" sz="1800" dirty="0">
                <a:solidFill>
                  <a:schemeClr val="tx1"/>
                </a:solidFill>
                <a:effectLst/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à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ab | </a:t>
            </a:r>
            <a:r>
              <a:rPr lang="en-US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bcd</a:t>
            </a:r>
            <a:endParaRPr lang="en-US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Y </a:t>
            </a:r>
            <a:r>
              <a:rPr lang="en-US" sz="1800" dirty="0">
                <a:solidFill>
                  <a:schemeClr val="tx1"/>
                </a:solidFill>
                <a:effectLst/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à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X | bcf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4252F-7EE8-2F93-B44F-CD801AC40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E0629-94FB-4AFC-B243-2057DDA521C2}" type="slidenum">
              <a:rPr lang="ar-SA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3427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9908-48AB-B74D-D26D-B07D30E80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to address in Top-down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66ED4-E400-E41C-FE03-1CD093AF8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42900" marR="0" lvl="0" indent="-342900">
              <a:lnSpc>
                <a:spcPct val="107000"/>
              </a:lnSpc>
              <a:buFont typeface="+mj-lt"/>
              <a:buAutoNum type="arabicParenR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LEFT- FACTORING TECHNIQUE: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LL(K)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Grammar</a:t>
            </a:r>
            <a:r>
              <a:rPr lang="en-US" sz="1800" dirty="0" err="1">
                <a:effectLst/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à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(1) grammar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Parser will perform efficiently if grammar is LL(1)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 LL(K) grammar cannot be converted into LL(1)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rabicParenR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Ambiguous grammar: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More than 1 parse tree for a single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Parser will not be able to decide which parse tree should be constructed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Its not necessarily possible to convert ambiguous grammar into un ambiguous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rabicParenR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Left- Recursive grammar: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 down parser cannot be constructed for a left recursive grammar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Left-recursive grammar is not LL(k)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Always possible to remove left-recursion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C4324-7D3B-6442-6BB8-68275D07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E0629-94FB-4AFC-B243-2057DDA521C2}" type="slidenum">
              <a:rPr lang="ar-SA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7904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22C10F81-07F4-74F0-F48F-11469F6246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F36911-3C50-4EA2-8C6B-BFD28CD00619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9459" name="Title 1">
            <a:extLst>
              <a:ext uri="{FF2B5EF4-FFF2-40B4-BE49-F238E27FC236}">
                <a16:creationId xmlns:a16="http://schemas.microsoft.com/office/drawing/2014/main" id="{23BA65DE-1EF2-E135-F401-4464265D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Error Recovery in Top-Down Parsers</a:t>
            </a:r>
          </a:p>
        </p:txBody>
      </p:sp>
      <p:sp>
        <p:nvSpPr>
          <p:cNvPr id="19460" name="Content Placeholder 2">
            <a:extLst>
              <a:ext uri="{FF2B5EF4-FFF2-40B4-BE49-F238E27FC236}">
                <a16:creationId xmlns:a16="http://schemas.microsoft.com/office/drawing/2014/main" id="{3BEFF16E-46D9-BB28-FAE3-C5F0185A9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/>
              <a:t>A parser should try to determine that an error has occurred </a:t>
            </a:r>
            <a:r>
              <a:rPr lang="en-US" altLang="en-US" sz="2600" i="1"/>
              <a:t>as soon as possible</a:t>
            </a:r>
            <a:r>
              <a:rPr lang="en-US" altLang="en-US" sz="2600"/>
              <a:t>. Waiting too long before declaring error means the location of the actual error may have been lost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600"/>
          </a:p>
          <a:p>
            <a:r>
              <a:rPr lang="en-US" altLang="en-US" sz="2600"/>
              <a:t>After an error has occurred, the parser must pick a likely place to resume the parse. A parser should always try to parse as much of the code as possible, in order to find as many real errors as possible during a single translation</a:t>
            </a:r>
          </a:p>
        </p:txBody>
      </p:sp>
      <p:sp>
        <p:nvSpPr>
          <p:cNvPr id="19461" name="Slide Number Placeholder 3">
            <a:extLst>
              <a:ext uri="{FF2B5EF4-FFF2-40B4-BE49-F238E27FC236}">
                <a16:creationId xmlns:a16="http://schemas.microsoft.com/office/drawing/2014/main" id="{6091013F-3683-72E3-0292-0240B28E187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D17B5774-1F56-4A7C-911D-C8A20EB64216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23E03737-761A-997E-11C8-DD321C5555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1FCD86-9A9B-4944-B300-D9636EA893C8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20483" name="Title 1">
            <a:extLst>
              <a:ext uri="{FF2B5EF4-FFF2-40B4-BE49-F238E27FC236}">
                <a16:creationId xmlns:a16="http://schemas.microsoft.com/office/drawing/2014/main" id="{3E0FDA40-9AA2-01A8-055A-7F21E35FD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Error Recovery in Top-Down Parsers </a:t>
            </a:r>
            <a:r>
              <a:rPr lang="en-US" altLang="en-US" sz="2400"/>
              <a:t>(Continue…)</a:t>
            </a:r>
          </a:p>
        </p:txBody>
      </p:sp>
      <p:sp>
        <p:nvSpPr>
          <p:cNvPr id="20484" name="Content Placeholder 2">
            <a:extLst>
              <a:ext uri="{FF2B5EF4-FFF2-40B4-BE49-F238E27FC236}">
                <a16:creationId xmlns:a16="http://schemas.microsoft.com/office/drawing/2014/main" id="{45D0EDF6-D17A-2C61-F9F9-5A36FF20B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/>
              <a:t>A parser should try to avoid the error cascade problem, in which one error generates a lengthy sequence of spurious error messages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600"/>
          </a:p>
          <a:p>
            <a:r>
              <a:rPr lang="en-US" altLang="en-US" sz="2600"/>
              <a:t>A parser must avoid infinite loops on errors, in which an unending cascade of error messages is generated without consuming any input</a:t>
            </a: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5EBEF918-8072-486D-E655-82D73A01AB5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F0E34E98-8DA8-43D1-802E-2AC381E8627D}" type="slidenum">
              <a:rPr lang="ar-SA" altLang="en-US" sz="1200">
                <a:latin typeface="Garamond" panose="02020404030301010803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>
            <a:extLst>
              <a:ext uri="{FF2B5EF4-FFF2-40B4-BE49-F238E27FC236}">
                <a16:creationId xmlns:a16="http://schemas.microsoft.com/office/drawing/2014/main" id="{F4B05CCB-0611-1B91-A971-D5B6E06C2B1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24579" name="Rectangle 5">
            <a:extLst>
              <a:ext uri="{FF2B5EF4-FFF2-40B4-BE49-F238E27FC236}">
                <a16:creationId xmlns:a16="http://schemas.microsoft.com/office/drawing/2014/main" id="{79DA8EC2-6529-FF9E-6D7B-E8C5A72BA24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Any Questions? </a:t>
            </a:r>
          </a:p>
        </p:txBody>
      </p:sp>
      <p:sp>
        <p:nvSpPr>
          <p:cNvPr id="24580" name="Slide Number Placeholder 4">
            <a:extLst>
              <a:ext uri="{FF2B5EF4-FFF2-40B4-BE49-F238E27FC236}">
                <a16:creationId xmlns:a16="http://schemas.microsoft.com/office/drawing/2014/main" id="{A3587A07-C63D-020F-AE02-C653A0EDB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1622F6-91E2-4BE3-B582-E335E5207E1E}" type="slidenum">
              <a:rPr lang="ar-SA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10160</TotalTime>
  <Words>1741</Words>
  <Application>Microsoft Office PowerPoint</Application>
  <PresentationFormat>On-screen Show (4:3)</PresentationFormat>
  <Paragraphs>260</Paragraphs>
  <Slides>32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Calibri Light</vt:lpstr>
      <vt:lpstr>Courier New</vt:lpstr>
      <vt:lpstr>Garamond</vt:lpstr>
      <vt:lpstr>Symbol</vt:lpstr>
      <vt:lpstr>Times New Roman</vt:lpstr>
      <vt:lpstr>Wingdings</vt:lpstr>
      <vt:lpstr>Retrospect</vt:lpstr>
      <vt:lpstr>Drawing</vt:lpstr>
      <vt:lpstr>Compiler Construction</vt:lpstr>
      <vt:lpstr>Outline</vt:lpstr>
      <vt:lpstr>Parse Trees &amp; Abstract Syntax Trees</vt:lpstr>
      <vt:lpstr>Parse Trees &amp; Abstract Syntax Trees (Continue…)</vt:lpstr>
      <vt:lpstr>Parse Trees &amp; Abstract Syntax Trees (Continue…)</vt:lpstr>
      <vt:lpstr>Parse Trees &amp; Abstract Syntax Trees (Continue…)</vt:lpstr>
      <vt:lpstr>Extended BNF (EBNF)</vt:lpstr>
      <vt:lpstr>EBNF Metasymbols</vt:lpstr>
      <vt:lpstr>EBNF Metasymbols (Continue…)</vt:lpstr>
      <vt:lpstr>Syntax Diagrams</vt:lpstr>
      <vt:lpstr>Syntax Diagrams (Continue…)</vt:lpstr>
      <vt:lpstr>Syntax Diagrams (Continue…)</vt:lpstr>
      <vt:lpstr>Parser</vt:lpstr>
      <vt:lpstr>Types of Parser</vt:lpstr>
      <vt:lpstr>Difference between Top-down and Bottom-up Parsing</vt:lpstr>
      <vt:lpstr>Top-Down Parsing</vt:lpstr>
      <vt:lpstr>Top-Down Parsing (Continue…)</vt:lpstr>
      <vt:lpstr>Recursive Decent Parsing</vt:lpstr>
      <vt:lpstr>Recursive Decent Example</vt:lpstr>
      <vt:lpstr>Recursive Decent Example (Discussion)</vt:lpstr>
      <vt:lpstr>Error Handling in RD is Tricky!</vt:lpstr>
      <vt:lpstr>Left Recursion is Impossible</vt:lpstr>
      <vt:lpstr>Repetition &amp; Choice: Using EBNF</vt:lpstr>
      <vt:lpstr>Removing Left Recursion</vt:lpstr>
      <vt:lpstr>Elimination of Left Recursion Algorithm</vt:lpstr>
      <vt:lpstr>PowerPoint Presentation</vt:lpstr>
      <vt:lpstr>Left Factoring</vt:lpstr>
      <vt:lpstr>PowerPoint Presentation</vt:lpstr>
      <vt:lpstr>Problems to address in Top-down Parsing</vt:lpstr>
      <vt:lpstr>Error Recovery in Top-Down Parsers</vt:lpstr>
      <vt:lpstr>Error Recovery in Top-Down Parsers (Continue…)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jBillu</dc:creator>
  <cp:lastModifiedBy>Nirmal Tariq</cp:lastModifiedBy>
  <cp:revision>1983</cp:revision>
  <dcterms:created xsi:type="dcterms:W3CDTF">2011-12-07T13:46:52Z</dcterms:created>
  <dcterms:modified xsi:type="dcterms:W3CDTF">2025-02-19T09:29:01Z</dcterms:modified>
</cp:coreProperties>
</file>