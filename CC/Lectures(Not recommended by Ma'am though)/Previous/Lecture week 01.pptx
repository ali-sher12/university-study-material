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7" r:id="rId2"/>
    <p:sldId id="258" r:id="rId3"/>
    <p:sldId id="263" r:id="rId4"/>
    <p:sldId id="264" r:id="rId5"/>
    <p:sldId id="267" r:id="rId6"/>
    <p:sldId id="275" r:id="rId7"/>
    <p:sldId id="277" r:id="rId8"/>
    <p:sldId id="297" r:id="rId9"/>
    <p:sldId id="298" r:id="rId10"/>
    <p:sldId id="299" r:id="rId11"/>
    <p:sldId id="337" r:id="rId12"/>
    <p:sldId id="292" r:id="rId13"/>
    <p:sldId id="293" r:id="rId14"/>
    <p:sldId id="294" r:id="rId15"/>
    <p:sldId id="320" r:id="rId16"/>
    <p:sldId id="295" r:id="rId17"/>
    <p:sldId id="333" r:id="rId18"/>
    <p:sldId id="284" r:id="rId19"/>
    <p:sldId id="338" r:id="rId20"/>
    <p:sldId id="339" r:id="rId21"/>
    <p:sldId id="340" r:id="rId22"/>
    <p:sldId id="353" r:id="rId23"/>
    <p:sldId id="341" r:id="rId24"/>
    <p:sldId id="285" r:id="rId25"/>
    <p:sldId id="342" r:id="rId26"/>
    <p:sldId id="343" r:id="rId27"/>
    <p:sldId id="344" r:id="rId28"/>
    <p:sldId id="345" r:id="rId29"/>
    <p:sldId id="346" r:id="rId30"/>
    <p:sldId id="287" r:id="rId31"/>
    <p:sldId id="288" r:id="rId32"/>
    <p:sldId id="289" r:id="rId33"/>
    <p:sldId id="290" r:id="rId34"/>
    <p:sldId id="347" r:id="rId35"/>
    <p:sldId id="348" r:id="rId36"/>
    <p:sldId id="349" r:id="rId37"/>
    <p:sldId id="350" r:id="rId38"/>
    <p:sldId id="351" r:id="rId39"/>
    <p:sldId id="352" r:id="rId40"/>
    <p:sldId id="291" r:id="rId41"/>
    <p:sldId id="321" r:id="rId42"/>
    <p:sldId id="322" r:id="rId43"/>
    <p:sldId id="323" r:id="rId44"/>
    <p:sldId id="324" r:id="rId45"/>
    <p:sldId id="296" r:id="rId46"/>
    <p:sldId id="325" r:id="rId47"/>
    <p:sldId id="326" r:id="rId48"/>
    <p:sldId id="327" r:id="rId49"/>
    <p:sldId id="300" r:id="rId50"/>
    <p:sldId id="331" r:id="rId51"/>
    <p:sldId id="332" r:id="rId52"/>
    <p:sldId id="334" r:id="rId53"/>
    <p:sldId id="335" r:id="rId54"/>
    <p:sldId id="336" r:id="rId55"/>
    <p:sldId id="315" r:id="rId56"/>
    <p:sldId id="318" r:id="rId57"/>
    <p:sldId id="316" r:id="rId58"/>
    <p:sldId id="317" r:id="rId59"/>
    <p:sldId id="301"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54" autoAdjust="0"/>
    <p:restoredTop sz="94660"/>
  </p:normalViewPr>
  <p:slideViewPr>
    <p:cSldViewPr snapToGrid="0">
      <p:cViewPr varScale="1">
        <p:scale>
          <a:sx n="71" d="100"/>
          <a:sy n="71" d="100"/>
        </p:scale>
        <p:origin x="6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FC401D-04E7-4FE1-9D87-465AC03FA3CC}"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D772AD-3915-4A5C-A43D-0F627CA2BE14}" type="slidenum">
              <a:rPr lang="en-US" smtClean="0"/>
              <a:t>‹#›</a:t>
            </a:fld>
            <a:endParaRPr lang="en-US"/>
          </a:p>
        </p:txBody>
      </p:sp>
    </p:spTree>
    <p:extLst>
      <p:ext uri="{BB962C8B-B14F-4D97-AF65-F5344CB8AC3E}">
        <p14:creationId xmlns:p14="http://schemas.microsoft.com/office/powerpoint/2010/main" val="903867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77781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47803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dirty="0"/>
              <a:t>The design of programming languages and compilers are intimately related, the advances in programming languages placed new demands on compiler writers. They had to devise algorithms and representations to translate and support the new language features.</a:t>
            </a:r>
          </a:p>
          <a:p>
            <a:pPr>
              <a:buFont typeface="Arial" panose="020B0604020202020204" pitchFamily="34" charset="0"/>
              <a:buNone/>
              <a:defRPr/>
            </a:pPr>
            <a:endParaRPr lang="en-US" dirty="0"/>
          </a:p>
          <a:p>
            <a:pPr marL="171450" indent="-171450">
              <a:buFont typeface="Arial" panose="020B0604020202020204" pitchFamily="34" charset="0"/>
              <a:buChar char="•"/>
              <a:defRPr/>
            </a:pPr>
            <a:r>
              <a:rPr lang="en-US" dirty="0"/>
              <a:t>Since the 1940's, computer architecture has evolved as well. Not only did the compiler writers have to track new language features, they also had to devise translation algorithms that would take maximal advantage of the new hardware capabilities.</a:t>
            </a:r>
          </a:p>
          <a:p>
            <a:pPr>
              <a:buFont typeface="Arial" panose="020B0604020202020204" pitchFamily="34" charset="0"/>
              <a:buNone/>
              <a:defRPr/>
            </a:pPr>
            <a:endParaRPr lang="en-US" dirty="0"/>
          </a:p>
          <a:p>
            <a:pPr marL="171450" indent="-171450">
              <a:buFont typeface="Arial" panose="020B0604020202020204" pitchFamily="34" charset="0"/>
              <a:buChar char="•"/>
              <a:defRPr/>
            </a:pPr>
            <a:r>
              <a:rPr lang="en-US" dirty="0"/>
              <a:t>Compilers can help promote the use of high-level languages by minimizing the execution overhead of the programs written in these languages. </a:t>
            </a:r>
          </a:p>
          <a:p>
            <a:pPr>
              <a:buFont typeface="Arial" panose="020B0604020202020204" pitchFamily="34" charset="0"/>
              <a:buNone/>
              <a:defRPr/>
            </a:pPr>
            <a:endParaRPr lang="en-US" dirty="0"/>
          </a:p>
          <a:p>
            <a:pPr marL="171450" indent="-171450">
              <a:buFont typeface="Arial" panose="020B0604020202020204" pitchFamily="34" charset="0"/>
              <a:buChar char="•"/>
              <a:defRPr/>
            </a:pPr>
            <a:r>
              <a:rPr lang="en-US" dirty="0"/>
              <a:t>Compilers are also critical in making high-performance computer architectures effective on users' applications. In fact, the performance of a computer system is so dependent on compiler technology that compilers are used as a tool in evaluating architectural concepts before a computer is built.</a:t>
            </a:r>
          </a:p>
          <a:p>
            <a:pPr>
              <a:buFont typeface="Arial" panose="020B0604020202020204" pitchFamily="34" charset="0"/>
              <a:buNone/>
              <a:defRPr/>
            </a:pPr>
            <a:endParaRPr lang="en-US" dirty="0"/>
          </a:p>
          <a:p>
            <a:pPr marL="171450" indent="-171450">
              <a:buFont typeface="Arial" panose="020B0604020202020204" pitchFamily="34" charset="0"/>
              <a:buChar char="•"/>
              <a:defRPr/>
            </a:pPr>
            <a:r>
              <a:rPr lang="en-US" dirty="0"/>
              <a:t>Compiler writing is challenging. A compiler by itself is a large program.</a:t>
            </a:r>
          </a:p>
          <a:p>
            <a:pPr>
              <a:buFont typeface="Arial" panose="020B0604020202020204" pitchFamily="34" charset="0"/>
              <a:buNone/>
              <a:defRPr/>
            </a:pPr>
            <a:endParaRPr lang="en-US" dirty="0"/>
          </a:p>
          <a:p>
            <a:pPr marL="171450" indent="-171450">
              <a:buFont typeface="Arial" panose="020B0604020202020204" pitchFamily="34" charset="0"/>
              <a:buChar char="•"/>
              <a:defRPr/>
            </a:pPr>
            <a:r>
              <a:rPr lang="en-US" dirty="0"/>
              <a:t>Moreover, many modern language-processing systems handle several source languages and target machines within the same framework; that is, they serve as collections of compilers, possibly consisting of millions of lines of code. Consequently, good software-engineering techniques are essential for creating and evolving modern language processors.</a:t>
            </a:r>
          </a:p>
          <a:p>
            <a:pPr>
              <a:buFont typeface="Arial" panose="020B0604020202020204" pitchFamily="34" charset="0"/>
              <a:buNone/>
              <a:defRPr/>
            </a:pPr>
            <a:endParaRPr lang="en-US" dirty="0"/>
          </a:p>
          <a:p>
            <a:pPr marL="171450" indent="-171450">
              <a:buFont typeface="Arial" panose="020B0604020202020204" pitchFamily="34" charset="0"/>
              <a:buChar char="•"/>
              <a:defRPr/>
            </a:pPr>
            <a:r>
              <a:rPr lang="en-US" dirty="0"/>
              <a:t>A compiler must translate correctly the potentially infinite set of programs that could be written in the source language. The problem of generating the optimal target code from a source program is undecidable in general; thus, compiler writers must evaluate tradeoffs about what problems to tackle and what heuristics to use to approach the problem of generating efficient code.</a:t>
            </a:r>
          </a:p>
          <a:p>
            <a:pPr>
              <a:defRPr/>
            </a:pPr>
            <a:endParaRPr lang="ar-SA" dirty="0"/>
          </a:p>
        </p:txBody>
      </p:sp>
      <p:sp>
        <p:nvSpPr>
          <p:cNvPr id="2253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A8E77BD-AED3-4702-8AD7-C83508415BC6}" type="slidenum">
              <a:rPr lang="ar-SA" altLang="en-US" smtClean="0">
                <a:latin typeface="Calibri" panose="020F0502020204030204" pitchFamily="34" charset="0"/>
              </a:rPr>
              <a:pPr fontAlgn="base">
                <a:spcBef>
                  <a:spcPct val="0"/>
                </a:spcBef>
                <a:spcAft>
                  <a:spcPct val="0"/>
                </a:spcAft>
              </a:pPr>
              <a:t>10</a:t>
            </a:fld>
            <a:endParaRPr lang="ar-SA" altLang="en-US">
              <a:latin typeface="Calibri" panose="020F0502020204030204" pitchFamily="34" charset="0"/>
            </a:endParaRPr>
          </a:p>
        </p:txBody>
      </p:sp>
    </p:spTree>
    <p:extLst>
      <p:ext uri="{BB962C8B-B14F-4D97-AF65-F5344CB8AC3E}">
        <p14:creationId xmlns:p14="http://schemas.microsoft.com/office/powerpoint/2010/main" val="3010541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84D5D01-5417-4C0F-8826-86CD547890EF}" type="datetime1">
              <a:rPr lang="en-US" smtClean="0"/>
              <a:t>1/23/2025</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AB86D660-B180-40FF-8373-2B84F1D09655}" type="slidenum">
              <a:rPr lang="en-US" smtClean="0"/>
              <a:t>‹#›</a:t>
            </a:fld>
            <a:endParaRPr lang="en-US"/>
          </a:p>
        </p:txBody>
      </p:sp>
    </p:spTree>
    <p:extLst>
      <p:ext uri="{BB962C8B-B14F-4D97-AF65-F5344CB8AC3E}">
        <p14:creationId xmlns:p14="http://schemas.microsoft.com/office/powerpoint/2010/main" val="1103870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3F363C-0088-4EF1-8E98-53C9ED576577}"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AB86D660-B180-40FF-8373-2B84F1D09655}" type="slidenum">
              <a:rPr lang="en-US" smtClean="0"/>
              <a:t>‹#›</a:t>
            </a:fld>
            <a:endParaRPr lang="en-US"/>
          </a:p>
        </p:txBody>
      </p:sp>
    </p:spTree>
    <p:extLst>
      <p:ext uri="{BB962C8B-B14F-4D97-AF65-F5344CB8AC3E}">
        <p14:creationId xmlns:p14="http://schemas.microsoft.com/office/powerpoint/2010/main" val="3467293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5EFE46C-99F2-442C-AB43-A3F1B42C3A28}" type="datetime1">
              <a:rPr lang="en-US" smtClean="0"/>
              <a:t>1/23/2025</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AB86D660-B180-40FF-8373-2B84F1D09655}" type="slidenum">
              <a:rPr lang="en-US" smtClean="0"/>
              <a:t>‹#›</a:t>
            </a:fld>
            <a:endParaRPr lang="en-US"/>
          </a:p>
        </p:txBody>
      </p:sp>
    </p:spTree>
    <p:extLst>
      <p:ext uri="{BB962C8B-B14F-4D97-AF65-F5344CB8AC3E}">
        <p14:creationId xmlns:p14="http://schemas.microsoft.com/office/powerpoint/2010/main" val="351715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DF6707-407D-4EDA-B216-7BF254739F06}" type="datetime1">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6D660-B180-40FF-8373-2B84F1D09655}" type="slidenum">
              <a:rPr lang="en-US" smtClean="0"/>
              <a:t>‹#›</a:t>
            </a:fld>
            <a:endParaRPr lang="en-US"/>
          </a:p>
        </p:txBody>
      </p:sp>
    </p:spTree>
    <p:extLst>
      <p:ext uri="{BB962C8B-B14F-4D97-AF65-F5344CB8AC3E}">
        <p14:creationId xmlns:p14="http://schemas.microsoft.com/office/powerpoint/2010/main" val="2432411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AC9D103-1EED-4738-813B-6D739C5D30A6}" type="datetime1">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86D660-B180-40FF-8373-2B84F1D09655}" type="slidenum">
              <a:rPr lang="en-US" smtClean="0"/>
              <a:t>‹#›</a:t>
            </a:fld>
            <a:endParaRPr lang="en-US"/>
          </a:p>
        </p:txBody>
      </p:sp>
    </p:spTree>
    <p:extLst>
      <p:ext uri="{BB962C8B-B14F-4D97-AF65-F5344CB8AC3E}">
        <p14:creationId xmlns:p14="http://schemas.microsoft.com/office/powerpoint/2010/main" val="4182020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33E5C8-8DA9-43AF-89AD-3CD24C6D522E}" type="datetime1">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86D660-B180-40FF-8373-2B84F1D09655}" type="slidenum">
              <a:rPr lang="en-US" smtClean="0"/>
              <a:t>‹#›</a:t>
            </a:fld>
            <a:endParaRPr lang="en-US"/>
          </a:p>
        </p:txBody>
      </p:sp>
    </p:spTree>
    <p:extLst>
      <p:ext uri="{BB962C8B-B14F-4D97-AF65-F5344CB8AC3E}">
        <p14:creationId xmlns:p14="http://schemas.microsoft.com/office/powerpoint/2010/main" val="1677733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A5B6B2-26A2-406F-ABE8-BBACA2F8C2AB}" type="datetime1">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86D660-B180-40FF-8373-2B84F1D09655}" type="slidenum">
              <a:rPr lang="en-US" smtClean="0"/>
              <a:t>‹#›</a:t>
            </a:fld>
            <a:endParaRPr lang="en-US"/>
          </a:p>
        </p:txBody>
      </p:sp>
    </p:spTree>
    <p:extLst>
      <p:ext uri="{BB962C8B-B14F-4D97-AF65-F5344CB8AC3E}">
        <p14:creationId xmlns:p14="http://schemas.microsoft.com/office/powerpoint/2010/main" val="3723914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D6D1C85-56E9-4739-9CA4-C477E53ABA24}" type="datetime1">
              <a:rPr lang="en-US" smtClean="0"/>
              <a:t>1/23/2025</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AB86D660-B180-40FF-8373-2B84F1D09655}" type="slidenum">
              <a:rPr lang="en-US" smtClean="0"/>
              <a:t>‹#›</a:t>
            </a:fld>
            <a:endParaRPr lang="en-US"/>
          </a:p>
        </p:txBody>
      </p:sp>
    </p:spTree>
    <p:extLst>
      <p:ext uri="{BB962C8B-B14F-4D97-AF65-F5344CB8AC3E}">
        <p14:creationId xmlns:p14="http://schemas.microsoft.com/office/powerpoint/2010/main" val="1104053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52E7D9-BFB6-4D31-8DC5-9DE9E278E516}" type="datetime1">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6D660-B180-40FF-8373-2B84F1D09655}" type="slidenum">
              <a:rPr lang="en-US" smtClean="0"/>
              <a:t>‹#›</a:t>
            </a:fld>
            <a:endParaRPr lang="en-US"/>
          </a:p>
        </p:txBody>
      </p:sp>
    </p:spTree>
    <p:extLst>
      <p:ext uri="{BB962C8B-B14F-4D97-AF65-F5344CB8AC3E}">
        <p14:creationId xmlns:p14="http://schemas.microsoft.com/office/powerpoint/2010/main" val="3507884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B9BBF2-74C5-4995-8F72-CF36F03873B0}"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6D660-B180-40FF-8373-2B84F1D09655}" type="slidenum">
              <a:rPr lang="en-US" smtClean="0"/>
              <a:t>‹#›</a:t>
            </a:fld>
            <a:endParaRPr lang="en-US"/>
          </a:p>
        </p:txBody>
      </p:sp>
    </p:spTree>
    <p:extLst>
      <p:ext uri="{BB962C8B-B14F-4D97-AF65-F5344CB8AC3E}">
        <p14:creationId xmlns:p14="http://schemas.microsoft.com/office/powerpoint/2010/main" val="311491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62169C0-0A9E-4104-A8D7-04B416CD7384}" type="datetime1">
              <a:rPr lang="en-US" smtClean="0"/>
              <a:t>1/23/2025</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AB86D660-B180-40FF-8373-2B84F1D09655}" type="slidenum">
              <a:rPr lang="en-US" smtClean="0"/>
              <a:t>‹#›</a:t>
            </a:fld>
            <a:endParaRPr lang="en-US"/>
          </a:p>
        </p:txBody>
      </p:sp>
    </p:spTree>
    <p:extLst>
      <p:ext uri="{BB962C8B-B14F-4D97-AF65-F5344CB8AC3E}">
        <p14:creationId xmlns:p14="http://schemas.microsoft.com/office/powerpoint/2010/main" val="1914405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5D645FC8-E322-49CF-9021-81C38555681D}" type="datetime1">
              <a:rPr lang="en-US" smtClean="0"/>
              <a:t>1/23/2025</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AB86D660-B180-40FF-8373-2B84F1D09655}"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395875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mailto:amna.irum@nu.edu.p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amazon.com/Kenneth-C-Louden/e/B000AQ4TU6/ref=dp_byline_cont_book_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17.xml"/><Relationship Id="rId1" Type="http://schemas.openxmlformats.org/officeDocument/2006/relationships/slideLayout" Target="../slideLayouts/slideLayout2.xml"/><Relationship Id="rId6" Type="http://schemas.openxmlformats.org/officeDocument/2006/relationships/slide" Target="slide42.xml"/><Relationship Id="rId5" Type="http://schemas.openxmlformats.org/officeDocument/2006/relationships/slide" Target="slide40.xml"/><Relationship Id="rId4" Type="http://schemas.openxmlformats.org/officeDocument/2006/relationships/slide" Target="slide3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38300" y="699655"/>
            <a:ext cx="8763000" cy="1905000"/>
          </a:xfrm>
        </p:spPr>
        <p:txBody>
          <a:bodyPr/>
          <a:lstStyle/>
          <a:p>
            <a:pPr algn="ctr"/>
            <a:r>
              <a:rPr lang="en-US" b="1" dirty="0"/>
              <a:t>CS-4301</a:t>
            </a:r>
            <a:br>
              <a:rPr lang="en-US" b="1" dirty="0"/>
            </a:br>
            <a:r>
              <a:rPr lang="en-US" b="1" dirty="0"/>
              <a:t>Compiler Construction</a:t>
            </a:r>
          </a:p>
        </p:txBody>
      </p:sp>
      <p:sp>
        <p:nvSpPr>
          <p:cNvPr id="2052" name="Rectangle 4"/>
          <p:cNvSpPr>
            <a:spLocks noChangeArrowheads="1"/>
          </p:cNvSpPr>
          <p:nvPr/>
        </p:nvSpPr>
        <p:spPr bwMode="auto">
          <a:xfrm>
            <a:off x="2362200" y="5791200"/>
            <a:ext cx="7315200" cy="457200"/>
          </a:xfrm>
          <a:prstGeom prst="rect">
            <a:avLst/>
          </a:prstGeom>
          <a:noFill/>
          <a:ln w="9525">
            <a:noFill/>
            <a:miter lim="800000"/>
            <a:headEnd/>
            <a:tailEnd/>
          </a:ln>
          <a:effectLst/>
        </p:spPr>
        <p:txBody>
          <a:bodyPr/>
          <a:lstStyle/>
          <a:p>
            <a:pPr algn="ctr"/>
            <a:r>
              <a:rPr lang="en-US"/>
              <a:t>National University of Computer and Emerging Sciences, Islamabad</a:t>
            </a:r>
            <a:endParaRPr lang="en-US" dirty="0"/>
          </a:p>
        </p:txBody>
      </p:sp>
      <p:sp>
        <p:nvSpPr>
          <p:cNvPr id="4" name="Title 1"/>
          <p:cNvSpPr txBox="1">
            <a:spLocks/>
          </p:cNvSpPr>
          <p:nvPr/>
        </p:nvSpPr>
        <p:spPr>
          <a:xfrm>
            <a:off x="762000" y="3233016"/>
            <a:ext cx="10515600" cy="1325563"/>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dirty="0">
                <a:latin typeface="+mn-lt"/>
                <a:ea typeface="+mn-ea"/>
                <a:cs typeface="+mn-cs"/>
              </a:rPr>
              <a:t>Week 01</a:t>
            </a:r>
          </a:p>
          <a:p>
            <a:r>
              <a:rPr lang="en-US" altLang="en-US" dirty="0">
                <a:latin typeface="+mn-lt"/>
                <a:ea typeface="+mn-ea"/>
                <a:cs typeface="+mn-cs"/>
              </a:rPr>
              <a:t>Lecture</a:t>
            </a:r>
          </a:p>
        </p:txBody>
      </p:sp>
      <p:sp>
        <p:nvSpPr>
          <p:cNvPr id="2" name="Slide Number Placeholder 1">
            <a:extLst>
              <a:ext uri="{FF2B5EF4-FFF2-40B4-BE49-F238E27FC236}">
                <a16:creationId xmlns:a16="http://schemas.microsoft.com/office/drawing/2014/main" id="{132DD332-30CE-1437-2437-ACB303C358F7}"/>
              </a:ext>
            </a:extLst>
          </p:cNvPr>
          <p:cNvSpPr>
            <a:spLocks noGrp="1"/>
          </p:cNvSpPr>
          <p:nvPr>
            <p:ph type="sldNum" sz="quarter" idx="12"/>
          </p:nvPr>
        </p:nvSpPr>
        <p:spPr/>
        <p:txBody>
          <a:bodyPr/>
          <a:lstStyle/>
          <a:p>
            <a:fld id="{AB86D660-B180-40FF-8373-2B84F1D09655}" type="slidenum">
              <a:rPr lang="en-US" smtClean="0"/>
              <a:t>1</a:t>
            </a:fld>
            <a:endParaRPr lang="en-US"/>
          </a:p>
        </p:txBody>
      </p:sp>
    </p:spTree>
    <p:extLst>
      <p:ext uri="{BB962C8B-B14F-4D97-AF65-F5344CB8AC3E}">
        <p14:creationId xmlns:p14="http://schemas.microsoft.com/office/powerpoint/2010/main" val="27816333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p:cNvSpPr>
            <a:spLocks noGrp="1" noChangeArrowheads="1"/>
          </p:cNvSpPr>
          <p:nvPr>
            <p:ph idx="4294967295"/>
          </p:nvPr>
        </p:nvSpPr>
        <p:spPr>
          <a:xfrm>
            <a:off x="1114425" y="1620838"/>
            <a:ext cx="11077575" cy="4395787"/>
          </a:xfrm>
          <a:ln/>
        </p:spPr>
        <p:txBody>
          <a:bodyPr/>
          <a:lstStyle/>
          <a:p>
            <a:pPr marL="273050" indent="-273050">
              <a:lnSpc>
                <a:spcPct val="80000"/>
              </a:lnSpc>
            </a:pPr>
            <a:endParaRPr lang="en-US" sz="2400" dirty="0"/>
          </a:p>
          <a:p>
            <a:pPr marL="273050" indent="-273050"/>
            <a:endParaRPr lang="en-US" sz="3600" dirty="0"/>
          </a:p>
          <a:p>
            <a:r>
              <a:rPr lang="en-US" sz="3600" dirty="0"/>
              <a:t>Google Classroom: </a:t>
            </a:r>
            <a:r>
              <a:rPr lang="en-US" sz="3600" i="1" dirty="0"/>
              <a:t>CS-4031 Compiler Construction</a:t>
            </a:r>
          </a:p>
          <a:p>
            <a:r>
              <a:rPr lang="en-US" sz="3600" dirty="0"/>
              <a:t>Class Code: </a:t>
            </a:r>
            <a:r>
              <a:rPr lang="en-US" sz="3600" i="1" dirty="0"/>
              <a:t>s</a:t>
            </a:r>
            <a:r>
              <a:rPr lang="en-US" sz="3600" dirty="0"/>
              <a:t>ijz3z3</a:t>
            </a:r>
          </a:p>
        </p:txBody>
      </p:sp>
      <p:sp>
        <p:nvSpPr>
          <p:cNvPr id="3074" name="Slide Number Placeholder 5"/>
          <p:cNvSpPr txBox="1">
            <a:spLocks noGrp="1"/>
          </p:cNvSpPr>
          <p:nvPr/>
        </p:nvSpPr>
        <p:spPr>
          <a:xfrm>
            <a:off x="9448800" y="6356351"/>
            <a:ext cx="762000" cy="365125"/>
          </a:xfrm>
          <a:prstGeom prst="rect">
            <a:avLst/>
          </a:prstGeom>
          <a:noFill/>
        </p:spPr>
        <p:txBody>
          <a:bodyPr lIns="0" tIns="0" rIns="0" bIns="0" anchor="b">
            <a:normAutofit/>
          </a:bodyPr>
          <a:lstStyle/>
          <a:p>
            <a:pPr algn="r"/>
            <a:endParaRPr lang="en-US" sz="1200">
              <a:solidFill>
                <a:srgbClr val="045C75"/>
              </a:solidFill>
            </a:endParaRPr>
          </a:p>
        </p:txBody>
      </p:sp>
      <p:sp>
        <p:nvSpPr>
          <p:cNvPr id="92165" name="Title 1"/>
          <p:cNvSpPr>
            <a:spLocks/>
          </p:cNvSpPr>
          <p:nvPr/>
        </p:nvSpPr>
        <p:spPr bwMode="auto">
          <a:xfrm>
            <a:off x="394855" y="152400"/>
            <a:ext cx="11450781" cy="1198418"/>
          </a:xfrm>
          <a:prstGeom prst="rect">
            <a:avLst/>
          </a:prstGeom>
          <a:noFill/>
          <a:ln w="9525">
            <a:noFill/>
            <a:miter lim="800000"/>
            <a:headEnd/>
            <a:tailEnd/>
          </a:ln>
          <a:effectLst/>
        </p:spPr>
        <p:txBody>
          <a:bodyPr lIns="0" rIns="0" bIns="0" anchor="b"/>
          <a:lstStyle/>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p:txBody>
      </p:sp>
      <p:sp>
        <p:nvSpPr>
          <p:cNvPr id="5" name="Title 1"/>
          <p:cNvSpPr>
            <a:spLocks/>
          </p:cNvSpPr>
          <p:nvPr/>
        </p:nvSpPr>
        <p:spPr bwMode="auto">
          <a:xfrm>
            <a:off x="877587" y="661121"/>
            <a:ext cx="9483436" cy="1239982"/>
          </a:xfrm>
          <a:prstGeom prst="rect">
            <a:avLst/>
          </a:prstGeom>
          <a:noFill/>
          <a:ln w="9525">
            <a:noFill/>
            <a:miter lim="800000"/>
            <a:headEnd/>
            <a:tailEnd/>
          </a:ln>
          <a:effectLst/>
        </p:spPr>
        <p:txBody>
          <a:bodyPr lIns="0" rIns="0" bIns="0" anchor="b"/>
          <a:lstStyle/>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endParaRPr lang="en-US" sz="4200" b="1" dirty="0">
              <a:solidFill>
                <a:schemeClr val="tx2"/>
              </a:solidFill>
              <a:latin typeface="Garamond" pitchFamily="18" charset="0"/>
            </a:endParaRPr>
          </a:p>
          <a:p>
            <a:pPr marL="273050" indent="-273050"/>
            <a:r>
              <a:rPr lang="en-US" sz="4400" dirty="0"/>
              <a:t>Online course Content &amp; Coordination</a:t>
            </a:r>
          </a:p>
        </p:txBody>
      </p:sp>
      <p:sp>
        <p:nvSpPr>
          <p:cNvPr id="2" name="Slide Number Placeholder 1">
            <a:extLst>
              <a:ext uri="{FF2B5EF4-FFF2-40B4-BE49-F238E27FC236}">
                <a16:creationId xmlns:a16="http://schemas.microsoft.com/office/drawing/2014/main" id="{802F4A39-9A02-D9EE-7C73-410F00CCCA7F}"/>
              </a:ext>
            </a:extLst>
          </p:cNvPr>
          <p:cNvSpPr>
            <a:spLocks noGrp="1"/>
          </p:cNvSpPr>
          <p:nvPr>
            <p:ph type="sldNum" sz="quarter" idx="12"/>
          </p:nvPr>
        </p:nvSpPr>
        <p:spPr/>
        <p:txBody>
          <a:bodyPr/>
          <a:lstStyle/>
          <a:p>
            <a:fld id="{AB86D660-B180-40FF-8373-2B84F1D09655}" type="slidenum">
              <a:rPr lang="en-US" smtClean="0"/>
              <a:t>2</a:t>
            </a:fld>
            <a:endParaRPr lang="en-US"/>
          </a:p>
        </p:txBody>
      </p:sp>
    </p:spTree>
    <p:extLst>
      <p:ext uri="{BB962C8B-B14F-4D97-AF65-F5344CB8AC3E}">
        <p14:creationId xmlns:p14="http://schemas.microsoft.com/office/powerpoint/2010/main" val="2463049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kern="1200" dirty="0">
                <a:latin typeface="+mn-lt"/>
                <a:ea typeface="+mn-ea"/>
                <a:cs typeface="+mn-cs"/>
              </a:rPr>
              <a:t>Course Instructor’s and TA’s Information</a:t>
            </a:r>
          </a:p>
        </p:txBody>
      </p:sp>
      <p:sp>
        <p:nvSpPr>
          <p:cNvPr id="5123" name="Content Placeholder 2"/>
          <p:cNvSpPr>
            <a:spLocks noGrp="1"/>
          </p:cNvSpPr>
          <p:nvPr>
            <p:ph idx="1"/>
          </p:nvPr>
        </p:nvSpPr>
        <p:spPr>
          <a:xfrm>
            <a:off x="1981200" y="1570038"/>
            <a:ext cx="8229600" cy="4525963"/>
          </a:xfrm>
        </p:spPr>
        <p:txBody>
          <a:bodyPr/>
          <a:lstStyle/>
          <a:p>
            <a:pPr marL="0" indent="0">
              <a:buNone/>
              <a:defRPr/>
            </a:pPr>
            <a:r>
              <a:rPr lang="en-US" altLang="en-US" dirty="0"/>
              <a:t>Course Instructor: </a:t>
            </a:r>
            <a:r>
              <a:rPr lang="en-US" altLang="en-US" dirty="0" err="1"/>
              <a:t>Amna</a:t>
            </a:r>
            <a:r>
              <a:rPr lang="en-US" altLang="en-US" dirty="0"/>
              <a:t> </a:t>
            </a:r>
            <a:r>
              <a:rPr lang="en-US" altLang="en-US" dirty="0" err="1"/>
              <a:t>Irum</a:t>
            </a:r>
            <a:endParaRPr lang="en-US" altLang="en-US" dirty="0"/>
          </a:p>
          <a:p>
            <a:pPr marL="0" indent="0">
              <a:buNone/>
              <a:defRPr/>
            </a:pPr>
            <a:endParaRPr lang="en-US" altLang="en-US" dirty="0"/>
          </a:p>
          <a:p>
            <a:pPr eaLnBrk="1" hangingPunct="1">
              <a:defRPr/>
            </a:pPr>
            <a:r>
              <a:rPr lang="en-US" altLang="en-US" dirty="0"/>
              <a:t>E-mail: </a:t>
            </a:r>
            <a:r>
              <a:rPr lang="en-US" altLang="en-US" dirty="0">
                <a:hlinkClick r:id="rId2"/>
              </a:rPr>
              <a:t>amna.irum@nu.edu.pk</a:t>
            </a:r>
            <a:endParaRPr lang="en-US" altLang="en-US" dirty="0"/>
          </a:p>
          <a:p>
            <a:pPr eaLnBrk="1" hangingPunct="1">
              <a:defRPr/>
            </a:pPr>
            <a:r>
              <a:rPr lang="en-US" altLang="en-US" dirty="0"/>
              <a:t>Office : CS block  </a:t>
            </a:r>
            <a:r>
              <a:rPr lang="en-US" altLang="en-US" dirty="0" smtClean="0"/>
              <a:t>C-110</a:t>
            </a:r>
            <a:endParaRPr lang="en-US" altLang="en-US" dirty="0"/>
          </a:p>
          <a:p>
            <a:pPr eaLnBrk="1" hangingPunct="1">
              <a:defRPr/>
            </a:pPr>
            <a:r>
              <a:rPr lang="en-US" altLang="en-US" dirty="0"/>
              <a:t>Office Hours</a:t>
            </a:r>
          </a:p>
          <a:p>
            <a:pPr lvl="1" eaLnBrk="1" hangingPunct="1">
              <a:defRPr/>
            </a:pPr>
            <a:r>
              <a:rPr lang="en-US" altLang="en-US" dirty="0"/>
              <a:t>1000 – 1245 </a:t>
            </a:r>
            <a:r>
              <a:rPr lang="en-US" altLang="en-US" dirty="0" err="1"/>
              <a:t>hrs</a:t>
            </a:r>
            <a:r>
              <a:rPr lang="en-US" altLang="en-US" dirty="0"/>
              <a:t> (Monday, Wednesday)</a:t>
            </a:r>
          </a:p>
          <a:p>
            <a:pPr lvl="1" eaLnBrk="1" hangingPunct="1">
              <a:defRPr/>
            </a:pPr>
            <a:r>
              <a:rPr lang="en-US" altLang="en-US" dirty="0"/>
              <a:t>0845 – 1000 </a:t>
            </a:r>
            <a:r>
              <a:rPr lang="en-US" altLang="en-US" dirty="0" err="1"/>
              <a:t>hrs</a:t>
            </a:r>
            <a:r>
              <a:rPr lang="en-US" altLang="en-US" dirty="0"/>
              <a:t> (Tuesday, Thursday) </a:t>
            </a:r>
          </a:p>
          <a:p>
            <a:pPr marL="0" indent="0">
              <a:buNone/>
              <a:defRPr/>
            </a:pPr>
            <a:r>
              <a:rPr lang="en-US" altLang="en-US" dirty="0"/>
              <a:t>TA: To be decided</a:t>
            </a:r>
          </a:p>
        </p:txBody>
      </p:sp>
      <p:sp>
        <p:nvSpPr>
          <p:cNvPr id="410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965334-FCA6-4ED0-AFEC-2CCA52E28F55}" type="slidenum">
              <a:rPr lang="en-US" altLang="en-US" sz="1200">
                <a:solidFill>
                  <a:srgbClr val="898989"/>
                </a:solidFill>
              </a:rPr>
              <a:pPr>
                <a:spcBef>
                  <a:spcPct val="0"/>
                </a:spcBef>
                <a:buFontTx/>
                <a:buNone/>
              </a:pPr>
              <a:t>3</a:t>
            </a:fld>
            <a:endParaRPr lang="en-US" altLang="en-US" sz="1200">
              <a:solidFill>
                <a:srgbClr val="898989"/>
              </a:solidFill>
            </a:endParaRPr>
          </a:p>
        </p:txBody>
      </p:sp>
    </p:spTree>
    <p:extLst>
      <p:ext uri="{BB962C8B-B14F-4D97-AF65-F5344CB8AC3E}">
        <p14:creationId xmlns:p14="http://schemas.microsoft.com/office/powerpoint/2010/main" val="7223210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book and reference material</a:t>
            </a:r>
          </a:p>
        </p:txBody>
      </p:sp>
      <p:sp>
        <p:nvSpPr>
          <p:cNvPr id="3" name="Content Placeholder 2"/>
          <p:cNvSpPr>
            <a:spLocks noGrp="1"/>
          </p:cNvSpPr>
          <p:nvPr>
            <p:ph idx="1"/>
          </p:nvPr>
        </p:nvSpPr>
        <p:spPr/>
        <p:txBody>
          <a:bodyPr/>
          <a:lstStyle/>
          <a:p>
            <a:r>
              <a:rPr lang="en-US" sz="3200" b="1" dirty="0"/>
              <a:t>Compiler Construction: Principles and Practice</a:t>
            </a:r>
          </a:p>
          <a:p>
            <a:r>
              <a:rPr lang="en-US" sz="3200" b="1" dirty="0"/>
              <a:t>by </a:t>
            </a:r>
            <a:r>
              <a:rPr lang="en-US" sz="3200" b="1" dirty="0">
                <a:hlinkClick r:id="rId2"/>
              </a:rPr>
              <a:t>Kenneth C. Louden</a:t>
            </a:r>
            <a:endParaRPr lang="en-US" sz="3200" b="1" dirty="0"/>
          </a:p>
          <a:p>
            <a:endParaRPr lang="en-US" sz="3200" b="1" dirty="0"/>
          </a:p>
          <a:p>
            <a:r>
              <a:rPr lang="en-US" sz="3200" b="1" dirty="0"/>
              <a:t>Compilers Principles, Techniques, and Tools </a:t>
            </a:r>
          </a:p>
          <a:p>
            <a:pPr marL="0" indent="0">
              <a:buNone/>
            </a:pPr>
            <a:r>
              <a:rPr lang="en-US" sz="3200" b="1" dirty="0"/>
              <a:t> by  Alfred V. </a:t>
            </a:r>
            <a:r>
              <a:rPr lang="en-US" sz="3200" b="1" dirty="0" err="1"/>
              <a:t>Aho</a:t>
            </a:r>
            <a:r>
              <a:rPr lang="en-US" sz="3200" b="1" dirty="0"/>
              <a:t>, Ravi </a:t>
            </a:r>
            <a:r>
              <a:rPr lang="en-US" sz="3200" b="1" dirty="0" err="1"/>
              <a:t>Sethi</a:t>
            </a:r>
            <a:r>
              <a:rPr lang="en-US" sz="3200" b="1" dirty="0"/>
              <a:t>, Jeffrey D. Ullman </a:t>
            </a:r>
          </a:p>
          <a:p>
            <a:pPr marL="0" indent="0">
              <a:buNone/>
            </a:pPr>
            <a:endParaRPr lang="en-US" dirty="0">
              <a:effectLst/>
            </a:endParaRPr>
          </a:p>
        </p:txBody>
      </p:sp>
      <p:sp>
        <p:nvSpPr>
          <p:cNvPr id="4" name="Slide Number Placeholder 3">
            <a:extLst>
              <a:ext uri="{FF2B5EF4-FFF2-40B4-BE49-F238E27FC236}">
                <a16:creationId xmlns:a16="http://schemas.microsoft.com/office/drawing/2014/main" id="{A8CFC9BE-1D64-5605-938E-BB186ED4EF9A}"/>
              </a:ext>
            </a:extLst>
          </p:cNvPr>
          <p:cNvSpPr>
            <a:spLocks noGrp="1"/>
          </p:cNvSpPr>
          <p:nvPr>
            <p:ph type="sldNum" sz="quarter" idx="12"/>
          </p:nvPr>
        </p:nvSpPr>
        <p:spPr/>
        <p:txBody>
          <a:bodyPr/>
          <a:lstStyle/>
          <a:p>
            <a:fld id="{AB86D660-B180-40FF-8373-2B84F1D09655}" type="slidenum">
              <a:rPr lang="en-US" smtClean="0"/>
              <a:t>4</a:t>
            </a:fld>
            <a:endParaRPr lang="en-US"/>
          </a:p>
        </p:txBody>
      </p:sp>
    </p:spTree>
    <p:extLst>
      <p:ext uri="{BB962C8B-B14F-4D97-AF65-F5344CB8AC3E}">
        <p14:creationId xmlns:p14="http://schemas.microsoft.com/office/powerpoint/2010/main" val="21349371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815471"/>
            <a:ext cx="10515600" cy="1325563"/>
          </a:xfrm>
        </p:spPr>
        <p:txBody>
          <a:bodyPr/>
          <a:lstStyle/>
          <a:p>
            <a:r>
              <a:rPr lang="en-US" b="1" dirty="0"/>
              <a:t>Course Learning Outcomes </a:t>
            </a:r>
            <a:br>
              <a:rPr lang="en-US" b="1" dirty="0"/>
            </a:br>
            <a:endParaRPr lang="en-US" dirty="0"/>
          </a:p>
        </p:txBody>
      </p:sp>
      <p:sp>
        <p:nvSpPr>
          <p:cNvPr id="6" name="Content Placeholder 5"/>
          <p:cNvSpPr>
            <a:spLocks noGrp="1"/>
          </p:cNvSpPr>
          <p:nvPr>
            <p:ph idx="1"/>
          </p:nvPr>
        </p:nvSpPr>
        <p:spPr/>
        <p:txBody>
          <a:bodyPr>
            <a:normAutofit/>
          </a:bodyPr>
          <a:lstStyle/>
          <a:p>
            <a:pPr marL="514350" indent="-514350" algn="just">
              <a:buFont typeface="+mj-lt"/>
              <a:buAutoNum type="arabicPeriod"/>
            </a:pPr>
            <a:r>
              <a:rPr lang="en-US" sz="2000" dirty="0"/>
              <a:t>Translate and interpret computer languages,</a:t>
            </a:r>
          </a:p>
          <a:p>
            <a:pPr marL="514350" indent="-514350" algn="just">
              <a:buFont typeface="+mj-lt"/>
              <a:buAutoNum type="arabicPeriod"/>
            </a:pPr>
            <a:r>
              <a:rPr lang="en-US" sz="2000" dirty="0"/>
              <a:t>The basic theory of compilers.</a:t>
            </a:r>
          </a:p>
          <a:p>
            <a:pPr marL="514350" indent="-514350" algn="just">
              <a:buFont typeface="+mj-lt"/>
              <a:buAutoNum type="arabicPeriod"/>
            </a:pPr>
            <a:r>
              <a:rPr lang="en-US" sz="2000" dirty="0"/>
              <a:t>Evaluate the issues involved in implementing a compiler</a:t>
            </a:r>
          </a:p>
          <a:p>
            <a:pPr marL="514350" indent="-514350" algn="just">
              <a:buFont typeface="+mj-lt"/>
              <a:buAutoNum type="arabicPeriod"/>
            </a:pPr>
            <a:r>
              <a:rPr lang="en-US" sz="2000" dirty="0"/>
              <a:t>Better knowledge about how a compiler works</a:t>
            </a:r>
          </a:p>
          <a:p>
            <a:pPr marL="514350" indent="-514350" algn="just">
              <a:buFont typeface="+mj-lt"/>
              <a:buAutoNum type="arabicPeriod"/>
            </a:pPr>
            <a:r>
              <a:rPr lang="en-US" sz="2000" dirty="0"/>
              <a:t>Design parsers and compilers for any language</a:t>
            </a:r>
          </a:p>
          <a:p>
            <a:endParaRPr lang="en-US" sz="2000" dirty="0"/>
          </a:p>
        </p:txBody>
      </p:sp>
      <p:sp>
        <p:nvSpPr>
          <p:cNvPr id="3" name="Slide Number Placeholder 2">
            <a:extLst>
              <a:ext uri="{FF2B5EF4-FFF2-40B4-BE49-F238E27FC236}">
                <a16:creationId xmlns:a16="http://schemas.microsoft.com/office/drawing/2014/main" id="{D4C4BB49-16EC-AD22-ED21-90B2F50DD0FC}"/>
              </a:ext>
            </a:extLst>
          </p:cNvPr>
          <p:cNvSpPr>
            <a:spLocks noGrp="1"/>
          </p:cNvSpPr>
          <p:nvPr>
            <p:ph type="sldNum" sz="quarter" idx="12"/>
          </p:nvPr>
        </p:nvSpPr>
        <p:spPr/>
        <p:txBody>
          <a:bodyPr/>
          <a:lstStyle/>
          <a:p>
            <a:fld id="{AB86D660-B180-40FF-8373-2B84F1D09655}" type="slidenum">
              <a:rPr lang="en-US" smtClean="0"/>
              <a:t>5</a:t>
            </a:fld>
            <a:endParaRPr lang="en-US"/>
          </a:p>
        </p:txBody>
      </p:sp>
    </p:spTree>
    <p:extLst>
      <p:ext uri="{BB962C8B-B14F-4D97-AF65-F5344CB8AC3E}">
        <p14:creationId xmlns:p14="http://schemas.microsoft.com/office/powerpoint/2010/main" val="20496274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t>Compilers and Interpreters</a:t>
            </a:r>
          </a:p>
        </p:txBody>
      </p:sp>
      <p:sp>
        <p:nvSpPr>
          <p:cNvPr id="9219" name="Rectangle 3"/>
          <p:cNvSpPr>
            <a:spLocks noGrp="1" noChangeArrowheads="1"/>
          </p:cNvSpPr>
          <p:nvPr>
            <p:ph idx="1"/>
          </p:nvPr>
        </p:nvSpPr>
        <p:spPr>
          <a:xfrm>
            <a:off x="438150" y="1773238"/>
            <a:ext cx="10576213" cy="1371600"/>
          </a:xfrm>
        </p:spPr>
        <p:txBody>
          <a:bodyPr>
            <a:normAutofit/>
          </a:bodyPr>
          <a:lstStyle/>
          <a:p>
            <a:pPr marL="457200" lvl="1" indent="0">
              <a:buNone/>
            </a:pPr>
            <a:r>
              <a:rPr lang="en-US" altLang="en-US" sz="2800" dirty="0"/>
              <a:t>Translation of a program written in a source language into a semantically equivalent program written in a target language</a:t>
            </a:r>
          </a:p>
        </p:txBody>
      </p:sp>
      <p:sp>
        <p:nvSpPr>
          <p:cNvPr id="922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557213" indent="-214313">
              <a:defRPr>
                <a:solidFill>
                  <a:schemeClr val="tx1"/>
                </a:solidFill>
                <a:latin typeface="Arial" panose="020B0604020202020204" pitchFamily="34" charset="0"/>
              </a:defRPr>
            </a:lvl2pPr>
            <a:lvl3pPr marL="857250" indent="-171450">
              <a:defRPr>
                <a:solidFill>
                  <a:schemeClr val="tx1"/>
                </a:solidFill>
                <a:latin typeface="Arial" panose="020B0604020202020204" pitchFamily="34" charset="0"/>
              </a:defRPr>
            </a:lvl3pPr>
            <a:lvl4pPr marL="1200150" indent="-171450">
              <a:defRPr>
                <a:solidFill>
                  <a:schemeClr val="tx1"/>
                </a:solidFill>
                <a:latin typeface="Arial" panose="020B0604020202020204" pitchFamily="34" charset="0"/>
              </a:defRPr>
            </a:lvl4pPr>
            <a:lvl5pPr marL="1543050" indent="-171450">
              <a:defRPr>
                <a:solidFill>
                  <a:schemeClr val="tx1"/>
                </a:solidFill>
                <a:latin typeface="Arial" panose="020B0604020202020204" pitchFamily="34" charset="0"/>
              </a:defRPr>
            </a:lvl5pPr>
            <a:lvl6pPr marL="2000250" indent="-171450" defTabSz="457200" fontAlgn="base">
              <a:spcBef>
                <a:spcPct val="0"/>
              </a:spcBef>
              <a:spcAft>
                <a:spcPct val="0"/>
              </a:spcAft>
              <a:defRPr>
                <a:solidFill>
                  <a:schemeClr val="tx1"/>
                </a:solidFill>
                <a:latin typeface="Arial" panose="020B0604020202020204" pitchFamily="34" charset="0"/>
              </a:defRPr>
            </a:lvl6pPr>
            <a:lvl7pPr marL="2457450" indent="-171450" defTabSz="457200" fontAlgn="base">
              <a:spcBef>
                <a:spcPct val="0"/>
              </a:spcBef>
              <a:spcAft>
                <a:spcPct val="0"/>
              </a:spcAft>
              <a:defRPr>
                <a:solidFill>
                  <a:schemeClr val="tx1"/>
                </a:solidFill>
                <a:latin typeface="Arial" panose="020B0604020202020204" pitchFamily="34" charset="0"/>
              </a:defRPr>
            </a:lvl7pPr>
            <a:lvl8pPr marL="2914650" indent="-171450" defTabSz="457200" fontAlgn="base">
              <a:spcBef>
                <a:spcPct val="0"/>
              </a:spcBef>
              <a:spcAft>
                <a:spcPct val="0"/>
              </a:spcAft>
              <a:defRPr>
                <a:solidFill>
                  <a:schemeClr val="tx1"/>
                </a:solidFill>
                <a:latin typeface="Arial" panose="020B0604020202020204" pitchFamily="34" charset="0"/>
              </a:defRPr>
            </a:lvl8pPr>
            <a:lvl9pPr marL="3371850" indent="-17145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2E6CD771-C890-4AC6-8AC1-17AAE4DE9290}" type="slidenum">
              <a:rPr lang="en-US" altLang="en-US">
                <a:latin typeface="Times New Roman" panose="02020603050405020304" pitchFamily="18" charset="0"/>
              </a:rPr>
              <a:pPr fontAlgn="base">
                <a:spcBef>
                  <a:spcPct val="0"/>
                </a:spcBef>
                <a:spcAft>
                  <a:spcPct val="0"/>
                </a:spcAft>
              </a:pPr>
              <a:t>6</a:t>
            </a:fld>
            <a:endParaRPr lang="en-US" altLang="en-US">
              <a:latin typeface="Times New Roman" panose="02020603050405020304" pitchFamily="18" charset="0"/>
            </a:endParaRPr>
          </a:p>
        </p:txBody>
      </p:sp>
      <p:sp>
        <p:nvSpPr>
          <p:cNvPr id="8197" name="Rectangle 4">
            <a:extLst>
              <a:ext uri="{FF2B5EF4-FFF2-40B4-BE49-F238E27FC236}">
                <a16:creationId xmlns:a16="http://schemas.microsoft.com/office/drawing/2014/main" id="{EB4DB5E9-8FE1-481B-82DC-E0C35F004BBF}"/>
              </a:ext>
            </a:extLst>
          </p:cNvPr>
          <p:cNvSpPr>
            <a:spLocks noChangeArrowheads="1"/>
          </p:cNvSpPr>
          <p:nvPr/>
        </p:nvSpPr>
        <p:spPr bwMode="auto">
          <a:xfrm>
            <a:off x="5067300" y="4457700"/>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dirty="0"/>
              <a:t>Compiler</a:t>
            </a:r>
          </a:p>
        </p:txBody>
      </p:sp>
      <p:sp>
        <p:nvSpPr>
          <p:cNvPr id="8198" name="Line 5">
            <a:extLst>
              <a:ext uri="{FF2B5EF4-FFF2-40B4-BE49-F238E27FC236}">
                <a16:creationId xmlns:a16="http://schemas.microsoft.com/office/drawing/2014/main" id="{865ED754-8F8B-42FF-ABBE-4F6BCAC5A22F}"/>
              </a:ext>
            </a:extLst>
          </p:cNvPr>
          <p:cNvSpPr>
            <a:spLocks noChangeShapeType="1"/>
          </p:cNvSpPr>
          <p:nvPr/>
        </p:nvSpPr>
        <p:spPr bwMode="auto">
          <a:xfrm>
            <a:off x="3981450" y="4800600"/>
            <a:ext cx="1085850" cy="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199" name="Line 6">
            <a:extLst>
              <a:ext uri="{FF2B5EF4-FFF2-40B4-BE49-F238E27FC236}">
                <a16:creationId xmlns:a16="http://schemas.microsoft.com/office/drawing/2014/main" id="{DA9F3E62-0C4D-45B9-8F51-12CD4C8DCAA9}"/>
              </a:ext>
            </a:extLst>
          </p:cNvPr>
          <p:cNvSpPr>
            <a:spLocks noChangeShapeType="1"/>
          </p:cNvSpPr>
          <p:nvPr/>
        </p:nvSpPr>
        <p:spPr bwMode="auto">
          <a:xfrm>
            <a:off x="5981700" y="5143500"/>
            <a:ext cx="0" cy="4000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0" name="Text Box 7">
            <a:extLst>
              <a:ext uri="{FF2B5EF4-FFF2-40B4-BE49-F238E27FC236}">
                <a16:creationId xmlns:a16="http://schemas.microsoft.com/office/drawing/2014/main" id="{94892CE5-7EC8-4383-8E96-7F21EFF34791}"/>
              </a:ext>
            </a:extLst>
          </p:cNvPr>
          <p:cNvSpPr txBox="1">
            <a:spLocks noChangeArrowheads="1"/>
          </p:cNvSpPr>
          <p:nvPr/>
        </p:nvSpPr>
        <p:spPr bwMode="auto">
          <a:xfrm>
            <a:off x="5238750" y="5486400"/>
            <a:ext cx="124777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Error messages</a:t>
            </a:r>
          </a:p>
        </p:txBody>
      </p:sp>
      <p:sp>
        <p:nvSpPr>
          <p:cNvPr id="8201" name="Text Box 8">
            <a:extLst>
              <a:ext uri="{FF2B5EF4-FFF2-40B4-BE49-F238E27FC236}">
                <a16:creationId xmlns:a16="http://schemas.microsoft.com/office/drawing/2014/main" id="{E597B096-6952-4025-BD9E-72632591A499}"/>
              </a:ext>
            </a:extLst>
          </p:cNvPr>
          <p:cNvSpPr txBox="1">
            <a:spLocks noChangeArrowheads="1"/>
          </p:cNvSpPr>
          <p:nvPr/>
        </p:nvSpPr>
        <p:spPr bwMode="auto">
          <a:xfrm>
            <a:off x="3138488" y="4514850"/>
            <a:ext cx="7810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Source</a:t>
            </a:r>
          </a:p>
          <a:p>
            <a:pPr algn="ctr" eaLnBrk="1" fontAlgn="auto" hangingPunct="1">
              <a:spcBef>
                <a:spcPts val="0"/>
              </a:spcBef>
              <a:spcAft>
                <a:spcPts val="0"/>
              </a:spcAft>
              <a:defRPr/>
            </a:pPr>
            <a:r>
              <a:rPr lang="en-US" altLang="en-US" sz="1350"/>
              <a:t>Program</a:t>
            </a:r>
          </a:p>
        </p:txBody>
      </p:sp>
      <p:sp>
        <p:nvSpPr>
          <p:cNvPr id="8202" name="Line 9">
            <a:extLst>
              <a:ext uri="{FF2B5EF4-FFF2-40B4-BE49-F238E27FC236}">
                <a16:creationId xmlns:a16="http://schemas.microsoft.com/office/drawing/2014/main" id="{5B74F829-4F66-44BC-844F-029EAC717D2A}"/>
              </a:ext>
            </a:extLst>
          </p:cNvPr>
          <p:cNvSpPr>
            <a:spLocks noChangeShapeType="1"/>
          </p:cNvSpPr>
          <p:nvPr/>
        </p:nvSpPr>
        <p:spPr bwMode="auto">
          <a:xfrm>
            <a:off x="6896100" y="4800600"/>
            <a:ext cx="1085850" cy="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3" name="Rectangle 10">
            <a:extLst>
              <a:ext uri="{FF2B5EF4-FFF2-40B4-BE49-F238E27FC236}">
                <a16:creationId xmlns:a16="http://schemas.microsoft.com/office/drawing/2014/main" id="{318F2B34-AECC-4E7E-BF1F-B400AE676AA0}"/>
              </a:ext>
            </a:extLst>
          </p:cNvPr>
          <p:cNvSpPr>
            <a:spLocks noChangeArrowheads="1"/>
          </p:cNvSpPr>
          <p:nvPr/>
        </p:nvSpPr>
        <p:spPr bwMode="auto">
          <a:xfrm>
            <a:off x="7981950" y="4457700"/>
            <a:ext cx="1143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Target</a:t>
            </a:r>
          </a:p>
          <a:p>
            <a:pPr algn="ctr" eaLnBrk="1" fontAlgn="auto" hangingPunct="1">
              <a:spcBef>
                <a:spcPts val="0"/>
              </a:spcBef>
              <a:spcAft>
                <a:spcPts val="0"/>
              </a:spcAft>
              <a:defRPr/>
            </a:pPr>
            <a:r>
              <a:rPr lang="en-US" altLang="en-US" sz="1350"/>
              <a:t>Program</a:t>
            </a:r>
          </a:p>
        </p:txBody>
      </p:sp>
      <p:sp>
        <p:nvSpPr>
          <p:cNvPr id="8204" name="Line 11">
            <a:extLst>
              <a:ext uri="{FF2B5EF4-FFF2-40B4-BE49-F238E27FC236}">
                <a16:creationId xmlns:a16="http://schemas.microsoft.com/office/drawing/2014/main" id="{D91C466A-6CF8-41E1-A06B-C30734CE1CC0}"/>
              </a:ext>
            </a:extLst>
          </p:cNvPr>
          <p:cNvSpPr>
            <a:spLocks noChangeShapeType="1"/>
          </p:cNvSpPr>
          <p:nvPr/>
        </p:nvSpPr>
        <p:spPr bwMode="auto">
          <a:xfrm>
            <a:off x="8553450" y="5143500"/>
            <a:ext cx="0" cy="4000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5" name="Line 12">
            <a:extLst>
              <a:ext uri="{FF2B5EF4-FFF2-40B4-BE49-F238E27FC236}">
                <a16:creationId xmlns:a16="http://schemas.microsoft.com/office/drawing/2014/main" id="{362C2FAE-90E1-45ED-9011-9B32F50D7422}"/>
              </a:ext>
            </a:extLst>
          </p:cNvPr>
          <p:cNvSpPr>
            <a:spLocks noChangeShapeType="1"/>
          </p:cNvSpPr>
          <p:nvPr/>
        </p:nvSpPr>
        <p:spPr bwMode="auto">
          <a:xfrm>
            <a:off x="8553450" y="4057650"/>
            <a:ext cx="0" cy="4000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6" name="Text Box 13">
            <a:extLst>
              <a:ext uri="{FF2B5EF4-FFF2-40B4-BE49-F238E27FC236}">
                <a16:creationId xmlns:a16="http://schemas.microsoft.com/office/drawing/2014/main" id="{13A616E3-3F8A-4424-988E-2AB09891F4F2}"/>
              </a:ext>
            </a:extLst>
          </p:cNvPr>
          <p:cNvSpPr txBox="1">
            <a:spLocks noChangeArrowheads="1"/>
          </p:cNvSpPr>
          <p:nvPr/>
        </p:nvSpPr>
        <p:spPr bwMode="auto">
          <a:xfrm>
            <a:off x="8267700" y="3714750"/>
            <a:ext cx="550863"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Input</a:t>
            </a:r>
          </a:p>
        </p:txBody>
      </p:sp>
      <p:sp>
        <p:nvSpPr>
          <p:cNvPr id="8207" name="Text Box 14">
            <a:extLst>
              <a:ext uri="{FF2B5EF4-FFF2-40B4-BE49-F238E27FC236}">
                <a16:creationId xmlns:a16="http://schemas.microsoft.com/office/drawing/2014/main" id="{2BB75574-A3EA-46EF-8175-C01FD5EBAE6A}"/>
              </a:ext>
            </a:extLst>
          </p:cNvPr>
          <p:cNvSpPr txBox="1">
            <a:spLocks noChangeArrowheads="1"/>
          </p:cNvSpPr>
          <p:nvPr/>
        </p:nvSpPr>
        <p:spPr bwMode="auto">
          <a:xfrm>
            <a:off x="8210550" y="5486400"/>
            <a:ext cx="665163"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Output</a:t>
            </a:r>
          </a:p>
        </p:txBody>
      </p:sp>
    </p:spTree>
    <p:extLst>
      <p:ext uri="{BB962C8B-B14F-4D97-AF65-F5344CB8AC3E}">
        <p14:creationId xmlns:p14="http://schemas.microsoft.com/office/powerpoint/2010/main" val="30861172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DF4FF-AFCC-4981-98F3-E5AFFCAF4261}"/>
              </a:ext>
            </a:extLst>
          </p:cNvPr>
          <p:cNvSpPr>
            <a:spLocks noGrp="1"/>
          </p:cNvSpPr>
          <p:nvPr>
            <p:ph type="title"/>
          </p:nvPr>
        </p:nvSpPr>
        <p:spPr>
          <a:xfrm>
            <a:off x="644237" y="606490"/>
            <a:ext cx="11159836" cy="1097620"/>
          </a:xfrm>
        </p:spPr>
        <p:txBody>
          <a:bodyPr rtlCol="0">
            <a:normAutofit fontScale="90000"/>
          </a:bodyPr>
          <a:lstStyle/>
          <a:p>
            <a:pPr fontAlgn="auto">
              <a:spcAft>
                <a:spcPts val="0"/>
              </a:spcAft>
              <a:defRPr/>
            </a:pPr>
            <a:r>
              <a:rPr lang="en-US" sz="4000" dirty="0">
                <a:latin typeface="+mn-lt"/>
              </a:rPr>
              <a:t>Why we use high-level language for programming?</a:t>
            </a:r>
            <a:endParaRPr lang="en-GB" sz="4000" dirty="0">
              <a:latin typeface="+mn-lt"/>
            </a:endParaRPr>
          </a:p>
        </p:txBody>
      </p:sp>
      <p:sp>
        <p:nvSpPr>
          <p:cNvPr id="3" name="Content Placeholder 2">
            <a:extLst>
              <a:ext uri="{FF2B5EF4-FFF2-40B4-BE49-F238E27FC236}">
                <a16:creationId xmlns:a16="http://schemas.microsoft.com/office/drawing/2014/main" id="{0CDFA269-24C6-4ED6-AC69-F305FB8DA1CF}"/>
              </a:ext>
            </a:extLst>
          </p:cNvPr>
          <p:cNvSpPr>
            <a:spLocks noGrp="1"/>
          </p:cNvSpPr>
          <p:nvPr>
            <p:ph idx="1"/>
          </p:nvPr>
        </p:nvSpPr>
        <p:spPr>
          <a:xfrm>
            <a:off x="644236" y="2133599"/>
            <a:ext cx="10492077" cy="4587875"/>
          </a:xfrm>
        </p:spPr>
        <p:txBody>
          <a:bodyPr rtlCol="0">
            <a:normAutofit/>
          </a:bodyPr>
          <a:lstStyle/>
          <a:p>
            <a:pPr marL="685800" lvl="1" indent="-385763" fontAlgn="auto">
              <a:buFont typeface="+mj-lt"/>
              <a:buAutoNum type="arabicPeriod"/>
              <a:defRPr/>
            </a:pPr>
            <a:r>
              <a:rPr lang="en-US" sz="2800" dirty="0"/>
              <a:t>Notations used by programming languages is closer to the way humans think about problems.</a:t>
            </a:r>
          </a:p>
          <a:p>
            <a:pPr marL="685800" lvl="1" indent="-385763" fontAlgn="auto">
              <a:buFont typeface="+mj-lt"/>
              <a:buAutoNum type="arabicPeriod"/>
              <a:defRPr/>
            </a:pPr>
            <a:r>
              <a:rPr lang="en-US" sz="2800" dirty="0"/>
              <a:t>The compiler can spot some obvious programming mistakes.</a:t>
            </a:r>
          </a:p>
          <a:p>
            <a:pPr marL="685800" lvl="1" indent="-385763" fontAlgn="auto">
              <a:buFont typeface="+mj-lt"/>
              <a:buAutoNum type="arabicPeriod"/>
              <a:defRPr/>
            </a:pPr>
            <a:r>
              <a:rPr lang="en-US" sz="2800" dirty="0"/>
              <a:t>Programs written in a high-level language tend to be shorter than equivalent programs written in machine language.</a:t>
            </a:r>
          </a:p>
          <a:p>
            <a:pPr marL="685800" lvl="1" indent="-385763" fontAlgn="auto">
              <a:buFont typeface="+mj-lt"/>
              <a:buAutoNum type="arabicPeriod"/>
              <a:defRPr/>
            </a:pPr>
            <a:r>
              <a:rPr lang="en-US" sz="2800" dirty="0"/>
              <a:t>The same program can be compiled to many different machine languages and, hence, be brought to run on many different machines.</a:t>
            </a:r>
            <a:endParaRPr lang="ar-SA" sz="2800" dirty="0"/>
          </a:p>
          <a:p>
            <a:pPr indent="-182880" fontAlgn="auto">
              <a:spcAft>
                <a:spcPts val="0"/>
              </a:spcAft>
              <a:defRPr/>
            </a:pPr>
            <a:endParaRPr lang="en-GB" dirty="0"/>
          </a:p>
        </p:txBody>
      </p:sp>
      <p:sp>
        <p:nvSpPr>
          <p:cNvPr id="11268"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36778191-63F8-4426-AD92-2D15E5809C57}" type="slidenum">
              <a:rPr lang="en-US" altLang="en-US"/>
              <a:pPr fontAlgn="base">
                <a:spcBef>
                  <a:spcPct val="0"/>
                </a:spcBef>
                <a:spcAft>
                  <a:spcPct val="0"/>
                </a:spcAft>
              </a:pPr>
              <a:t>7</a:t>
            </a:fld>
            <a:endParaRPr lang="en-US" altLang="en-US"/>
          </a:p>
        </p:txBody>
      </p:sp>
    </p:spTree>
    <p:extLst>
      <p:ext uri="{BB962C8B-B14F-4D97-AF65-F5344CB8AC3E}">
        <p14:creationId xmlns:p14="http://schemas.microsoft.com/office/powerpoint/2010/main" val="42191737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p:txBody>
          <a:bodyPr/>
          <a:lstStyle/>
          <a:p>
            <a:r>
              <a:rPr lang="en-US" altLang="en-US"/>
              <a:t>Why learn about compilers?</a:t>
            </a:r>
            <a:endParaRPr lang="ar-SA" altLang="en-US"/>
          </a:p>
        </p:txBody>
      </p:sp>
      <p:sp>
        <p:nvSpPr>
          <p:cNvPr id="3" name="Content Placeholder 2"/>
          <p:cNvSpPr>
            <a:spLocks noGrp="1" noChangeArrowheads="1"/>
          </p:cNvSpPr>
          <p:nvPr>
            <p:ph idx="1"/>
          </p:nvPr>
        </p:nvSpPr>
        <p:spPr/>
        <p:txBody>
          <a:bodyPr/>
          <a:lstStyle/>
          <a:p>
            <a:r>
              <a:rPr lang="en-US" altLang="en-US" sz="2400" dirty="0" smtClean="0">
                <a:solidFill>
                  <a:srgbClr val="C00000"/>
                </a:solidFill>
              </a:rPr>
              <a:t>Compilers </a:t>
            </a:r>
            <a:r>
              <a:rPr lang="en-US" altLang="en-US" sz="2400" dirty="0">
                <a:solidFill>
                  <a:srgbClr val="C00000"/>
                </a:solidFill>
              </a:rPr>
              <a:t>are important tools for programmers</a:t>
            </a:r>
            <a:r>
              <a:rPr lang="en-US" altLang="en-US" sz="2400" dirty="0"/>
              <a:t> and computer scientists.</a:t>
            </a:r>
          </a:p>
          <a:p>
            <a:r>
              <a:rPr lang="en-US" altLang="en-US" sz="2400" dirty="0"/>
              <a:t>The techniques used for constructing a compiler </a:t>
            </a:r>
            <a:r>
              <a:rPr lang="en-US" altLang="en-US" sz="2400" dirty="0">
                <a:solidFill>
                  <a:srgbClr val="C00000"/>
                </a:solidFill>
              </a:rPr>
              <a:t>are useful for other purposes </a:t>
            </a:r>
            <a:r>
              <a:rPr lang="en-US" altLang="en-US" sz="2400" dirty="0"/>
              <a:t>as well.</a:t>
            </a:r>
          </a:p>
          <a:p>
            <a:r>
              <a:rPr lang="en-US" altLang="en-US" sz="2400" dirty="0"/>
              <a:t>There is a good chance that a programmer or computer scientist will need </a:t>
            </a:r>
            <a:r>
              <a:rPr lang="en-US" altLang="en-US" sz="2400" dirty="0">
                <a:solidFill>
                  <a:srgbClr val="C00000"/>
                </a:solidFill>
              </a:rPr>
              <a:t>to write a compiler or interpreter for a domain-specific language</a:t>
            </a:r>
            <a:r>
              <a:rPr lang="en-US" altLang="en-US" sz="2400" dirty="0"/>
              <a:t>.</a:t>
            </a:r>
            <a:endParaRPr lang="ar-SA" altLang="en-US" sz="2400" dirty="0"/>
          </a:p>
          <a:p>
            <a:endParaRPr lang="ar-SA" altLang="en-US" dirty="0"/>
          </a:p>
        </p:txBody>
      </p:sp>
      <p:sp>
        <p:nvSpPr>
          <p:cNvPr id="19460"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30A66508-F7FF-4FBA-8DBA-BF597506FD95}" type="slidenum">
              <a:rPr lang="en-US" altLang="en-US"/>
              <a:pPr fontAlgn="base">
                <a:spcBef>
                  <a:spcPct val="0"/>
                </a:spcBef>
                <a:spcAft>
                  <a:spcPct val="0"/>
                </a:spcAft>
              </a:pPr>
              <a:t>8</a:t>
            </a:fld>
            <a:endParaRPr lang="en-US" altLang="en-US"/>
          </a:p>
        </p:txBody>
      </p:sp>
    </p:spTree>
    <p:extLst>
      <p:ext uri="{BB962C8B-B14F-4D97-AF65-F5344CB8AC3E}">
        <p14:creationId xmlns:p14="http://schemas.microsoft.com/office/powerpoint/2010/main" val="3933761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p:txBody>
          <a:bodyPr/>
          <a:lstStyle/>
          <a:p>
            <a:r>
              <a:rPr lang="en-US" altLang="en-US"/>
              <a:t> The Evolution of Programming Language</a:t>
            </a:r>
            <a:endParaRPr lang="ar-SA" altLang="en-US"/>
          </a:p>
        </p:txBody>
      </p:sp>
      <p:sp>
        <p:nvSpPr>
          <p:cNvPr id="3" name="Content Placeholder 2"/>
          <p:cNvSpPr>
            <a:spLocks noGrp="1" noChangeArrowheads="1"/>
          </p:cNvSpPr>
          <p:nvPr>
            <p:ph idx="1"/>
          </p:nvPr>
        </p:nvSpPr>
        <p:spPr>
          <a:xfrm>
            <a:off x="1143000" y="1844675"/>
            <a:ext cx="9993313" cy="4679950"/>
          </a:xfrm>
        </p:spPr>
        <p:txBody>
          <a:bodyPr/>
          <a:lstStyle/>
          <a:p>
            <a:pPr>
              <a:buFont typeface="Corbel" panose="020B0503020204020204" pitchFamily="34" charset="0"/>
              <a:buNone/>
            </a:pPr>
            <a:r>
              <a:rPr lang="en-US" altLang="en-US" sz="2000" b="1" dirty="0"/>
              <a:t>C</a:t>
            </a:r>
            <a:r>
              <a:rPr lang="en-US" altLang="en-US" sz="2000" b="1" dirty="0" smtClean="0"/>
              <a:t>lassification </a:t>
            </a:r>
            <a:r>
              <a:rPr lang="en-US" altLang="en-US" sz="2000" b="1" dirty="0"/>
              <a:t>by generation</a:t>
            </a:r>
          </a:p>
          <a:p>
            <a:pPr>
              <a:buFont typeface="Wingdings" panose="05000000000000000000" pitchFamily="2" charset="2"/>
              <a:buChar char="q"/>
            </a:pPr>
            <a:r>
              <a:rPr lang="en-US" altLang="en-US" sz="2000" b="1" dirty="0"/>
              <a:t>First-generation languages: </a:t>
            </a:r>
            <a:r>
              <a:rPr lang="en-US" altLang="en-US" sz="2000" dirty="0">
                <a:solidFill>
                  <a:srgbClr val="C00000"/>
                </a:solidFill>
              </a:rPr>
              <a:t>machine</a:t>
            </a:r>
            <a:r>
              <a:rPr lang="en-US" altLang="en-US" sz="2000" dirty="0"/>
              <a:t> languages</a:t>
            </a:r>
          </a:p>
          <a:p>
            <a:pPr>
              <a:buFont typeface="Wingdings" panose="05000000000000000000" pitchFamily="2" charset="2"/>
              <a:buChar char="q"/>
            </a:pPr>
            <a:r>
              <a:rPr lang="en-US" altLang="en-US" sz="2000" b="1" dirty="0"/>
              <a:t>Second-generation</a:t>
            </a:r>
            <a:r>
              <a:rPr lang="en-US" altLang="en-US" sz="2000" dirty="0"/>
              <a:t> : </a:t>
            </a:r>
            <a:r>
              <a:rPr lang="en-US" altLang="en-US" sz="2000" dirty="0">
                <a:solidFill>
                  <a:srgbClr val="C00000"/>
                </a:solidFill>
              </a:rPr>
              <a:t>assembly</a:t>
            </a:r>
            <a:r>
              <a:rPr lang="en-US" altLang="en-US" sz="2000" dirty="0"/>
              <a:t> languages</a:t>
            </a:r>
          </a:p>
          <a:p>
            <a:pPr>
              <a:buFont typeface="Wingdings" panose="05000000000000000000" pitchFamily="2" charset="2"/>
              <a:buChar char="q"/>
            </a:pPr>
            <a:r>
              <a:rPr lang="en-US" altLang="en-US" sz="2000" b="1" dirty="0"/>
              <a:t>Third-generation</a:t>
            </a:r>
            <a:r>
              <a:rPr lang="en-US" altLang="en-US" sz="2000" dirty="0"/>
              <a:t> : </a:t>
            </a:r>
            <a:r>
              <a:rPr lang="en-US" altLang="en-US" sz="2000" dirty="0">
                <a:solidFill>
                  <a:srgbClr val="C00000"/>
                </a:solidFill>
              </a:rPr>
              <a:t>higher-level </a:t>
            </a:r>
            <a:r>
              <a:rPr lang="en-US" altLang="en-US" sz="2000" dirty="0"/>
              <a:t>languages like Fortran, Cobol, Lisp, C, C++, C#, and Java.</a:t>
            </a:r>
          </a:p>
          <a:p>
            <a:pPr>
              <a:buFont typeface="Wingdings" panose="05000000000000000000" pitchFamily="2" charset="2"/>
              <a:buChar char="q"/>
            </a:pPr>
            <a:r>
              <a:rPr lang="en-US" altLang="en-US" sz="2000" b="1" dirty="0"/>
              <a:t>Fourth-generation</a:t>
            </a:r>
            <a:r>
              <a:rPr lang="en-US" altLang="en-US" sz="2000" dirty="0"/>
              <a:t> </a:t>
            </a:r>
            <a:r>
              <a:rPr lang="en-US" altLang="en-US" sz="2000" b="1" dirty="0"/>
              <a:t>languages: l</a:t>
            </a:r>
            <a:r>
              <a:rPr lang="en-US" altLang="en-US" sz="2000" dirty="0"/>
              <a:t>anguages </a:t>
            </a:r>
            <a:r>
              <a:rPr lang="en-US" altLang="en-US" sz="2000" dirty="0">
                <a:solidFill>
                  <a:srgbClr val="C00000"/>
                </a:solidFill>
              </a:rPr>
              <a:t>designed for specific applications </a:t>
            </a:r>
            <a:r>
              <a:rPr lang="en-US" altLang="en-US" sz="2000" dirty="0"/>
              <a:t>like NOMAD for report generation, SQL for database queries, and Postscript for text formatting.</a:t>
            </a:r>
          </a:p>
          <a:p>
            <a:pPr>
              <a:buFont typeface="Wingdings" panose="05000000000000000000" pitchFamily="2" charset="2"/>
              <a:buChar char="q"/>
            </a:pPr>
            <a:r>
              <a:rPr lang="en-US" altLang="en-US" sz="2000" b="1" dirty="0"/>
              <a:t>F</a:t>
            </a:r>
            <a:r>
              <a:rPr lang="en-US" altLang="en-US" sz="2000" b="1" dirty="0" smtClean="0"/>
              <a:t>ifth-generation </a:t>
            </a:r>
            <a:r>
              <a:rPr lang="en-US" altLang="en-US" sz="2000" b="1" dirty="0"/>
              <a:t>language </a:t>
            </a:r>
            <a:r>
              <a:rPr lang="en-US" altLang="en-US" sz="2000" dirty="0"/>
              <a:t>has been </a:t>
            </a:r>
            <a:r>
              <a:rPr lang="en-US" altLang="en-US" sz="2000" dirty="0">
                <a:solidFill>
                  <a:srgbClr val="C00000"/>
                </a:solidFill>
              </a:rPr>
              <a:t>applied to logic- and constraint</a:t>
            </a:r>
            <a:r>
              <a:rPr lang="en-US" altLang="en-US" sz="2000" dirty="0"/>
              <a:t>-based languages like Prolog and OPS5.</a:t>
            </a:r>
          </a:p>
          <a:p>
            <a:endParaRPr lang="ar-SA" altLang="en-US" dirty="0"/>
          </a:p>
        </p:txBody>
      </p:sp>
      <p:sp>
        <p:nvSpPr>
          <p:cNvPr id="20484"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A04C684F-F832-47C2-92E6-6724FF86FFBD}" type="slidenum">
              <a:rPr lang="en-US" altLang="en-US"/>
              <a:pPr fontAlgn="base">
                <a:spcBef>
                  <a:spcPct val="0"/>
                </a:spcBef>
                <a:spcAft>
                  <a:spcPct val="0"/>
                </a:spcAft>
              </a:pPr>
              <a:t>9</a:t>
            </a:fld>
            <a:endParaRPr lang="en-US" altLang="en-US"/>
          </a:p>
        </p:txBody>
      </p:sp>
    </p:spTree>
    <p:extLst>
      <p:ext uri="{BB962C8B-B14F-4D97-AF65-F5344CB8AC3E}">
        <p14:creationId xmlns:p14="http://schemas.microsoft.com/office/powerpoint/2010/main" val="13930333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noChangeArrowheads="1"/>
          </p:cNvSpPr>
          <p:nvPr>
            <p:ph type="title"/>
          </p:nvPr>
        </p:nvSpPr>
        <p:spPr/>
        <p:txBody>
          <a:bodyPr/>
          <a:lstStyle/>
          <a:p>
            <a:r>
              <a:rPr lang="en-US" altLang="en-US"/>
              <a:t>Impacts on Compilers</a:t>
            </a:r>
            <a:endParaRPr lang="ar-SA" altLang="en-US"/>
          </a:p>
        </p:txBody>
      </p:sp>
      <p:sp>
        <p:nvSpPr>
          <p:cNvPr id="21507" name="Content Placeholder 2"/>
          <p:cNvSpPr>
            <a:spLocks noGrp="1" noChangeArrowheads="1"/>
          </p:cNvSpPr>
          <p:nvPr>
            <p:ph idx="1"/>
          </p:nvPr>
        </p:nvSpPr>
        <p:spPr/>
        <p:txBody>
          <a:bodyPr/>
          <a:lstStyle/>
          <a:p>
            <a:r>
              <a:rPr lang="en-US" altLang="en-US" sz="2800"/>
              <a:t>The advances in programming languages placed new demands on compiler writers.</a:t>
            </a:r>
          </a:p>
          <a:p>
            <a:r>
              <a:rPr lang="en-US" altLang="en-US" sz="2800"/>
              <a:t>Compiler writers would take maximal advantage of the new hardware capabilities.</a:t>
            </a:r>
          </a:p>
          <a:p>
            <a:r>
              <a:rPr lang="en-US" altLang="en-US" sz="2800"/>
              <a:t>Good software-engineering techniques are essential for creating and evolving modern language processors.</a:t>
            </a:r>
          </a:p>
          <a:p>
            <a:endParaRPr lang="en-US" altLang="en-US"/>
          </a:p>
          <a:p>
            <a:endParaRPr lang="en-US" altLang="en-US"/>
          </a:p>
        </p:txBody>
      </p:sp>
      <p:sp>
        <p:nvSpPr>
          <p:cNvPr id="21508"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C81037AA-28DB-4CE1-BD6F-17D2697AF9DD}" type="slidenum">
              <a:rPr lang="en-US" altLang="en-US"/>
              <a:pPr fontAlgn="base">
                <a:spcBef>
                  <a:spcPct val="0"/>
                </a:spcBef>
                <a:spcAft>
                  <a:spcPct val="0"/>
                </a:spcAft>
              </a:pPr>
              <a:t>10</a:t>
            </a:fld>
            <a:endParaRPr lang="en-US" altLang="en-US"/>
          </a:p>
        </p:txBody>
      </p:sp>
    </p:spTree>
    <p:extLst>
      <p:ext uri="{BB962C8B-B14F-4D97-AF65-F5344CB8AC3E}">
        <p14:creationId xmlns:p14="http://schemas.microsoft.com/office/powerpoint/2010/main" val="33480848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t>Compilers and Interpreters</a:t>
            </a:r>
          </a:p>
        </p:txBody>
      </p:sp>
      <p:sp>
        <p:nvSpPr>
          <p:cNvPr id="9219" name="Rectangle 3"/>
          <p:cNvSpPr>
            <a:spLocks noGrp="1" noChangeArrowheads="1"/>
          </p:cNvSpPr>
          <p:nvPr>
            <p:ph idx="1"/>
          </p:nvPr>
        </p:nvSpPr>
        <p:spPr>
          <a:xfrm>
            <a:off x="438150" y="1773238"/>
            <a:ext cx="10576213" cy="1371600"/>
          </a:xfrm>
        </p:spPr>
        <p:txBody>
          <a:bodyPr>
            <a:normAutofit/>
          </a:bodyPr>
          <a:lstStyle/>
          <a:p>
            <a:pPr marL="457200" lvl="1" indent="0">
              <a:buNone/>
            </a:pPr>
            <a:r>
              <a:rPr lang="en-US" altLang="en-US" sz="2800" dirty="0"/>
              <a:t>Translation of a program written in a source language into a semantically equivalent program written in a target language</a:t>
            </a:r>
          </a:p>
        </p:txBody>
      </p:sp>
      <p:sp>
        <p:nvSpPr>
          <p:cNvPr id="9220"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557213" indent="-214313">
              <a:defRPr>
                <a:solidFill>
                  <a:schemeClr val="tx1"/>
                </a:solidFill>
                <a:latin typeface="Arial" panose="020B0604020202020204" pitchFamily="34" charset="0"/>
              </a:defRPr>
            </a:lvl2pPr>
            <a:lvl3pPr marL="857250" indent="-171450">
              <a:defRPr>
                <a:solidFill>
                  <a:schemeClr val="tx1"/>
                </a:solidFill>
                <a:latin typeface="Arial" panose="020B0604020202020204" pitchFamily="34" charset="0"/>
              </a:defRPr>
            </a:lvl3pPr>
            <a:lvl4pPr marL="1200150" indent="-171450">
              <a:defRPr>
                <a:solidFill>
                  <a:schemeClr val="tx1"/>
                </a:solidFill>
                <a:latin typeface="Arial" panose="020B0604020202020204" pitchFamily="34" charset="0"/>
              </a:defRPr>
            </a:lvl4pPr>
            <a:lvl5pPr marL="1543050" indent="-171450">
              <a:defRPr>
                <a:solidFill>
                  <a:schemeClr val="tx1"/>
                </a:solidFill>
                <a:latin typeface="Arial" panose="020B0604020202020204" pitchFamily="34" charset="0"/>
              </a:defRPr>
            </a:lvl5pPr>
            <a:lvl6pPr marL="2000250" indent="-171450" defTabSz="457200" fontAlgn="base">
              <a:spcBef>
                <a:spcPct val="0"/>
              </a:spcBef>
              <a:spcAft>
                <a:spcPct val="0"/>
              </a:spcAft>
              <a:defRPr>
                <a:solidFill>
                  <a:schemeClr val="tx1"/>
                </a:solidFill>
                <a:latin typeface="Arial" panose="020B0604020202020204" pitchFamily="34" charset="0"/>
              </a:defRPr>
            </a:lvl6pPr>
            <a:lvl7pPr marL="2457450" indent="-171450" defTabSz="457200" fontAlgn="base">
              <a:spcBef>
                <a:spcPct val="0"/>
              </a:spcBef>
              <a:spcAft>
                <a:spcPct val="0"/>
              </a:spcAft>
              <a:defRPr>
                <a:solidFill>
                  <a:schemeClr val="tx1"/>
                </a:solidFill>
                <a:latin typeface="Arial" panose="020B0604020202020204" pitchFamily="34" charset="0"/>
              </a:defRPr>
            </a:lvl7pPr>
            <a:lvl8pPr marL="2914650" indent="-171450" defTabSz="457200" fontAlgn="base">
              <a:spcBef>
                <a:spcPct val="0"/>
              </a:spcBef>
              <a:spcAft>
                <a:spcPct val="0"/>
              </a:spcAft>
              <a:defRPr>
                <a:solidFill>
                  <a:schemeClr val="tx1"/>
                </a:solidFill>
                <a:latin typeface="Arial" panose="020B0604020202020204" pitchFamily="34" charset="0"/>
              </a:defRPr>
            </a:lvl8pPr>
            <a:lvl9pPr marL="3371850" indent="-17145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2E6CD771-C890-4AC6-8AC1-17AAE4DE9290}" type="slidenum">
              <a:rPr lang="en-US" altLang="en-US">
                <a:latin typeface="Times New Roman" panose="02020603050405020304" pitchFamily="18" charset="0"/>
              </a:rPr>
              <a:pPr fontAlgn="base">
                <a:spcBef>
                  <a:spcPct val="0"/>
                </a:spcBef>
                <a:spcAft>
                  <a:spcPct val="0"/>
                </a:spcAft>
              </a:pPr>
              <a:t>11</a:t>
            </a:fld>
            <a:endParaRPr lang="en-US" altLang="en-US">
              <a:latin typeface="Times New Roman" panose="02020603050405020304" pitchFamily="18" charset="0"/>
            </a:endParaRPr>
          </a:p>
        </p:txBody>
      </p:sp>
      <p:sp>
        <p:nvSpPr>
          <p:cNvPr id="8197" name="Rectangle 4">
            <a:extLst>
              <a:ext uri="{FF2B5EF4-FFF2-40B4-BE49-F238E27FC236}">
                <a16:creationId xmlns:a16="http://schemas.microsoft.com/office/drawing/2014/main" id="{EB4DB5E9-8FE1-481B-82DC-E0C35F004BBF}"/>
              </a:ext>
            </a:extLst>
          </p:cNvPr>
          <p:cNvSpPr>
            <a:spLocks noChangeArrowheads="1"/>
          </p:cNvSpPr>
          <p:nvPr/>
        </p:nvSpPr>
        <p:spPr bwMode="auto">
          <a:xfrm>
            <a:off x="5067300" y="4457700"/>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dirty="0"/>
              <a:t>Compiler</a:t>
            </a:r>
          </a:p>
        </p:txBody>
      </p:sp>
      <p:sp>
        <p:nvSpPr>
          <p:cNvPr id="8198" name="Line 5">
            <a:extLst>
              <a:ext uri="{FF2B5EF4-FFF2-40B4-BE49-F238E27FC236}">
                <a16:creationId xmlns:a16="http://schemas.microsoft.com/office/drawing/2014/main" id="{865ED754-8F8B-42FF-ABBE-4F6BCAC5A22F}"/>
              </a:ext>
            </a:extLst>
          </p:cNvPr>
          <p:cNvSpPr>
            <a:spLocks noChangeShapeType="1"/>
          </p:cNvSpPr>
          <p:nvPr/>
        </p:nvSpPr>
        <p:spPr bwMode="auto">
          <a:xfrm>
            <a:off x="3981450" y="4800600"/>
            <a:ext cx="1085850" cy="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199" name="Line 6">
            <a:extLst>
              <a:ext uri="{FF2B5EF4-FFF2-40B4-BE49-F238E27FC236}">
                <a16:creationId xmlns:a16="http://schemas.microsoft.com/office/drawing/2014/main" id="{DA9F3E62-0C4D-45B9-8F51-12CD4C8DCAA9}"/>
              </a:ext>
            </a:extLst>
          </p:cNvPr>
          <p:cNvSpPr>
            <a:spLocks noChangeShapeType="1"/>
          </p:cNvSpPr>
          <p:nvPr/>
        </p:nvSpPr>
        <p:spPr bwMode="auto">
          <a:xfrm>
            <a:off x="5981700" y="5143500"/>
            <a:ext cx="0" cy="4000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0" name="Text Box 7">
            <a:extLst>
              <a:ext uri="{FF2B5EF4-FFF2-40B4-BE49-F238E27FC236}">
                <a16:creationId xmlns:a16="http://schemas.microsoft.com/office/drawing/2014/main" id="{94892CE5-7EC8-4383-8E96-7F21EFF34791}"/>
              </a:ext>
            </a:extLst>
          </p:cNvPr>
          <p:cNvSpPr txBox="1">
            <a:spLocks noChangeArrowheads="1"/>
          </p:cNvSpPr>
          <p:nvPr/>
        </p:nvSpPr>
        <p:spPr bwMode="auto">
          <a:xfrm>
            <a:off x="5238750" y="5486400"/>
            <a:ext cx="124777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Error messages</a:t>
            </a:r>
          </a:p>
        </p:txBody>
      </p:sp>
      <p:sp>
        <p:nvSpPr>
          <p:cNvPr id="8201" name="Text Box 8">
            <a:extLst>
              <a:ext uri="{FF2B5EF4-FFF2-40B4-BE49-F238E27FC236}">
                <a16:creationId xmlns:a16="http://schemas.microsoft.com/office/drawing/2014/main" id="{E597B096-6952-4025-BD9E-72632591A499}"/>
              </a:ext>
            </a:extLst>
          </p:cNvPr>
          <p:cNvSpPr txBox="1">
            <a:spLocks noChangeArrowheads="1"/>
          </p:cNvSpPr>
          <p:nvPr/>
        </p:nvSpPr>
        <p:spPr bwMode="auto">
          <a:xfrm>
            <a:off x="3138488" y="4514850"/>
            <a:ext cx="7810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Source</a:t>
            </a:r>
          </a:p>
          <a:p>
            <a:pPr algn="ctr" eaLnBrk="1" fontAlgn="auto" hangingPunct="1">
              <a:spcBef>
                <a:spcPts val="0"/>
              </a:spcBef>
              <a:spcAft>
                <a:spcPts val="0"/>
              </a:spcAft>
              <a:defRPr/>
            </a:pPr>
            <a:r>
              <a:rPr lang="en-US" altLang="en-US" sz="1350"/>
              <a:t>Program</a:t>
            </a:r>
          </a:p>
        </p:txBody>
      </p:sp>
      <p:sp>
        <p:nvSpPr>
          <p:cNvPr id="8202" name="Line 9">
            <a:extLst>
              <a:ext uri="{FF2B5EF4-FFF2-40B4-BE49-F238E27FC236}">
                <a16:creationId xmlns:a16="http://schemas.microsoft.com/office/drawing/2014/main" id="{5B74F829-4F66-44BC-844F-029EAC717D2A}"/>
              </a:ext>
            </a:extLst>
          </p:cNvPr>
          <p:cNvSpPr>
            <a:spLocks noChangeShapeType="1"/>
          </p:cNvSpPr>
          <p:nvPr/>
        </p:nvSpPr>
        <p:spPr bwMode="auto">
          <a:xfrm>
            <a:off x="6896100" y="4800600"/>
            <a:ext cx="1085850" cy="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3" name="Rectangle 10">
            <a:extLst>
              <a:ext uri="{FF2B5EF4-FFF2-40B4-BE49-F238E27FC236}">
                <a16:creationId xmlns:a16="http://schemas.microsoft.com/office/drawing/2014/main" id="{318F2B34-AECC-4E7E-BF1F-B400AE676AA0}"/>
              </a:ext>
            </a:extLst>
          </p:cNvPr>
          <p:cNvSpPr>
            <a:spLocks noChangeArrowheads="1"/>
          </p:cNvSpPr>
          <p:nvPr/>
        </p:nvSpPr>
        <p:spPr bwMode="auto">
          <a:xfrm>
            <a:off x="7981950" y="4457700"/>
            <a:ext cx="1143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Target</a:t>
            </a:r>
          </a:p>
          <a:p>
            <a:pPr algn="ctr" eaLnBrk="1" fontAlgn="auto" hangingPunct="1">
              <a:spcBef>
                <a:spcPts val="0"/>
              </a:spcBef>
              <a:spcAft>
                <a:spcPts val="0"/>
              </a:spcAft>
              <a:defRPr/>
            </a:pPr>
            <a:r>
              <a:rPr lang="en-US" altLang="en-US" sz="1350"/>
              <a:t>Program</a:t>
            </a:r>
          </a:p>
        </p:txBody>
      </p:sp>
      <p:sp>
        <p:nvSpPr>
          <p:cNvPr id="8204" name="Line 11">
            <a:extLst>
              <a:ext uri="{FF2B5EF4-FFF2-40B4-BE49-F238E27FC236}">
                <a16:creationId xmlns:a16="http://schemas.microsoft.com/office/drawing/2014/main" id="{D91C466A-6CF8-41E1-A06B-C30734CE1CC0}"/>
              </a:ext>
            </a:extLst>
          </p:cNvPr>
          <p:cNvSpPr>
            <a:spLocks noChangeShapeType="1"/>
          </p:cNvSpPr>
          <p:nvPr/>
        </p:nvSpPr>
        <p:spPr bwMode="auto">
          <a:xfrm>
            <a:off x="8553450" y="5143500"/>
            <a:ext cx="0" cy="4000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5" name="Line 12">
            <a:extLst>
              <a:ext uri="{FF2B5EF4-FFF2-40B4-BE49-F238E27FC236}">
                <a16:creationId xmlns:a16="http://schemas.microsoft.com/office/drawing/2014/main" id="{362C2FAE-90E1-45ED-9011-9B32F50D7422}"/>
              </a:ext>
            </a:extLst>
          </p:cNvPr>
          <p:cNvSpPr>
            <a:spLocks noChangeShapeType="1"/>
          </p:cNvSpPr>
          <p:nvPr/>
        </p:nvSpPr>
        <p:spPr bwMode="auto">
          <a:xfrm>
            <a:off x="8553450" y="4057650"/>
            <a:ext cx="0" cy="4000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8206" name="Text Box 13">
            <a:extLst>
              <a:ext uri="{FF2B5EF4-FFF2-40B4-BE49-F238E27FC236}">
                <a16:creationId xmlns:a16="http://schemas.microsoft.com/office/drawing/2014/main" id="{13A616E3-3F8A-4424-988E-2AB09891F4F2}"/>
              </a:ext>
            </a:extLst>
          </p:cNvPr>
          <p:cNvSpPr txBox="1">
            <a:spLocks noChangeArrowheads="1"/>
          </p:cNvSpPr>
          <p:nvPr/>
        </p:nvSpPr>
        <p:spPr bwMode="auto">
          <a:xfrm>
            <a:off x="8267700" y="3714750"/>
            <a:ext cx="550863"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Input</a:t>
            </a:r>
          </a:p>
        </p:txBody>
      </p:sp>
      <p:sp>
        <p:nvSpPr>
          <p:cNvPr id="8207" name="Text Box 14">
            <a:extLst>
              <a:ext uri="{FF2B5EF4-FFF2-40B4-BE49-F238E27FC236}">
                <a16:creationId xmlns:a16="http://schemas.microsoft.com/office/drawing/2014/main" id="{2BB75574-A3EA-46EF-8175-C01FD5EBAE6A}"/>
              </a:ext>
            </a:extLst>
          </p:cNvPr>
          <p:cNvSpPr txBox="1">
            <a:spLocks noChangeArrowheads="1"/>
          </p:cNvSpPr>
          <p:nvPr/>
        </p:nvSpPr>
        <p:spPr bwMode="auto">
          <a:xfrm>
            <a:off x="8210550" y="5486400"/>
            <a:ext cx="665163"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Output</a:t>
            </a:r>
          </a:p>
        </p:txBody>
      </p:sp>
    </p:spTree>
    <p:extLst>
      <p:ext uri="{BB962C8B-B14F-4D97-AF65-F5344CB8AC3E}">
        <p14:creationId xmlns:p14="http://schemas.microsoft.com/office/powerpoint/2010/main" val="34367041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a:t>Compilers and Interpreters (cont’d)</a:t>
            </a:r>
          </a:p>
        </p:txBody>
      </p:sp>
      <p:sp>
        <p:nvSpPr>
          <p:cNvPr id="12291" name="Rectangle 28"/>
          <p:cNvSpPr>
            <a:spLocks noGrp="1" noChangeArrowheads="1"/>
          </p:cNvSpPr>
          <p:nvPr>
            <p:ph idx="1"/>
          </p:nvPr>
        </p:nvSpPr>
        <p:spPr>
          <a:xfrm>
            <a:off x="581192" y="1735138"/>
            <a:ext cx="9121608" cy="1511300"/>
          </a:xfrm>
        </p:spPr>
        <p:txBody>
          <a:bodyPr>
            <a:normAutofit lnSpcReduction="10000"/>
          </a:bodyPr>
          <a:lstStyle/>
          <a:p>
            <a:pPr marL="0" indent="0">
              <a:buNone/>
            </a:pPr>
            <a:r>
              <a:rPr lang="en-US" altLang="en-US" sz="3500" b="1" dirty="0" smtClean="0"/>
              <a:t>“</a:t>
            </a:r>
            <a:r>
              <a:rPr lang="en-US" altLang="en-US" sz="3000" b="1" dirty="0"/>
              <a:t>Interpretation”</a:t>
            </a:r>
          </a:p>
          <a:p>
            <a:pPr lvl="1"/>
            <a:r>
              <a:rPr lang="en-US" altLang="en-US" sz="2800" dirty="0"/>
              <a:t>Performing the operations implied by the source program</a:t>
            </a:r>
          </a:p>
        </p:txBody>
      </p:sp>
      <p:sp>
        <p:nvSpPr>
          <p:cNvPr id="1229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557213" indent="-214313">
              <a:defRPr>
                <a:solidFill>
                  <a:schemeClr val="tx1"/>
                </a:solidFill>
                <a:latin typeface="Arial" panose="020B0604020202020204" pitchFamily="34" charset="0"/>
              </a:defRPr>
            </a:lvl2pPr>
            <a:lvl3pPr marL="857250" indent="-171450">
              <a:defRPr>
                <a:solidFill>
                  <a:schemeClr val="tx1"/>
                </a:solidFill>
                <a:latin typeface="Arial" panose="020B0604020202020204" pitchFamily="34" charset="0"/>
              </a:defRPr>
            </a:lvl3pPr>
            <a:lvl4pPr marL="1200150" indent="-171450">
              <a:defRPr>
                <a:solidFill>
                  <a:schemeClr val="tx1"/>
                </a:solidFill>
                <a:latin typeface="Arial" panose="020B0604020202020204" pitchFamily="34" charset="0"/>
              </a:defRPr>
            </a:lvl4pPr>
            <a:lvl5pPr marL="1543050" indent="-171450">
              <a:defRPr>
                <a:solidFill>
                  <a:schemeClr val="tx1"/>
                </a:solidFill>
                <a:latin typeface="Arial" panose="020B0604020202020204" pitchFamily="34" charset="0"/>
              </a:defRPr>
            </a:lvl5pPr>
            <a:lvl6pPr marL="2000250" indent="-171450" defTabSz="457200" fontAlgn="base">
              <a:spcBef>
                <a:spcPct val="0"/>
              </a:spcBef>
              <a:spcAft>
                <a:spcPct val="0"/>
              </a:spcAft>
              <a:defRPr>
                <a:solidFill>
                  <a:schemeClr val="tx1"/>
                </a:solidFill>
                <a:latin typeface="Arial" panose="020B0604020202020204" pitchFamily="34" charset="0"/>
              </a:defRPr>
            </a:lvl6pPr>
            <a:lvl7pPr marL="2457450" indent="-171450" defTabSz="457200" fontAlgn="base">
              <a:spcBef>
                <a:spcPct val="0"/>
              </a:spcBef>
              <a:spcAft>
                <a:spcPct val="0"/>
              </a:spcAft>
              <a:defRPr>
                <a:solidFill>
                  <a:schemeClr val="tx1"/>
                </a:solidFill>
                <a:latin typeface="Arial" panose="020B0604020202020204" pitchFamily="34" charset="0"/>
              </a:defRPr>
            </a:lvl7pPr>
            <a:lvl8pPr marL="2914650" indent="-171450" defTabSz="457200" fontAlgn="base">
              <a:spcBef>
                <a:spcPct val="0"/>
              </a:spcBef>
              <a:spcAft>
                <a:spcPct val="0"/>
              </a:spcAft>
              <a:defRPr>
                <a:solidFill>
                  <a:schemeClr val="tx1"/>
                </a:solidFill>
                <a:latin typeface="Arial" panose="020B0604020202020204" pitchFamily="34" charset="0"/>
              </a:defRPr>
            </a:lvl8pPr>
            <a:lvl9pPr marL="3371850" indent="-17145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2A307B26-EB20-4C1F-948E-7557EC6C14F6}" type="slidenum">
              <a:rPr lang="en-US" altLang="en-US">
                <a:latin typeface="Times New Roman" panose="02020603050405020304" pitchFamily="18" charset="0"/>
              </a:rPr>
              <a:pPr fontAlgn="base">
                <a:spcBef>
                  <a:spcPct val="0"/>
                </a:spcBef>
                <a:spcAft>
                  <a:spcPct val="0"/>
                </a:spcAft>
              </a:pPr>
              <a:t>12</a:t>
            </a:fld>
            <a:endParaRPr lang="en-US" altLang="en-US">
              <a:latin typeface="Times New Roman" panose="02020603050405020304" pitchFamily="18" charset="0"/>
            </a:endParaRPr>
          </a:p>
        </p:txBody>
      </p:sp>
      <p:sp>
        <p:nvSpPr>
          <p:cNvPr id="9221" name="Rectangle 5">
            <a:extLst>
              <a:ext uri="{FF2B5EF4-FFF2-40B4-BE49-F238E27FC236}">
                <a16:creationId xmlns:a16="http://schemas.microsoft.com/office/drawing/2014/main" id="{C56CACFB-DD02-44EE-8F49-A40CE9FF90ED}"/>
              </a:ext>
            </a:extLst>
          </p:cNvPr>
          <p:cNvSpPr>
            <a:spLocks noChangeArrowheads="1"/>
          </p:cNvSpPr>
          <p:nvPr/>
        </p:nvSpPr>
        <p:spPr bwMode="auto">
          <a:xfrm>
            <a:off x="5067300" y="4457700"/>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Interpreter</a:t>
            </a:r>
          </a:p>
        </p:txBody>
      </p:sp>
      <p:sp>
        <p:nvSpPr>
          <p:cNvPr id="9222" name="Text Box 14">
            <a:extLst>
              <a:ext uri="{FF2B5EF4-FFF2-40B4-BE49-F238E27FC236}">
                <a16:creationId xmlns:a16="http://schemas.microsoft.com/office/drawing/2014/main" id="{6F41CCAC-8AE5-4E45-A18E-33388A4F732D}"/>
              </a:ext>
            </a:extLst>
          </p:cNvPr>
          <p:cNvSpPr txBox="1">
            <a:spLocks noChangeArrowheads="1"/>
          </p:cNvSpPr>
          <p:nvPr/>
        </p:nvSpPr>
        <p:spPr bwMode="auto">
          <a:xfrm>
            <a:off x="3138488" y="4171950"/>
            <a:ext cx="7810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Source</a:t>
            </a:r>
          </a:p>
          <a:p>
            <a:pPr algn="ctr" eaLnBrk="1" fontAlgn="auto" hangingPunct="1">
              <a:spcBef>
                <a:spcPts val="0"/>
              </a:spcBef>
              <a:spcAft>
                <a:spcPts val="0"/>
              </a:spcAft>
              <a:defRPr/>
            </a:pPr>
            <a:r>
              <a:rPr lang="en-US" altLang="en-US" sz="1350"/>
              <a:t>Program</a:t>
            </a:r>
          </a:p>
        </p:txBody>
      </p:sp>
      <p:sp>
        <p:nvSpPr>
          <p:cNvPr id="9223" name="Text Box 15">
            <a:extLst>
              <a:ext uri="{FF2B5EF4-FFF2-40B4-BE49-F238E27FC236}">
                <a16:creationId xmlns:a16="http://schemas.microsoft.com/office/drawing/2014/main" id="{0E20D65E-5BB3-4AB8-A30B-F610704EB392}"/>
              </a:ext>
            </a:extLst>
          </p:cNvPr>
          <p:cNvSpPr txBox="1">
            <a:spLocks noChangeArrowheads="1"/>
          </p:cNvSpPr>
          <p:nvPr/>
        </p:nvSpPr>
        <p:spPr bwMode="auto">
          <a:xfrm>
            <a:off x="3352800" y="4972050"/>
            <a:ext cx="550863"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Input</a:t>
            </a:r>
          </a:p>
        </p:txBody>
      </p:sp>
      <p:sp>
        <p:nvSpPr>
          <p:cNvPr id="9224" name="Text Box 16">
            <a:extLst>
              <a:ext uri="{FF2B5EF4-FFF2-40B4-BE49-F238E27FC236}">
                <a16:creationId xmlns:a16="http://schemas.microsoft.com/office/drawing/2014/main" id="{AE091717-DC06-49CB-B5CD-730BEA0EB664}"/>
              </a:ext>
            </a:extLst>
          </p:cNvPr>
          <p:cNvSpPr txBox="1">
            <a:spLocks noChangeArrowheads="1"/>
          </p:cNvSpPr>
          <p:nvPr/>
        </p:nvSpPr>
        <p:spPr bwMode="auto">
          <a:xfrm>
            <a:off x="7981950" y="4629150"/>
            <a:ext cx="665163"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Output</a:t>
            </a:r>
          </a:p>
        </p:txBody>
      </p:sp>
      <p:sp>
        <p:nvSpPr>
          <p:cNvPr id="9225" name="Line 17">
            <a:extLst>
              <a:ext uri="{FF2B5EF4-FFF2-40B4-BE49-F238E27FC236}">
                <a16:creationId xmlns:a16="http://schemas.microsoft.com/office/drawing/2014/main" id="{C11312E6-197C-479E-9872-7E7D61E1133A}"/>
              </a:ext>
            </a:extLst>
          </p:cNvPr>
          <p:cNvSpPr>
            <a:spLocks noChangeShapeType="1"/>
          </p:cNvSpPr>
          <p:nvPr/>
        </p:nvSpPr>
        <p:spPr bwMode="auto">
          <a:xfrm>
            <a:off x="4038600" y="4457700"/>
            <a:ext cx="1028700" cy="1714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9226" name="Line 18">
            <a:extLst>
              <a:ext uri="{FF2B5EF4-FFF2-40B4-BE49-F238E27FC236}">
                <a16:creationId xmlns:a16="http://schemas.microsoft.com/office/drawing/2014/main" id="{50A618F6-074C-46F1-9005-9AA7C1CA5AED}"/>
              </a:ext>
            </a:extLst>
          </p:cNvPr>
          <p:cNvSpPr>
            <a:spLocks noChangeShapeType="1"/>
          </p:cNvSpPr>
          <p:nvPr/>
        </p:nvSpPr>
        <p:spPr bwMode="auto">
          <a:xfrm flipV="1">
            <a:off x="4038600" y="4972050"/>
            <a:ext cx="1028700" cy="1714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9227" name="Line 20">
            <a:extLst>
              <a:ext uri="{FF2B5EF4-FFF2-40B4-BE49-F238E27FC236}">
                <a16:creationId xmlns:a16="http://schemas.microsoft.com/office/drawing/2014/main" id="{CEB9F560-B958-4802-A94D-57BFC3CAC5F0}"/>
              </a:ext>
            </a:extLst>
          </p:cNvPr>
          <p:cNvSpPr>
            <a:spLocks noChangeShapeType="1"/>
          </p:cNvSpPr>
          <p:nvPr/>
        </p:nvSpPr>
        <p:spPr bwMode="auto">
          <a:xfrm>
            <a:off x="6896100" y="4800600"/>
            <a:ext cx="1085850" cy="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9228" name="Line 21">
            <a:extLst>
              <a:ext uri="{FF2B5EF4-FFF2-40B4-BE49-F238E27FC236}">
                <a16:creationId xmlns:a16="http://schemas.microsoft.com/office/drawing/2014/main" id="{8F9281DE-EADB-40B9-B002-8289171DCB30}"/>
              </a:ext>
            </a:extLst>
          </p:cNvPr>
          <p:cNvSpPr>
            <a:spLocks noChangeShapeType="1"/>
          </p:cNvSpPr>
          <p:nvPr/>
        </p:nvSpPr>
        <p:spPr bwMode="auto">
          <a:xfrm>
            <a:off x="5981700" y="5143500"/>
            <a:ext cx="0" cy="40005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9229" name="Text Box 22">
            <a:extLst>
              <a:ext uri="{FF2B5EF4-FFF2-40B4-BE49-F238E27FC236}">
                <a16:creationId xmlns:a16="http://schemas.microsoft.com/office/drawing/2014/main" id="{0124C39B-53C4-4389-8964-FAFDA3FC01EE}"/>
              </a:ext>
            </a:extLst>
          </p:cNvPr>
          <p:cNvSpPr txBox="1">
            <a:spLocks noChangeArrowheads="1"/>
          </p:cNvSpPr>
          <p:nvPr/>
        </p:nvSpPr>
        <p:spPr bwMode="auto">
          <a:xfrm>
            <a:off x="5238750" y="5486400"/>
            <a:ext cx="124777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Error messages</a:t>
            </a:r>
          </a:p>
        </p:txBody>
      </p:sp>
    </p:spTree>
    <p:extLst>
      <p:ext uri="{BB962C8B-B14F-4D97-AF65-F5344CB8AC3E}">
        <p14:creationId xmlns:p14="http://schemas.microsoft.com/office/powerpoint/2010/main" val="22343298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noChangeArrowheads="1"/>
          </p:cNvSpPr>
          <p:nvPr>
            <p:ph type="title"/>
          </p:nvPr>
        </p:nvSpPr>
        <p:spPr/>
        <p:txBody>
          <a:bodyPr/>
          <a:lstStyle/>
          <a:p>
            <a:r>
              <a:rPr lang="en-GB" altLang="en-US"/>
              <a:t>Compiler vs. Interpreter </a:t>
            </a:r>
          </a:p>
        </p:txBody>
      </p:sp>
      <p:sp>
        <p:nvSpPr>
          <p:cNvPr id="13315" name="Text Placeholder 4"/>
          <p:cNvSpPr>
            <a:spLocks noGrp="1" noChangeArrowheads="1"/>
          </p:cNvSpPr>
          <p:nvPr>
            <p:ph type="body" idx="1"/>
          </p:nvPr>
        </p:nvSpPr>
        <p:spPr>
          <a:xfrm>
            <a:off x="1200150" y="1844675"/>
            <a:ext cx="4754563" cy="777875"/>
          </a:xfrm>
        </p:spPr>
        <p:txBody>
          <a:bodyPr/>
          <a:lstStyle/>
          <a:p>
            <a:pPr>
              <a:spcBef>
                <a:spcPct val="0"/>
              </a:spcBef>
            </a:pPr>
            <a:r>
              <a:rPr lang="en-GB" altLang="en-US"/>
              <a:t>Compiler</a:t>
            </a:r>
          </a:p>
        </p:txBody>
      </p:sp>
      <p:sp>
        <p:nvSpPr>
          <p:cNvPr id="6" name="Content Placeholder 5">
            <a:extLst>
              <a:ext uri="{FF2B5EF4-FFF2-40B4-BE49-F238E27FC236}">
                <a16:creationId xmlns:a16="http://schemas.microsoft.com/office/drawing/2014/main" id="{1FEA7331-0FF6-4720-9612-A433375E3504}"/>
              </a:ext>
            </a:extLst>
          </p:cNvPr>
          <p:cNvSpPr>
            <a:spLocks noGrp="1"/>
          </p:cNvSpPr>
          <p:nvPr>
            <p:ph sz="half" idx="2"/>
          </p:nvPr>
        </p:nvSpPr>
        <p:spPr>
          <a:xfrm>
            <a:off x="1143000" y="2720975"/>
            <a:ext cx="4754563" cy="3660775"/>
          </a:xfrm>
        </p:spPr>
        <p:txBody>
          <a:bodyPr rtlCol="0">
            <a:normAutofit fontScale="85000" lnSpcReduction="20000"/>
          </a:bodyPr>
          <a:lstStyle/>
          <a:p>
            <a:pPr indent="-182880" fontAlgn="t">
              <a:spcAft>
                <a:spcPts val="0"/>
              </a:spcAft>
              <a:defRPr/>
            </a:pPr>
            <a:r>
              <a:rPr lang="en-US" sz="2400" b="1" dirty="0">
                <a:solidFill>
                  <a:schemeClr val="tx2"/>
                </a:solidFill>
              </a:rPr>
              <a:t>Takes Entire program as input</a:t>
            </a:r>
            <a:endParaRPr lang="ar-SA" sz="2400" dirty="0">
              <a:solidFill>
                <a:schemeClr val="tx2"/>
              </a:solidFill>
            </a:endParaRPr>
          </a:p>
          <a:p>
            <a:pPr indent="-182880" fontAlgn="t">
              <a:spcAft>
                <a:spcPts val="0"/>
              </a:spcAft>
              <a:defRPr/>
            </a:pPr>
            <a:r>
              <a:rPr lang="en-US" sz="2400" dirty="0"/>
              <a:t>It is </a:t>
            </a:r>
            <a:r>
              <a:rPr lang="en-US" sz="2400" b="1" dirty="0"/>
              <a:t>Faster</a:t>
            </a:r>
            <a:endParaRPr lang="ar-SA" sz="2400" dirty="0"/>
          </a:p>
          <a:p>
            <a:pPr indent="-182880" fontAlgn="t">
              <a:spcAft>
                <a:spcPts val="0"/>
              </a:spcAft>
              <a:defRPr/>
            </a:pPr>
            <a:r>
              <a:rPr lang="en-US" sz="2400" dirty="0">
                <a:solidFill>
                  <a:schemeClr val="tx2"/>
                </a:solidFill>
              </a:rPr>
              <a:t>intermediate object code is </a:t>
            </a:r>
            <a:r>
              <a:rPr lang="en-US" sz="2400" b="1" dirty="0">
                <a:solidFill>
                  <a:schemeClr val="tx2"/>
                </a:solidFill>
              </a:rPr>
              <a:t>generated.</a:t>
            </a:r>
            <a:endParaRPr lang="ar-SA" sz="2400" dirty="0">
              <a:solidFill>
                <a:schemeClr val="tx2"/>
              </a:solidFill>
            </a:endParaRPr>
          </a:p>
          <a:p>
            <a:pPr indent="-182880" fontAlgn="t">
              <a:spcAft>
                <a:spcPts val="0"/>
              </a:spcAft>
              <a:defRPr/>
            </a:pPr>
            <a:r>
              <a:rPr lang="en-US" sz="2400" dirty="0"/>
              <a:t>Required </a:t>
            </a:r>
            <a:r>
              <a:rPr lang="en-US" sz="2400" b="1" dirty="0"/>
              <a:t>more</a:t>
            </a:r>
            <a:r>
              <a:rPr lang="en-US" sz="2400" dirty="0"/>
              <a:t> memory Due to intermediate object code</a:t>
            </a:r>
            <a:endParaRPr lang="ar-SA" sz="2400" dirty="0"/>
          </a:p>
          <a:p>
            <a:pPr indent="-182880" fontAlgn="t">
              <a:spcAft>
                <a:spcPts val="0"/>
              </a:spcAft>
              <a:defRPr/>
            </a:pPr>
            <a:r>
              <a:rPr lang="en-US" sz="2400" dirty="0">
                <a:solidFill>
                  <a:schemeClr val="tx2"/>
                </a:solidFill>
              </a:rPr>
              <a:t>Program </a:t>
            </a:r>
            <a:r>
              <a:rPr lang="en-US" sz="2400" b="1" dirty="0">
                <a:solidFill>
                  <a:schemeClr val="tx2"/>
                </a:solidFill>
              </a:rPr>
              <a:t>not need  compile </a:t>
            </a:r>
            <a:r>
              <a:rPr lang="en-US" sz="2400" dirty="0">
                <a:solidFill>
                  <a:schemeClr val="tx2"/>
                </a:solidFill>
              </a:rPr>
              <a:t>every time</a:t>
            </a:r>
            <a:endParaRPr lang="ar-SA" sz="2400" dirty="0">
              <a:solidFill>
                <a:schemeClr val="tx2"/>
              </a:solidFill>
            </a:endParaRPr>
          </a:p>
          <a:p>
            <a:pPr indent="-182880" fontAlgn="t">
              <a:spcAft>
                <a:spcPts val="0"/>
              </a:spcAft>
              <a:defRPr/>
            </a:pPr>
            <a:r>
              <a:rPr lang="en-US" sz="2400" b="1" dirty="0"/>
              <a:t>Errors</a:t>
            </a:r>
            <a:r>
              <a:rPr lang="en-US" sz="2400" dirty="0"/>
              <a:t> are displayed after</a:t>
            </a:r>
            <a:r>
              <a:rPr lang="en-US" sz="2400" b="1" dirty="0"/>
              <a:t> entire program</a:t>
            </a:r>
            <a:r>
              <a:rPr lang="en-US" sz="2400" dirty="0"/>
              <a:t> is checked.</a:t>
            </a:r>
            <a:endParaRPr lang="ar-SA" sz="2400" dirty="0"/>
          </a:p>
          <a:p>
            <a:pPr indent="-182880" fontAlgn="t">
              <a:spcAft>
                <a:spcPts val="0"/>
              </a:spcAft>
              <a:defRPr/>
            </a:pPr>
            <a:r>
              <a:rPr lang="en-US" sz="2400" b="1" dirty="0">
                <a:solidFill>
                  <a:schemeClr val="tx2"/>
                </a:solidFill>
              </a:rPr>
              <a:t>Debugging</a:t>
            </a:r>
            <a:r>
              <a:rPr lang="en-US" sz="2400" dirty="0">
                <a:solidFill>
                  <a:schemeClr val="tx2"/>
                </a:solidFill>
              </a:rPr>
              <a:t> is comparatively </a:t>
            </a:r>
            <a:r>
              <a:rPr lang="en-US" sz="2400" b="1" dirty="0">
                <a:solidFill>
                  <a:schemeClr val="tx2"/>
                </a:solidFill>
              </a:rPr>
              <a:t>hard</a:t>
            </a:r>
            <a:r>
              <a:rPr lang="en-US" sz="2400" dirty="0">
                <a:solidFill>
                  <a:schemeClr val="tx2"/>
                </a:solidFill>
              </a:rPr>
              <a:t>.</a:t>
            </a:r>
            <a:endParaRPr lang="ar-SA" sz="2400" dirty="0">
              <a:solidFill>
                <a:schemeClr val="tx2"/>
              </a:solidFill>
            </a:endParaRPr>
          </a:p>
          <a:p>
            <a:pPr indent="-182880" fontAlgn="t">
              <a:spcAft>
                <a:spcPts val="0"/>
              </a:spcAft>
              <a:defRPr/>
            </a:pPr>
            <a:r>
              <a:rPr lang="en-US" sz="2400" dirty="0"/>
              <a:t>Ex: C, C++.</a:t>
            </a:r>
            <a:endParaRPr lang="ar-SA" sz="2400" dirty="0"/>
          </a:p>
        </p:txBody>
      </p:sp>
      <p:sp>
        <p:nvSpPr>
          <p:cNvPr id="13317" name="Text Placeholder 6"/>
          <p:cNvSpPr>
            <a:spLocks noGrp="1" noChangeArrowheads="1"/>
          </p:cNvSpPr>
          <p:nvPr>
            <p:ph type="body" sz="quarter" idx="3"/>
          </p:nvPr>
        </p:nvSpPr>
        <p:spPr>
          <a:xfrm>
            <a:off x="6311900" y="1844675"/>
            <a:ext cx="4754563" cy="777875"/>
          </a:xfrm>
        </p:spPr>
        <p:txBody>
          <a:bodyPr/>
          <a:lstStyle/>
          <a:p>
            <a:pPr>
              <a:spcBef>
                <a:spcPct val="0"/>
              </a:spcBef>
            </a:pPr>
            <a:r>
              <a:rPr lang="en-GB" altLang="en-US"/>
              <a:t>Interpreter</a:t>
            </a:r>
          </a:p>
        </p:txBody>
      </p:sp>
      <p:sp>
        <p:nvSpPr>
          <p:cNvPr id="13318" name="Content Placeholder 7"/>
          <p:cNvSpPr>
            <a:spLocks noGrp="1" noChangeArrowheads="1"/>
          </p:cNvSpPr>
          <p:nvPr>
            <p:ph sz="quarter" idx="4"/>
          </p:nvPr>
        </p:nvSpPr>
        <p:spPr>
          <a:xfrm>
            <a:off x="6167438" y="2565400"/>
            <a:ext cx="5516562" cy="4094163"/>
          </a:xfrm>
        </p:spPr>
        <p:txBody>
          <a:bodyPr/>
          <a:lstStyle/>
          <a:p>
            <a:pPr fontAlgn="t"/>
            <a:r>
              <a:rPr lang="en-US" altLang="en-US" sz="1800" b="1">
                <a:solidFill>
                  <a:schemeClr val="tx2"/>
                </a:solidFill>
              </a:rPr>
              <a:t>Take single instruction as input</a:t>
            </a:r>
            <a:endParaRPr lang="ar-SA" altLang="en-US" sz="1800">
              <a:solidFill>
                <a:schemeClr val="tx2"/>
              </a:solidFill>
            </a:endParaRPr>
          </a:p>
          <a:p>
            <a:pPr fontAlgn="t"/>
            <a:r>
              <a:rPr lang="en-US" altLang="en-US" sz="1800"/>
              <a:t>It is </a:t>
            </a:r>
            <a:r>
              <a:rPr lang="en-US" altLang="en-US" sz="1800" b="1"/>
              <a:t>Slower</a:t>
            </a:r>
            <a:endParaRPr lang="ar-SA" altLang="en-US" sz="1800"/>
          </a:p>
          <a:p>
            <a:r>
              <a:rPr lang="en-US" altLang="en-US" sz="1800" b="1">
                <a:solidFill>
                  <a:schemeClr val="tx2"/>
                </a:solidFill>
              </a:rPr>
              <a:t>No</a:t>
            </a:r>
            <a:r>
              <a:rPr lang="en-US" altLang="en-US" sz="1800">
                <a:solidFill>
                  <a:schemeClr val="tx2"/>
                </a:solidFill>
              </a:rPr>
              <a:t> intermediate code is </a:t>
            </a:r>
            <a:r>
              <a:rPr lang="en-US" altLang="en-US" sz="1800" b="1">
                <a:solidFill>
                  <a:schemeClr val="tx2"/>
                </a:solidFill>
              </a:rPr>
              <a:t>generated</a:t>
            </a:r>
            <a:endParaRPr lang="ar-SA" altLang="en-US" sz="1800">
              <a:solidFill>
                <a:schemeClr val="tx2"/>
              </a:solidFill>
            </a:endParaRPr>
          </a:p>
          <a:p>
            <a:pPr fontAlgn="t"/>
            <a:r>
              <a:rPr lang="en-US" altLang="en-US" sz="1800"/>
              <a:t>Required </a:t>
            </a:r>
            <a:r>
              <a:rPr lang="en-US" altLang="en-US" sz="1800" b="1"/>
              <a:t>less</a:t>
            </a:r>
            <a:r>
              <a:rPr lang="en-US" altLang="en-US" sz="1800"/>
              <a:t> memory As no intermediate code is generated</a:t>
            </a:r>
            <a:endParaRPr lang="ar-SA" altLang="en-US" sz="1800"/>
          </a:p>
          <a:p>
            <a:r>
              <a:rPr lang="en-US" altLang="en-US" sz="1800" b="1">
                <a:solidFill>
                  <a:schemeClr val="tx2"/>
                </a:solidFill>
              </a:rPr>
              <a:t>Every time </a:t>
            </a:r>
            <a:r>
              <a:rPr lang="en-US" altLang="en-US" sz="1800">
                <a:solidFill>
                  <a:schemeClr val="tx2"/>
                </a:solidFill>
              </a:rPr>
              <a:t>higher level program is converted into lower level program.</a:t>
            </a:r>
            <a:endParaRPr lang="ar-SA" altLang="en-US" sz="1800">
              <a:solidFill>
                <a:schemeClr val="tx2"/>
              </a:solidFill>
            </a:endParaRPr>
          </a:p>
          <a:p>
            <a:r>
              <a:rPr lang="en-US" altLang="en-US" sz="1800" b="1"/>
              <a:t>Errors</a:t>
            </a:r>
            <a:r>
              <a:rPr lang="en-US" altLang="en-US" sz="1800"/>
              <a:t> are displayed </a:t>
            </a:r>
            <a:r>
              <a:rPr lang="en-US" altLang="en-US" sz="1800" b="1"/>
              <a:t>for every instruction</a:t>
            </a:r>
            <a:r>
              <a:rPr lang="en-US" altLang="en-US" sz="1800"/>
              <a:t> interpreted.</a:t>
            </a:r>
            <a:endParaRPr lang="ar-SA" altLang="en-US" sz="1800"/>
          </a:p>
          <a:p>
            <a:pPr fontAlgn="t"/>
            <a:r>
              <a:rPr lang="en-US" altLang="en-US" sz="1800" b="1">
                <a:solidFill>
                  <a:schemeClr val="tx2"/>
                </a:solidFill>
              </a:rPr>
              <a:t>Debugging</a:t>
            </a:r>
            <a:r>
              <a:rPr lang="en-US" altLang="en-US" sz="1800">
                <a:solidFill>
                  <a:schemeClr val="tx2"/>
                </a:solidFill>
              </a:rPr>
              <a:t> is </a:t>
            </a:r>
            <a:r>
              <a:rPr lang="en-US" altLang="en-US" sz="1800" b="1">
                <a:solidFill>
                  <a:schemeClr val="tx2"/>
                </a:solidFill>
              </a:rPr>
              <a:t>easy</a:t>
            </a:r>
            <a:r>
              <a:rPr lang="en-US" altLang="en-US" sz="1800">
                <a:solidFill>
                  <a:schemeClr val="tx2"/>
                </a:solidFill>
              </a:rPr>
              <a:t>.</a:t>
            </a:r>
            <a:endParaRPr lang="ar-SA" altLang="en-US" sz="1800">
              <a:solidFill>
                <a:schemeClr val="tx2"/>
              </a:solidFill>
            </a:endParaRPr>
          </a:p>
          <a:p>
            <a:pPr fontAlgn="t"/>
            <a:r>
              <a:rPr lang="en-US" altLang="en-US" sz="1800"/>
              <a:t>Ex: python, Ruby, basic.</a:t>
            </a:r>
            <a:endParaRPr lang="ar-SA" altLang="en-US" sz="1800"/>
          </a:p>
        </p:txBody>
      </p:sp>
      <p:sp>
        <p:nvSpPr>
          <p:cNvPr id="1331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34B68526-ED2E-4124-9565-BEEC10791955}" type="slidenum">
              <a:rPr lang="en-US" altLang="en-US"/>
              <a:pPr fontAlgn="base">
                <a:spcBef>
                  <a:spcPct val="0"/>
                </a:spcBef>
                <a:spcAft>
                  <a:spcPct val="0"/>
                </a:spcAft>
              </a:pPr>
              <a:t>13</a:t>
            </a:fld>
            <a:endParaRPr lang="en-US" altLang="en-US"/>
          </a:p>
        </p:txBody>
      </p:sp>
    </p:spTree>
    <p:extLst>
      <p:ext uri="{BB962C8B-B14F-4D97-AF65-F5344CB8AC3E}">
        <p14:creationId xmlns:p14="http://schemas.microsoft.com/office/powerpoint/2010/main" val="28953961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p:txBody>
          <a:bodyPr/>
          <a:lstStyle/>
          <a:p>
            <a:r>
              <a:rPr lang="en-US" altLang="en-US"/>
              <a:t>Hybrid compiler</a:t>
            </a:r>
          </a:p>
        </p:txBody>
      </p:sp>
      <p:sp>
        <p:nvSpPr>
          <p:cNvPr id="14339"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797E241-0C6B-462E-849F-8CCBD17FD304}" type="slidenum">
              <a:rPr lang="en-US" altLang="en-US"/>
              <a:pPr fontAlgn="base">
                <a:spcBef>
                  <a:spcPct val="0"/>
                </a:spcBef>
                <a:spcAft>
                  <a:spcPct val="0"/>
                </a:spcAft>
              </a:pPr>
              <a:t>14</a:t>
            </a:fld>
            <a:endParaRPr lang="en-US" altLang="en-US"/>
          </a:p>
        </p:txBody>
      </p:sp>
      <p:sp>
        <p:nvSpPr>
          <p:cNvPr id="6" name="Rectangle 5">
            <a:extLst>
              <a:ext uri="{FF2B5EF4-FFF2-40B4-BE49-F238E27FC236}">
                <a16:creationId xmlns:a16="http://schemas.microsoft.com/office/drawing/2014/main" id="{1864FCF6-44D7-4719-80AB-F75F507E2088}"/>
              </a:ext>
            </a:extLst>
          </p:cNvPr>
          <p:cNvSpPr/>
          <p:nvPr/>
        </p:nvSpPr>
        <p:spPr>
          <a:xfrm>
            <a:off x="3165475" y="3735388"/>
            <a:ext cx="1970088" cy="8905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eaLnBrk="1" fontAlgn="auto" hangingPunct="1">
              <a:spcBef>
                <a:spcPts val="0"/>
              </a:spcBef>
              <a:spcAft>
                <a:spcPts val="0"/>
              </a:spcAft>
              <a:defRPr/>
            </a:pPr>
            <a:r>
              <a:rPr lang="en-US" b="1" dirty="0">
                <a:solidFill>
                  <a:schemeClr val="tx2"/>
                </a:solidFill>
              </a:rPr>
              <a:t>Translator</a:t>
            </a:r>
          </a:p>
          <a:p>
            <a:pPr algn="ctr" eaLnBrk="1" fontAlgn="auto" hangingPunct="1">
              <a:spcBef>
                <a:spcPts val="0"/>
              </a:spcBef>
              <a:spcAft>
                <a:spcPts val="0"/>
              </a:spcAft>
              <a:defRPr/>
            </a:pPr>
            <a:r>
              <a:rPr lang="en-US" b="1" dirty="0">
                <a:solidFill>
                  <a:schemeClr val="tx2"/>
                </a:solidFill>
              </a:rPr>
              <a:t>(Compiler)</a:t>
            </a:r>
            <a:endParaRPr lang="ar-SA" b="1" dirty="0">
              <a:solidFill>
                <a:schemeClr val="tx2"/>
              </a:solidFill>
            </a:endParaRPr>
          </a:p>
        </p:txBody>
      </p:sp>
      <p:sp>
        <p:nvSpPr>
          <p:cNvPr id="7" name="TextBox 6"/>
          <p:cNvSpPr txBox="1">
            <a:spLocks noChangeArrowheads="1"/>
          </p:cNvSpPr>
          <p:nvPr/>
        </p:nvSpPr>
        <p:spPr bwMode="auto">
          <a:xfrm>
            <a:off x="3165475" y="2832100"/>
            <a:ext cx="1978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a:solidFill>
                  <a:schemeClr val="tx2"/>
                </a:solidFill>
              </a:rPr>
              <a:t>Source Program</a:t>
            </a:r>
            <a:endParaRPr lang="ar-SA" altLang="en-US">
              <a:solidFill>
                <a:schemeClr val="tx2"/>
              </a:solidFill>
            </a:endParaRPr>
          </a:p>
        </p:txBody>
      </p:sp>
      <p:sp>
        <p:nvSpPr>
          <p:cNvPr id="8" name="TextBox 7"/>
          <p:cNvSpPr txBox="1">
            <a:spLocks noChangeArrowheads="1"/>
          </p:cNvSpPr>
          <p:nvPr/>
        </p:nvSpPr>
        <p:spPr bwMode="auto">
          <a:xfrm>
            <a:off x="2822575" y="5084763"/>
            <a:ext cx="2654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a:solidFill>
                  <a:schemeClr val="tx2"/>
                </a:solidFill>
              </a:rPr>
              <a:t>Intermediate Program</a:t>
            </a:r>
            <a:endParaRPr lang="ar-SA" altLang="en-US">
              <a:solidFill>
                <a:schemeClr val="tx2"/>
              </a:solidFill>
            </a:endParaRPr>
          </a:p>
        </p:txBody>
      </p:sp>
      <p:sp>
        <p:nvSpPr>
          <p:cNvPr id="13" name="Rectangle 12">
            <a:extLst>
              <a:ext uri="{FF2B5EF4-FFF2-40B4-BE49-F238E27FC236}">
                <a16:creationId xmlns:a16="http://schemas.microsoft.com/office/drawing/2014/main" id="{7C792297-322C-43F5-A7CB-A9FEEC284146}"/>
              </a:ext>
            </a:extLst>
          </p:cNvPr>
          <p:cNvSpPr/>
          <p:nvPr/>
        </p:nvSpPr>
        <p:spPr>
          <a:xfrm>
            <a:off x="6321425" y="5127625"/>
            <a:ext cx="1970088" cy="89217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eaLnBrk="1" fontAlgn="auto" hangingPunct="1">
              <a:spcBef>
                <a:spcPts val="0"/>
              </a:spcBef>
              <a:spcAft>
                <a:spcPts val="0"/>
              </a:spcAft>
              <a:defRPr/>
            </a:pPr>
            <a:r>
              <a:rPr lang="en-US" b="1" dirty="0">
                <a:solidFill>
                  <a:schemeClr val="tx2"/>
                </a:solidFill>
              </a:rPr>
              <a:t>Virtual machine</a:t>
            </a:r>
          </a:p>
          <a:p>
            <a:pPr algn="ctr" eaLnBrk="1" fontAlgn="auto" hangingPunct="1">
              <a:spcBef>
                <a:spcPts val="0"/>
              </a:spcBef>
              <a:spcAft>
                <a:spcPts val="0"/>
              </a:spcAft>
              <a:defRPr/>
            </a:pPr>
            <a:r>
              <a:rPr lang="en-US" b="1" dirty="0">
                <a:solidFill>
                  <a:schemeClr val="tx2"/>
                </a:solidFill>
              </a:rPr>
              <a:t>(Interpreter)</a:t>
            </a:r>
            <a:endParaRPr lang="ar-SA" b="1" dirty="0">
              <a:solidFill>
                <a:schemeClr val="tx2"/>
              </a:solidFill>
            </a:endParaRPr>
          </a:p>
        </p:txBody>
      </p:sp>
      <p:sp>
        <p:nvSpPr>
          <p:cNvPr id="14" name="TextBox 13"/>
          <p:cNvSpPr txBox="1">
            <a:spLocks noChangeArrowheads="1"/>
          </p:cNvSpPr>
          <p:nvPr/>
        </p:nvSpPr>
        <p:spPr bwMode="auto">
          <a:xfrm>
            <a:off x="3771900" y="5710238"/>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a:solidFill>
                  <a:schemeClr val="tx2"/>
                </a:solidFill>
              </a:rPr>
              <a:t>Input</a:t>
            </a:r>
            <a:endParaRPr lang="ar-SA" altLang="en-US">
              <a:solidFill>
                <a:schemeClr val="tx2"/>
              </a:solidFill>
            </a:endParaRPr>
          </a:p>
        </p:txBody>
      </p:sp>
      <p:sp>
        <p:nvSpPr>
          <p:cNvPr id="15" name="TextBox 14"/>
          <p:cNvSpPr txBox="1">
            <a:spLocks noChangeArrowheads="1"/>
          </p:cNvSpPr>
          <p:nvPr/>
        </p:nvSpPr>
        <p:spPr bwMode="auto">
          <a:xfrm>
            <a:off x="9102725" y="5340350"/>
            <a:ext cx="981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r>
              <a:rPr lang="en-US" altLang="en-US">
                <a:solidFill>
                  <a:schemeClr val="tx2"/>
                </a:solidFill>
              </a:rPr>
              <a:t>Output</a:t>
            </a:r>
            <a:endParaRPr lang="ar-SA" altLang="en-US">
              <a:solidFill>
                <a:schemeClr val="tx2"/>
              </a:solidFill>
            </a:endParaRPr>
          </a:p>
        </p:txBody>
      </p:sp>
      <p:cxnSp>
        <p:nvCxnSpPr>
          <p:cNvPr id="11" name="Straight Arrow Connector 10">
            <a:extLst>
              <a:ext uri="{FF2B5EF4-FFF2-40B4-BE49-F238E27FC236}">
                <a16:creationId xmlns:a16="http://schemas.microsoft.com/office/drawing/2014/main" id="{62FA238C-9E74-4824-B29A-8074C4645F9B}"/>
              </a:ext>
            </a:extLst>
          </p:cNvPr>
          <p:cNvCxnSpPr>
            <a:stCxn id="7" idx="2"/>
          </p:cNvCxnSpPr>
          <p:nvPr/>
        </p:nvCxnSpPr>
        <p:spPr>
          <a:xfrm flipH="1">
            <a:off x="4154488" y="3201988"/>
            <a:ext cx="0" cy="44132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EE49172D-5D2A-4844-90C2-51AD32A48124}"/>
              </a:ext>
            </a:extLst>
          </p:cNvPr>
          <p:cNvCxnSpPr>
            <a:stCxn id="6" idx="2"/>
            <a:endCxn id="8" idx="0"/>
          </p:cNvCxnSpPr>
          <p:nvPr/>
        </p:nvCxnSpPr>
        <p:spPr>
          <a:xfrm>
            <a:off x="4149725" y="4625975"/>
            <a:ext cx="0" cy="45878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854463A7-75FA-4814-A6F6-53515CEA328E}"/>
              </a:ext>
            </a:extLst>
          </p:cNvPr>
          <p:cNvCxnSpPr>
            <a:stCxn id="8" idx="3"/>
          </p:cNvCxnSpPr>
          <p:nvPr/>
        </p:nvCxnSpPr>
        <p:spPr>
          <a:xfrm>
            <a:off x="5476875" y="5268913"/>
            <a:ext cx="80645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0BD7C433-7BF1-4E2C-957E-911E2C163EF6}"/>
              </a:ext>
            </a:extLst>
          </p:cNvPr>
          <p:cNvCxnSpPr/>
          <p:nvPr/>
        </p:nvCxnSpPr>
        <p:spPr>
          <a:xfrm>
            <a:off x="4633913" y="5894388"/>
            <a:ext cx="168751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23E1627A-86EA-4737-9B07-051480167690}"/>
              </a:ext>
            </a:extLst>
          </p:cNvPr>
          <p:cNvCxnSpPr>
            <a:stCxn id="13" idx="3"/>
          </p:cNvCxnSpPr>
          <p:nvPr/>
        </p:nvCxnSpPr>
        <p:spPr>
          <a:xfrm flipV="1">
            <a:off x="8291513" y="5573713"/>
            <a:ext cx="71120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619FC098-2133-4EA1-B37C-9AA7DFFB48E3}"/>
              </a:ext>
            </a:extLst>
          </p:cNvPr>
          <p:cNvSpPr txBox="1"/>
          <p:nvPr/>
        </p:nvSpPr>
        <p:spPr>
          <a:xfrm>
            <a:off x="5087144" y="1873978"/>
            <a:ext cx="6408738" cy="2954337"/>
          </a:xfrm>
          <a:prstGeom prst="rect">
            <a:avLst/>
          </a:prstGeom>
          <a:noFill/>
        </p:spPr>
        <p:txBody>
          <a:bodyPr>
            <a:spAutoFit/>
          </a:bodyPr>
          <a:lstStyle/>
          <a:p>
            <a:pPr marL="800100" lvl="1" indent="-342900" eaLnBrk="1" fontAlgn="auto" hangingPunct="1">
              <a:spcBef>
                <a:spcPts val="0"/>
              </a:spcBef>
              <a:spcAft>
                <a:spcPts val="0"/>
              </a:spcAft>
              <a:buFont typeface="Wingdings" panose="05000000000000000000" pitchFamily="2" charset="2"/>
              <a:buChar char="Ø"/>
              <a:defRPr/>
            </a:pPr>
            <a:r>
              <a:rPr lang="en-US" sz="2400" dirty="0">
                <a:latin typeface="+mj-lt"/>
              </a:rPr>
              <a:t>Compilation and interpretation may be combined to implement a programming language: </a:t>
            </a:r>
          </a:p>
          <a:p>
            <a:pPr lvl="2" eaLnBrk="1" fontAlgn="auto" hangingPunct="1">
              <a:spcBef>
                <a:spcPts val="0"/>
              </a:spcBef>
              <a:spcAft>
                <a:spcPts val="0"/>
              </a:spcAft>
              <a:defRPr/>
            </a:pPr>
            <a:r>
              <a:rPr lang="en-US" sz="2400" dirty="0">
                <a:latin typeface="+mj-lt"/>
              </a:rPr>
              <a:t>The compiler may produce intermediate-level code which is then interpreted rather than compiled to machine code.</a:t>
            </a:r>
          </a:p>
          <a:p>
            <a:pPr lvl="2" eaLnBrk="1" fontAlgn="auto" hangingPunct="1">
              <a:spcBef>
                <a:spcPts val="0"/>
              </a:spcBef>
              <a:spcAft>
                <a:spcPts val="0"/>
              </a:spcAft>
              <a:defRPr/>
            </a:pPr>
            <a:r>
              <a:rPr lang="en-US" sz="2400" dirty="0">
                <a:latin typeface="+mj-lt"/>
              </a:rPr>
              <a:t>Ex: java</a:t>
            </a:r>
            <a:endParaRPr lang="ar-SA" sz="2400" dirty="0">
              <a:latin typeface="+mj-lt"/>
            </a:endParaRPr>
          </a:p>
          <a:p>
            <a:pPr eaLnBrk="1" fontAlgn="auto" hangingPunct="1">
              <a:spcBef>
                <a:spcPts val="0"/>
              </a:spcBef>
              <a:spcAft>
                <a:spcPts val="0"/>
              </a:spcAft>
              <a:defRPr/>
            </a:pPr>
            <a:endParaRPr lang="en-GB" dirty="0">
              <a:latin typeface="+mn-lt"/>
            </a:endParaRPr>
          </a:p>
        </p:txBody>
      </p:sp>
    </p:spTree>
    <p:extLst>
      <p:ext uri="{BB962C8B-B14F-4D97-AF65-F5344CB8AC3E}">
        <p14:creationId xmlns:p14="http://schemas.microsoft.com/office/powerpoint/2010/main" val="843534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13" grpId="0" animBg="1"/>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descr="A diagram of a program&#10;&#10;Description automatically generated">
            <a:extLst>
              <a:ext uri="{FF2B5EF4-FFF2-40B4-BE49-F238E27FC236}">
                <a16:creationId xmlns:a16="http://schemas.microsoft.com/office/drawing/2014/main" id="{07B0E48E-F37F-8437-AC18-3BBB35AEDBDB}"/>
              </a:ext>
            </a:extLst>
          </p:cNvPr>
          <p:cNvPicPr>
            <a:picLocks noGrp="1" noChangeAspect="1"/>
          </p:cNvPicPr>
          <p:nvPr>
            <p:ph idx="4294967295"/>
          </p:nvPr>
        </p:nvPicPr>
        <p:blipFill>
          <a:blip r:embed="rId2"/>
          <a:stretch>
            <a:fillRect/>
          </a:stretch>
        </p:blipFill>
        <p:spPr>
          <a:xfrm>
            <a:off x="935182" y="716973"/>
            <a:ext cx="10744500" cy="5023427"/>
          </a:xfrm>
          <a:prstGeom prst="rect">
            <a:avLst/>
          </a:prstGeom>
          <a:ln>
            <a:noFill/>
          </a:ln>
        </p:spPr>
      </p:pic>
      <p:sp>
        <p:nvSpPr>
          <p:cNvPr id="2" name="Slide Number Placeholder 1">
            <a:extLst>
              <a:ext uri="{FF2B5EF4-FFF2-40B4-BE49-F238E27FC236}">
                <a16:creationId xmlns:a16="http://schemas.microsoft.com/office/drawing/2014/main" id="{9D45CA07-C326-2B70-97F1-1DC97EEF754E}"/>
              </a:ext>
            </a:extLst>
          </p:cNvPr>
          <p:cNvSpPr>
            <a:spLocks noGrp="1"/>
          </p:cNvSpPr>
          <p:nvPr>
            <p:ph type="sldNum" sz="quarter" idx="12"/>
          </p:nvPr>
        </p:nvSpPr>
        <p:spPr/>
        <p:txBody>
          <a:bodyPr/>
          <a:lstStyle/>
          <a:p>
            <a:fld id="{AB86D660-B180-40FF-8373-2B84F1D09655}" type="slidenum">
              <a:rPr lang="en-US" smtClean="0"/>
              <a:t>15</a:t>
            </a:fld>
            <a:endParaRPr lang="en-US"/>
          </a:p>
        </p:txBody>
      </p:sp>
    </p:spTree>
    <p:extLst>
      <p:ext uri="{BB962C8B-B14F-4D97-AF65-F5344CB8AC3E}">
        <p14:creationId xmlns:p14="http://schemas.microsoft.com/office/powerpoint/2010/main" val="9401279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a:t>Preprocessors, Compilers, Assemblers, and Linkers</a:t>
            </a:r>
          </a:p>
        </p:txBody>
      </p:sp>
      <p:sp>
        <p:nvSpPr>
          <p:cNvPr id="1741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557213" indent="-214313">
              <a:defRPr>
                <a:solidFill>
                  <a:schemeClr val="tx1"/>
                </a:solidFill>
                <a:latin typeface="Arial" panose="020B0604020202020204" pitchFamily="34" charset="0"/>
              </a:defRPr>
            </a:lvl2pPr>
            <a:lvl3pPr marL="857250" indent="-171450">
              <a:defRPr>
                <a:solidFill>
                  <a:schemeClr val="tx1"/>
                </a:solidFill>
                <a:latin typeface="Arial" panose="020B0604020202020204" pitchFamily="34" charset="0"/>
              </a:defRPr>
            </a:lvl3pPr>
            <a:lvl4pPr marL="1200150" indent="-171450">
              <a:defRPr>
                <a:solidFill>
                  <a:schemeClr val="tx1"/>
                </a:solidFill>
                <a:latin typeface="Arial" panose="020B0604020202020204" pitchFamily="34" charset="0"/>
              </a:defRPr>
            </a:lvl4pPr>
            <a:lvl5pPr marL="1543050" indent="-171450">
              <a:defRPr>
                <a:solidFill>
                  <a:schemeClr val="tx1"/>
                </a:solidFill>
                <a:latin typeface="Arial" panose="020B0604020202020204" pitchFamily="34" charset="0"/>
              </a:defRPr>
            </a:lvl5pPr>
            <a:lvl6pPr marL="2000250" indent="-171450" defTabSz="457200" fontAlgn="base">
              <a:spcBef>
                <a:spcPct val="0"/>
              </a:spcBef>
              <a:spcAft>
                <a:spcPct val="0"/>
              </a:spcAft>
              <a:defRPr>
                <a:solidFill>
                  <a:schemeClr val="tx1"/>
                </a:solidFill>
                <a:latin typeface="Arial" panose="020B0604020202020204" pitchFamily="34" charset="0"/>
              </a:defRPr>
            </a:lvl6pPr>
            <a:lvl7pPr marL="2457450" indent="-171450" defTabSz="457200" fontAlgn="base">
              <a:spcBef>
                <a:spcPct val="0"/>
              </a:spcBef>
              <a:spcAft>
                <a:spcPct val="0"/>
              </a:spcAft>
              <a:defRPr>
                <a:solidFill>
                  <a:schemeClr val="tx1"/>
                </a:solidFill>
                <a:latin typeface="Arial" panose="020B0604020202020204" pitchFamily="34" charset="0"/>
              </a:defRPr>
            </a:lvl7pPr>
            <a:lvl8pPr marL="2914650" indent="-171450" defTabSz="457200" fontAlgn="base">
              <a:spcBef>
                <a:spcPct val="0"/>
              </a:spcBef>
              <a:spcAft>
                <a:spcPct val="0"/>
              </a:spcAft>
              <a:defRPr>
                <a:solidFill>
                  <a:schemeClr val="tx1"/>
                </a:solidFill>
                <a:latin typeface="Arial" panose="020B0604020202020204" pitchFamily="34" charset="0"/>
              </a:defRPr>
            </a:lvl8pPr>
            <a:lvl9pPr marL="3371850" indent="-17145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89E4E91F-C866-4A0F-B3AD-41894AA1C9FA}" type="slidenum">
              <a:rPr lang="en-US" altLang="en-US">
                <a:latin typeface="Times New Roman" panose="02020603050405020304" pitchFamily="18" charset="0"/>
              </a:rPr>
              <a:pPr fontAlgn="base">
                <a:spcBef>
                  <a:spcPct val="0"/>
                </a:spcBef>
                <a:spcAft>
                  <a:spcPct val="0"/>
                </a:spcAft>
              </a:pPr>
              <a:t>16</a:t>
            </a:fld>
            <a:endParaRPr lang="en-US" altLang="en-US">
              <a:latin typeface="Times New Roman" panose="02020603050405020304" pitchFamily="18" charset="0"/>
            </a:endParaRPr>
          </a:p>
        </p:txBody>
      </p:sp>
      <p:sp>
        <p:nvSpPr>
          <p:cNvPr id="12292" name="Rectangle 4">
            <a:extLst>
              <a:ext uri="{FF2B5EF4-FFF2-40B4-BE49-F238E27FC236}">
                <a16:creationId xmlns:a16="http://schemas.microsoft.com/office/drawing/2014/main" id="{147F43A9-FA4E-4158-8A3D-7C618C622F1E}"/>
              </a:ext>
            </a:extLst>
          </p:cNvPr>
          <p:cNvSpPr>
            <a:spLocks noChangeArrowheads="1"/>
          </p:cNvSpPr>
          <p:nvPr/>
        </p:nvSpPr>
        <p:spPr bwMode="auto">
          <a:xfrm>
            <a:off x="5353050" y="2971800"/>
            <a:ext cx="137160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Preprocessor</a:t>
            </a:r>
          </a:p>
        </p:txBody>
      </p:sp>
      <p:sp>
        <p:nvSpPr>
          <p:cNvPr id="12293" name="Line 6">
            <a:extLst>
              <a:ext uri="{FF2B5EF4-FFF2-40B4-BE49-F238E27FC236}">
                <a16:creationId xmlns:a16="http://schemas.microsoft.com/office/drawing/2014/main" id="{07B21154-1E36-4825-AECE-3122D2E4F627}"/>
              </a:ext>
            </a:extLst>
          </p:cNvPr>
          <p:cNvSpPr>
            <a:spLocks noChangeShapeType="1"/>
          </p:cNvSpPr>
          <p:nvPr/>
        </p:nvSpPr>
        <p:spPr bwMode="auto">
          <a:xfrm flipH="1">
            <a:off x="6724650" y="5200650"/>
            <a:ext cx="800100" cy="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12294" name="Rectangle 7">
            <a:extLst>
              <a:ext uri="{FF2B5EF4-FFF2-40B4-BE49-F238E27FC236}">
                <a16:creationId xmlns:a16="http://schemas.microsoft.com/office/drawing/2014/main" id="{F0B90BE3-2DD6-4DED-A535-C324324E9767}"/>
              </a:ext>
            </a:extLst>
          </p:cNvPr>
          <p:cNvSpPr>
            <a:spLocks noChangeArrowheads="1"/>
          </p:cNvSpPr>
          <p:nvPr/>
        </p:nvSpPr>
        <p:spPr bwMode="auto">
          <a:xfrm>
            <a:off x="5353050" y="3657600"/>
            <a:ext cx="137160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Compiler</a:t>
            </a:r>
          </a:p>
        </p:txBody>
      </p:sp>
      <p:sp>
        <p:nvSpPr>
          <p:cNvPr id="12295" name="Rectangle 8">
            <a:extLst>
              <a:ext uri="{FF2B5EF4-FFF2-40B4-BE49-F238E27FC236}">
                <a16:creationId xmlns:a16="http://schemas.microsoft.com/office/drawing/2014/main" id="{588A0368-4889-49AA-8A8F-BE9C8EB72830}"/>
              </a:ext>
            </a:extLst>
          </p:cNvPr>
          <p:cNvSpPr>
            <a:spLocks noChangeArrowheads="1"/>
          </p:cNvSpPr>
          <p:nvPr/>
        </p:nvSpPr>
        <p:spPr bwMode="auto">
          <a:xfrm>
            <a:off x="5353050" y="4343400"/>
            <a:ext cx="137160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Assembler</a:t>
            </a:r>
          </a:p>
        </p:txBody>
      </p:sp>
      <p:sp>
        <p:nvSpPr>
          <p:cNvPr id="12296" name="Rectangle 9">
            <a:extLst>
              <a:ext uri="{FF2B5EF4-FFF2-40B4-BE49-F238E27FC236}">
                <a16:creationId xmlns:a16="http://schemas.microsoft.com/office/drawing/2014/main" id="{77C3B881-05DD-4547-AD81-1FCCD06AF6C9}"/>
              </a:ext>
            </a:extLst>
          </p:cNvPr>
          <p:cNvSpPr>
            <a:spLocks noChangeArrowheads="1"/>
          </p:cNvSpPr>
          <p:nvPr/>
        </p:nvSpPr>
        <p:spPr bwMode="auto">
          <a:xfrm>
            <a:off x="5353050" y="5029200"/>
            <a:ext cx="137160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a:t>Linker</a:t>
            </a:r>
          </a:p>
        </p:txBody>
      </p:sp>
      <p:sp>
        <p:nvSpPr>
          <p:cNvPr id="12297" name="Text Box 10">
            <a:extLst>
              <a:ext uri="{FF2B5EF4-FFF2-40B4-BE49-F238E27FC236}">
                <a16:creationId xmlns:a16="http://schemas.microsoft.com/office/drawing/2014/main" id="{CCBCD6AD-A432-4B94-983A-1B9A9E3EF971}"/>
              </a:ext>
            </a:extLst>
          </p:cNvPr>
          <p:cNvSpPr txBox="1">
            <a:spLocks noChangeArrowheads="1"/>
          </p:cNvSpPr>
          <p:nvPr/>
        </p:nvSpPr>
        <p:spPr bwMode="auto">
          <a:xfrm>
            <a:off x="4838700" y="2343150"/>
            <a:ext cx="1906588"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dirty="0"/>
              <a:t>Skeletal Source Program</a:t>
            </a:r>
          </a:p>
        </p:txBody>
      </p:sp>
      <p:sp>
        <p:nvSpPr>
          <p:cNvPr id="12298" name="Text Box 11">
            <a:extLst>
              <a:ext uri="{FF2B5EF4-FFF2-40B4-BE49-F238E27FC236}">
                <a16:creationId xmlns:a16="http://schemas.microsoft.com/office/drawing/2014/main" id="{18C79037-A99E-4D18-AF21-D619093FE761}"/>
              </a:ext>
            </a:extLst>
          </p:cNvPr>
          <p:cNvSpPr txBox="1">
            <a:spLocks noChangeArrowheads="1"/>
          </p:cNvSpPr>
          <p:nvPr/>
        </p:nvSpPr>
        <p:spPr bwMode="auto">
          <a:xfrm>
            <a:off x="4381500" y="3314700"/>
            <a:ext cx="130492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Source Program</a:t>
            </a:r>
          </a:p>
        </p:txBody>
      </p:sp>
      <p:sp>
        <p:nvSpPr>
          <p:cNvPr id="12299" name="Text Box 12">
            <a:extLst>
              <a:ext uri="{FF2B5EF4-FFF2-40B4-BE49-F238E27FC236}">
                <a16:creationId xmlns:a16="http://schemas.microsoft.com/office/drawing/2014/main" id="{7E5C77A5-8B49-45EC-9049-8C5E5476EB59}"/>
              </a:ext>
            </a:extLst>
          </p:cNvPr>
          <p:cNvSpPr txBox="1">
            <a:spLocks noChangeArrowheads="1"/>
          </p:cNvSpPr>
          <p:nvPr/>
        </p:nvSpPr>
        <p:spPr bwMode="auto">
          <a:xfrm>
            <a:off x="3467100" y="4000500"/>
            <a:ext cx="1987550"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dirty="0"/>
              <a:t>Target Assembly Program</a:t>
            </a:r>
          </a:p>
        </p:txBody>
      </p:sp>
      <p:sp>
        <p:nvSpPr>
          <p:cNvPr id="12300" name="Text Box 13">
            <a:extLst>
              <a:ext uri="{FF2B5EF4-FFF2-40B4-BE49-F238E27FC236}">
                <a16:creationId xmlns:a16="http://schemas.microsoft.com/office/drawing/2014/main" id="{56E59C02-36C2-430D-A2AD-2873E3376511}"/>
              </a:ext>
            </a:extLst>
          </p:cNvPr>
          <p:cNvSpPr txBox="1">
            <a:spLocks noChangeArrowheads="1"/>
          </p:cNvSpPr>
          <p:nvPr/>
        </p:nvSpPr>
        <p:spPr bwMode="auto">
          <a:xfrm>
            <a:off x="3409950" y="4686300"/>
            <a:ext cx="1916113"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dirty="0"/>
              <a:t>Relocatable Object Code</a:t>
            </a:r>
          </a:p>
        </p:txBody>
      </p:sp>
      <p:sp>
        <p:nvSpPr>
          <p:cNvPr id="12301" name="Text Box 14">
            <a:extLst>
              <a:ext uri="{FF2B5EF4-FFF2-40B4-BE49-F238E27FC236}">
                <a16:creationId xmlns:a16="http://schemas.microsoft.com/office/drawing/2014/main" id="{5A7B46FA-BDF5-441A-9842-798B001B99A1}"/>
              </a:ext>
            </a:extLst>
          </p:cNvPr>
          <p:cNvSpPr txBox="1">
            <a:spLocks noChangeArrowheads="1"/>
          </p:cNvSpPr>
          <p:nvPr/>
        </p:nvSpPr>
        <p:spPr bwMode="auto">
          <a:xfrm>
            <a:off x="4838700" y="5657850"/>
            <a:ext cx="1868488"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eaLnBrk="1" fontAlgn="auto" hangingPunct="1">
              <a:spcBef>
                <a:spcPts val="0"/>
              </a:spcBef>
              <a:spcAft>
                <a:spcPts val="0"/>
              </a:spcAft>
              <a:defRPr/>
            </a:pPr>
            <a:r>
              <a:rPr lang="en-US" altLang="en-US" sz="1350"/>
              <a:t>Absolute Machine Code</a:t>
            </a:r>
          </a:p>
        </p:txBody>
      </p:sp>
      <p:sp>
        <p:nvSpPr>
          <p:cNvPr id="12302" name="Text Box 15">
            <a:extLst>
              <a:ext uri="{FF2B5EF4-FFF2-40B4-BE49-F238E27FC236}">
                <a16:creationId xmlns:a16="http://schemas.microsoft.com/office/drawing/2014/main" id="{72492C5B-EAD1-45AF-985F-35EDFFF5C8FB}"/>
              </a:ext>
            </a:extLst>
          </p:cNvPr>
          <p:cNvSpPr txBox="1">
            <a:spLocks noChangeArrowheads="1"/>
          </p:cNvSpPr>
          <p:nvPr/>
        </p:nvSpPr>
        <p:spPr bwMode="auto">
          <a:xfrm>
            <a:off x="7391400" y="4972050"/>
            <a:ext cx="18859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dirty="0"/>
              <a:t>Libraries and</a:t>
            </a:r>
          </a:p>
          <a:p>
            <a:pPr algn="ctr" eaLnBrk="1" fontAlgn="auto" hangingPunct="1">
              <a:spcBef>
                <a:spcPts val="0"/>
              </a:spcBef>
              <a:spcAft>
                <a:spcPts val="0"/>
              </a:spcAft>
              <a:defRPr/>
            </a:pPr>
            <a:r>
              <a:rPr lang="en-US" altLang="en-US" sz="1350" dirty="0"/>
              <a:t>Relocatable Object Files</a:t>
            </a:r>
          </a:p>
        </p:txBody>
      </p:sp>
      <p:sp>
        <p:nvSpPr>
          <p:cNvPr id="12303" name="Line 16">
            <a:extLst>
              <a:ext uri="{FF2B5EF4-FFF2-40B4-BE49-F238E27FC236}">
                <a16:creationId xmlns:a16="http://schemas.microsoft.com/office/drawing/2014/main" id="{027A510B-051F-4709-8FDE-AB00DA883B7E}"/>
              </a:ext>
            </a:extLst>
          </p:cNvPr>
          <p:cNvSpPr>
            <a:spLocks noChangeShapeType="1"/>
          </p:cNvSpPr>
          <p:nvPr/>
        </p:nvSpPr>
        <p:spPr bwMode="auto">
          <a:xfrm>
            <a:off x="6038850" y="5372100"/>
            <a:ext cx="0" cy="34290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12304" name="Line 21">
            <a:extLst>
              <a:ext uri="{FF2B5EF4-FFF2-40B4-BE49-F238E27FC236}">
                <a16:creationId xmlns:a16="http://schemas.microsoft.com/office/drawing/2014/main" id="{44496FC9-E2F6-4F7D-888A-BBAAE92B50A0}"/>
              </a:ext>
            </a:extLst>
          </p:cNvPr>
          <p:cNvSpPr>
            <a:spLocks noChangeShapeType="1"/>
          </p:cNvSpPr>
          <p:nvPr/>
        </p:nvSpPr>
        <p:spPr bwMode="auto">
          <a:xfrm>
            <a:off x="6038850" y="4686300"/>
            <a:ext cx="0" cy="34290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12305" name="Line 22">
            <a:extLst>
              <a:ext uri="{FF2B5EF4-FFF2-40B4-BE49-F238E27FC236}">
                <a16:creationId xmlns:a16="http://schemas.microsoft.com/office/drawing/2014/main" id="{C44B353C-2913-4F98-9722-DBE8B490AD2F}"/>
              </a:ext>
            </a:extLst>
          </p:cNvPr>
          <p:cNvSpPr>
            <a:spLocks noChangeShapeType="1"/>
          </p:cNvSpPr>
          <p:nvPr/>
        </p:nvSpPr>
        <p:spPr bwMode="auto">
          <a:xfrm>
            <a:off x="6038850" y="4000500"/>
            <a:ext cx="0" cy="34290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12306" name="Line 23">
            <a:extLst>
              <a:ext uri="{FF2B5EF4-FFF2-40B4-BE49-F238E27FC236}">
                <a16:creationId xmlns:a16="http://schemas.microsoft.com/office/drawing/2014/main" id="{43FBA7A3-DBC7-4541-B4FB-31ADDA305B2E}"/>
              </a:ext>
            </a:extLst>
          </p:cNvPr>
          <p:cNvSpPr>
            <a:spLocks noChangeShapeType="1"/>
          </p:cNvSpPr>
          <p:nvPr/>
        </p:nvSpPr>
        <p:spPr bwMode="auto">
          <a:xfrm>
            <a:off x="6038850" y="3314700"/>
            <a:ext cx="0" cy="34290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12307" name="Line 24">
            <a:extLst>
              <a:ext uri="{FF2B5EF4-FFF2-40B4-BE49-F238E27FC236}">
                <a16:creationId xmlns:a16="http://schemas.microsoft.com/office/drawing/2014/main" id="{9BD46E8C-7520-455B-92C0-EB475FB8B267}"/>
              </a:ext>
            </a:extLst>
          </p:cNvPr>
          <p:cNvSpPr>
            <a:spLocks noChangeShapeType="1"/>
          </p:cNvSpPr>
          <p:nvPr/>
        </p:nvSpPr>
        <p:spPr bwMode="auto">
          <a:xfrm>
            <a:off x="6038850" y="2628900"/>
            <a:ext cx="0" cy="342900"/>
          </a:xfrm>
          <a:prstGeom prst="line">
            <a:avLst/>
          </a:prstGeom>
          <a:noFill/>
          <a:ln w="254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GB" sz="1350">
              <a:latin typeface="+mn-lt"/>
            </a:endParaRPr>
          </a:p>
        </p:txBody>
      </p:sp>
      <p:sp>
        <p:nvSpPr>
          <p:cNvPr id="12308" name="Rectangle 26">
            <a:extLst>
              <a:ext uri="{FF2B5EF4-FFF2-40B4-BE49-F238E27FC236}">
                <a16:creationId xmlns:a16="http://schemas.microsoft.com/office/drawing/2014/main" id="{3F30F9C4-AED4-4FA5-98D3-638E3F6E220E}"/>
              </a:ext>
            </a:extLst>
          </p:cNvPr>
          <p:cNvSpPr>
            <a:spLocks noChangeArrowheads="1"/>
          </p:cNvSpPr>
          <p:nvPr/>
        </p:nvSpPr>
        <p:spPr bwMode="auto">
          <a:xfrm>
            <a:off x="7410450" y="3543300"/>
            <a:ext cx="1828800" cy="571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fontAlgn="auto" hangingPunct="1">
              <a:spcBef>
                <a:spcPts val="0"/>
              </a:spcBef>
              <a:spcAft>
                <a:spcPts val="0"/>
              </a:spcAft>
              <a:defRPr/>
            </a:pPr>
            <a:r>
              <a:rPr lang="en-US" altLang="en-US" sz="1350" dirty="0"/>
              <a:t>Try for example:</a:t>
            </a:r>
          </a:p>
          <a:p>
            <a:pPr algn="ctr" eaLnBrk="1" fontAlgn="auto" hangingPunct="1">
              <a:spcBef>
                <a:spcPts val="0"/>
              </a:spcBef>
              <a:spcAft>
                <a:spcPts val="0"/>
              </a:spcAft>
              <a:defRPr/>
            </a:pPr>
            <a:r>
              <a:rPr lang="en-US" altLang="en-US" sz="1500" b="1" dirty="0" err="1">
                <a:latin typeface="Courier New" panose="02070309020205020404" pitchFamily="49" charset="0"/>
              </a:rPr>
              <a:t>gcc</a:t>
            </a:r>
            <a:r>
              <a:rPr lang="en-US" altLang="en-US" sz="1500" b="1" dirty="0">
                <a:latin typeface="Courier New" panose="02070309020205020404" pitchFamily="49" charset="0"/>
              </a:rPr>
              <a:t> -v </a:t>
            </a:r>
            <a:r>
              <a:rPr lang="en-US" altLang="en-US" sz="1500" b="1" dirty="0" err="1">
                <a:latin typeface="Courier New" panose="02070309020205020404" pitchFamily="49" charset="0"/>
              </a:rPr>
              <a:t>myprog.c</a:t>
            </a:r>
            <a:endParaRPr lang="en-US" altLang="en-US" sz="1500" b="1" dirty="0">
              <a:latin typeface="Courier New" panose="02070309020205020404" pitchFamily="49" charset="0"/>
            </a:endParaRPr>
          </a:p>
        </p:txBody>
      </p:sp>
    </p:spTree>
    <p:extLst>
      <p:ext uri="{BB962C8B-B14F-4D97-AF65-F5344CB8AC3E}">
        <p14:creationId xmlns:p14="http://schemas.microsoft.com/office/powerpoint/2010/main" val="1477529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34BE8-2162-1382-7621-2DD1A9D413FE}"/>
              </a:ext>
            </a:extLst>
          </p:cNvPr>
          <p:cNvSpPr>
            <a:spLocks noGrp="1"/>
          </p:cNvSpPr>
          <p:nvPr>
            <p:ph type="title"/>
          </p:nvPr>
        </p:nvSpPr>
        <p:spPr/>
        <p:txBody>
          <a:bodyPr/>
          <a:lstStyle/>
          <a:p>
            <a:r>
              <a:rPr lang="en-GB" dirty="0"/>
              <a:t>Accompanies of a compiler</a:t>
            </a:r>
            <a:endParaRPr lang="en-US" dirty="0"/>
          </a:p>
        </p:txBody>
      </p:sp>
      <p:sp>
        <p:nvSpPr>
          <p:cNvPr id="3" name="TextBox 2">
            <a:extLst>
              <a:ext uri="{FF2B5EF4-FFF2-40B4-BE49-F238E27FC236}">
                <a16:creationId xmlns:a16="http://schemas.microsoft.com/office/drawing/2014/main" id="{A8EEF7D1-7197-A9A4-5363-9A358255EA95}"/>
              </a:ext>
            </a:extLst>
          </p:cNvPr>
          <p:cNvSpPr txBox="1"/>
          <p:nvPr/>
        </p:nvSpPr>
        <p:spPr>
          <a:xfrm>
            <a:off x="832902" y="2127379"/>
            <a:ext cx="10515600" cy="3477875"/>
          </a:xfrm>
          <a:prstGeom prst="rect">
            <a:avLst/>
          </a:prstGeom>
          <a:noFill/>
        </p:spPr>
        <p:txBody>
          <a:bodyPr wrap="square" rtlCol="0">
            <a:spAutoFit/>
          </a:bodyPr>
          <a:lstStyle/>
          <a:p>
            <a:pPr marL="285750" indent="-285750">
              <a:spcAft>
                <a:spcPts val="1200"/>
              </a:spcAft>
              <a:buFont typeface="Wingdings" panose="05000000000000000000" pitchFamily="2" charset="2"/>
              <a:buChar char="q"/>
            </a:pPr>
            <a:r>
              <a:rPr lang="en-GB" sz="2000" b="1" dirty="0"/>
              <a:t>Editor</a:t>
            </a:r>
            <a:r>
              <a:rPr lang="en-GB" sz="2000" dirty="0"/>
              <a:t> is the environment where you can type-in your source code, sometimes with highlights, automatic matching, or intelligent completion. </a:t>
            </a:r>
          </a:p>
          <a:p>
            <a:pPr marL="285750" indent="-285750">
              <a:spcAft>
                <a:spcPts val="1200"/>
              </a:spcAft>
              <a:buFont typeface="Wingdings" panose="05000000000000000000" pitchFamily="2" charset="2"/>
              <a:buChar char="q"/>
            </a:pPr>
            <a:r>
              <a:rPr lang="en-GB" sz="2000" b="1" dirty="0"/>
              <a:t>Preprocessor</a:t>
            </a:r>
            <a:r>
              <a:rPr lang="en-GB" sz="2000" dirty="0"/>
              <a:t> provides the first pass of compilation. It processes include-files, conditional compilation instructions and macros, delete comments, etc.</a:t>
            </a:r>
          </a:p>
          <a:p>
            <a:pPr marL="285750" indent="-285750">
              <a:spcAft>
                <a:spcPts val="1200"/>
              </a:spcAft>
              <a:buFont typeface="Wingdings" panose="05000000000000000000" pitchFamily="2" charset="2"/>
              <a:buChar char="q"/>
            </a:pPr>
            <a:r>
              <a:rPr lang="en-GB" sz="2000" b="1" dirty="0"/>
              <a:t>Assembler</a:t>
            </a:r>
            <a:r>
              <a:rPr lang="en-GB" sz="2000" dirty="0"/>
              <a:t> performs the third stage of compilation. It takes the assembly source code and produces an assembly listing with offsets. The assembler output is stored in an object file.</a:t>
            </a:r>
          </a:p>
          <a:p>
            <a:pPr marL="285750" indent="-285750">
              <a:spcAft>
                <a:spcPts val="1200"/>
              </a:spcAft>
              <a:buFont typeface="Wingdings" panose="05000000000000000000" pitchFamily="2" charset="2"/>
              <a:buChar char="q"/>
            </a:pPr>
            <a:r>
              <a:rPr lang="en-GB" sz="2000" b="1" dirty="0"/>
              <a:t>Linker</a:t>
            </a:r>
            <a:r>
              <a:rPr lang="en-GB" sz="2000" dirty="0"/>
              <a:t> performs the final stage of compilation. It takes one or more object files or libraries as input and combines them to produce a single (usually executable) file. </a:t>
            </a:r>
          </a:p>
          <a:p>
            <a:pPr marL="285750" indent="-285750">
              <a:spcAft>
                <a:spcPts val="1200"/>
              </a:spcAft>
              <a:buFont typeface="Wingdings" panose="05000000000000000000" pitchFamily="2" charset="2"/>
              <a:buChar char="q"/>
            </a:pPr>
            <a:r>
              <a:rPr lang="en-GB" sz="2000" b="1" dirty="0"/>
              <a:t>Loader</a:t>
            </a:r>
            <a:r>
              <a:rPr lang="en-GB" sz="2000" dirty="0"/>
              <a:t> loads the executable code into the memory</a:t>
            </a:r>
            <a:endParaRPr lang="en-US" sz="2000" dirty="0"/>
          </a:p>
        </p:txBody>
      </p:sp>
      <p:sp>
        <p:nvSpPr>
          <p:cNvPr id="4" name="Slide Number Placeholder 3">
            <a:extLst>
              <a:ext uri="{FF2B5EF4-FFF2-40B4-BE49-F238E27FC236}">
                <a16:creationId xmlns:a16="http://schemas.microsoft.com/office/drawing/2014/main" id="{59DB87A0-D237-FB13-368C-53C33A535871}"/>
              </a:ext>
            </a:extLst>
          </p:cNvPr>
          <p:cNvSpPr>
            <a:spLocks noGrp="1"/>
          </p:cNvSpPr>
          <p:nvPr>
            <p:ph type="sldNum" sz="quarter" idx="12"/>
          </p:nvPr>
        </p:nvSpPr>
        <p:spPr/>
        <p:txBody>
          <a:bodyPr/>
          <a:lstStyle/>
          <a:p>
            <a:fld id="{AB86D660-B180-40FF-8373-2B84F1D09655}" type="slidenum">
              <a:rPr lang="en-US" smtClean="0"/>
              <a:t>17</a:t>
            </a:fld>
            <a:endParaRPr lang="en-US"/>
          </a:p>
        </p:txBody>
      </p:sp>
    </p:spTree>
    <p:extLst>
      <p:ext uri="{BB962C8B-B14F-4D97-AF65-F5344CB8AC3E}">
        <p14:creationId xmlns:p14="http://schemas.microsoft.com/office/powerpoint/2010/main" val="29113561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5">
            <a:extLst>
              <a:ext uri="{FF2B5EF4-FFF2-40B4-BE49-F238E27FC236}">
                <a16:creationId xmlns:a16="http://schemas.microsoft.com/office/drawing/2014/main" id="{C0737ED5-278D-A8B2-4CE2-5B8EF94F5FC2}"/>
              </a:ext>
            </a:extLst>
          </p:cNvPr>
          <p:cNvSpPr>
            <a:spLocks noGrp="1"/>
          </p:cNvSpPr>
          <p:nvPr>
            <p:ph type="title"/>
          </p:nvPr>
        </p:nvSpPr>
        <p:spPr/>
        <p:txBody>
          <a:bodyPr/>
          <a:lstStyle/>
          <a:p>
            <a:r>
              <a:rPr lang="en-US" altLang="en-US"/>
              <a:t>The Compilation Process</a:t>
            </a:r>
          </a:p>
        </p:txBody>
      </p:sp>
      <p:sp>
        <p:nvSpPr>
          <p:cNvPr id="18435" name="Slide Number Placeholder 4">
            <a:extLst>
              <a:ext uri="{FF2B5EF4-FFF2-40B4-BE49-F238E27FC236}">
                <a16:creationId xmlns:a16="http://schemas.microsoft.com/office/drawing/2014/main" id="{51EC1347-8BDD-480F-17B7-CC6A62C4AC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5FE977AC-FDBD-475A-921B-9631015A0B22}" type="slidenum">
              <a:rPr lang="ar-SA" altLang="en-US" sz="1200">
                <a:latin typeface="Garamond" panose="02020404030301010803" pitchFamily="18" charset="0"/>
              </a:rPr>
              <a:pPr>
                <a:spcBef>
                  <a:spcPct val="0"/>
                </a:spcBef>
                <a:buClrTx/>
                <a:buSzTx/>
                <a:buFontTx/>
                <a:buNone/>
              </a:pPr>
              <a:t>18</a:t>
            </a:fld>
            <a:endParaRPr lang="en-US" altLang="en-US" sz="1200">
              <a:latin typeface="Garamond" panose="02020404030301010803" pitchFamily="18" charset="0"/>
            </a:endParaRPr>
          </a:p>
        </p:txBody>
      </p:sp>
      <p:grpSp>
        <p:nvGrpSpPr>
          <p:cNvPr id="18437" name="Group 40">
            <a:extLst>
              <a:ext uri="{FF2B5EF4-FFF2-40B4-BE49-F238E27FC236}">
                <a16:creationId xmlns:a16="http://schemas.microsoft.com/office/drawing/2014/main" id="{99538461-106B-249C-1722-D027B7FD86F4}"/>
              </a:ext>
            </a:extLst>
          </p:cNvPr>
          <p:cNvGrpSpPr>
            <a:grpSpLocks/>
          </p:cNvGrpSpPr>
          <p:nvPr/>
        </p:nvGrpSpPr>
        <p:grpSpPr bwMode="auto">
          <a:xfrm>
            <a:off x="2469987" y="1715956"/>
            <a:ext cx="7419975" cy="5040313"/>
            <a:chOff x="838200" y="1295400"/>
            <a:chExt cx="7419975" cy="5040313"/>
          </a:xfrm>
        </p:grpSpPr>
        <p:sp>
          <p:nvSpPr>
            <p:cNvPr id="18438" name="Rectangle 4">
              <a:hlinkClick r:id="" action="ppaction://hlinkshowjump?jump=nextslide"/>
              <a:extLst>
                <a:ext uri="{FF2B5EF4-FFF2-40B4-BE49-F238E27FC236}">
                  <a16:creationId xmlns:a16="http://schemas.microsoft.com/office/drawing/2014/main" id="{F7539A99-8FFF-38C0-E3E1-B561DCF66E75}"/>
                </a:ext>
              </a:extLst>
            </p:cNvPr>
            <p:cNvSpPr>
              <a:spLocks noChangeArrowheads="1"/>
            </p:cNvSpPr>
            <p:nvPr/>
          </p:nvSpPr>
          <p:spPr bwMode="auto">
            <a:xfrm>
              <a:off x="1778000" y="1655763"/>
              <a:ext cx="2087563" cy="28733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Scanner</a:t>
              </a:r>
            </a:p>
          </p:txBody>
        </p:sp>
        <p:sp>
          <p:nvSpPr>
            <p:cNvPr id="18439" name="Rectangle 5">
              <a:hlinkClick r:id="rId2" action="ppaction://hlinksldjump"/>
              <a:extLst>
                <a:ext uri="{FF2B5EF4-FFF2-40B4-BE49-F238E27FC236}">
                  <a16:creationId xmlns:a16="http://schemas.microsoft.com/office/drawing/2014/main" id="{A369D5F7-0190-CA89-71B0-3BE7C91B9AB2}"/>
                </a:ext>
              </a:extLst>
            </p:cNvPr>
            <p:cNvSpPr>
              <a:spLocks noChangeArrowheads="1"/>
            </p:cNvSpPr>
            <p:nvPr/>
          </p:nvSpPr>
          <p:spPr bwMode="auto">
            <a:xfrm>
              <a:off x="1778000" y="2374900"/>
              <a:ext cx="2087563" cy="28733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Parser</a:t>
              </a:r>
            </a:p>
          </p:txBody>
        </p:sp>
        <p:sp>
          <p:nvSpPr>
            <p:cNvPr id="18440" name="Rectangle 6">
              <a:hlinkClick r:id="rId3" action="ppaction://hlinksldjump"/>
              <a:extLst>
                <a:ext uri="{FF2B5EF4-FFF2-40B4-BE49-F238E27FC236}">
                  <a16:creationId xmlns:a16="http://schemas.microsoft.com/office/drawing/2014/main" id="{B751A993-9981-D37A-0933-DEA06F3F2E4C}"/>
                </a:ext>
              </a:extLst>
            </p:cNvPr>
            <p:cNvSpPr>
              <a:spLocks noChangeArrowheads="1"/>
            </p:cNvSpPr>
            <p:nvPr/>
          </p:nvSpPr>
          <p:spPr bwMode="auto">
            <a:xfrm>
              <a:off x="1778000" y="3167063"/>
              <a:ext cx="2087563" cy="28733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Semantics Analyzer</a:t>
              </a:r>
            </a:p>
          </p:txBody>
        </p:sp>
        <p:sp>
          <p:nvSpPr>
            <p:cNvPr id="18441" name="Rectangle 7">
              <a:hlinkClick r:id="rId4" action="ppaction://hlinksldjump"/>
              <a:extLst>
                <a:ext uri="{FF2B5EF4-FFF2-40B4-BE49-F238E27FC236}">
                  <a16:creationId xmlns:a16="http://schemas.microsoft.com/office/drawing/2014/main" id="{96705E55-5C42-69DB-85C0-B94152988901}"/>
                </a:ext>
              </a:extLst>
            </p:cNvPr>
            <p:cNvSpPr>
              <a:spLocks noChangeArrowheads="1"/>
            </p:cNvSpPr>
            <p:nvPr/>
          </p:nvSpPr>
          <p:spPr bwMode="auto">
            <a:xfrm>
              <a:off x="1524000" y="3959224"/>
              <a:ext cx="2341563" cy="30797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Source Code Optimizer</a:t>
              </a:r>
            </a:p>
          </p:txBody>
        </p:sp>
        <p:sp>
          <p:nvSpPr>
            <p:cNvPr id="18442" name="Rectangle 8">
              <a:hlinkClick r:id="rId5" action="ppaction://hlinksldjump"/>
              <a:extLst>
                <a:ext uri="{FF2B5EF4-FFF2-40B4-BE49-F238E27FC236}">
                  <a16:creationId xmlns:a16="http://schemas.microsoft.com/office/drawing/2014/main" id="{B8C923A5-A5EA-5DC1-A24A-4AB02A5D034F}"/>
                </a:ext>
              </a:extLst>
            </p:cNvPr>
            <p:cNvSpPr>
              <a:spLocks noChangeArrowheads="1"/>
            </p:cNvSpPr>
            <p:nvPr/>
          </p:nvSpPr>
          <p:spPr bwMode="auto">
            <a:xfrm>
              <a:off x="1778000" y="4824413"/>
              <a:ext cx="2087563" cy="28733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Code Generator</a:t>
              </a:r>
            </a:p>
          </p:txBody>
        </p:sp>
        <p:sp>
          <p:nvSpPr>
            <p:cNvPr id="18443" name="Rectangle 9">
              <a:hlinkClick r:id="rId6" action="ppaction://hlinksldjump"/>
              <a:extLst>
                <a:ext uri="{FF2B5EF4-FFF2-40B4-BE49-F238E27FC236}">
                  <a16:creationId xmlns:a16="http://schemas.microsoft.com/office/drawing/2014/main" id="{513555D3-3553-FBA3-78CF-8C29B6A78A7F}"/>
                </a:ext>
              </a:extLst>
            </p:cNvPr>
            <p:cNvSpPr>
              <a:spLocks noChangeArrowheads="1"/>
            </p:cNvSpPr>
            <p:nvPr/>
          </p:nvSpPr>
          <p:spPr bwMode="auto">
            <a:xfrm>
              <a:off x="1371600" y="5616575"/>
              <a:ext cx="2493963" cy="250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Target Code Optimizer</a:t>
              </a:r>
            </a:p>
          </p:txBody>
        </p:sp>
        <p:sp>
          <p:nvSpPr>
            <p:cNvPr id="18445" name="Rectangle 11">
              <a:extLst>
                <a:ext uri="{FF2B5EF4-FFF2-40B4-BE49-F238E27FC236}">
                  <a16:creationId xmlns:a16="http://schemas.microsoft.com/office/drawing/2014/main" id="{6F4DA5B4-39E5-921A-DF66-8C66E7A2AB7E}"/>
                </a:ext>
              </a:extLst>
            </p:cNvPr>
            <p:cNvSpPr>
              <a:spLocks noChangeArrowheads="1"/>
            </p:cNvSpPr>
            <p:nvPr/>
          </p:nvSpPr>
          <p:spPr bwMode="auto">
            <a:xfrm>
              <a:off x="7034213" y="2393950"/>
              <a:ext cx="1223962" cy="8636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Symbol</a:t>
              </a:r>
            </a:p>
            <a:p>
              <a:pPr algn="ctr" eaLnBrk="1" hangingPunct="1">
                <a:spcBef>
                  <a:spcPct val="0"/>
                </a:spcBef>
                <a:buClrTx/>
                <a:buSzTx/>
                <a:buFontTx/>
                <a:buNone/>
              </a:pPr>
              <a:r>
                <a:rPr lang="en-US" altLang="zh-CN" sz="1800">
                  <a:ea typeface="宋体" panose="02010600030101010101" pitchFamily="2" charset="-122"/>
                </a:rPr>
                <a:t>Table</a:t>
              </a:r>
            </a:p>
          </p:txBody>
        </p:sp>
        <p:sp>
          <p:nvSpPr>
            <p:cNvPr id="18446" name="Rectangle 12">
              <a:extLst>
                <a:ext uri="{FF2B5EF4-FFF2-40B4-BE49-F238E27FC236}">
                  <a16:creationId xmlns:a16="http://schemas.microsoft.com/office/drawing/2014/main" id="{73D69CA5-E4D1-8663-E3EC-6C9CDD8FDB11}"/>
                </a:ext>
              </a:extLst>
            </p:cNvPr>
            <p:cNvSpPr>
              <a:spLocks noChangeArrowheads="1"/>
            </p:cNvSpPr>
            <p:nvPr/>
          </p:nvSpPr>
          <p:spPr bwMode="auto">
            <a:xfrm>
              <a:off x="7034213" y="4319588"/>
              <a:ext cx="1223962" cy="8636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Error</a:t>
              </a:r>
            </a:p>
            <a:p>
              <a:pPr algn="ctr" eaLnBrk="1" hangingPunct="1">
                <a:spcBef>
                  <a:spcPct val="0"/>
                </a:spcBef>
                <a:buClrTx/>
                <a:buSzTx/>
                <a:buFontTx/>
                <a:buNone/>
              </a:pPr>
              <a:r>
                <a:rPr lang="en-US" altLang="zh-CN" sz="1800">
                  <a:ea typeface="宋体" panose="02010600030101010101" pitchFamily="2" charset="-122"/>
                </a:rPr>
                <a:t>Handler</a:t>
              </a:r>
            </a:p>
          </p:txBody>
        </p:sp>
        <p:sp>
          <p:nvSpPr>
            <p:cNvPr id="18447" name="Line 14">
              <a:extLst>
                <a:ext uri="{FF2B5EF4-FFF2-40B4-BE49-F238E27FC236}">
                  <a16:creationId xmlns:a16="http://schemas.microsoft.com/office/drawing/2014/main" id="{66D8D067-7690-ACD0-893F-9165BD163CD1}"/>
                </a:ext>
              </a:extLst>
            </p:cNvPr>
            <p:cNvSpPr>
              <a:spLocks noChangeShapeType="1"/>
            </p:cNvSpPr>
            <p:nvPr/>
          </p:nvSpPr>
          <p:spPr bwMode="auto">
            <a:xfrm>
              <a:off x="2786063" y="19431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Line 15">
              <a:extLst>
                <a:ext uri="{FF2B5EF4-FFF2-40B4-BE49-F238E27FC236}">
                  <a16:creationId xmlns:a16="http://schemas.microsoft.com/office/drawing/2014/main" id="{7AEA6641-9C2A-A576-F7B3-344786C46C51}"/>
                </a:ext>
              </a:extLst>
            </p:cNvPr>
            <p:cNvSpPr>
              <a:spLocks noChangeShapeType="1"/>
            </p:cNvSpPr>
            <p:nvPr/>
          </p:nvSpPr>
          <p:spPr bwMode="auto">
            <a:xfrm>
              <a:off x="2786063" y="2663825"/>
              <a:ext cx="0" cy="5032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Line 16">
              <a:extLst>
                <a:ext uri="{FF2B5EF4-FFF2-40B4-BE49-F238E27FC236}">
                  <a16:creationId xmlns:a16="http://schemas.microsoft.com/office/drawing/2014/main" id="{E8DD9F09-C99B-890C-63E3-8A15317E929E}"/>
                </a:ext>
              </a:extLst>
            </p:cNvPr>
            <p:cNvSpPr>
              <a:spLocks noChangeShapeType="1"/>
            </p:cNvSpPr>
            <p:nvPr/>
          </p:nvSpPr>
          <p:spPr bwMode="auto">
            <a:xfrm>
              <a:off x="2786062" y="3455988"/>
              <a:ext cx="33337" cy="5064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0" name="Line 17">
              <a:extLst>
                <a:ext uri="{FF2B5EF4-FFF2-40B4-BE49-F238E27FC236}">
                  <a16:creationId xmlns:a16="http://schemas.microsoft.com/office/drawing/2014/main" id="{D2250FF9-E5BC-DF9F-0738-53E80B175B5F}"/>
                </a:ext>
              </a:extLst>
            </p:cNvPr>
            <p:cNvSpPr>
              <a:spLocks noChangeShapeType="1"/>
            </p:cNvSpPr>
            <p:nvPr/>
          </p:nvSpPr>
          <p:spPr bwMode="auto">
            <a:xfrm>
              <a:off x="2786063" y="4248150"/>
              <a:ext cx="0"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1" name="Line 18">
              <a:extLst>
                <a:ext uri="{FF2B5EF4-FFF2-40B4-BE49-F238E27FC236}">
                  <a16:creationId xmlns:a16="http://schemas.microsoft.com/office/drawing/2014/main" id="{6D013FBC-8692-2D77-5B1B-5BF7803B2B26}"/>
                </a:ext>
              </a:extLst>
            </p:cNvPr>
            <p:cNvSpPr>
              <a:spLocks noChangeShapeType="1"/>
            </p:cNvSpPr>
            <p:nvPr/>
          </p:nvSpPr>
          <p:spPr bwMode="auto">
            <a:xfrm>
              <a:off x="2786063" y="5111750"/>
              <a:ext cx="0"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2" name="Line 19">
              <a:extLst>
                <a:ext uri="{FF2B5EF4-FFF2-40B4-BE49-F238E27FC236}">
                  <a16:creationId xmlns:a16="http://schemas.microsoft.com/office/drawing/2014/main" id="{D07B98E1-3C30-80C4-1056-05EFAB0CA8AF}"/>
                </a:ext>
              </a:extLst>
            </p:cNvPr>
            <p:cNvSpPr>
              <a:spLocks noChangeShapeType="1"/>
            </p:cNvSpPr>
            <p:nvPr/>
          </p:nvSpPr>
          <p:spPr bwMode="auto">
            <a:xfrm>
              <a:off x="2786063" y="5903913"/>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3" name="Line 20">
              <a:extLst>
                <a:ext uri="{FF2B5EF4-FFF2-40B4-BE49-F238E27FC236}">
                  <a16:creationId xmlns:a16="http://schemas.microsoft.com/office/drawing/2014/main" id="{6C49871C-B09D-DB4B-E08E-57D22F94CF32}"/>
                </a:ext>
              </a:extLst>
            </p:cNvPr>
            <p:cNvSpPr>
              <a:spLocks noChangeShapeType="1"/>
            </p:cNvSpPr>
            <p:nvPr/>
          </p:nvSpPr>
          <p:spPr bwMode="auto">
            <a:xfrm>
              <a:off x="3867150" y="1800225"/>
              <a:ext cx="1871663" cy="180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4" name="Line 21">
              <a:extLst>
                <a:ext uri="{FF2B5EF4-FFF2-40B4-BE49-F238E27FC236}">
                  <a16:creationId xmlns:a16="http://schemas.microsoft.com/office/drawing/2014/main" id="{265B4C48-7D3B-5CC0-0107-924BF608555B}"/>
                </a:ext>
              </a:extLst>
            </p:cNvPr>
            <p:cNvSpPr>
              <a:spLocks noChangeShapeType="1"/>
            </p:cNvSpPr>
            <p:nvPr/>
          </p:nvSpPr>
          <p:spPr bwMode="auto">
            <a:xfrm>
              <a:off x="3867150" y="2519363"/>
              <a:ext cx="1871663" cy="10810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5" name="Line 22">
              <a:extLst>
                <a:ext uri="{FF2B5EF4-FFF2-40B4-BE49-F238E27FC236}">
                  <a16:creationId xmlns:a16="http://schemas.microsoft.com/office/drawing/2014/main" id="{13497E0F-0083-A00A-A77E-66D4942CE488}"/>
                </a:ext>
              </a:extLst>
            </p:cNvPr>
            <p:cNvSpPr>
              <a:spLocks noChangeShapeType="1"/>
            </p:cNvSpPr>
            <p:nvPr/>
          </p:nvSpPr>
          <p:spPr bwMode="auto">
            <a:xfrm>
              <a:off x="3867150" y="3311525"/>
              <a:ext cx="1871663"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6" name="Line 23">
              <a:extLst>
                <a:ext uri="{FF2B5EF4-FFF2-40B4-BE49-F238E27FC236}">
                  <a16:creationId xmlns:a16="http://schemas.microsoft.com/office/drawing/2014/main" id="{6D9A423A-FCEF-D7E6-F6C1-D1DF5381F004}"/>
                </a:ext>
              </a:extLst>
            </p:cNvPr>
            <p:cNvSpPr>
              <a:spLocks noChangeShapeType="1"/>
            </p:cNvSpPr>
            <p:nvPr/>
          </p:nvSpPr>
          <p:spPr bwMode="auto">
            <a:xfrm flipV="1">
              <a:off x="3867150" y="3600450"/>
              <a:ext cx="1871663" cy="503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7" name="Line 24">
              <a:extLst>
                <a:ext uri="{FF2B5EF4-FFF2-40B4-BE49-F238E27FC236}">
                  <a16:creationId xmlns:a16="http://schemas.microsoft.com/office/drawing/2014/main" id="{D211B237-0BD8-80B3-8909-177A6DB99972}"/>
                </a:ext>
              </a:extLst>
            </p:cNvPr>
            <p:cNvSpPr>
              <a:spLocks noChangeShapeType="1"/>
            </p:cNvSpPr>
            <p:nvPr/>
          </p:nvSpPr>
          <p:spPr bwMode="auto">
            <a:xfrm flipV="1">
              <a:off x="3867150" y="3600450"/>
              <a:ext cx="1871663" cy="1366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8" name="Line 25">
              <a:extLst>
                <a:ext uri="{FF2B5EF4-FFF2-40B4-BE49-F238E27FC236}">
                  <a16:creationId xmlns:a16="http://schemas.microsoft.com/office/drawing/2014/main" id="{E31E1F69-C892-FA51-6E32-D0412C2D17A7}"/>
                </a:ext>
              </a:extLst>
            </p:cNvPr>
            <p:cNvSpPr>
              <a:spLocks noChangeShapeType="1"/>
            </p:cNvSpPr>
            <p:nvPr/>
          </p:nvSpPr>
          <p:spPr bwMode="auto">
            <a:xfrm flipV="1">
              <a:off x="3867150" y="3600450"/>
              <a:ext cx="1871663" cy="2159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0" name="Line 27">
              <a:extLst>
                <a:ext uri="{FF2B5EF4-FFF2-40B4-BE49-F238E27FC236}">
                  <a16:creationId xmlns:a16="http://schemas.microsoft.com/office/drawing/2014/main" id="{1D084C34-C8D5-C44E-1FAC-DC1C48383C21}"/>
                </a:ext>
              </a:extLst>
            </p:cNvPr>
            <p:cNvSpPr>
              <a:spLocks noChangeShapeType="1"/>
            </p:cNvSpPr>
            <p:nvPr/>
          </p:nvSpPr>
          <p:spPr bwMode="auto">
            <a:xfrm flipV="1">
              <a:off x="5738813" y="2836505"/>
              <a:ext cx="1295400" cy="7639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1" name="Line 28">
              <a:extLst>
                <a:ext uri="{FF2B5EF4-FFF2-40B4-BE49-F238E27FC236}">
                  <a16:creationId xmlns:a16="http://schemas.microsoft.com/office/drawing/2014/main" id="{5E8B03CF-1B08-6912-F84D-9E08917C7AEB}"/>
                </a:ext>
              </a:extLst>
            </p:cNvPr>
            <p:cNvSpPr>
              <a:spLocks noChangeShapeType="1"/>
            </p:cNvSpPr>
            <p:nvPr/>
          </p:nvSpPr>
          <p:spPr bwMode="auto">
            <a:xfrm>
              <a:off x="5738813" y="3600450"/>
              <a:ext cx="1295400" cy="1150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2" name="Text Box 29">
              <a:extLst>
                <a:ext uri="{FF2B5EF4-FFF2-40B4-BE49-F238E27FC236}">
                  <a16:creationId xmlns:a16="http://schemas.microsoft.com/office/drawing/2014/main" id="{3EE67067-E5DE-52B0-53C0-27E6E47947C9}"/>
                </a:ext>
              </a:extLst>
            </p:cNvPr>
            <p:cNvSpPr txBox="1">
              <a:spLocks noChangeArrowheads="1"/>
            </p:cNvSpPr>
            <p:nvPr/>
          </p:nvSpPr>
          <p:spPr bwMode="auto">
            <a:xfrm>
              <a:off x="1417638" y="1295400"/>
              <a:ext cx="1512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zh-CN" sz="1600">
                  <a:ea typeface="宋体" panose="02010600030101010101" pitchFamily="2" charset="-122"/>
                </a:rPr>
                <a:t>Source code</a:t>
              </a:r>
            </a:p>
          </p:txBody>
        </p:sp>
        <p:sp>
          <p:nvSpPr>
            <p:cNvPr id="18463" name="Text Box 30">
              <a:extLst>
                <a:ext uri="{FF2B5EF4-FFF2-40B4-BE49-F238E27FC236}">
                  <a16:creationId xmlns:a16="http://schemas.microsoft.com/office/drawing/2014/main" id="{D88CA327-C5A9-6525-8D65-3BBF84A4891D}"/>
                </a:ext>
              </a:extLst>
            </p:cNvPr>
            <p:cNvSpPr txBox="1">
              <a:spLocks noChangeArrowheads="1"/>
            </p:cNvSpPr>
            <p:nvPr/>
          </p:nvSpPr>
          <p:spPr bwMode="auto">
            <a:xfrm>
              <a:off x="1273175" y="2735263"/>
              <a:ext cx="15128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zh-CN" sz="1600">
                  <a:ea typeface="宋体" panose="02010600030101010101" pitchFamily="2" charset="-122"/>
                </a:rPr>
                <a:t>Syntax Tree</a:t>
              </a:r>
            </a:p>
          </p:txBody>
        </p:sp>
        <p:sp>
          <p:nvSpPr>
            <p:cNvPr id="18464" name="Text Box 31">
              <a:extLst>
                <a:ext uri="{FF2B5EF4-FFF2-40B4-BE49-F238E27FC236}">
                  <a16:creationId xmlns:a16="http://schemas.microsoft.com/office/drawing/2014/main" id="{3D31B29C-CD6D-9C7C-6510-5097D329B3F0}"/>
                </a:ext>
              </a:extLst>
            </p:cNvPr>
            <p:cNvSpPr txBox="1">
              <a:spLocks noChangeArrowheads="1"/>
            </p:cNvSpPr>
            <p:nvPr/>
          </p:nvSpPr>
          <p:spPr bwMode="auto">
            <a:xfrm>
              <a:off x="838200" y="3527424"/>
              <a:ext cx="18049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zh-CN" sz="1600">
                  <a:ea typeface="宋体" panose="02010600030101010101" pitchFamily="2" charset="-122"/>
                </a:rPr>
                <a:t>Annotated Tree</a:t>
              </a:r>
            </a:p>
          </p:txBody>
        </p:sp>
        <p:sp>
          <p:nvSpPr>
            <p:cNvPr id="18465" name="Text Box 32">
              <a:extLst>
                <a:ext uri="{FF2B5EF4-FFF2-40B4-BE49-F238E27FC236}">
                  <a16:creationId xmlns:a16="http://schemas.microsoft.com/office/drawing/2014/main" id="{BB35419D-93CD-A757-5432-C2127FDE3DA2}"/>
                </a:ext>
              </a:extLst>
            </p:cNvPr>
            <p:cNvSpPr txBox="1">
              <a:spLocks noChangeArrowheads="1"/>
            </p:cNvSpPr>
            <p:nvPr/>
          </p:nvSpPr>
          <p:spPr bwMode="auto">
            <a:xfrm>
              <a:off x="914400" y="4319588"/>
              <a:ext cx="19446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zh-CN" sz="1600">
                  <a:ea typeface="宋体" panose="02010600030101010101" pitchFamily="2" charset="-122"/>
                </a:rPr>
                <a:t>Intermediate code</a:t>
              </a:r>
            </a:p>
          </p:txBody>
        </p:sp>
        <p:sp>
          <p:nvSpPr>
            <p:cNvPr id="18466" name="Text Box 33">
              <a:extLst>
                <a:ext uri="{FF2B5EF4-FFF2-40B4-BE49-F238E27FC236}">
                  <a16:creationId xmlns:a16="http://schemas.microsoft.com/office/drawing/2014/main" id="{0E64B584-05F9-6E94-78A6-82E02DE211D4}"/>
                </a:ext>
              </a:extLst>
            </p:cNvPr>
            <p:cNvSpPr txBox="1">
              <a:spLocks noChangeArrowheads="1"/>
            </p:cNvSpPr>
            <p:nvPr/>
          </p:nvSpPr>
          <p:spPr bwMode="auto">
            <a:xfrm>
              <a:off x="1346200" y="5183188"/>
              <a:ext cx="15128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zh-CN" sz="1600">
                  <a:ea typeface="宋体" panose="02010600030101010101" pitchFamily="2" charset="-122"/>
                </a:rPr>
                <a:t>Target code</a:t>
              </a:r>
            </a:p>
          </p:txBody>
        </p:sp>
        <p:sp>
          <p:nvSpPr>
            <p:cNvPr id="18467" name="Text Box 34">
              <a:extLst>
                <a:ext uri="{FF2B5EF4-FFF2-40B4-BE49-F238E27FC236}">
                  <a16:creationId xmlns:a16="http://schemas.microsoft.com/office/drawing/2014/main" id="{BCC0B413-2C3C-4309-E2AE-AEF203BE2447}"/>
                </a:ext>
              </a:extLst>
            </p:cNvPr>
            <p:cNvSpPr txBox="1">
              <a:spLocks noChangeArrowheads="1"/>
            </p:cNvSpPr>
            <p:nvPr/>
          </p:nvSpPr>
          <p:spPr bwMode="auto">
            <a:xfrm>
              <a:off x="1371600" y="5911850"/>
              <a:ext cx="15128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zh-CN" sz="1600">
                  <a:ea typeface="宋体" panose="02010600030101010101" pitchFamily="2" charset="-122"/>
                </a:rPr>
                <a:t>Target code</a:t>
              </a:r>
            </a:p>
          </p:txBody>
        </p:sp>
        <p:sp>
          <p:nvSpPr>
            <p:cNvPr id="18468" name="Text Box 35">
              <a:extLst>
                <a:ext uri="{FF2B5EF4-FFF2-40B4-BE49-F238E27FC236}">
                  <a16:creationId xmlns:a16="http://schemas.microsoft.com/office/drawing/2014/main" id="{F7C69E5C-3DC4-D783-7738-5AD30BC7A95F}"/>
                </a:ext>
              </a:extLst>
            </p:cNvPr>
            <p:cNvSpPr txBox="1">
              <a:spLocks noChangeArrowheads="1"/>
            </p:cNvSpPr>
            <p:nvPr/>
          </p:nvSpPr>
          <p:spPr bwMode="auto">
            <a:xfrm>
              <a:off x="1273175" y="2016125"/>
              <a:ext cx="15128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en-US" altLang="zh-CN" sz="1600">
                  <a:ea typeface="宋体" panose="02010600030101010101" pitchFamily="2" charset="-122"/>
                </a:rPr>
                <a:t>Tokens</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Pass Compiler</a:t>
            </a:r>
            <a:endParaRPr lang="en-US" dirty="0"/>
          </a:p>
        </p:txBody>
      </p:sp>
      <p:pic>
        <p:nvPicPr>
          <p:cNvPr id="4" name="Content Placeholder 3"/>
          <p:cNvPicPr>
            <a:picLocks noGrp="1" noChangeAspect="1"/>
          </p:cNvPicPr>
          <p:nvPr>
            <p:ph idx="1"/>
          </p:nvPr>
        </p:nvPicPr>
        <p:blipFill>
          <a:blip r:embed="rId2"/>
          <a:stretch>
            <a:fillRect/>
          </a:stretch>
        </p:blipFill>
        <p:spPr>
          <a:xfrm>
            <a:off x="2657475" y="2663031"/>
            <a:ext cx="6877050" cy="2676525"/>
          </a:xfrm>
          <a:prstGeom prst="rect">
            <a:avLst/>
          </a:prstGeom>
        </p:spPr>
      </p:pic>
    </p:spTree>
    <p:extLst>
      <p:ext uri="{BB962C8B-B14F-4D97-AF65-F5344CB8AC3E}">
        <p14:creationId xmlns:p14="http://schemas.microsoft.com/office/powerpoint/2010/main" val="40456097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Pass Compiler</a:t>
            </a:r>
            <a:endParaRPr lang="en-US" dirty="0"/>
          </a:p>
        </p:txBody>
      </p:sp>
      <p:sp>
        <p:nvSpPr>
          <p:cNvPr id="3" name="Content Placeholder 2"/>
          <p:cNvSpPr>
            <a:spLocks noGrp="1"/>
          </p:cNvSpPr>
          <p:nvPr>
            <p:ph idx="1"/>
          </p:nvPr>
        </p:nvSpPr>
        <p:spPr/>
        <p:txBody>
          <a:bodyPr>
            <a:normAutofit/>
          </a:bodyPr>
          <a:lstStyle/>
          <a:p>
            <a:r>
              <a:rPr lang="en-US" sz="2400" dirty="0" smtClean="0"/>
              <a:t>An immediate advantage of this scheme is that it admits multiple front ends and multiple passes.</a:t>
            </a:r>
          </a:p>
          <a:p>
            <a:r>
              <a:rPr lang="en-US" sz="2400" dirty="0" smtClean="0"/>
              <a:t>The algorithms employed in the front end have polynomial time complexity </a:t>
            </a:r>
          </a:p>
          <a:p>
            <a:r>
              <a:rPr lang="en-US" sz="2400" dirty="0" smtClean="0"/>
              <a:t>Backend algorithms are NP-complete.</a:t>
            </a:r>
            <a:endParaRPr lang="en-US" sz="2400" dirty="0"/>
          </a:p>
        </p:txBody>
      </p:sp>
    </p:spTree>
    <p:extLst>
      <p:ext uri="{BB962C8B-B14F-4D97-AF65-F5344CB8AC3E}">
        <p14:creationId xmlns:p14="http://schemas.microsoft.com/office/powerpoint/2010/main" val="21500990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558637" y="1027906"/>
            <a:ext cx="9425211" cy="5415719"/>
          </a:xfrm>
          <a:prstGeom prst="rect">
            <a:avLst/>
          </a:prstGeom>
        </p:spPr>
      </p:pic>
    </p:spTree>
    <p:extLst>
      <p:ext uri="{BB962C8B-B14F-4D97-AF65-F5344CB8AC3E}">
        <p14:creationId xmlns:p14="http://schemas.microsoft.com/office/powerpoint/2010/main" val="13623558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Front End</a:t>
            </a:r>
            <a:endParaRPr lang="en-US" dirty="0"/>
          </a:p>
        </p:txBody>
      </p:sp>
      <p:pic>
        <p:nvPicPr>
          <p:cNvPr id="4" name="Content Placeholder 3"/>
          <p:cNvPicPr>
            <a:picLocks noGrp="1" noChangeAspect="1"/>
          </p:cNvPicPr>
          <p:nvPr>
            <p:ph idx="1"/>
          </p:nvPr>
        </p:nvPicPr>
        <p:blipFill>
          <a:blip r:embed="rId2"/>
          <a:stretch>
            <a:fillRect/>
          </a:stretch>
        </p:blipFill>
        <p:spPr>
          <a:xfrm>
            <a:off x="1879522" y="2348348"/>
            <a:ext cx="8432955" cy="2913712"/>
          </a:xfrm>
          <a:prstGeom prst="rect">
            <a:avLst/>
          </a:prstGeom>
        </p:spPr>
      </p:pic>
      <p:sp>
        <p:nvSpPr>
          <p:cNvPr id="5" name="Rectangle 4"/>
          <p:cNvSpPr/>
          <p:nvPr/>
        </p:nvSpPr>
        <p:spPr>
          <a:xfrm>
            <a:off x="851262" y="2025182"/>
            <a:ext cx="10259291" cy="646331"/>
          </a:xfrm>
          <a:prstGeom prst="rect">
            <a:avLst/>
          </a:prstGeom>
        </p:spPr>
        <p:txBody>
          <a:bodyPr wrap="square">
            <a:spAutoFit/>
          </a:bodyPr>
          <a:lstStyle/>
          <a:p>
            <a:r>
              <a:rPr lang="en-US" dirty="0" smtClean="0"/>
              <a:t>The front end recognizes legal and illegal programs presented to it. When it</a:t>
            </a:r>
          </a:p>
          <a:p>
            <a:r>
              <a:rPr lang="en-US" dirty="0" smtClean="0"/>
              <a:t>encounters errors, it attempts to report errors in a useful way. </a:t>
            </a:r>
            <a:endParaRPr lang="en-US" dirty="0"/>
          </a:p>
        </p:txBody>
      </p:sp>
    </p:spTree>
    <p:extLst>
      <p:ext uri="{BB962C8B-B14F-4D97-AF65-F5344CB8AC3E}">
        <p14:creationId xmlns:p14="http://schemas.microsoft.com/office/powerpoint/2010/main" val="11367807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Scanner</a:t>
            </a:r>
            <a:endParaRPr lang="en-US" dirty="0"/>
          </a:p>
        </p:txBody>
      </p:sp>
      <p:sp>
        <p:nvSpPr>
          <p:cNvPr id="3" name="Content Placeholder 2"/>
          <p:cNvSpPr>
            <a:spLocks noGrp="1"/>
          </p:cNvSpPr>
          <p:nvPr>
            <p:ph idx="1"/>
          </p:nvPr>
        </p:nvSpPr>
        <p:spPr>
          <a:xfrm>
            <a:off x="581193" y="2180497"/>
            <a:ext cx="10410657" cy="1724753"/>
          </a:xfrm>
        </p:spPr>
        <p:txBody>
          <a:bodyPr>
            <a:noAutofit/>
          </a:bodyPr>
          <a:lstStyle/>
          <a:p>
            <a:r>
              <a:rPr lang="en-US" sz="2400" dirty="0" smtClean="0"/>
              <a:t>The scanner takes a program as input and maps the character stream into “words” that are the basic unit of syntax. It produces pairs – a word and its part of speech. </a:t>
            </a:r>
          </a:p>
          <a:p>
            <a:endParaRPr lang="en-US" sz="2400" dirty="0"/>
          </a:p>
        </p:txBody>
      </p:sp>
      <p:pic>
        <p:nvPicPr>
          <p:cNvPr id="4" name="Picture 3"/>
          <p:cNvPicPr>
            <a:picLocks noChangeAspect="1"/>
          </p:cNvPicPr>
          <p:nvPr/>
        </p:nvPicPr>
        <p:blipFill>
          <a:blip r:embed="rId2"/>
          <a:stretch>
            <a:fillRect/>
          </a:stretch>
        </p:blipFill>
        <p:spPr>
          <a:xfrm>
            <a:off x="3589192" y="3042873"/>
            <a:ext cx="7878907" cy="3815127"/>
          </a:xfrm>
          <a:prstGeom prst="rect">
            <a:avLst/>
          </a:prstGeom>
        </p:spPr>
      </p:pic>
    </p:spTree>
    <p:extLst>
      <p:ext uri="{BB962C8B-B14F-4D97-AF65-F5344CB8AC3E}">
        <p14:creationId xmlns:p14="http://schemas.microsoft.com/office/powerpoint/2010/main" val="6061099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B50CF3C4-2974-E788-5E42-4A49B3A37652}"/>
              </a:ext>
            </a:extLst>
          </p:cNvPr>
          <p:cNvSpPr>
            <a:spLocks noGrp="1"/>
          </p:cNvSpPr>
          <p:nvPr>
            <p:ph type="title"/>
          </p:nvPr>
        </p:nvSpPr>
        <p:spPr/>
        <p:txBody>
          <a:bodyPr/>
          <a:lstStyle/>
          <a:p>
            <a:r>
              <a:rPr lang="en-US" altLang="en-US"/>
              <a:t>The Scanner</a:t>
            </a:r>
          </a:p>
        </p:txBody>
      </p:sp>
      <p:sp>
        <p:nvSpPr>
          <p:cNvPr id="19459" name="Content Placeholder 2">
            <a:extLst>
              <a:ext uri="{FF2B5EF4-FFF2-40B4-BE49-F238E27FC236}">
                <a16:creationId xmlns:a16="http://schemas.microsoft.com/office/drawing/2014/main" id="{F3570D4D-0826-1998-4AE4-AB84709AC4CA}"/>
              </a:ext>
            </a:extLst>
          </p:cNvPr>
          <p:cNvSpPr>
            <a:spLocks noGrp="1"/>
          </p:cNvSpPr>
          <p:nvPr>
            <p:ph idx="1"/>
          </p:nvPr>
        </p:nvSpPr>
        <p:spPr/>
        <p:txBody>
          <a:bodyPr>
            <a:normAutofit fontScale="85000" lnSpcReduction="10000"/>
          </a:bodyPr>
          <a:lstStyle/>
          <a:p>
            <a:pPr eaLnBrk="1" hangingPunct="1"/>
            <a:r>
              <a:rPr lang="en-US" altLang="zh-CN" sz="2400">
                <a:solidFill>
                  <a:srgbClr val="FF0000"/>
                </a:solidFill>
                <a:ea typeface="宋体" panose="02010600030101010101" pitchFamily="2" charset="-122"/>
              </a:rPr>
              <a:t>Lexical analysis</a:t>
            </a:r>
            <a:r>
              <a:rPr lang="en-US" altLang="zh-CN" sz="2400">
                <a:ea typeface="宋体" panose="02010600030101010101" pitchFamily="2" charset="-122"/>
              </a:rPr>
              <a:t>: it collects sequences of characters into meaningful units called tokens</a:t>
            </a:r>
          </a:p>
          <a:p>
            <a:pPr eaLnBrk="1" hangingPunct="1"/>
            <a:r>
              <a:rPr lang="en-US" altLang="zh-CN" sz="2400">
                <a:ea typeface="宋体" panose="02010600030101010101" pitchFamily="2" charset="-122"/>
              </a:rPr>
              <a:t>An example:  a[index]=4+2  </a:t>
            </a:r>
          </a:p>
          <a:p>
            <a:pPr lvl="2" eaLnBrk="1" hangingPunct="1"/>
            <a:r>
              <a:rPr lang="en-US" altLang="zh-CN" sz="1600">
                <a:ea typeface="宋体" panose="02010600030101010101" pitchFamily="2" charset="-122"/>
              </a:rPr>
              <a:t>a 		identifier</a:t>
            </a:r>
          </a:p>
          <a:p>
            <a:pPr lvl="2" eaLnBrk="1" hangingPunct="1"/>
            <a:r>
              <a:rPr lang="en-US" altLang="zh-CN" sz="1600">
                <a:ea typeface="宋体" panose="02010600030101010101" pitchFamily="2" charset="-122"/>
              </a:rPr>
              <a:t>[		left bracket</a:t>
            </a:r>
          </a:p>
          <a:p>
            <a:pPr lvl="2" eaLnBrk="1" hangingPunct="1"/>
            <a:r>
              <a:rPr lang="en-US" altLang="zh-CN" sz="1600">
                <a:ea typeface="宋体" panose="02010600030101010101" pitchFamily="2" charset="-122"/>
              </a:rPr>
              <a:t>index 		identifier</a:t>
            </a:r>
          </a:p>
          <a:p>
            <a:pPr lvl="2" eaLnBrk="1" hangingPunct="1"/>
            <a:r>
              <a:rPr lang="en-US" altLang="zh-CN" sz="1600">
                <a:ea typeface="宋体" panose="02010600030101010101" pitchFamily="2" charset="-122"/>
              </a:rPr>
              <a:t>]		right bracket</a:t>
            </a:r>
          </a:p>
          <a:p>
            <a:pPr lvl="2" eaLnBrk="1" hangingPunct="1"/>
            <a:r>
              <a:rPr lang="en-US" altLang="zh-CN" sz="1600">
                <a:ea typeface="宋体" panose="02010600030101010101" pitchFamily="2" charset="-122"/>
              </a:rPr>
              <a:t>=		assignment</a:t>
            </a:r>
          </a:p>
          <a:p>
            <a:pPr lvl="2" eaLnBrk="1" hangingPunct="1"/>
            <a:r>
              <a:rPr lang="en-US" altLang="zh-CN" sz="1600">
                <a:ea typeface="宋体" panose="02010600030101010101" pitchFamily="2" charset="-122"/>
              </a:rPr>
              <a:t>4		number</a:t>
            </a:r>
          </a:p>
          <a:p>
            <a:pPr lvl="2" eaLnBrk="1" hangingPunct="1"/>
            <a:r>
              <a:rPr lang="en-US" altLang="zh-CN" sz="1600">
                <a:ea typeface="宋体" panose="02010600030101010101" pitchFamily="2" charset="-122"/>
              </a:rPr>
              <a:t>+		plus sign</a:t>
            </a:r>
          </a:p>
          <a:p>
            <a:pPr lvl="2" eaLnBrk="1" hangingPunct="1"/>
            <a:r>
              <a:rPr lang="en-US" altLang="zh-CN" sz="1600">
                <a:ea typeface="宋体" panose="02010600030101010101" pitchFamily="2" charset="-122"/>
              </a:rPr>
              <a:t>2		number</a:t>
            </a:r>
          </a:p>
          <a:p>
            <a:pPr eaLnBrk="1" hangingPunct="1"/>
            <a:r>
              <a:rPr lang="en-US" altLang="zh-CN" sz="2400">
                <a:solidFill>
                  <a:srgbClr val="FF0000"/>
                </a:solidFill>
                <a:ea typeface="宋体" panose="02010600030101010101" pitchFamily="2" charset="-122"/>
              </a:rPr>
              <a:t>Other operations</a:t>
            </a:r>
            <a:r>
              <a:rPr lang="en-US" altLang="zh-CN" sz="2400">
                <a:ea typeface="宋体" panose="02010600030101010101" pitchFamily="2" charset="-122"/>
              </a:rPr>
              <a:t>: it may enter literals into the literal table</a:t>
            </a:r>
          </a:p>
        </p:txBody>
      </p:sp>
      <p:sp>
        <p:nvSpPr>
          <p:cNvPr id="19460" name="Slide Number Placeholder 3">
            <a:extLst>
              <a:ext uri="{FF2B5EF4-FFF2-40B4-BE49-F238E27FC236}">
                <a16:creationId xmlns:a16="http://schemas.microsoft.com/office/drawing/2014/main" id="{2C569616-4488-9A08-77E6-AAABCAE5C5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81B7C79E-FEF5-43B9-A6AD-451D14722C23}" type="slidenum">
              <a:rPr lang="ar-SA" altLang="en-US" sz="1200">
                <a:latin typeface="Garamond" panose="02020404030301010803" pitchFamily="18" charset="0"/>
              </a:rPr>
              <a:pPr>
                <a:spcBef>
                  <a:spcPct val="0"/>
                </a:spcBef>
                <a:buClrTx/>
                <a:buSzTx/>
                <a:buFontTx/>
                <a:buNone/>
              </a:pPr>
              <a:t>24</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Parser</a:t>
            </a:r>
            <a:endParaRPr lang="en-US" dirty="0"/>
          </a:p>
        </p:txBody>
      </p:sp>
      <p:sp>
        <p:nvSpPr>
          <p:cNvPr id="3" name="Content Placeholder 2"/>
          <p:cNvSpPr>
            <a:spLocks noGrp="1"/>
          </p:cNvSpPr>
          <p:nvPr>
            <p:ph idx="1"/>
          </p:nvPr>
        </p:nvSpPr>
        <p:spPr>
          <a:xfrm>
            <a:off x="581192" y="1715956"/>
            <a:ext cx="11029615" cy="3678303"/>
          </a:xfrm>
        </p:spPr>
        <p:txBody>
          <a:bodyPr>
            <a:normAutofit/>
          </a:bodyPr>
          <a:lstStyle/>
          <a:p>
            <a:r>
              <a:rPr lang="en-US" sz="2800" dirty="0" smtClean="0"/>
              <a:t>The parser takes in the stream of tokens, recognizes context- free syntax and reports errors.</a:t>
            </a:r>
          </a:p>
          <a:p>
            <a:r>
              <a:rPr lang="en-US" sz="2800" dirty="0" smtClean="0"/>
              <a:t> It guides context-sensitive (“semantic”) analysis for tasks like type checking. The parser builds IR for source program.</a:t>
            </a:r>
            <a:endParaRPr lang="en-US" sz="2800" dirty="0"/>
          </a:p>
        </p:txBody>
      </p:sp>
    </p:spTree>
    <p:extLst>
      <p:ext uri="{BB962C8B-B14F-4D97-AF65-F5344CB8AC3E}">
        <p14:creationId xmlns:p14="http://schemas.microsoft.com/office/powerpoint/2010/main" val="35682627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 Free Grammars</a:t>
            </a:r>
            <a:endParaRPr lang="en-US" dirty="0"/>
          </a:p>
        </p:txBody>
      </p:sp>
      <p:sp>
        <p:nvSpPr>
          <p:cNvPr id="3" name="Content Placeholder 2"/>
          <p:cNvSpPr>
            <a:spLocks noGrp="1"/>
          </p:cNvSpPr>
          <p:nvPr>
            <p:ph idx="1"/>
          </p:nvPr>
        </p:nvSpPr>
        <p:spPr/>
        <p:txBody>
          <a:bodyPr/>
          <a:lstStyle/>
          <a:p>
            <a:r>
              <a:rPr lang="en-US" dirty="0" smtClean="0"/>
              <a:t>The syntax of most programming languages is specified using Context-Free Grammars (CFG). Context- free syntax is specified with a grammar G=(S,N,T,P) </a:t>
            </a:r>
          </a:p>
          <a:p>
            <a:pPr marL="0" indent="0">
              <a:buNone/>
            </a:pPr>
            <a:r>
              <a:rPr lang="en-US" dirty="0" smtClean="0"/>
              <a:t>where</a:t>
            </a:r>
          </a:p>
          <a:p>
            <a:r>
              <a:rPr lang="en-US" dirty="0" smtClean="0"/>
              <a:t>S is the start symbol</a:t>
            </a:r>
          </a:p>
          <a:p>
            <a:r>
              <a:rPr lang="en-US" dirty="0" smtClean="0"/>
              <a:t>N is a set of non-terminal symbols</a:t>
            </a:r>
          </a:p>
          <a:p>
            <a:r>
              <a:rPr lang="en-US" dirty="0" smtClean="0"/>
              <a:t>T is set of terminal symbols or words</a:t>
            </a:r>
          </a:p>
          <a:p>
            <a:r>
              <a:rPr lang="en-US" dirty="0" smtClean="0"/>
              <a:t>P is a set of productions or rewrite rules</a:t>
            </a:r>
            <a:endParaRPr lang="en-US" dirty="0"/>
          </a:p>
        </p:txBody>
      </p:sp>
    </p:spTree>
    <p:extLst>
      <p:ext uri="{BB962C8B-B14F-4D97-AF65-F5344CB8AC3E}">
        <p14:creationId xmlns:p14="http://schemas.microsoft.com/office/powerpoint/2010/main" val="9337358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987692" y="1209056"/>
            <a:ext cx="8307756" cy="4905303"/>
          </a:xfrm>
          <a:prstGeom prst="rect">
            <a:avLst/>
          </a:prstGeom>
        </p:spPr>
      </p:pic>
    </p:spTree>
    <p:extLst>
      <p:ext uri="{BB962C8B-B14F-4D97-AF65-F5344CB8AC3E}">
        <p14:creationId xmlns:p14="http://schemas.microsoft.com/office/powerpoint/2010/main" val="2907586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1724891" y="265054"/>
            <a:ext cx="7439891" cy="6359306"/>
          </a:xfrm>
          <a:prstGeom prst="rect">
            <a:avLst/>
          </a:prstGeom>
        </p:spPr>
      </p:pic>
    </p:spTree>
    <p:extLst>
      <p:ext uri="{BB962C8B-B14F-4D97-AF65-F5344CB8AC3E}">
        <p14:creationId xmlns:p14="http://schemas.microsoft.com/office/powerpoint/2010/main" val="27568120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19652"/>
            <a:ext cx="10515600" cy="1325563"/>
          </a:xfrm>
        </p:spPr>
        <p:txBody>
          <a:bodyPr/>
          <a:lstStyle/>
          <a:p>
            <a:r>
              <a:rPr lang="en-US" dirty="0" smtClean="0"/>
              <a:t>A parse can be represented by a tree: parse tree or syntax tree.</a:t>
            </a:r>
            <a:endParaRPr lang="en-US" dirty="0"/>
          </a:p>
        </p:txBody>
      </p:sp>
      <p:pic>
        <p:nvPicPr>
          <p:cNvPr id="4" name="Content Placeholder 3"/>
          <p:cNvPicPr>
            <a:picLocks noGrp="1" noChangeAspect="1"/>
          </p:cNvPicPr>
          <p:nvPr>
            <p:ph idx="1"/>
          </p:nvPr>
        </p:nvPicPr>
        <p:blipFill>
          <a:blip r:embed="rId2"/>
          <a:stretch>
            <a:fillRect/>
          </a:stretch>
        </p:blipFill>
        <p:spPr>
          <a:xfrm>
            <a:off x="1238597" y="1841862"/>
            <a:ext cx="7959436" cy="4558937"/>
          </a:xfrm>
          <a:prstGeom prst="rect">
            <a:avLst/>
          </a:prstGeom>
        </p:spPr>
      </p:pic>
    </p:spTree>
    <p:extLst>
      <p:ext uri="{BB962C8B-B14F-4D97-AF65-F5344CB8AC3E}">
        <p14:creationId xmlns:p14="http://schemas.microsoft.com/office/powerpoint/2010/main" val="3384867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a:extLst>
              <a:ext uri="{FF2B5EF4-FFF2-40B4-BE49-F238E27FC236}">
                <a16:creationId xmlns:a16="http://schemas.microsoft.com/office/drawing/2014/main" id="{1CF7323F-D88D-8793-76C7-88EB2D036D7F}"/>
              </a:ext>
            </a:extLst>
          </p:cNvPr>
          <p:cNvSpPr>
            <a:spLocks noGrp="1"/>
          </p:cNvSpPr>
          <p:nvPr>
            <p:ph type="title"/>
          </p:nvPr>
        </p:nvSpPr>
        <p:spPr/>
        <p:txBody>
          <a:bodyPr/>
          <a:lstStyle/>
          <a:p>
            <a:r>
              <a:rPr lang="en-US" altLang="en-US"/>
              <a:t>The Parse Tree</a:t>
            </a:r>
          </a:p>
        </p:txBody>
      </p:sp>
      <p:sp>
        <p:nvSpPr>
          <p:cNvPr id="21506" name="Content Placeholder 28">
            <a:extLst>
              <a:ext uri="{FF2B5EF4-FFF2-40B4-BE49-F238E27FC236}">
                <a16:creationId xmlns:a16="http://schemas.microsoft.com/office/drawing/2014/main" id="{8A280CFF-249F-359F-4C56-6B674F06F9F6}"/>
              </a:ext>
            </a:extLst>
          </p:cNvPr>
          <p:cNvSpPr>
            <a:spLocks noGrp="1"/>
          </p:cNvSpPr>
          <p:nvPr>
            <p:ph idx="1"/>
          </p:nvPr>
        </p:nvSpPr>
        <p:spPr>
          <a:xfrm>
            <a:off x="797669" y="1957388"/>
            <a:ext cx="2438400" cy="762000"/>
          </a:xfrm>
        </p:spPr>
        <p:txBody>
          <a:bodyPr/>
          <a:lstStyle/>
          <a:p>
            <a:pPr>
              <a:buFont typeface="Wingdings" panose="05000000000000000000" pitchFamily="2" charset="2"/>
              <a:buNone/>
            </a:pPr>
            <a:r>
              <a:rPr lang="en-US" altLang="zh-CN" dirty="0">
                <a:solidFill>
                  <a:srgbClr val="FF0000"/>
                </a:solidFill>
                <a:ea typeface="宋体" panose="02010600030101010101" pitchFamily="2" charset="-122"/>
              </a:rPr>
              <a:t>a[index]=4+2</a:t>
            </a:r>
            <a:endParaRPr lang="en-US" altLang="en-US" dirty="0">
              <a:solidFill>
                <a:srgbClr val="FF0000"/>
              </a:solidFill>
            </a:endParaRPr>
          </a:p>
        </p:txBody>
      </p:sp>
      <p:sp>
        <p:nvSpPr>
          <p:cNvPr id="21509" name="Slide Number Placeholder 3">
            <a:extLst>
              <a:ext uri="{FF2B5EF4-FFF2-40B4-BE49-F238E27FC236}">
                <a16:creationId xmlns:a16="http://schemas.microsoft.com/office/drawing/2014/main" id="{4760E679-3C1E-B26D-CFB5-B48883478C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C3393D8-8DF7-44A5-B0AB-A9517A93E755}" type="slidenum">
              <a:rPr lang="ar-SA" altLang="en-US" sz="1200">
                <a:latin typeface="Garamond" panose="02020404030301010803" pitchFamily="18" charset="0"/>
              </a:rPr>
              <a:pPr>
                <a:spcBef>
                  <a:spcPct val="0"/>
                </a:spcBef>
                <a:buClrTx/>
                <a:buSzTx/>
                <a:buFontTx/>
                <a:buNone/>
              </a:pPr>
              <a:t>30</a:t>
            </a:fld>
            <a:endParaRPr lang="en-US" altLang="en-US" sz="1200">
              <a:latin typeface="Garamond" panose="02020404030301010803" pitchFamily="18" charset="0"/>
            </a:endParaRPr>
          </a:p>
        </p:txBody>
      </p:sp>
      <p:grpSp>
        <p:nvGrpSpPr>
          <p:cNvPr id="21508" name="Group 50">
            <a:extLst>
              <a:ext uri="{FF2B5EF4-FFF2-40B4-BE49-F238E27FC236}">
                <a16:creationId xmlns:a16="http://schemas.microsoft.com/office/drawing/2014/main" id="{0A924D67-C8AF-A29F-7831-C05E627FC15F}"/>
              </a:ext>
            </a:extLst>
          </p:cNvPr>
          <p:cNvGrpSpPr>
            <a:grpSpLocks/>
          </p:cNvGrpSpPr>
          <p:nvPr/>
        </p:nvGrpSpPr>
        <p:grpSpPr bwMode="auto">
          <a:xfrm>
            <a:off x="3105630" y="2044537"/>
            <a:ext cx="7127875" cy="3911600"/>
            <a:chOff x="748" y="1207"/>
            <a:chExt cx="4490" cy="2632"/>
          </a:xfrm>
        </p:grpSpPr>
        <p:sp>
          <p:nvSpPr>
            <p:cNvPr id="21510" name="Rectangle 26">
              <a:extLst>
                <a:ext uri="{FF2B5EF4-FFF2-40B4-BE49-F238E27FC236}">
                  <a16:creationId xmlns:a16="http://schemas.microsoft.com/office/drawing/2014/main" id="{702035B9-66EE-643A-B0EC-E616D8D2B34C}"/>
                </a:ext>
              </a:extLst>
            </p:cNvPr>
            <p:cNvSpPr>
              <a:spLocks noChangeArrowheads="1"/>
            </p:cNvSpPr>
            <p:nvPr/>
          </p:nvSpPr>
          <p:spPr bwMode="auto">
            <a:xfrm>
              <a:off x="748" y="3657"/>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                                  index                                        4                            2</a:t>
              </a:r>
            </a:p>
          </p:txBody>
        </p:sp>
        <p:sp>
          <p:nvSpPr>
            <p:cNvPr id="21511" name="Rectangle 27">
              <a:extLst>
                <a:ext uri="{FF2B5EF4-FFF2-40B4-BE49-F238E27FC236}">
                  <a16:creationId xmlns:a16="http://schemas.microsoft.com/office/drawing/2014/main" id="{227D3642-6348-A979-D488-2AE441DCE357}"/>
                </a:ext>
              </a:extLst>
            </p:cNvPr>
            <p:cNvSpPr>
              <a:spLocks noChangeArrowheads="1"/>
            </p:cNvSpPr>
            <p:nvPr/>
          </p:nvSpPr>
          <p:spPr bwMode="auto">
            <a:xfrm>
              <a:off x="748" y="3430"/>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identifier                          identifier                             number                 number</a:t>
              </a:r>
            </a:p>
          </p:txBody>
        </p:sp>
        <p:sp>
          <p:nvSpPr>
            <p:cNvPr id="21512" name="Rectangle 28">
              <a:extLst>
                <a:ext uri="{FF2B5EF4-FFF2-40B4-BE49-F238E27FC236}">
                  <a16:creationId xmlns:a16="http://schemas.microsoft.com/office/drawing/2014/main" id="{2A83929C-CEB6-29D4-A3E7-F2F86BF3FF8E}"/>
                </a:ext>
              </a:extLst>
            </p:cNvPr>
            <p:cNvSpPr>
              <a:spLocks noChangeArrowheads="1"/>
            </p:cNvSpPr>
            <p:nvPr/>
          </p:nvSpPr>
          <p:spPr bwMode="auto">
            <a:xfrm>
              <a:off x="748" y="3021"/>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600">
                  <a:ea typeface="宋体" panose="02010600030101010101" pitchFamily="2" charset="-122"/>
                </a:rPr>
                <a:t>Expression        [      expression      ]                  expression        +        expression</a:t>
              </a:r>
            </a:p>
          </p:txBody>
        </p:sp>
        <p:sp>
          <p:nvSpPr>
            <p:cNvPr id="21513" name="Rectangle 29">
              <a:extLst>
                <a:ext uri="{FF2B5EF4-FFF2-40B4-BE49-F238E27FC236}">
                  <a16:creationId xmlns:a16="http://schemas.microsoft.com/office/drawing/2014/main" id="{34B4F0D6-BEF5-E333-7B3B-EAFC34AAAB14}"/>
                </a:ext>
              </a:extLst>
            </p:cNvPr>
            <p:cNvSpPr>
              <a:spLocks noChangeArrowheads="1"/>
            </p:cNvSpPr>
            <p:nvPr/>
          </p:nvSpPr>
          <p:spPr bwMode="auto">
            <a:xfrm>
              <a:off x="793" y="2568"/>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600">
                  <a:ea typeface="宋体" panose="02010600030101010101" pitchFamily="2" charset="-122"/>
                </a:rPr>
                <a:t>subscript-expression                                   additive-expression</a:t>
              </a:r>
            </a:p>
          </p:txBody>
        </p:sp>
        <p:sp>
          <p:nvSpPr>
            <p:cNvPr id="21514" name="Rectangle 30">
              <a:extLst>
                <a:ext uri="{FF2B5EF4-FFF2-40B4-BE49-F238E27FC236}">
                  <a16:creationId xmlns:a16="http://schemas.microsoft.com/office/drawing/2014/main" id="{20C26243-DF5C-BF68-81C8-ED7973C57D61}"/>
                </a:ext>
              </a:extLst>
            </p:cNvPr>
            <p:cNvSpPr>
              <a:spLocks noChangeArrowheads="1"/>
            </p:cNvSpPr>
            <p:nvPr/>
          </p:nvSpPr>
          <p:spPr bwMode="auto">
            <a:xfrm>
              <a:off x="748" y="2069"/>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600">
                  <a:ea typeface="宋体" panose="02010600030101010101" pitchFamily="2" charset="-122"/>
                </a:rPr>
                <a:t>expression                    =                       expression</a:t>
              </a:r>
            </a:p>
          </p:txBody>
        </p:sp>
        <p:sp>
          <p:nvSpPr>
            <p:cNvPr id="21515" name="Rectangle 31">
              <a:extLst>
                <a:ext uri="{FF2B5EF4-FFF2-40B4-BE49-F238E27FC236}">
                  <a16:creationId xmlns:a16="http://schemas.microsoft.com/office/drawing/2014/main" id="{3E811460-9918-45B8-0A91-70C2B34A7837}"/>
                </a:ext>
              </a:extLst>
            </p:cNvPr>
            <p:cNvSpPr>
              <a:spLocks noChangeArrowheads="1"/>
            </p:cNvSpPr>
            <p:nvPr/>
          </p:nvSpPr>
          <p:spPr bwMode="auto">
            <a:xfrm>
              <a:off x="748" y="1615"/>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600">
                  <a:ea typeface="宋体" panose="02010600030101010101" pitchFamily="2" charset="-122"/>
                </a:rPr>
                <a:t>Assign-expression</a:t>
              </a:r>
            </a:p>
          </p:txBody>
        </p:sp>
        <p:sp>
          <p:nvSpPr>
            <p:cNvPr id="21516" name="Rectangle 32">
              <a:extLst>
                <a:ext uri="{FF2B5EF4-FFF2-40B4-BE49-F238E27FC236}">
                  <a16:creationId xmlns:a16="http://schemas.microsoft.com/office/drawing/2014/main" id="{F94DDB0C-4A2A-B8F5-78B4-777AE7895401}"/>
                </a:ext>
              </a:extLst>
            </p:cNvPr>
            <p:cNvSpPr>
              <a:spLocks noChangeArrowheads="1"/>
            </p:cNvSpPr>
            <p:nvPr/>
          </p:nvSpPr>
          <p:spPr bwMode="auto">
            <a:xfrm>
              <a:off x="748" y="1207"/>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600">
                  <a:ea typeface="宋体" panose="02010600030101010101" pitchFamily="2" charset="-122"/>
                </a:rPr>
                <a:t>expression</a:t>
              </a:r>
            </a:p>
          </p:txBody>
        </p:sp>
        <p:sp>
          <p:nvSpPr>
            <p:cNvPr id="21517" name="Line 33">
              <a:extLst>
                <a:ext uri="{FF2B5EF4-FFF2-40B4-BE49-F238E27FC236}">
                  <a16:creationId xmlns:a16="http://schemas.microsoft.com/office/drawing/2014/main" id="{B3A0DF70-FDAE-973A-5F91-296DDF2C5B27}"/>
                </a:ext>
              </a:extLst>
            </p:cNvPr>
            <p:cNvSpPr>
              <a:spLocks noChangeShapeType="1"/>
            </p:cNvSpPr>
            <p:nvPr/>
          </p:nvSpPr>
          <p:spPr bwMode="auto">
            <a:xfrm>
              <a:off x="2925" y="1389"/>
              <a:ext cx="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8" name="Line 34">
              <a:extLst>
                <a:ext uri="{FF2B5EF4-FFF2-40B4-BE49-F238E27FC236}">
                  <a16:creationId xmlns:a16="http://schemas.microsoft.com/office/drawing/2014/main" id="{96989A12-2D82-A8F4-01A8-EA66AD0C0A5C}"/>
                </a:ext>
              </a:extLst>
            </p:cNvPr>
            <p:cNvSpPr>
              <a:spLocks noChangeShapeType="1"/>
            </p:cNvSpPr>
            <p:nvPr/>
          </p:nvSpPr>
          <p:spPr bwMode="auto">
            <a:xfrm flipH="1">
              <a:off x="2064" y="1797"/>
              <a:ext cx="816"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9" name="Line 35">
              <a:extLst>
                <a:ext uri="{FF2B5EF4-FFF2-40B4-BE49-F238E27FC236}">
                  <a16:creationId xmlns:a16="http://schemas.microsoft.com/office/drawing/2014/main" id="{B9966027-B9BE-6107-940B-A0D4921EE99A}"/>
                </a:ext>
              </a:extLst>
            </p:cNvPr>
            <p:cNvSpPr>
              <a:spLocks noChangeShapeType="1"/>
            </p:cNvSpPr>
            <p:nvPr/>
          </p:nvSpPr>
          <p:spPr bwMode="auto">
            <a:xfrm>
              <a:off x="2971" y="1797"/>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0" name="Line 36">
              <a:extLst>
                <a:ext uri="{FF2B5EF4-FFF2-40B4-BE49-F238E27FC236}">
                  <a16:creationId xmlns:a16="http://schemas.microsoft.com/office/drawing/2014/main" id="{66EFE64A-F184-EFBF-9262-225E71E6A7CC}"/>
                </a:ext>
              </a:extLst>
            </p:cNvPr>
            <p:cNvSpPr>
              <a:spLocks noChangeShapeType="1"/>
            </p:cNvSpPr>
            <p:nvPr/>
          </p:nvSpPr>
          <p:spPr bwMode="auto">
            <a:xfrm>
              <a:off x="3061" y="1797"/>
              <a:ext cx="817"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1" name="Line 37">
              <a:extLst>
                <a:ext uri="{FF2B5EF4-FFF2-40B4-BE49-F238E27FC236}">
                  <a16:creationId xmlns:a16="http://schemas.microsoft.com/office/drawing/2014/main" id="{A8E29DB2-1AC3-E414-A45D-48FC9F5A38FB}"/>
                </a:ext>
              </a:extLst>
            </p:cNvPr>
            <p:cNvSpPr>
              <a:spLocks noChangeShapeType="1"/>
            </p:cNvSpPr>
            <p:nvPr/>
          </p:nvSpPr>
          <p:spPr bwMode="auto">
            <a:xfrm>
              <a:off x="1927" y="225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2" name="Line 38">
              <a:extLst>
                <a:ext uri="{FF2B5EF4-FFF2-40B4-BE49-F238E27FC236}">
                  <a16:creationId xmlns:a16="http://schemas.microsoft.com/office/drawing/2014/main" id="{58A33DFA-D088-8BA1-34FE-9A3DBC2EF6AB}"/>
                </a:ext>
              </a:extLst>
            </p:cNvPr>
            <p:cNvSpPr>
              <a:spLocks noChangeShapeType="1"/>
            </p:cNvSpPr>
            <p:nvPr/>
          </p:nvSpPr>
          <p:spPr bwMode="auto">
            <a:xfrm flipH="1">
              <a:off x="1292" y="2750"/>
              <a:ext cx="499"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3" name="Line 39">
              <a:extLst>
                <a:ext uri="{FF2B5EF4-FFF2-40B4-BE49-F238E27FC236}">
                  <a16:creationId xmlns:a16="http://schemas.microsoft.com/office/drawing/2014/main" id="{D83F3652-8D09-A4BE-E904-0D2C83437080}"/>
                </a:ext>
              </a:extLst>
            </p:cNvPr>
            <p:cNvSpPr>
              <a:spLocks noChangeShapeType="1"/>
            </p:cNvSpPr>
            <p:nvPr/>
          </p:nvSpPr>
          <p:spPr bwMode="auto">
            <a:xfrm>
              <a:off x="1837" y="2750"/>
              <a:ext cx="0" cy="2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4" name="Line 40">
              <a:extLst>
                <a:ext uri="{FF2B5EF4-FFF2-40B4-BE49-F238E27FC236}">
                  <a16:creationId xmlns:a16="http://schemas.microsoft.com/office/drawing/2014/main" id="{6FD92C8B-1468-485F-902D-38CE170E7529}"/>
                </a:ext>
              </a:extLst>
            </p:cNvPr>
            <p:cNvSpPr>
              <a:spLocks noChangeShapeType="1"/>
            </p:cNvSpPr>
            <p:nvPr/>
          </p:nvSpPr>
          <p:spPr bwMode="auto">
            <a:xfrm>
              <a:off x="1882" y="2750"/>
              <a:ext cx="363"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5" name="Line 41">
              <a:extLst>
                <a:ext uri="{FF2B5EF4-FFF2-40B4-BE49-F238E27FC236}">
                  <a16:creationId xmlns:a16="http://schemas.microsoft.com/office/drawing/2014/main" id="{65A29823-169F-141A-81DE-FA5D1E136BAF}"/>
                </a:ext>
              </a:extLst>
            </p:cNvPr>
            <p:cNvSpPr>
              <a:spLocks noChangeShapeType="1"/>
            </p:cNvSpPr>
            <p:nvPr/>
          </p:nvSpPr>
          <p:spPr bwMode="auto">
            <a:xfrm>
              <a:off x="2109" y="2750"/>
              <a:ext cx="544"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6" name="Line 42">
              <a:extLst>
                <a:ext uri="{FF2B5EF4-FFF2-40B4-BE49-F238E27FC236}">
                  <a16:creationId xmlns:a16="http://schemas.microsoft.com/office/drawing/2014/main" id="{207004B8-DB44-A0B8-82B3-EA91A710CF3A}"/>
                </a:ext>
              </a:extLst>
            </p:cNvPr>
            <p:cNvSpPr>
              <a:spLocks noChangeShapeType="1"/>
            </p:cNvSpPr>
            <p:nvPr/>
          </p:nvSpPr>
          <p:spPr bwMode="auto">
            <a:xfrm>
              <a:off x="3923" y="2296"/>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7" name="Line 43">
              <a:extLst>
                <a:ext uri="{FF2B5EF4-FFF2-40B4-BE49-F238E27FC236}">
                  <a16:creationId xmlns:a16="http://schemas.microsoft.com/office/drawing/2014/main" id="{19731AEC-384F-41C4-5307-005E25DE2DEB}"/>
                </a:ext>
              </a:extLst>
            </p:cNvPr>
            <p:cNvSpPr>
              <a:spLocks noChangeShapeType="1"/>
            </p:cNvSpPr>
            <p:nvPr/>
          </p:nvSpPr>
          <p:spPr bwMode="auto">
            <a:xfrm flipH="1">
              <a:off x="3696" y="2750"/>
              <a:ext cx="273"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8" name="Line 44">
              <a:extLst>
                <a:ext uri="{FF2B5EF4-FFF2-40B4-BE49-F238E27FC236}">
                  <a16:creationId xmlns:a16="http://schemas.microsoft.com/office/drawing/2014/main" id="{5AB58E19-041A-7C18-4FE1-3ACE38D26F30}"/>
                </a:ext>
              </a:extLst>
            </p:cNvPr>
            <p:cNvSpPr>
              <a:spLocks noChangeShapeType="1"/>
            </p:cNvSpPr>
            <p:nvPr/>
          </p:nvSpPr>
          <p:spPr bwMode="auto">
            <a:xfrm>
              <a:off x="4150" y="2750"/>
              <a:ext cx="0" cy="2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9" name="Line 45">
              <a:extLst>
                <a:ext uri="{FF2B5EF4-FFF2-40B4-BE49-F238E27FC236}">
                  <a16:creationId xmlns:a16="http://schemas.microsoft.com/office/drawing/2014/main" id="{6515BF42-9F49-B676-55E8-C6D591B65598}"/>
                </a:ext>
              </a:extLst>
            </p:cNvPr>
            <p:cNvSpPr>
              <a:spLocks noChangeShapeType="1"/>
            </p:cNvSpPr>
            <p:nvPr/>
          </p:nvSpPr>
          <p:spPr bwMode="auto">
            <a:xfrm>
              <a:off x="4422" y="2750"/>
              <a:ext cx="227"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0" name="Line 46">
              <a:extLst>
                <a:ext uri="{FF2B5EF4-FFF2-40B4-BE49-F238E27FC236}">
                  <a16:creationId xmlns:a16="http://schemas.microsoft.com/office/drawing/2014/main" id="{107EA635-3949-6702-A882-11774EDCF003}"/>
                </a:ext>
              </a:extLst>
            </p:cNvPr>
            <p:cNvSpPr>
              <a:spLocks noChangeShapeType="1"/>
            </p:cNvSpPr>
            <p:nvPr/>
          </p:nvSpPr>
          <p:spPr bwMode="auto">
            <a:xfrm>
              <a:off x="1111" y="3249"/>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1" name="Line 47">
              <a:extLst>
                <a:ext uri="{FF2B5EF4-FFF2-40B4-BE49-F238E27FC236}">
                  <a16:creationId xmlns:a16="http://schemas.microsoft.com/office/drawing/2014/main" id="{26057BD3-AD65-2CCA-2301-B6914E67E03D}"/>
                </a:ext>
              </a:extLst>
            </p:cNvPr>
            <p:cNvSpPr>
              <a:spLocks noChangeShapeType="1"/>
            </p:cNvSpPr>
            <p:nvPr/>
          </p:nvSpPr>
          <p:spPr bwMode="auto">
            <a:xfrm>
              <a:off x="2245" y="3249"/>
              <a:ext cx="0" cy="2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2" name="Line 48">
              <a:extLst>
                <a:ext uri="{FF2B5EF4-FFF2-40B4-BE49-F238E27FC236}">
                  <a16:creationId xmlns:a16="http://schemas.microsoft.com/office/drawing/2014/main" id="{009AE66E-49B4-118F-AA24-405BCC1A90C9}"/>
                </a:ext>
              </a:extLst>
            </p:cNvPr>
            <p:cNvSpPr>
              <a:spLocks noChangeShapeType="1"/>
            </p:cNvSpPr>
            <p:nvPr/>
          </p:nvSpPr>
          <p:spPr bwMode="auto">
            <a:xfrm>
              <a:off x="3696" y="3203"/>
              <a:ext cx="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3" name="Line 49">
              <a:extLst>
                <a:ext uri="{FF2B5EF4-FFF2-40B4-BE49-F238E27FC236}">
                  <a16:creationId xmlns:a16="http://schemas.microsoft.com/office/drawing/2014/main" id="{8EF3F17B-3E5A-A9AE-3587-4C31C6167CAB}"/>
                </a:ext>
              </a:extLst>
            </p:cNvPr>
            <p:cNvSpPr>
              <a:spLocks noChangeShapeType="1"/>
            </p:cNvSpPr>
            <p:nvPr/>
          </p:nvSpPr>
          <p:spPr bwMode="auto">
            <a:xfrm>
              <a:off x="4694" y="3249"/>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53996E2E-BCFB-3DF6-2EA2-B6E581701D9B}"/>
              </a:ext>
            </a:extLst>
          </p:cNvPr>
          <p:cNvSpPr>
            <a:spLocks noGrp="1"/>
          </p:cNvSpPr>
          <p:nvPr>
            <p:ph type="title"/>
          </p:nvPr>
        </p:nvSpPr>
        <p:spPr/>
        <p:txBody>
          <a:bodyPr/>
          <a:lstStyle/>
          <a:p>
            <a:r>
              <a:rPr lang="en-US" altLang="en-US"/>
              <a:t>The Syntax Tree</a:t>
            </a:r>
          </a:p>
        </p:txBody>
      </p:sp>
      <p:sp>
        <p:nvSpPr>
          <p:cNvPr id="22533" name="Content Placeholder 28">
            <a:extLst>
              <a:ext uri="{FF2B5EF4-FFF2-40B4-BE49-F238E27FC236}">
                <a16:creationId xmlns:a16="http://schemas.microsoft.com/office/drawing/2014/main" id="{1580457B-CBED-73A4-004A-D41AF0457335}"/>
              </a:ext>
            </a:extLst>
          </p:cNvPr>
          <p:cNvSpPr>
            <a:spLocks noGrp="1"/>
          </p:cNvSpPr>
          <p:nvPr>
            <p:ph idx="1"/>
          </p:nvPr>
        </p:nvSpPr>
        <p:spPr>
          <a:xfrm>
            <a:off x="779106" y="1949450"/>
            <a:ext cx="2438400" cy="762000"/>
          </a:xfrm>
        </p:spPr>
        <p:txBody>
          <a:bodyPr/>
          <a:lstStyle/>
          <a:p>
            <a:pPr>
              <a:buFont typeface="Wingdings" panose="05000000000000000000" pitchFamily="2" charset="2"/>
              <a:buNone/>
            </a:pPr>
            <a:r>
              <a:rPr lang="en-US" altLang="zh-CN" dirty="0">
                <a:solidFill>
                  <a:srgbClr val="FF0000"/>
                </a:solidFill>
                <a:ea typeface="宋体" panose="02010600030101010101" pitchFamily="2" charset="-122"/>
              </a:rPr>
              <a:t>a[index]=4+2</a:t>
            </a:r>
            <a:endParaRPr lang="en-US" altLang="en-US" dirty="0">
              <a:solidFill>
                <a:srgbClr val="FF0000"/>
              </a:solidFill>
            </a:endParaRPr>
          </a:p>
        </p:txBody>
      </p:sp>
      <p:sp>
        <p:nvSpPr>
          <p:cNvPr id="22531" name="Slide Number Placeholder 3">
            <a:extLst>
              <a:ext uri="{FF2B5EF4-FFF2-40B4-BE49-F238E27FC236}">
                <a16:creationId xmlns:a16="http://schemas.microsoft.com/office/drawing/2014/main" id="{671CB71C-EE21-F861-631B-173683EC244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FC709EA-93FB-4610-ABFA-24B138E8047D}" type="slidenum">
              <a:rPr lang="ar-SA" altLang="en-US" sz="1200">
                <a:latin typeface="Garamond" panose="02020404030301010803" pitchFamily="18" charset="0"/>
              </a:rPr>
              <a:pPr>
                <a:spcBef>
                  <a:spcPct val="0"/>
                </a:spcBef>
                <a:buClrTx/>
                <a:buSzTx/>
                <a:buFontTx/>
                <a:buNone/>
              </a:pPr>
              <a:t>31</a:t>
            </a:fld>
            <a:endParaRPr lang="en-US" altLang="en-US" sz="1200">
              <a:latin typeface="Garamond" panose="02020404030301010803" pitchFamily="18" charset="0"/>
            </a:endParaRPr>
          </a:p>
        </p:txBody>
      </p:sp>
      <p:grpSp>
        <p:nvGrpSpPr>
          <p:cNvPr id="22532" name="Group 16">
            <a:extLst>
              <a:ext uri="{FF2B5EF4-FFF2-40B4-BE49-F238E27FC236}">
                <a16:creationId xmlns:a16="http://schemas.microsoft.com/office/drawing/2014/main" id="{AC23104D-01BA-C8ED-6260-03A6F288FCEE}"/>
              </a:ext>
            </a:extLst>
          </p:cNvPr>
          <p:cNvGrpSpPr>
            <a:grpSpLocks/>
          </p:cNvGrpSpPr>
          <p:nvPr/>
        </p:nvGrpSpPr>
        <p:grpSpPr bwMode="auto">
          <a:xfrm>
            <a:off x="2743200" y="2133600"/>
            <a:ext cx="7056438" cy="3530600"/>
            <a:chOff x="748" y="1344"/>
            <a:chExt cx="4445" cy="2224"/>
          </a:xfrm>
        </p:grpSpPr>
        <p:sp>
          <p:nvSpPr>
            <p:cNvPr id="22534" name="Rectangle 3">
              <a:extLst>
                <a:ext uri="{FF2B5EF4-FFF2-40B4-BE49-F238E27FC236}">
                  <a16:creationId xmlns:a16="http://schemas.microsoft.com/office/drawing/2014/main" id="{76E5DF3E-F43E-1E02-8ABE-7997770A4105}"/>
                </a:ext>
              </a:extLst>
            </p:cNvPr>
            <p:cNvSpPr>
              <a:spLocks noChangeArrowheads="1"/>
            </p:cNvSpPr>
            <p:nvPr/>
          </p:nvSpPr>
          <p:spPr bwMode="auto">
            <a:xfrm>
              <a:off x="748" y="3386"/>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                                  index                                        4                            2</a:t>
              </a:r>
            </a:p>
          </p:txBody>
        </p:sp>
        <p:sp>
          <p:nvSpPr>
            <p:cNvPr id="22535" name="Rectangle 4">
              <a:extLst>
                <a:ext uri="{FF2B5EF4-FFF2-40B4-BE49-F238E27FC236}">
                  <a16:creationId xmlns:a16="http://schemas.microsoft.com/office/drawing/2014/main" id="{73FB76B4-68DE-0089-8CA7-49B284677807}"/>
                </a:ext>
              </a:extLst>
            </p:cNvPr>
            <p:cNvSpPr>
              <a:spLocks noChangeArrowheads="1"/>
            </p:cNvSpPr>
            <p:nvPr/>
          </p:nvSpPr>
          <p:spPr bwMode="auto">
            <a:xfrm>
              <a:off x="748" y="2978"/>
              <a:ext cx="4445" cy="36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000">
                  <a:ea typeface="宋体" panose="02010600030101010101" pitchFamily="2" charset="-122"/>
                </a:rPr>
                <a:t>identifier                identifier                    number                number</a:t>
              </a:r>
            </a:p>
          </p:txBody>
        </p:sp>
        <p:sp>
          <p:nvSpPr>
            <p:cNvPr id="22536" name="Rectangle 6">
              <a:extLst>
                <a:ext uri="{FF2B5EF4-FFF2-40B4-BE49-F238E27FC236}">
                  <a16:creationId xmlns:a16="http://schemas.microsoft.com/office/drawing/2014/main" id="{49FA4ED1-07D2-BDB1-CCE8-F2A1C6BB9347}"/>
                </a:ext>
              </a:extLst>
            </p:cNvPr>
            <p:cNvSpPr>
              <a:spLocks noChangeArrowheads="1"/>
            </p:cNvSpPr>
            <p:nvPr/>
          </p:nvSpPr>
          <p:spPr bwMode="auto">
            <a:xfrm>
              <a:off x="748" y="2116"/>
              <a:ext cx="4445" cy="36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2000">
                  <a:ea typeface="宋体" panose="02010600030101010101" pitchFamily="2" charset="-122"/>
                </a:rPr>
                <a:t>subscript-expression                                   additive-expression</a:t>
              </a:r>
            </a:p>
          </p:txBody>
        </p:sp>
        <p:sp>
          <p:nvSpPr>
            <p:cNvPr id="22537" name="Rectangle 8">
              <a:extLst>
                <a:ext uri="{FF2B5EF4-FFF2-40B4-BE49-F238E27FC236}">
                  <a16:creationId xmlns:a16="http://schemas.microsoft.com/office/drawing/2014/main" id="{AB9E2FE3-8492-38A7-A86C-5C89820D156D}"/>
                </a:ext>
              </a:extLst>
            </p:cNvPr>
            <p:cNvSpPr>
              <a:spLocks noChangeArrowheads="1"/>
            </p:cNvSpPr>
            <p:nvPr/>
          </p:nvSpPr>
          <p:spPr bwMode="auto">
            <a:xfrm>
              <a:off x="748" y="1344"/>
              <a:ext cx="4445" cy="364"/>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2000">
                  <a:ea typeface="宋体" panose="02010600030101010101" pitchFamily="2" charset="-122"/>
                </a:rPr>
                <a:t>Assign-expression</a:t>
              </a:r>
            </a:p>
          </p:txBody>
        </p:sp>
        <p:sp>
          <p:nvSpPr>
            <p:cNvPr id="22538" name="Line 10">
              <a:extLst>
                <a:ext uri="{FF2B5EF4-FFF2-40B4-BE49-F238E27FC236}">
                  <a16:creationId xmlns:a16="http://schemas.microsoft.com/office/drawing/2014/main" id="{02A8F46F-E7BF-0176-9D98-CD6D184FB867}"/>
                </a:ext>
              </a:extLst>
            </p:cNvPr>
            <p:cNvSpPr>
              <a:spLocks noChangeShapeType="1"/>
            </p:cNvSpPr>
            <p:nvPr/>
          </p:nvSpPr>
          <p:spPr bwMode="auto">
            <a:xfrm flipH="1">
              <a:off x="1610" y="1662"/>
              <a:ext cx="1270"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9" name="Line 11">
              <a:extLst>
                <a:ext uri="{FF2B5EF4-FFF2-40B4-BE49-F238E27FC236}">
                  <a16:creationId xmlns:a16="http://schemas.microsoft.com/office/drawing/2014/main" id="{E2566AE0-B12D-D140-0E53-9C2925313DEC}"/>
                </a:ext>
              </a:extLst>
            </p:cNvPr>
            <p:cNvSpPr>
              <a:spLocks noChangeShapeType="1"/>
            </p:cNvSpPr>
            <p:nvPr/>
          </p:nvSpPr>
          <p:spPr bwMode="auto">
            <a:xfrm>
              <a:off x="2971" y="1662"/>
              <a:ext cx="1361"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0" name="Line 12">
              <a:extLst>
                <a:ext uri="{FF2B5EF4-FFF2-40B4-BE49-F238E27FC236}">
                  <a16:creationId xmlns:a16="http://schemas.microsoft.com/office/drawing/2014/main" id="{07C773F8-C31A-D45A-EB1C-450629B36DDD}"/>
                </a:ext>
              </a:extLst>
            </p:cNvPr>
            <p:cNvSpPr>
              <a:spLocks noChangeShapeType="1"/>
            </p:cNvSpPr>
            <p:nvPr/>
          </p:nvSpPr>
          <p:spPr bwMode="auto">
            <a:xfrm flipH="1">
              <a:off x="1111" y="2433"/>
              <a:ext cx="318" cy="6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1" name="Line 13">
              <a:extLst>
                <a:ext uri="{FF2B5EF4-FFF2-40B4-BE49-F238E27FC236}">
                  <a16:creationId xmlns:a16="http://schemas.microsoft.com/office/drawing/2014/main" id="{3168AF17-0810-262E-F57F-40AF218F4A7A}"/>
                </a:ext>
              </a:extLst>
            </p:cNvPr>
            <p:cNvSpPr>
              <a:spLocks noChangeShapeType="1"/>
            </p:cNvSpPr>
            <p:nvPr/>
          </p:nvSpPr>
          <p:spPr bwMode="auto">
            <a:xfrm>
              <a:off x="1837" y="2433"/>
              <a:ext cx="453" cy="6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2" name="Line 14">
              <a:extLst>
                <a:ext uri="{FF2B5EF4-FFF2-40B4-BE49-F238E27FC236}">
                  <a16:creationId xmlns:a16="http://schemas.microsoft.com/office/drawing/2014/main" id="{CC25F20D-3881-9C36-24F1-E483129BF456}"/>
                </a:ext>
              </a:extLst>
            </p:cNvPr>
            <p:cNvSpPr>
              <a:spLocks noChangeShapeType="1"/>
            </p:cNvSpPr>
            <p:nvPr/>
          </p:nvSpPr>
          <p:spPr bwMode="auto">
            <a:xfrm flipH="1">
              <a:off x="3651" y="2479"/>
              <a:ext cx="590"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3" name="Line 15">
              <a:extLst>
                <a:ext uri="{FF2B5EF4-FFF2-40B4-BE49-F238E27FC236}">
                  <a16:creationId xmlns:a16="http://schemas.microsoft.com/office/drawing/2014/main" id="{67F5BEE8-518B-9D70-3967-AB1A88ABA543}"/>
                </a:ext>
              </a:extLst>
            </p:cNvPr>
            <p:cNvSpPr>
              <a:spLocks noChangeShapeType="1"/>
            </p:cNvSpPr>
            <p:nvPr/>
          </p:nvSpPr>
          <p:spPr bwMode="auto">
            <a:xfrm>
              <a:off x="4422" y="2479"/>
              <a:ext cx="408"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FB31EA79-A80F-3573-2BD0-CC12388058D7}"/>
              </a:ext>
            </a:extLst>
          </p:cNvPr>
          <p:cNvSpPr>
            <a:spLocks noGrp="1"/>
          </p:cNvSpPr>
          <p:nvPr>
            <p:ph type="title"/>
          </p:nvPr>
        </p:nvSpPr>
        <p:spPr/>
        <p:txBody>
          <a:bodyPr/>
          <a:lstStyle/>
          <a:p>
            <a:r>
              <a:rPr lang="en-US" altLang="en-US"/>
              <a:t>The Semantic Analyzer</a:t>
            </a:r>
          </a:p>
        </p:txBody>
      </p:sp>
      <p:sp>
        <p:nvSpPr>
          <p:cNvPr id="23555" name="Content Placeholder 2">
            <a:extLst>
              <a:ext uri="{FF2B5EF4-FFF2-40B4-BE49-F238E27FC236}">
                <a16:creationId xmlns:a16="http://schemas.microsoft.com/office/drawing/2014/main" id="{87F84052-1BCE-D3CD-37DC-07ED013F9969}"/>
              </a:ext>
            </a:extLst>
          </p:cNvPr>
          <p:cNvSpPr>
            <a:spLocks noGrp="1"/>
          </p:cNvSpPr>
          <p:nvPr>
            <p:ph idx="1"/>
          </p:nvPr>
        </p:nvSpPr>
        <p:spPr/>
        <p:txBody>
          <a:bodyPr/>
          <a:lstStyle/>
          <a:p>
            <a:pPr eaLnBrk="1" hangingPunct="1">
              <a:lnSpc>
                <a:spcPct val="90000"/>
              </a:lnSpc>
            </a:pPr>
            <a:r>
              <a:rPr lang="en-US" altLang="zh-CN">
                <a:ea typeface="宋体" panose="02010600030101010101" pitchFamily="2" charset="-122"/>
              </a:rPr>
              <a:t>The semantics of a program are </a:t>
            </a:r>
            <a:r>
              <a:rPr lang="en-US" altLang="zh-CN">
                <a:solidFill>
                  <a:srgbClr val="FF0000"/>
                </a:solidFill>
                <a:ea typeface="宋体" panose="02010600030101010101" pitchFamily="2" charset="-122"/>
              </a:rPr>
              <a:t>its “meaning”,</a:t>
            </a:r>
            <a:r>
              <a:rPr lang="en-US" altLang="zh-CN">
                <a:ea typeface="宋体" panose="02010600030101010101" pitchFamily="2" charset="-122"/>
              </a:rPr>
              <a:t> as opposed to its syntax, or structure</a:t>
            </a:r>
          </a:p>
          <a:p>
            <a:pPr lvl="1" eaLnBrk="1" hangingPunct="1">
              <a:lnSpc>
                <a:spcPct val="90000"/>
              </a:lnSpc>
            </a:pPr>
            <a:r>
              <a:rPr lang="en-US" altLang="zh-CN">
                <a:ea typeface="宋体" panose="02010600030101010101" pitchFamily="2" charset="-122"/>
              </a:rPr>
              <a:t>It determines some of its running time behaviors prior to execution</a:t>
            </a:r>
          </a:p>
          <a:p>
            <a:pPr eaLnBrk="1" hangingPunct="1">
              <a:lnSpc>
                <a:spcPct val="90000"/>
              </a:lnSpc>
            </a:pPr>
            <a:r>
              <a:rPr lang="en-US" altLang="zh-CN">
                <a:ea typeface="宋体" panose="02010600030101010101" pitchFamily="2" charset="-122"/>
              </a:rPr>
              <a:t>Static Semantics: </a:t>
            </a:r>
            <a:r>
              <a:rPr lang="en-US" altLang="zh-CN">
                <a:solidFill>
                  <a:srgbClr val="FF0000"/>
                </a:solidFill>
                <a:ea typeface="宋体" panose="02010600030101010101" pitchFamily="2" charset="-122"/>
              </a:rPr>
              <a:t>declarations</a:t>
            </a:r>
            <a:r>
              <a:rPr lang="en-US" altLang="zh-CN">
                <a:ea typeface="宋体" panose="02010600030101010101" pitchFamily="2" charset="-122"/>
              </a:rPr>
              <a:t> and </a:t>
            </a:r>
            <a:r>
              <a:rPr lang="en-US" altLang="zh-CN">
                <a:solidFill>
                  <a:srgbClr val="FF0000"/>
                </a:solidFill>
                <a:ea typeface="宋体" panose="02010600030101010101" pitchFamily="2" charset="-122"/>
              </a:rPr>
              <a:t>type checking</a:t>
            </a:r>
          </a:p>
          <a:p>
            <a:pPr eaLnBrk="1" hangingPunct="1">
              <a:lnSpc>
                <a:spcPct val="90000"/>
              </a:lnSpc>
            </a:pPr>
            <a:r>
              <a:rPr lang="en-US" altLang="zh-CN">
                <a:solidFill>
                  <a:srgbClr val="FF0000"/>
                </a:solidFill>
                <a:ea typeface="宋体" panose="02010600030101010101" pitchFamily="2" charset="-122"/>
              </a:rPr>
              <a:t>Attributes</a:t>
            </a:r>
            <a:r>
              <a:rPr lang="en-US" altLang="zh-CN">
                <a:ea typeface="宋体" panose="02010600030101010101" pitchFamily="2" charset="-122"/>
              </a:rPr>
              <a:t>: The extra pieces of information computed by semantic analyzer </a:t>
            </a:r>
          </a:p>
          <a:p>
            <a:pPr eaLnBrk="1" hangingPunct="1">
              <a:lnSpc>
                <a:spcPct val="90000"/>
              </a:lnSpc>
            </a:pPr>
            <a:r>
              <a:rPr lang="en-US" altLang="zh-CN">
                <a:ea typeface="宋体" panose="02010600030101010101" pitchFamily="2" charset="-122"/>
              </a:rPr>
              <a:t>An example: a[index]=4=2</a:t>
            </a:r>
          </a:p>
          <a:p>
            <a:pPr lvl="1" eaLnBrk="1" hangingPunct="1">
              <a:lnSpc>
                <a:spcPct val="90000"/>
              </a:lnSpc>
            </a:pPr>
            <a:r>
              <a:rPr lang="en-US" altLang="zh-CN">
                <a:ea typeface="宋体" panose="02010600030101010101" pitchFamily="2" charset="-122"/>
              </a:rPr>
              <a:t>The syntax tree annotated with attributes</a:t>
            </a:r>
          </a:p>
        </p:txBody>
      </p:sp>
      <p:sp>
        <p:nvSpPr>
          <p:cNvPr id="23556" name="Slide Number Placeholder 3">
            <a:extLst>
              <a:ext uri="{FF2B5EF4-FFF2-40B4-BE49-F238E27FC236}">
                <a16:creationId xmlns:a16="http://schemas.microsoft.com/office/drawing/2014/main" id="{B4F652F5-80E4-F7A5-2A17-1F278E36D5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57882DF-2C95-43BD-9CC7-C67ED3AB5BCE}" type="slidenum">
              <a:rPr lang="ar-SA" altLang="en-US" sz="1200">
                <a:latin typeface="Garamond" panose="02020404030301010803" pitchFamily="18" charset="0"/>
              </a:rPr>
              <a:pPr>
                <a:spcBef>
                  <a:spcPct val="0"/>
                </a:spcBef>
                <a:buClrTx/>
                <a:buSzTx/>
                <a:buFontTx/>
                <a:buNone/>
              </a:pPr>
              <a:t>32</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8909D88-24FD-FB76-4916-B33633C26BF2}"/>
              </a:ext>
            </a:extLst>
          </p:cNvPr>
          <p:cNvSpPr>
            <a:spLocks noGrp="1"/>
          </p:cNvSpPr>
          <p:nvPr>
            <p:ph type="title"/>
          </p:nvPr>
        </p:nvSpPr>
        <p:spPr/>
        <p:txBody>
          <a:bodyPr/>
          <a:lstStyle/>
          <a:p>
            <a:r>
              <a:rPr lang="en-US" altLang="en-US"/>
              <a:t>The Annotated Syntax Tree</a:t>
            </a:r>
          </a:p>
        </p:txBody>
      </p:sp>
      <p:sp>
        <p:nvSpPr>
          <p:cNvPr id="24579" name="Slide Number Placeholder 3">
            <a:extLst>
              <a:ext uri="{FF2B5EF4-FFF2-40B4-BE49-F238E27FC236}">
                <a16:creationId xmlns:a16="http://schemas.microsoft.com/office/drawing/2014/main" id="{5521E546-7DD0-F602-52DE-CA568BA566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ABCB8CD-2CCC-4460-9B8C-2CAA0577646B}" type="slidenum">
              <a:rPr lang="ar-SA" altLang="en-US" sz="1200">
                <a:latin typeface="Garamond" panose="02020404030301010803" pitchFamily="18" charset="0"/>
              </a:rPr>
              <a:pPr>
                <a:spcBef>
                  <a:spcPct val="0"/>
                </a:spcBef>
                <a:buClrTx/>
                <a:buSzTx/>
                <a:buFontTx/>
                <a:buNone/>
              </a:pPr>
              <a:t>33</a:t>
            </a:fld>
            <a:endParaRPr lang="en-US" altLang="en-US" sz="1200">
              <a:latin typeface="Garamond" panose="02020404030301010803" pitchFamily="18" charset="0"/>
            </a:endParaRPr>
          </a:p>
        </p:txBody>
      </p:sp>
      <p:grpSp>
        <p:nvGrpSpPr>
          <p:cNvPr id="24580" name="Group 16">
            <a:extLst>
              <a:ext uri="{FF2B5EF4-FFF2-40B4-BE49-F238E27FC236}">
                <a16:creationId xmlns:a16="http://schemas.microsoft.com/office/drawing/2014/main" id="{27B72762-E3E1-1CC5-C880-5B80B5EBC1EC}"/>
              </a:ext>
            </a:extLst>
          </p:cNvPr>
          <p:cNvGrpSpPr>
            <a:grpSpLocks/>
          </p:cNvGrpSpPr>
          <p:nvPr/>
        </p:nvGrpSpPr>
        <p:grpSpPr bwMode="auto">
          <a:xfrm>
            <a:off x="2438400" y="1905001"/>
            <a:ext cx="7056438" cy="3889375"/>
            <a:chOff x="748" y="1344"/>
            <a:chExt cx="4445" cy="2450"/>
          </a:xfrm>
        </p:grpSpPr>
        <p:sp>
          <p:nvSpPr>
            <p:cNvPr id="24581" name="Rectangle 5">
              <a:extLst>
                <a:ext uri="{FF2B5EF4-FFF2-40B4-BE49-F238E27FC236}">
                  <a16:creationId xmlns:a16="http://schemas.microsoft.com/office/drawing/2014/main" id="{54FFB81F-8C2D-D39C-ED44-997D8322C39B}"/>
                </a:ext>
              </a:extLst>
            </p:cNvPr>
            <p:cNvSpPr>
              <a:spLocks noChangeArrowheads="1"/>
            </p:cNvSpPr>
            <p:nvPr/>
          </p:nvSpPr>
          <p:spPr bwMode="auto">
            <a:xfrm>
              <a:off x="748" y="3386"/>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                                  index                                        4                            2</a:t>
              </a:r>
            </a:p>
          </p:txBody>
        </p:sp>
        <p:sp>
          <p:nvSpPr>
            <p:cNvPr id="24582" name="Rectangle 6">
              <a:extLst>
                <a:ext uri="{FF2B5EF4-FFF2-40B4-BE49-F238E27FC236}">
                  <a16:creationId xmlns:a16="http://schemas.microsoft.com/office/drawing/2014/main" id="{CF267FB1-2671-9758-36E4-8A2899D61FFF}"/>
                </a:ext>
              </a:extLst>
            </p:cNvPr>
            <p:cNvSpPr>
              <a:spLocks noChangeArrowheads="1"/>
            </p:cNvSpPr>
            <p:nvPr/>
          </p:nvSpPr>
          <p:spPr bwMode="auto">
            <a:xfrm>
              <a:off x="748" y="2978"/>
              <a:ext cx="4445" cy="36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000">
                  <a:ea typeface="宋体" panose="02010600030101010101" pitchFamily="2" charset="-122"/>
                </a:rPr>
                <a:t>identifier                identifier                    number                number</a:t>
              </a:r>
            </a:p>
          </p:txBody>
        </p:sp>
        <p:sp>
          <p:nvSpPr>
            <p:cNvPr id="24583" name="Rectangle 7">
              <a:extLst>
                <a:ext uri="{FF2B5EF4-FFF2-40B4-BE49-F238E27FC236}">
                  <a16:creationId xmlns:a16="http://schemas.microsoft.com/office/drawing/2014/main" id="{F0B4929A-D6D5-0723-8504-CD41359E4DAE}"/>
                </a:ext>
              </a:extLst>
            </p:cNvPr>
            <p:cNvSpPr>
              <a:spLocks noChangeArrowheads="1"/>
            </p:cNvSpPr>
            <p:nvPr/>
          </p:nvSpPr>
          <p:spPr bwMode="auto">
            <a:xfrm>
              <a:off x="748" y="2116"/>
              <a:ext cx="4445" cy="54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000">
                  <a:ea typeface="宋体" panose="02010600030101010101" pitchFamily="2" charset="-122"/>
                </a:rPr>
                <a:t>      subscript-expression                                   additive-expression</a:t>
              </a:r>
            </a:p>
            <a:p>
              <a:pPr eaLnBrk="1" hangingPunct="1">
                <a:spcBef>
                  <a:spcPct val="0"/>
                </a:spcBef>
                <a:buClrTx/>
                <a:buSzTx/>
                <a:buFontTx/>
                <a:buNone/>
              </a:pPr>
              <a:r>
                <a:rPr lang="en-US" altLang="zh-CN" sz="2000">
                  <a:ea typeface="宋体" panose="02010600030101010101" pitchFamily="2" charset="-122"/>
                </a:rPr>
                <a:t>                integer                                                     integer</a:t>
              </a:r>
            </a:p>
          </p:txBody>
        </p:sp>
        <p:sp>
          <p:nvSpPr>
            <p:cNvPr id="24584" name="Rectangle 8">
              <a:extLst>
                <a:ext uri="{FF2B5EF4-FFF2-40B4-BE49-F238E27FC236}">
                  <a16:creationId xmlns:a16="http://schemas.microsoft.com/office/drawing/2014/main" id="{7509FD95-3863-4D5E-8C9E-EC7F4A257E32}"/>
                </a:ext>
              </a:extLst>
            </p:cNvPr>
            <p:cNvSpPr>
              <a:spLocks noChangeArrowheads="1"/>
            </p:cNvSpPr>
            <p:nvPr/>
          </p:nvSpPr>
          <p:spPr bwMode="auto">
            <a:xfrm>
              <a:off x="748" y="1344"/>
              <a:ext cx="4445" cy="364"/>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2000">
                  <a:ea typeface="宋体" panose="02010600030101010101" pitchFamily="2" charset="-122"/>
                </a:rPr>
                <a:t>Assign-expression</a:t>
              </a:r>
            </a:p>
          </p:txBody>
        </p:sp>
        <p:sp>
          <p:nvSpPr>
            <p:cNvPr id="24585" name="Line 9">
              <a:extLst>
                <a:ext uri="{FF2B5EF4-FFF2-40B4-BE49-F238E27FC236}">
                  <a16:creationId xmlns:a16="http://schemas.microsoft.com/office/drawing/2014/main" id="{602F9E6E-40B9-A626-EC23-C771ECA7F8B6}"/>
                </a:ext>
              </a:extLst>
            </p:cNvPr>
            <p:cNvSpPr>
              <a:spLocks noChangeShapeType="1"/>
            </p:cNvSpPr>
            <p:nvPr/>
          </p:nvSpPr>
          <p:spPr bwMode="auto">
            <a:xfrm flipH="1">
              <a:off x="1610" y="1662"/>
              <a:ext cx="1270"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Line 10">
              <a:extLst>
                <a:ext uri="{FF2B5EF4-FFF2-40B4-BE49-F238E27FC236}">
                  <a16:creationId xmlns:a16="http://schemas.microsoft.com/office/drawing/2014/main" id="{25AEF508-AFD7-2C1D-5412-3C08E5157756}"/>
                </a:ext>
              </a:extLst>
            </p:cNvPr>
            <p:cNvSpPr>
              <a:spLocks noChangeShapeType="1"/>
            </p:cNvSpPr>
            <p:nvPr/>
          </p:nvSpPr>
          <p:spPr bwMode="auto">
            <a:xfrm>
              <a:off x="2971" y="1662"/>
              <a:ext cx="1361"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Line 11">
              <a:extLst>
                <a:ext uri="{FF2B5EF4-FFF2-40B4-BE49-F238E27FC236}">
                  <a16:creationId xmlns:a16="http://schemas.microsoft.com/office/drawing/2014/main" id="{702657FE-CD7C-7A2C-5D98-CE9E4D44D401}"/>
                </a:ext>
              </a:extLst>
            </p:cNvPr>
            <p:cNvSpPr>
              <a:spLocks noChangeShapeType="1"/>
            </p:cNvSpPr>
            <p:nvPr/>
          </p:nvSpPr>
          <p:spPr bwMode="auto">
            <a:xfrm flipH="1">
              <a:off x="1111" y="2704"/>
              <a:ext cx="227" cy="3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8" name="Line 12">
              <a:extLst>
                <a:ext uri="{FF2B5EF4-FFF2-40B4-BE49-F238E27FC236}">
                  <a16:creationId xmlns:a16="http://schemas.microsoft.com/office/drawing/2014/main" id="{84101921-B13A-5419-FA2D-FC7AC7C7EA72}"/>
                </a:ext>
              </a:extLst>
            </p:cNvPr>
            <p:cNvSpPr>
              <a:spLocks noChangeShapeType="1"/>
            </p:cNvSpPr>
            <p:nvPr/>
          </p:nvSpPr>
          <p:spPr bwMode="auto">
            <a:xfrm>
              <a:off x="2018" y="2659"/>
              <a:ext cx="272"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9" name="Line 13">
              <a:extLst>
                <a:ext uri="{FF2B5EF4-FFF2-40B4-BE49-F238E27FC236}">
                  <a16:creationId xmlns:a16="http://schemas.microsoft.com/office/drawing/2014/main" id="{C8E9883D-A506-6B73-9688-470DC78AD49A}"/>
                </a:ext>
              </a:extLst>
            </p:cNvPr>
            <p:cNvSpPr>
              <a:spLocks noChangeShapeType="1"/>
            </p:cNvSpPr>
            <p:nvPr/>
          </p:nvSpPr>
          <p:spPr bwMode="auto">
            <a:xfrm flipH="1">
              <a:off x="3651" y="2659"/>
              <a:ext cx="408" cy="3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0" name="Line 14">
              <a:extLst>
                <a:ext uri="{FF2B5EF4-FFF2-40B4-BE49-F238E27FC236}">
                  <a16:creationId xmlns:a16="http://schemas.microsoft.com/office/drawing/2014/main" id="{1117B4EF-2A34-E672-2CF4-98A767441697}"/>
                </a:ext>
              </a:extLst>
            </p:cNvPr>
            <p:cNvSpPr>
              <a:spLocks noChangeShapeType="1"/>
            </p:cNvSpPr>
            <p:nvPr/>
          </p:nvSpPr>
          <p:spPr bwMode="auto">
            <a:xfrm>
              <a:off x="4513" y="2659"/>
              <a:ext cx="317"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1" name="Rectangle 15">
              <a:extLst>
                <a:ext uri="{FF2B5EF4-FFF2-40B4-BE49-F238E27FC236}">
                  <a16:creationId xmlns:a16="http://schemas.microsoft.com/office/drawing/2014/main" id="{EEBE0DFF-1B7D-0B72-39C9-C390A0CA264D}"/>
                </a:ext>
              </a:extLst>
            </p:cNvPr>
            <p:cNvSpPr>
              <a:spLocks noChangeArrowheads="1"/>
            </p:cNvSpPr>
            <p:nvPr/>
          </p:nvSpPr>
          <p:spPr bwMode="auto">
            <a:xfrm>
              <a:off x="748" y="3612"/>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array of integer               integer                                 integer                        integer</a:t>
              </a:r>
            </a:p>
          </p:txBody>
        </p:sp>
      </p:gr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AST-Abstract Syntax Tree</a:t>
            </a:r>
            <a:endParaRPr lang="en-US" dirty="0"/>
          </a:p>
        </p:txBody>
      </p:sp>
      <p:pic>
        <p:nvPicPr>
          <p:cNvPr id="4" name="Content Placeholder 3"/>
          <p:cNvPicPr>
            <a:picLocks noGrp="1" noChangeAspect="1"/>
          </p:cNvPicPr>
          <p:nvPr>
            <p:ph idx="1"/>
          </p:nvPr>
        </p:nvPicPr>
        <p:blipFill>
          <a:blip r:embed="rId2"/>
          <a:stretch>
            <a:fillRect/>
          </a:stretch>
        </p:blipFill>
        <p:spPr>
          <a:xfrm>
            <a:off x="4252912" y="3886994"/>
            <a:ext cx="4638675" cy="2400300"/>
          </a:xfrm>
          <a:prstGeom prst="rect">
            <a:avLst/>
          </a:prstGeom>
        </p:spPr>
      </p:pic>
      <p:sp>
        <p:nvSpPr>
          <p:cNvPr id="5" name="Rectangle 4"/>
          <p:cNvSpPr/>
          <p:nvPr/>
        </p:nvSpPr>
        <p:spPr>
          <a:xfrm>
            <a:off x="838200" y="1690688"/>
            <a:ext cx="10515600" cy="1846659"/>
          </a:xfrm>
          <a:prstGeom prst="rect">
            <a:avLst/>
          </a:prstGeom>
        </p:spPr>
        <p:txBody>
          <a:bodyPr wrap="square">
            <a:spAutoFit/>
          </a:bodyPr>
          <a:lstStyle/>
          <a:p>
            <a:endParaRPr lang="en-US" dirty="0" smtClean="0"/>
          </a:p>
          <a:p>
            <a:r>
              <a:rPr lang="en-US" sz="2400" dirty="0" smtClean="0"/>
              <a:t>The parse tree contains a lot of unneeded information. </a:t>
            </a:r>
          </a:p>
          <a:p>
            <a:r>
              <a:rPr lang="en-US" sz="2400" dirty="0" smtClean="0"/>
              <a:t>Compilers often use an abstract syntax tree (AST).</a:t>
            </a:r>
          </a:p>
          <a:p>
            <a:r>
              <a:rPr lang="en-US" sz="2400" dirty="0" smtClean="0"/>
              <a:t>AST summarizes grammatical structure without the details of derivation. ASTs are one kind of intermediate representation (IR)</a:t>
            </a:r>
            <a:endParaRPr lang="en-US" sz="2400" dirty="0"/>
          </a:p>
        </p:txBody>
      </p:sp>
    </p:spTree>
    <p:extLst>
      <p:ext uri="{BB962C8B-B14F-4D97-AF65-F5344CB8AC3E}">
        <p14:creationId xmlns:p14="http://schemas.microsoft.com/office/powerpoint/2010/main" val="38983484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 End</a:t>
            </a:r>
            <a:endParaRPr lang="en-US" dirty="0"/>
          </a:p>
        </p:txBody>
      </p:sp>
      <p:sp>
        <p:nvSpPr>
          <p:cNvPr id="3" name="Content Placeholder 2"/>
          <p:cNvSpPr>
            <a:spLocks noGrp="1"/>
          </p:cNvSpPr>
          <p:nvPr>
            <p:ph idx="1"/>
          </p:nvPr>
        </p:nvSpPr>
        <p:spPr/>
        <p:txBody>
          <a:bodyPr/>
          <a:lstStyle/>
          <a:p>
            <a:r>
              <a:rPr lang="en-US" sz="2800" dirty="0" smtClean="0"/>
              <a:t>The back end of the compiler translates IR into target machine code. </a:t>
            </a:r>
          </a:p>
          <a:p>
            <a:r>
              <a:rPr lang="en-US" sz="2800" dirty="0" smtClean="0"/>
              <a:t>It decides which values to keep in registers in order to avoid memory access; memory access is far slower than register access.</a:t>
            </a:r>
          </a:p>
          <a:p>
            <a:endParaRPr lang="en-US" dirty="0"/>
          </a:p>
        </p:txBody>
      </p:sp>
    </p:spTree>
    <p:extLst>
      <p:ext uri="{BB962C8B-B14F-4D97-AF65-F5344CB8AC3E}">
        <p14:creationId xmlns:p14="http://schemas.microsoft.com/office/powerpoint/2010/main" val="19464103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 End</a:t>
            </a:r>
            <a:endParaRPr lang="en-US" dirty="0"/>
          </a:p>
        </p:txBody>
      </p:sp>
      <p:pic>
        <p:nvPicPr>
          <p:cNvPr id="4" name="Content Placeholder 3"/>
          <p:cNvPicPr>
            <a:picLocks noGrp="1" noChangeAspect="1"/>
          </p:cNvPicPr>
          <p:nvPr>
            <p:ph idx="1"/>
          </p:nvPr>
        </p:nvPicPr>
        <p:blipFill>
          <a:blip r:embed="rId2"/>
          <a:stretch>
            <a:fillRect/>
          </a:stretch>
        </p:blipFill>
        <p:spPr>
          <a:xfrm>
            <a:off x="1641763" y="2173792"/>
            <a:ext cx="9776707" cy="3636458"/>
          </a:xfrm>
          <a:prstGeom prst="rect">
            <a:avLst/>
          </a:prstGeom>
        </p:spPr>
      </p:pic>
    </p:spTree>
    <p:extLst>
      <p:ext uri="{BB962C8B-B14F-4D97-AF65-F5344CB8AC3E}">
        <p14:creationId xmlns:p14="http://schemas.microsoft.com/office/powerpoint/2010/main" val="14288316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Selection</a:t>
            </a:r>
            <a:endParaRPr lang="en-US" dirty="0"/>
          </a:p>
        </p:txBody>
      </p:sp>
      <p:sp>
        <p:nvSpPr>
          <p:cNvPr id="3" name="Content Placeholder 2"/>
          <p:cNvSpPr>
            <a:spLocks noGrp="1"/>
          </p:cNvSpPr>
          <p:nvPr>
            <p:ph idx="1"/>
          </p:nvPr>
        </p:nvSpPr>
        <p:spPr/>
        <p:txBody>
          <a:bodyPr>
            <a:noAutofit/>
          </a:bodyPr>
          <a:lstStyle/>
          <a:p>
            <a:r>
              <a:rPr lang="en-US" sz="2800" dirty="0" smtClean="0"/>
              <a:t>The back end is responsible for instruction selection so as to produce fast and compact code. </a:t>
            </a:r>
          </a:p>
          <a:p>
            <a:r>
              <a:rPr lang="en-US" sz="2800" dirty="0" smtClean="0"/>
              <a:t>Modern processors have a rich instruction set. </a:t>
            </a:r>
          </a:p>
          <a:p>
            <a:r>
              <a:rPr lang="en-US" sz="2800" dirty="0" smtClean="0"/>
              <a:t>Usually, instruction selection is viewed as a pattern matching problem that can be solved by dynamic programming based algorithms. </a:t>
            </a:r>
            <a:endParaRPr lang="en-US" sz="2800" dirty="0"/>
          </a:p>
        </p:txBody>
      </p:sp>
    </p:spTree>
    <p:extLst>
      <p:ext uri="{BB962C8B-B14F-4D97-AF65-F5344CB8AC3E}">
        <p14:creationId xmlns:p14="http://schemas.microsoft.com/office/powerpoint/2010/main" val="9931736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Allocation</a:t>
            </a:r>
            <a:endParaRPr lang="en-US" dirty="0"/>
          </a:p>
        </p:txBody>
      </p:sp>
      <p:sp>
        <p:nvSpPr>
          <p:cNvPr id="3" name="Content Placeholder 2"/>
          <p:cNvSpPr>
            <a:spLocks noGrp="1"/>
          </p:cNvSpPr>
          <p:nvPr>
            <p:ph idx="1"/>
          </p:nvPr>
        </p:nvSpPr>
        <p:spPr>
          <a:xfrm>
            <a:off x="581192" y="2180496"/>
            <a:ext cx="11029615" cy="4277454"/>
          </a:xfrm>
        </p:spPr>
        <p:txBody>
          <a:bodyPr>
            <a:noAutofit/>
          </a:bodyPr>
          <a:lstStyle/>
          <a:p>
            <a:r>
              <a:rPr lang="en-US" sz="2800" dirty="0" smtClean="0"/>
              <a:t>Registers in a CPU play an important role for providing high speed access to operands. </a:t>
            </a:r>
          </a:p>
          <a:p>
            <a:r>
              <a:rPr lang="en-US" sz="2800" dirty="0" smtClean="0"/>
              <a:t>Memory access is an order of magnitude slower than register access. The back end attempts to have each operand value in a register when it is used.</a:t>
            </a:r>
          </a:p>
          <a:p>
            <a:r>
              <a:rPr lang="en-US" sz="2800" dirty="0" smtClean="0"/>
              <a:t>Back end has to manage a limited set of resources when it comes to the register file. </a:t>
            </a:r>
          </a:p>
          <a:p>
            <a:r>
              <a:rPr lang="en-US" sz="2800" dirty="0" smtClean="0"/>
              <a:t>Optimal register allocation is NP-Complete.</a:t>
            </a:r>
          </a:p>
        </p:txBody>
      </p:sp>
    </p:spTree>
    <p:extLst>
      <p:ext uri="{BB962C8B-B14F-4D97-AF65-F5344CB8AC3E}">
        <p14:creationId xmlns:p14="http://schemas.microsoft.com/office/powerpoint/2010/main" val="386348701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Scheduling</a:t>
            </a:r>
            <a:endParaRPr lang="en-US" dirty="0"/>
          </a:p>
        </p:txBody>
      </p:sp>
      <p:sp>
        <p:nvSpPr>
          <p:cNvPr id="3" name="Content Placeholder 2"/>
          <p:cNvSpPr>
            <a:spLocks noGrp="1"/>
          </p:cNvSpPr>
          <p:nvPr>
            <p:ph idx="1"/>
          </p:nvPr>
        </p:nvSpPr>
        <p:spPr/>
        <p:txBody>
          <a:bodyPr/>
          <a:lstStyle/>
          <a:p>
            <a:r>
              <a:rPr lang="en-US" sz="3200" dirty="0" smtClean="0"/>
              <a:t>Modern processors have multiple functional units. </a:t>
            </a:r>
          </a:p>
          <a:p>
            <a:r>
              <a:rPr lang="en-US" sz="3200" dirty="0" smtClean="0"/>
              <a:t>The back end needs to schedule instructions to avoid hardware stalls and interlocks. </a:t>
            </a:r>
          </a:p>
          <a:p>
            <a:r>
              <a:rPr lang="en-US" sz="3200" dirty="0" smtClean="0"/>
              <a:t>The generated code should use all functional units productively. Optimal scheduling is NP-Complete in nearly all cases.</a:t>
            </a:r>
          </a:p>
          <a:p>
            <a:endParaRPr lang="en-US" dirty="0"/>
          </a:p>
        </p:txBody>
      </p:sp>
    </p:spTree>
    <p:extLst>
      <p:ext uri="{BB962C8B-B14F-4D97-AF65-F5344CB8AC3E}">
        <p14:creationId xmlns:p14="http://schemas.microsoft.com/office/powerpoint/2010/main" val="2957477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2879D13-92B6-071F-18D0-279999D7892F}"/>
              </a:ext>
            </a:extLst>
          </p:cNvPr>
          <p:cNvSpPr>
            <a:spLocks noGrp="1"/>
          </p:cNvSpPr>
          <p:nvPr>
            <p:ph type="title"/>
          </p:nvPr>
        </p:nvSpPr>
        <p:spPr/>
        <p:txBody>
          <a:bodyPr/>
          <a:lstStyle/>
          <a:p>
            <a:r>
              <a:rPr lang="en-US" altLang="en-US"/>
              <a:t>The Source Code Optimizer</a:t>
            </a:r>
          </a:p>
        </p:txBody>
      </p:sp>
      <p:sp>
        <p:nvSpPr>
          <p:cNvPr id="25603" name="Content Placeholder 2">
            <a:extLst>
              <a:ext uri="{FF2B5EF4-FFF2-40B4-BE49-F238E27FC236}">
                <a16:creationId xmlns:a16="http://schemas.microsoft.com/office/drawing/2014/main" id="{A4C92746-DAB9-5604-785E-2BD5BBE9E68B}"/>
              </a:ext>
            </a:extLst>
          </p:cNvPr>
          <p:cNvSpPr>
            <a:spLocks noGrp="1"/>
          </p:cNvSpPr>
          <p:nvPr>
            <p:ph idx="1"/>
          </p:nvPr>
        </p:nvSpPr>
        <p:spPr/>
        <p:txBody>
          <a:bodyPr/>
          <a:lstStyle/>
          <a:p>
            <a:pPr eaLnBrk="1" hangingPunct="1">
              <a:lnSpc>
                <a:spcPct val="90000"/>
              </a:lnSpc>
            </a:pPr>
            <a:r>
              <a:rPr lang="en-US" altLang="zh-CN" sz="2400" dirty="0">
                <a:ea typeface="宋体" panose="02010600030101010101" pitchFamily="2" charset="-122"/>
              </a:rPr>
              <a:t>The </a:t>
            </a:r>
            <a:r>
              <a:rPr lang="en-US" altLang="zh-CN" sz="2400" dirty="0">
                <a:solidFill>
                  <a:srgbClr val="FF0000"/>
                </a:solidFill>
                <a:ea typeface="宋体" panose="02010600030101010101" pitchFamily="2" charset="-122"/>
              </a:rPr>
              <a:t>earliest point</a:t>
            </a:r>
            <a:r>
              <a:rPr lang="en-US" altLang="zh-CN" sz="2400" dirty="0">
                <a:ea typeface="宋体" panose="02010600030101010101" pitchFamily="2" charset="-122"/>
              </a:rPr>
              <a:t> of most optimization steps is just after semantic analysis</a:t>
            </a:r>
          </a:p>
          <a:p>
            <a:pPr eaLnBrk="1" hangingPunct="1">
              <a:lnSpc>
                <a:spcPct val="90000"/>
              </a:lnSpc>
            </a:pPr>
            <a:r>
              <a:rPr lang="en-US" altLang="zh-CN" sz="2400" dirty="0">
                <a:ea typeface="宋体" panose="02010600030101010101" pitchFamily="2" charset="-122"/>
              </a:rPr>
              <a:t>The code improvement depends </a:t>
            </a:r>
            <a:r>
              <a:rPr lang="en-US" altLang="zh-CN" sz="2400" dirty="0">
                <a:solidFill>
                  <a:srgbClr val="FF0000"/>
                </a:solidFill>
                <a:ea typeface="宋体" panose="02010600030101010101" pitchFamily="2" charset="-122"/>
              </a:rPr>
              <a:t>only on the source code</a:t>
            </a:r>
            <a:r>
              <a:rPr lang="en-US" altLang="zh-CN" sz="2400" dirty="0">
                <a:ea typeface="宋体" panose="02010600030101010101" pitchFamily="2" charset="-122"/>
              </a:rPr>
              <a:t>, and as a separate phase</a:t>
            </a:r>
          </a:p>
          <a:p>
            <a:pPr eaLnBrk="1" hangingPunct="1">
              <a:lnSpc>
                <a:spcPct val="90000"/>
              </a:lnSpc>
            </a:pPr>
            <a:r>
              <a:rPr lang="en-US" altLang="zh-CN" sz="2400" dirty="0">
                <a:ea typeface="宋体" panose="02010600030101010101" pitchFamily="2" charset="-122"/>
              </a:rPr>
              <a:t>Individual compilers exhibit </a:t>
            </a:r>
            <a:r>
              <a:rPr lang="en-US" altLang="zh-CN" sz="2400" dirty="0">
                <a:solidFill>
                  <a:srgbClr val="FF0000"/>
                </a:solidFill>
                <a:ea typeface="宋体" panose="02010600030101010101" pitchFamily="2" charset="-122"/>
              </a:rPr>
              <a:t>a wide variation</a:t>
            </a:r>
            <a:r>
              <a:rPr lang="en-US" altLang="zh-CN" sz="2400" dirty="0">
                <a:ea typeface="宋体" panose="02010600030101010101" pitchFamily="2" charset="-122"/>
              </a:rPr>
              <a:t> in optimization kinds as well as placement</a:t>
            </a:r>
          </a:p>
          <a:p>
            <a:pPr eaLnBrk="1" hangingPunct="1">
              <a:lnSpc>
                <a:spcPct val="90000"/>
              </a:lnSpc>
            </a:pPr>
            <a:r>
              <a:rPr lang="en-US" altLang="zh-CN" sz="2400" dirty="0">
                <a:ea typeface="宋体" panose="02010600030101010101" pitchFamily="2" charset="-122"/>
              </a:rPr>
              <a:t>An example: a[index]=4+2</a:t>
            </a:r>
          </a:p>
          <a:p>
            <a:pPr lvl="1" eaLnBrk="1" hangingPunct="1">
              <a:lnSpc>
                <a:spcPct val="90000"/>
              </a:lnSpc>
            </a:pPr>
            <a:r>
              <a:rPr lang="en-US" altLang="zh-CN" sz="2400" dirty="0">
                <a:solidFill>
                  <a:srgbClr val="FF0000"/>
                </a:solidFill>
                <a:ea typeface="宋体" panose="02010600030101010101" pitchFamily="2" charset="-122"/>
              </a:rPr>
              <a:t>Constant folding</a:t>
            </a:r>
            <a:r>
              <a:rPr lang="en-US" altLang="zh-CN" sz="2400" dirty="0">
                <a:ea typeface="宋体" panose="02010600030101010101" pitchFamily="2" charset="-122"/>
              </a:rPr>
              <a:t> performed directly on annotated tree</a:t>
            </a:r>
          </a:p>
          <a:p>
            <a:pPr lvl="1" eaLnBrk="1" hangingPunct="1">
              <a:lnSpc>
                <a:spcPct val="90000"/>
              </a:lnSpc>
            </a:pPr>
            <a:r>
              <a:rPr lang="en-US" altLang="zh-CN" sz="2400" dirty="0">
                <a:ea typeface="宋体" panose="02010600030101010101" pitchFamily="2" charset="-122"/>
              </a:rPr>
              <a:t>Using intermediate code: three-address code, p-code</a:t>
            </a:r>
          </a:p>
          <a:p>
            <a:pPr>
              <a:buFont typeface="Wingdings" panose="05000000000000000000" pitchFamily="2" charset="2"/>
              <a:buNone/>
            </a:pPr>
            <a:endParaRPr lang="en-US" altLang="en-US" dirty="0"/>
          </a:p>
        </p:txBody>
      </p:sp>
      <p:sp>
        <p:nvSpPr>
          <p:cNvPr id="25604" name="Slide Number Placeholder 3">
            <a:extLst>
              <a:ext uri="{FF2B5EF4-FFF2-40B4-BE49-F238E27FC236}">
                <a16:creationId xmlns:a16="http://schemas.microsoft.com/office/drawing/2014/main" id="{E8A210DA-9AE8-E455-0BBA-2AC893697A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74CD1288-8DFE-497E-A860-D3F144593A7C}" type="slidenum">
              <a:rPr lang="ar-SA" altLang="en-US" sz="1200">
                <a:latin typeface="Garamond" panose="02020404030301010803" pitchFamily="18" charset="0"/>
              </a:rPr>
              <a:pPr>
                <a:spcBef>
                  <a:spcPct val="0"/>
                </a:spcBef>
                <a:buClrTx/>
                <a:buSzTx/>
                <a:buFontTx/>
                <a:buNone/>
              </a:pPr>
              <a:t>40</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6EA401D1-9C76-C052-5A43-BA821BE60821}"/>
              </a:ext>
            </a:extLst>
          </p:cNvPr>
          <p:cNvSpPr>
            <a:spLocks noGrp="1"/>
          </p:cNvSpPr>
          <p:nvPr>
            <p:ph type="title"/>
          </p:nvPr>
        </p:nvSpPr>
        <p:spPr/>
        <p:txBody>
          <a:bodyPr/>
          <a:lstStyle/>
          <a:p>
            <a:r>
              <a:rPr lang="en-US" altLang="en-US"/>
              <a:t>Annotated Tree Without Optimization</a:t>
            </a:r>
          </a:p>
        </p:txBody>
      </p:sp>
      <p:sp>
        <p:nvSpPr>
          <p:cNvPr id="26627" name="Slide Number Placeholder 3">
            <a:extLst>
              <a:ext uri="{FF2B5EF4-FFF2-40B4-BE49-F238E27FC236}">
                <a16:creationId xmlns:a16="http://schemas.microsoft.com/office/drawing/2014/main" id="{7CFDAEA4-4A83-4F8F-2D31-D3007363C1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80B0DF6-02B0-477E-B0AE-B525BD6F72CC}" type="slidenum">
              <a:rPr lang="ar-SA" altLang="en-US" sz="1200">
                <a:latin typeface="Garamond" panose="02020404030301010803" pitchFamily="18" charset="0"/>
              </a:rPr>
              <a:pPr>
                <a:spcBef>
                  <a:spcPct val="0"/>
                </a:spcBef>
                <a:buClrTx/>
                <a:buSzTx/>
                <a:buFontTx/>
                <a:buNone/>
              </a:pPr>
              <a:t>41</a:t>
            </a:fld>
            <a:endParaRPr lang="en-US" altLang="en-US" sz="1200">
              <a:latin typeface="Garamond" panose="02020404030301010803" pitchFamily="18" charset="0"/>
            </a:endParaRPr>
          </a:p>
        </p:txBody>
      </p:sp>
      <p:grpSp>
        <p:nvGrpSpPr>
          <p:cNvPr id="26628" name="Group 3">
            <a:extLst>
              <a:ext uri="{FF2B5EF4-FFF2-40B4-BE49-F238E27FC236}">
                <a16:creationId xmlns:a16="http://schemas.microsoft.com/office/drawing/2014/main" id="{AC5E882E-5C9D-819F-4913-B5C0C1F1DF5D}"/>
              </a:ext>
            </a:extLst>
          </p:cNvPr>
          <p:cNvGrpSpPr>
            <a:grpSpLocks/>
          </p:cNvGrpSpPr>
          <p:nvPr/>
        </p:nvGrpSpPr>
        <p:grpSpPr bwMode="auto">
          <a:xfrm>
            <a:off x="2362200" y="1828801"/>
            <a:ext cx="7056438" cy="3889375"/>
            <a:chOff x="748" y="1344"/>
            <a:chExt cx="4445" cy="2450"/>
          </a:xfrm>
        </p:grpSpPr>
        <p:sp>
          <p:nvSpPr>
            <p:cNvPr id="26629" name="Rectangle 4">
              <a:extLst>
                <a:ext uri="{FF2B5EF4-FFF2-40B4-BE49-F238E27FC236}">
                  <a16:creationId xmlns:a16="http://schemas.microsoft.com/office/drawing/2014/main" id="{A6D52BAA-F1CA-4330-5B65-6D7F26A13350}"/>
                </a:ext>
              </a:extLst>
            </p:cNvPr>
            <p:cNvSpPr>
              <a:spLocks noChangeArrowheads="1"/>
            </p:cNvSpPr>
            <p:nvPr/>
          </p:nvSpPr>
          <p:spPr bwMode="auto">
            <a:xfrm>
              <a:off x="748" y="3386"/>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                                  index                                        4                            2</a:t>
              </a:r>
            </a:p>
          </p:txBody>
        </p:sp>
        <p:sp>
          <p:nvSpPr>
            <p:cNvPr id="26630" name="Rectangle 5">
              <a:extLst>
                <a:ext uri="{FF2B5EF4-FFF2-40B4-BE49-F238E27FC236}">
                  <a16:creationId xmlns:a16="http://schemas.microsoft.com/office/drawing/2014/main" id="{88D03DE3-BDE9-C34F-575B-0B1D258C49ED}"/>
                </a:ext>
              </a:extLst>
            </p:cNvPr>
            <p:cNvSpPr>
              <a:spLocks noChangeArrowheads="1"/>
            </p:cNvSpPr>
            <p:nvPr/>
          </p:nvSpPr>
          <p:spPr bwMode="auto">
            <a:xfrm>
              <a:off x="748" y="2978"/>
              <a:ext cx="4445" cy="36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000">
                  <a:ea typeface="宋体" panose="02010600030101010101" pitchFamily="2" charset="-122"/>
                </a:rPr>
                <a:t>identifier                identifier                    number                number</a:t>
              </a:r>
            </a:p>
          </p:txBody>
        </p:sp>
        <p:sp>
          <p:nvSpPr>
            <p:cNvPr id="26631" name="Rectangle 6">
              <a:extLst>
                <a:ext uri="{FF2B5EF4-FFF2-40B4-BE49-F238E27FC236}">
                  <a16:creationId xmlns:a16="http://schemas.microsoft.com/office/drawing/2014/main" id="{4CEC4BE8-E8C2-95E1-D913-5EB1B817E7E8}"/>
                </a:ext>
              </a:extLst>
            </p:cNvPr>
            <p:cNvSpPr>
              <a:spLocks noChangeArrowheads="1"/>
            </p:cNvSpPr>
            <p:nvPr/>
          </p:nvSpPr>
          <p:spPr bwMode="auto">
            <a:xfrm>
              <a:off x="748" y="2116"/>
              <a:ext cx="4445" cy="54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000">
                  <a:ea typeface="宋体" panose="02010600030101010101" pitchFamily="2" charset="-122"/>
                </a:rPr>
                <a:t>      subscript-expression                                   additive-expression</a:t>
              </a:r>
            </a:p>
            <a:p>
              <a:pPr eaLnBrk="1" hangingPunct="1">
                <a:spcBef>
                  <a:spcPct val="0"/>
                </a:spcBef>
                <a:buClrTx/>
                <a:buSzTx/>
                <a:buFontTx/>
                <a:buNone/>
              </a:pPr>
              <a:r>
                <a:rPr lang="en-US" altLang="zh-CN" sz="2000">
                  <a:ea typeface="宋体" panose="02010600030101010101" pitchFamily="2" charset="-122"/>
                </a:rPr>
                <a:t>                integer                                                     integer</a:t>
              </a:r>
            </a:p>
          </p:txBody>
        </p:sp>
        <p:sp>
          <p:nvSpPr>
            <p:cNvPr id="26632" name="Rectangle 7">
              <a:extLst>
                <a:ext uri="{FF2B5EF4-FFF2-40B4-BE49-F238E27FC236}">
                  <a16:creationId xmlns:a16="http://schemas.microsoft.com/office/drawing/2014/main" id="{3D81879A-3FB1-4985-0704-B2C7D22E5BC1}"/>
                </a:ext>
              </a:extLst>
            </p:cNvPr>
            <p:cNvSpPr>
              <a:spLocks noChangeArrowheads="1"/>
            </p:cNvSpPr>
            <p:nvPr/>
          </p:nvSpPr>
          <p:spPr bwMode="auto">
            <a:xfrm>
              <a:off x="748" y="1344"/>
              <a:ext cx="4445" cy="364"/>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2000">
                  <a:ea typeface="宋体" panose="02010600030101010101" pitchFamily="2" charset="-122"/>
                </a:rPr>
                <a:t>Assign-expression</a:t>
              </a:r>
            </a:p>
          </p:txBody>
        </p:sp>
        <p:sp>
          <p:nvSpPr>
            <p:cNvPr id="26633" name="Line 8">
              <a:extLst>
                <a:ext uri="{FF2B5EF4-FFF2-40B4-BE49-F238E27FC236}">
                  <a16:creationId xmlns:a16="http://schemas.microsoft.com/office/drawing/2014/main" id="{BAC125B4-A28B-1919-913A-F6AF34813336}"/>
                </a:ext>
              </a:extLst>
            </p:cNvPr>
            <p:cNvSpPr>
              <a:spLocks noChangeShapeType="1"/>
            </p:cNvSpPr>
            <p:nvPr/>
          </p:nvSpPr>
          <p:spPr bwMode="auto">
            <a:xfrm flipH="1">
              <a:off x="1610" y="1662"/>
              <a:ext cx="1270"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Line 9">
              <a:extLst>
                <a:ext uri="{FF2B5EF4-FFF2-40B4-BE49-F238E27FC236}">
                  <a16:creationId xmlns:a16="http://schemas.microsoft.com/office/drawing/2014/main" id="{4058A1A8-A8DD-4C79-EA43-042B6478E628}"/>
                </a:ext>
              </a:extLst>
            </p:cNvPr>
            <p:cNvSpPr>
              <a:spLocks noChangeShapeType="1"/>
            </p:cNvSpPr>
            <p:nvPr/>
          </p:nvSpPr>
          <p:spPr bwMode="auto">
            <a:xfrm>
              <a:off x="2971" y="1662"/>
              <a:ext cx="1361"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5" name="Line 10">
              <a:extLst>
                <a:ext uri="{FF2B5EF4-FFF2-40B4-BE49-F238E27FC236}">
                  <a16:creationId xmlns:a16="http://schemas.microsoft.com/office/drawing/2014/main" id="{35393727-5ED7-AF69-AA55-A9DE00D3E547}"/>
                </a:ext>
              </a:extLst>
            </p:cNvPr>
            <p:cNvSpPr>
              <a:spLocks noChangeShapeType="1"/>
            </p:cNvSpPr>
            <p:nvPr/>
          </p:nvSpPr>
          <p:spPr bwMode="auto">
            <a:xfrm flipH="1">
              <a:off x="1111" y="2704"/>
              <a:ext cx="227" cy="3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6" name="Line 11">
              <a:extLst>
                <a:ext uri="{FF2B5EF4-FFF2-40B4-BE49-F238E27FC236}">
                  <a16:creationId xmlns:a16="http://schemas.microsoft.com/office/drawing/2014/main" id="{3BB01550-4B7C-865C-2056-54DBD0FDBB2C}"/>
                </a:ext>
              </a:extLst>
            </p:cNvPr>
            <p:cNvSpPr>
              <a:spLocks noChangeShapeType="1"/>
            </p:cNvSpPr>
            <p:nvPr/>
          </p:nvSpPr>
          <p:spPr bwMode="auto">
            <a:xfrm>
              <a:off x="2018" y="2659"/>
              <a:ext cx="272"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7" name="Line 12">
              <a:extLst>
                <a:ext uri="{FF2B5EF4-FFF2-40B4-BE49-F238E27FC236}">
                  <a16:creationId xmlns:a16="http://schemas.microsoft.com/office/drawing/2014/main" id="{8C87C13F-A607-CCEE-5657-789EB728380A}"/>
                </a:ext>
              </a:extLst>
            </p:cNvPr>
            <p:cNvSpPr>
              <a:spLocks noChangeShapeType="1"/>
            </p:cNvSpPr>
            <p:nvPr/>
          </p:nvSpPr>
          <p:spPr bwMode="auto">
            <a:xfrm flipH="1">
              <a:off x="3651" y="2659"/>
              <a:ext cx="408" cy="3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13">
              <a:extLst>
                <a:ext uri="{FF2B5EF4-FFF2-40B4-BE49-F238E27FC236}">
                  <a16:creationId xmlns:a16="http://schemas.microsoft.com/office/drawing/2014/main" id="{5DC63DE5-FFE0-4D44-372A-133C468ADB42}"/>
                </a:ext>
              </a:extLst>
            </p:cNvPr>
            <p:cNvSpPr>
              <a:spLocks noChangeShapeType="1"/>
            </p:cNvSpPr>
            <p:nvPr/>
          </p:nvSpPr>
          <p:spPr bwMode="auto">
            <a:xfrm>
              <a:off x="4513" y="2659"/>
              <a:ext cx="317"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Rectangle 14">
              <a:extLst>
                <a:ext uri="{FF2B5EF4-FFF2-40B4-BE49-F238E27FC236}">
                  <a16:creationId xmlns:a16="http://schemas.microsoft.com/office/drawing/2014/main" id="{4DC81C18-78BE-6F1A-4CFF-6CAC20420080}"/>
                </a:ext>
              </a:extLst>
            </p:cNvPr>
            <p:cNvSpPr>
              <a:spLocks noChangeArrowheads="1"/>
            </p:cNvSpPr>
            <p:nvPr/>
          </p:nvSpPr>
          <p:spPr bwMode="auto">
            <a:xfrm>
              <a:off x="748" y="3612"/>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array of integer               integer                                 integer                        integer</a:t>
              </a: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E02A3089-1BD8-87C3-EA68-711336CCAE98}"/>
              </a:ext>
            </a:extLst>
          </p:cNvPr>
          <p:cNvSpPr>
            <a:spLocks noGrp="1"/>
          </p:cNvSpPr>
          <p:nvPr>
            <p:ph type="title"/>
          </p:nvPr>
        </p:nvSpPr>
        <p:spPr/>
        <p:txBody>
          <a:bodyPr/>
          <a:lstStyle/>
          <a:p>
            <a:r>
              <a:rPr lang="en-US" altLang="en-US"/>
              <a:t>Optimized Annotated Tree</a:t>
            </a:r>
          </a:p>
        </p:txBody>
      </p:sp>
      <p:sp>
        <p:nvSpPr>
          <p:cNvPr id="27651" name="Slide Number Placeholder 3">
            <a:extLst>
              <a:ext uri="{FF2B5EF4-FFF2-40B4-BE49-F238E27FC236}">
                <a16:creationId xmlns:a16="http://schemas.microsoft.com/office/drawing/2014/main" id="{DB87883D-58FC-BD93-30F1-AB4D752990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B47B4C6-B310-473F-95CB-D2180311F9A5}" type="slidenum">
              <a:rPr lang="ar-SA" altLang="en-US" sz="1200">
                <a:latin typeface="Garamond" panose="02020404030301010803" pitchFamily="18" charset="0"/>
              </a:rPr>
              <a:pPr>
                <a:spcBef>
                  <a:spcPct val="0"/>
                </a:spcBef>
                <a:buClrTx/>
                <a:buSzTx/>
                <a:buFontTx/>
                <a:buNone/>
              </a:pPr>
              <a:t>42</a:t>
            </a:fld>
            <a:endParaRPr lang="en-US" altLang="en-US" sz="1200">
              <a:latin typeface="Garamond" panose="02020404030301010803" pitchFamily="18" charset="0"/>
            </a:endParaRPr>
          </a:p>
        </p:txBody>
      </p:sp>
      <p:grpSp>
        <p:nvGrpSpPr>
          <p:cNvPr id="27652" name="Group 16">
            <a:extLst>
              <a:ext uri="{FF2B5EF4-FFF2-40B4-BE49-F238E27FC236}">
                <a16:creationId xmlns:a16="http://schemas.microsoft.com/office/drawing/2014/main" id="{23542BD7-A2D1-2EC3-5C2A-E7D5B7A9C236}"/>
              </a:ext>
            </a:extLst>
          </p:cNvPr>
          <p:cNvGrpSpPr>
            <a:grpSpLocks/>
          </p:cNvGrpSpPr>
          <p:nvPr/>
        </p:nvGrpSpPr>
        <p:grpSpPr bwMode="auto">
          <a:xfrm>
            <a:off x="2514600" y="1828801"/>
            <a:ext cx="7056438" cy="3889375"/>
            <a:chOff x="748" y="1253"/>
            <a:chExt cx="4445" cy="2450"/>
          </a:xfrm>
        </p:grpSpPr>
        <p:sp>
          <p:nvSpPr>
            <p:cNvPr id="27653" name="Rectangle 5">
              <a:extLst>
                <a:ext uri="{FF2B5EF4-FFF2-40B4-BE49-F238E27FC236}">
                  <a16:creationId xmlns:a16="http://schemas.microsoft.com/office/drawing/2014/main" id="{E9ADB8EF-24E8-D3A0-DE04-9766B9E859BE}"/>
                </a:ext>
              </a:extLst>
            </p:cNvPr>
            <p:cNvSpPr>
              <a:spLocks noChangeArrowheads="1"/>
            </p:cNvSpPr>
            <p:nvPr/>
          </p:nvSpPr>
          <p:spPr bwMode="auto">
            <a:xfrm>
              <a:off x="748" y="3295"/>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                                  index                                                                     6</a:t>
              </a:r>
            </a:p>
          </p:txBody>
        </p:sp>
        <p:sp>
          <p:nvSpPr>
            <p:cNvPr id="27654" name="Rectangle 6">
              <a:extLst>
                <a:ext uri="{FF2B5EF4-FFF2-40B4-BE49-F238E27FC236}">
                  <a16:creationId xmlns:a16="http://schemas.microsoft.com/office/drawing/2014/main" id="{516E856D-7174-1BA8-F957-1540588FFE29}"/>
                </a:ext>
              </a:extLst>
            </p:cNvPr>
            <p:cNvSpPr>
              <a:spLocks noChangeArrowheads="1"/>
            </p:cNvSpPr>
            <p:nvPr/>
          </p:nvSpPr>
          <p:spPr bwMode="auto">
            <a:xfrm>
              <a:off x="748" y="2887"/>
              <a:ext cx="4445" cy="36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000" dirty="0">
                  <a:ea typeface="宋体" panose="02010600030101010101" pitchFamily="2" charset="-122"/>
                </a:rPr>
                <a:t>identifier                </a:t>
              </a:r>
              <a:r>
                <a:rPr lang="en-US" altLang="zh-CN" sz="2000" dirty="0" err="1">
                  <a:ea typeface="宋体" panose="02010600030101010101" pitchFamily="2" charset="-122"/>
                </a:rPr>
                <a:t>identifier</a:t>
              </a:r>
              <a:r>
                <a:rPr lang="en-US" altLang="zh-CN" sz="2000" dirty="0">
                  <a:ea typeface="宋体" panose="02010600030101010101" pitchFamily="2" charset="-122"/>
                </a:rPr>
                <a:t>                                             number</a:t>
              </a:r>
            </a:p>
          </p:txBody>
        </p:sp>
        <p:sp>
          <p:nvSpPr>
            <p:cNvPr id="27655" name="Rectangle 7">
              <a:extLst>
                <a:ext uri="{FF2B5EF4-FFF2-40B4-BE49-F238E27FC236}">
                  <a16:creationId xmlns:a16="http://schemas.microsoft.com/office/drawing/2014/main" id="{1F860FE7-E878-5C2A-F475-045A2AE26062}"/>
                </a:ext>
              </a:extLst>
            </p:cNvPr>
            <p:cNvSpPr>
              <a:spLocks noChangeArrowheads="1"/>
            </p:cNvSpPr>
            <p:nvPr/>
          </p:nvSpPr>
          <p:spPr bwMode="auto">
            <a:xfrm>
              <a:off x="748" y="2025"/>
              <a:ext cx="4445" cy="543"/>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2000">
                  <a:ea typeface="宋体" panose="02010600030101010101" pitchFamily="2" charset="-122"/>
                </a:rPr>
                <a:t>      subscript-expression                                   </a:t>
              </a:r>
            </a:p>
            <a:p>
              <a:pPr eaLnBrk="1" hangingPunct="1">
                <a:spcBef>
                  <a:spcPct val="0"/>
                </a:spcBef>
                <a:buClrTx/>
                <a:buSzTx/>
                <a:buFontTx/>
                <a:buNone/>
              </a:pPr>
              <a:r>
                <a:rPr lang="en-US" altLang="zh-CN" sz="2000">
                  <a:ea typeface="宋体" panose="02010600030101010101" pitchFamily="2" charset="-122"/>
                </a:rPr>
                <a:t>                integer                                                     </a:t>
              </a:r>
            </a:p>
          </p:txBody>
        </p:sp>
        <p:sp>
          <p:nvSpPr>
            <p:cNvPr id="27656" name="Rectangle 8">
              <a:extLst>
                <a:ext uri="{FF2B5EF4-FFF2-40B4-BE49-F238E27FC236}">
                  <a16:creationId xmlns:a16="http://schemas.microsoft.com/office/drawing/2014/main" id="{25BA4244-2B42-2F7F-0163-AB2424EB328B}"/>
                </a:ext>
              </a:extLst>
            </p:cNvPr>
            <p:cNvSpPr>
              <a:spLocks noChangeArrowheads="1"/>
            </p:cNvSpPr>
            <p:nvPr/>
          </p:nvSpPr>
          <p:spPr bwMode="auto">
            <a:xfrm>
              <a:off x="748" y="1253"/>
              <a:ext cx="4445" cy="364"/>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2000">
                  <a:ea typeface="宋体" panose="02010600030101010101" pitchFamily="2" charset="-122"/>
                </a:rPr>
                <a:t>Assign-expression</a:t>
              </a:r>
            </a:p>
          </p:txBody>
        </p:sp>
        <p:sp>
          <p:nvSpPr>
            <p:cNvPr id="27657" name="Line 9">
              <a:extLst>
                <a:ext uri="{FF2B5EF4-FFF2-40B4-BE49-F238E27FC236}">
                  <a16:creationId xmlns:a16="http://schemas.microsoft.com/office/drawing/2014/main" id="{97B58EC1-ED29-6BC6-DA86-376ECA250EDA}"/>
                </a:ext>
              </a:extLst>
            </p:cNvPr>
            <p:cNvSpPr>
              <a:spLocks noChangeShapeType="1"/>
            </p:cNvSpPr>
            <p:nvPr/>
          </p:nvSpPr>
          <p:spPr bwMode="auto">
            <a:xfrm flipH="1">
              <a:off x="1610" y="1571"/>
              <a:ext cx="1270"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8" name="Line 10">
              <a:extLst>
                <a:ext uri="{FF2B5EF4-FFF2-40B4-BE49-F238E27FC236}">
                  <a16:creationId xmlns:a16="http://schemas.microsoft.com/office/drawing/2014/main" id="{2A0AC2BF-3226-48F0-9C52-CF269BA2FB7C}"/>
                </a:ext>
              </a:extLst>
            </p:cNvPr>
            <p:cNvSpPr>
              <a:spLocks noChangeShapeType="1"/>
            </p:cNvSpPr>
            <p:nvPr/>
          </p:nvSpPr>
          <p:spPr bwMode="auto">
            <a:xfrm>
              <a:off x="2971" y="1571"/>
              <a:ext cx="1587" cy="14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9" name="Line 11">
              <a:extLst>
                <a:ext uri="{FF2B5EF4-FFF2-40B4-BE49-F238E27FC236}">
                  <a16:creationId xmlns:a16="http://schemas.microsoft.com/office/drawing/2014/main" id="{E543D489-2FB0-AB9C-9C40-EA9C360A3FC4}"/>
                </a:ext>
              </a:extLst>
            </p:cNvPr>
            <p:cNvSpPr>
              <a:spLocks noChangeShapeType="1"/>
            </p:cNvSpPr>
            <p:nvPr/>
          </p:nvSpPr>
          <p:spPr bwMode="auto">
            <a:xfrm flipH="1">
              <a:off x="1111" y="2613"/>
              <a:ext cx="227" cy="3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0" name="Line 12">
              <a:extLst>
                <a:ext uri="{FF2B5EF4-FFF2-40B4-BE49-F238E27FC236}">
                  <a16:creationId xmlns:a16="http://schemas.microsoft.com/office/drawing/2014/main" id="{DA638C81-24C0-E168-0A7B-B49657EA8894}"/>
                </a:ext>
              </a:extLst>
            </p:cNvPr>
            <p:cNvSpPr>
              <a:spLocks noChangeShapeType="1"/>
            </p:cNvSpPr>
            <p:nvPr/>
          </p:nvSpPr>
          <p:spPr bwMode="auto">
            <a:xfrm>
              <a:off x="2018" y="2568"/>
              <a:ext cx="272"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1" name="Rectangle 15">
              <a:extLst>
                <a:ext uri="{FF2B5EF4-FFF2-40B4-BE49-F238E27FC236}">
                  <a16:creationId xmlns:a16="http://schemas.microsoft.com/office/drawing/2014/main" id="{17FCBDD8-05A9-A534-1885-0FB9A63785E1}"/>
                </a:ext>
              </a:extLst>
            </p:cNvPr>
            <p:cNvSpPr>
              <a:spLocks noChangeArrowheads="1"/>
            </p:cNvSpPr>
            <p:nvPr/>
          </p:nvSpPr>
          <p:spPr bwMode="auto">
            <a:xfrm>
              <a:off x="748" y="3521"/>
              <a:ext cx="4445" cy="182"/>
            </a:xfrm>
            <a:prstGeom prst="rect">
              <a:avLst/>
            </a:prstGeom>
            <a:solidFill>
              <a:schemeClr val="bg1"/>
            </a:solidFill>
            <a:ln w="9525">
              <a:solidFill>
                <a:schemeClr val="bg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CN" sz="1600">
                  <a:ea typeface="宋体" panose="02010600030101010101" pitchFamily="2" charset="-122"/>
                </a:rPr>
                <a:t> array of integer               integer                                                               integer</a:t>
              </a:r>
            </a:p>
          </p:txBody>
        </p: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28615CBA-3A53-737F-FB86-4E1FED2F41CE}"/>
              </a:ext>
            </a:extLst>
          </p:cNvPr>
          <p:cNvSpPr>
            <a:spLocks noGrp="1"/>
          </p:cNvSpPr>
          <p:nvPr>
            <p:ph type="title"/>
          </p:nvPr>
        </p:nvSpPr>
        <p:spPr/>
        <p:txBody>
          <a:bodyPr/>
          <a:lstStyle/>
          <a:p>
            <a:r>
              <a:rPr lang="en-US" altLang="en-US"/>
              <a:t>Optimization on Intermediate Code</a:t>
            </a:r>
          </a:p>
        </p:txBody>
      </p:sp>
      <p:sp>
        <p:nvSpPr>
          <p:cNvPr id="28675" name="Slide Number Placeholder 3">
            <a:extLst>
              <a:ext uri="{FF2B5EF4-FFF2-40B4-BE49-F238E27FC236}">
                <a16:creationId xmlns:a16="http://schemas.microsoft.com/office/drawing/2014/main" id="{4E41807E-F463-EEA7-D881-1C3E946E53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2CD3D27-9EE0-4676-96C3-F4BD793043C2}" type="slidenum">
              <a:rPr lang="ar-SA" altLang="en-US" sz="1200">
                <a:latin typeface="Garamond" panose="02020404030301010803" pitchFamily="18" charset="0"/>
              </a:rPr>
              <a:pPr>
                <a:spcBef>
                  <a:spcPct val="0"/>
                </a:spcBef>
                <a:buClrTx/>
                <a:buSzTx/>
                <a:buFontTx/>
                <a:buNone/>
              </a:pPr>
              <a:t>43</a:t>
            </a:fld>
            <a:endParaRPr lang="en-US" altLang="en-US" sz="1200">
              <a:latin typeface="Garamond" panose="02020404030301010803" pitchFamily="18" charset="0"/>
            </a:endParaRPr>
          </a:p>
        </p:txBody>
      </p:sp>
      <p:grpSp>
        <p:nvGrpSpPr>
          <p:cNvPr id="28676" name="Group 4">
            <a:extLst>
              <a:ext uri="{FF2B5EF4-FFF2-40B4-BE49-F238E27FC236}">
                <a16:creationId xmlns:a16="http://schemas.microsoft.com/office/drawing/2014/main" id="{0B49B71B-00D3-46A9-8EBF-CD78D1A405EC}"/>
              </a:ext>
            </a:extLst>
          </p:cNvPr>
          <p:cNvGrpSpPr>
            <a:grpSpLocks/>
          </p:cNvGrpSpPr>
          <p:nvPr/>
        </p:nvGrpSpPr>
        <p:grpSpPr bwMode="auto">
          <a:xfrm>
            <a:off x="3962400" y="1828801"/>
            <a:ext cx="4319588" cy="3743325"/>
            <a:chOff x="2484438" y="2349500"/>
            <a:chExt cx="4319587" cy="3743325"/>
          </a:xfrm>
        </p:grpSpPr>
        <p:sp>
          <p:nvSpPr>
            <p:cNvPr id="28677" name="Rectangle 4">
              <a:extLst>
                <a:ext uri="{FF2B5EF4-FFF2-40B4-BE49-F238E27FC236}">
                  <a16:creationId xmlns:a16="http://schemas.microsoft.com/office/drawing/2014/main" id="{E6A14B3B-5588-5CEA-8816-1D5D909B9986}"/>
                </a:ext>
              </a:extLst>
            </p:cNvPr>
            <p:cNvSpPr>
              <a:spLocks noChangeArrowheads="1"/>
            </p:cNvSpPr>
            <p:nvPr/>
          </p:nvSpPr>
          <p:spPr bwMode="auto">
            <a:xfrm>
              <a:off x="2484438" y="2349500"/>
              <a:ext cx="4319587" cy="79216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t   =  4  +  2</a:t>
              </a:r>
            </a:p>
            <a:p>
              <a:pPr algn="ctr" eaLnBrk="1" hangingPunct="1">
                <a:spcBef>
                  <a:spcPct val="0"/>
                </a:spcBef>
                <a:buClrTx/>
                <a:buSzTx/>
                <a:buFontTx/>
                <a:buNone/>
              </a:pPr>
              <a:r>
                <a:rPr lang="en-US" altLang="zh-CN" sz="1800">
                  <a:ea typeface="宋体" panose="02010600030101010101" pitchFamily="2" charset="-122"/>
                </a:rPr>
                <a:t>a[index]=t</a:t>
              </a:r>
            </a:p>
          </p:txBody>
        </p:sp>
        <p:sp>
          <p:nvSpPr>
            <p:cNvPr id="28678" name="Rectangle 5">
              <a:extLst>
                <a:ext uri="{FF2B5EF4-FFF2-40B4-BE49-F238E27FC236}">
                  <a16:creationId xmlns:a16="http://schemas.microsoft.com/office/drawing/2014/main" id="{D87D4635-9777-BCBB-711D-14E264F5AF2C}"/>
                </a:ext>
              </a:extLst>
            </p:cNvPr>
            <p:cNvSpPr>
              <a:spLocks noChangeArrowheads="1"/>
            </p:cNvSpPr>
            <p:nvPr/>
          </p:nvSpPr>
          <p:spPr bwMode="auto">
            <a:xfrm>
              <a:off x="2484438" y="3716338"/>
              <a:ext cx="4319587" cy="7921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t =  6</a:t>
              </a:r>
            </a:p>
            <a:p>
              <a:pPr algn="ctr" eaLnBrk="1" hangingPunct="1">
                <a:spcBef>
                  <a:spcPct val="0"/>
                </a:spcBef>
                <a:buClrTx/>
                <a:buSzTx/>
                <a:buFontTx/>
                <a:buNone/>
              </a:pPr>
              <a:r>
                <a:rPr lang="en-US" altLang="zh-CN" sz="1800">
                  <a:ea typeface="宋体" panose="02010600030101010101" pitchFamily="2" charset="-122"/>
                </a:rPr>
                <a:t>a[index]=t</a:t>
              </a:r>
            </a:p>
          </p:txBody>
        </p:sp>
        <p:sp>
          <p:nvSpPr>
            <p:cNvPr id="28679" name="Rectangle 6">
              <a:extLst>
                <a:ext uri="{FF2B5EF4-FFF2-40B4-BE49-F238E27FC236}">
                  <a16:creationId xmlns:a16="http://schemas.microsoft.com/office/drawing/2014/main" id="{2DCAE6A0-938E-78A2-AD35-55AAD13361E5}"/>
                </a:ext>
              </a:extLst>
            </p:cNvPr>
            <p:cNvSpPr>
              <a:spLocks noChangeArrowheads="1"/>
            </p:cNvSpPr>
            <p:nvPr/>
          </p:nvSpPr>
          <p:spPr bwMode="auto">
            <a:xfrm>
              <a:off x="2484438" y="5300663"/>
              <a:ext cx="4319587" cy="7921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sz="1800">
                  <a:ea typeface="宋体" panose="02010600030101010101" pitchFamily="2" charset="-122"/>
                </a:rPr>
                <a:t>a[index]=6</a:t>
              </a:r>
            </a:p>
          </p:txBody>
        </p:sp>
        <p:sp>
          <p:nvSpPr>
            <p:cNvPr id="28680" name="Line 7">
              <a:extLst>
                <a:ext uri="{FF2B5EF4-FFF2-40B4-BE49-F238E27FC236}">
                  <a16:creationId xmlns:a16="http://schemas.microsoft.com/office/drawing/2014/main" id="{D4299213-CC08-ECF1-0DC2-073676A3BF40}"/>
                </a:ext>
              </a:extLst>
            </p:cNvPr>
            <p:cNvSpPr>
              <a:spLocks noChangeShapeType="1"/>
            </p:cNvSpPr>
            <p:nvPr/>
          </p:nvSpPr>
          <p:spPr bwMode="auto">
            <a:xfrm>
              <a:off x="4572000" y="3213100"/>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81" name="Line 8">
              <a:extLst>
                <a:ext uri="{FF2B5EF4-FFF2-40B4-BE49-F238E27FC236}">
                  <a16:creationId xmlns:a16="http://schemas.microsoft.com/office/drawing/2014/main" id="{F101D63C-EBC1-F299-1759-42E1FB1A7840}"/>
                </a:ext>
              </a:extLst>
            </p:cNvPr>
            <p:cNvSpPr>
              <a:spLocks noChangeShapeType="1"/>
            </p:cNvSpPr>
            <p:nvPr/>
          </p:nvSpPr>
          <p:spPr bwMode="auto">
            <a:xfrm>
              <a:off x="4500563" y="4652963"/>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6B6C0251-40C4-CB9F-5840-A328D4C2EF8E}"/>
              </a:ext>
            </a:extLst>
          </p:cNvPr>
          <p:cNvSpPr>
            <a:spLocks noGrp="1"/>
          </p:cNvSpPr>
          <p:nvPr>
            <p:ph type="title"/>
          </p:nvPr>
        </p:nvSpPr>
        <p:spPr/>
        <p:txBody>
          <a:bodyPr/>
          <a:lstStyle/>
          <a:p>
            <a:r>
              <a:rPr lang="en-US" altLang="en-US"/>
              <a:t>The Code Generator</a:t>
            </a:r>
          </a:p>
        </p:txBody>
      </p:sp>
      <p:sp>
        <p:nvSpPr>
          <p:cNvPr id="29699" name="Content Placeholder 2">
            <a:extLst>
              <a:ext uri="{FF2B5EF4-FFF2-40B4-BE49-F238E27FC236}">
                <a16:creationId xmlns:a16="http://schemas.microsoft.com/office/drawing/2014/main" id="{1949F91F-5EB3-7AA5-EF0B-EBAD9D4B4509}"/>
              </a:ext>
            </a:extLst>
          </p:cNvPr>
          <p:cNvSpPr>
            <a:spLocks noGrp="1"/>
          </p:cNvSpPr>
          <p:nvPr>
            <p:ph idx="1"/>
          </p:nvPr>
        </p:nvSpPr>
        <p:spPr/>
        <p:txBody>
          <a:bodyPr/>
          <a:lstStyle/>
          <a:p>
            <a:pPr eaLnBrk="1" hangingPunct="1"/>
            <a:r>
              <a:rPr lang="en-US" altLang="zh-CN">
                <a:ea typeface="宋体" panose="02010600030101010101" pitchFamily="2" charset="-122"/>
              </a:rPr>
              <a:t>It takes the intermediate code or IR and generates code for target machine</a:t>
            </a:r>
          </a:p>
          <a:p>
            <a:pPr eaLnBrk="1" hangingPunct="1"/>
            <a:r>
              <a:rPr lang="en-US" altLang="zh-CN">
                <a:ea typeface="宋体" panose="02010600030101010101" pitchFamily="2" charset="-122"/>
              </a:rPr>
              <a:t>The </a:t>
            </a:r>
            <a:r>
              <a:rPr lang="en-US" altLang="zh-CN">
                <a:solidFill>
                  <a:srgbClr val="FF0000"/>
                </a:solidFill>
                <a:ea typeface="宋体" panose="02010600030101010101" pitchFamily="2" charset="-122"/>
              </a:rPr>
              <a:t>properties of the target machine</a:t>
            </a:r>
            <a:r>
              <a:rPr lang="en-US" altLang="zh-CN">
                <a:ea typeface="宋体" panose="02010600030101010101" pitchFamily="2" charset="-122"/>
              </a:rPr>
              <a:t> become the major factor: </a:t>
            </a:r>
          </a:p>
          <a:p>
            <a:pPr lvl="1" eaLnBrk="1" hangingPunct="1"/>
            <a:r>
              <a:rPr lang="en-US" altLang="zh-CN">
                <a:ea typeface="宋体" panose="02010600030101010101" pitchFamily="2" charset="-122"/>
              </a:rPr>
              <a:t>Using instructions that exist on target machines</a:t>
            </a:r>
          </a:p>
          <a:p>
            <a:pPr lvl="1" eaLnBrk="1" hangingPunct="1"/>
            <a:r>
              <a:rPr lang="en-US" altLang="zh-CN">
                <a:ea typeface="宋体" panose="02010600030101010101" pitchFamily="2" charset="-122"/>
              </a:rPr>
              <a:t>How to make representation of data i.e. how many bytes and words will be allocated to a give type of a variable</a:t>
            </a:r>
          </a:p>
          <a:p>
            <a:pPr>
              <a:buFont typeface="Wingdings" panose="05000000000000000000" pitchFamily="2" charset="2"/>
              <a:buNone/>
            </a:pPr>
            <a:endParaRPr lang="en-US" altLang="en-US"/>
          </a:p>
        </p:txBody>
      </p:sp>
      <p:sp>
        <p:nvSpPr>
          <p:cNvPr id="29700" name="Slide Number Placeholder 3">
            <a:extLst>
              <a:ext uri="{FF2B5EF4-FFF2-40B4-BE49-F238E27FC236}">
                <a16:creationId xmlns:a16="http://schemas.microsoft.com/office/drawing/2014/main" id="{DB98D284-2270-4B35-77FF-C323C244D8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891AF01-7E7B-4AE7-8B08-1C0E49DD00F7}" type="slidenum">
              <a:rPr lang="ar-SA" altLang="en-US" sz="1200">
                <a:latin typeface="Garamond" panose="02020404030301010803" pitchFamily="18" charset="0"/>
              </a:rPr>
              <a:pPr>
                <a:spcBef>
                  <a:spcPct val="0"/>
                </a:spcBef>
                <a:buClrTx/>
                <a:buSzTx/>
                <a:buFontTx/>
                <a:buNone/>
              </a:pPr>
              <a:t>44</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8CF3F5B6-952F-625C-FEBE-3E6B91EC1B51}"/>
              </a:ext>
            </a:extLst>
          </p:cNvPr>
          <p:cNvSpPr>
            <a:spLocks noGrp="1"/>
          </p:cNvSpPr>
          <p:nvPr>
            <p:ph type="title"/>
          </p:nvPr>
        </p:nvSpPr>
        <p:spPr/>
        <p:txBody>
          <a:bodyPr/>
          <a:lstStyle/>
          <a:p>
            <a:r>
              <a:rPr lang="en-US" altLang="en-US"/>
              <a:t>The Target Code Optimizer</a:t>
            </a:r>
          </a:p>
        </p:txBody>
      </p:sp>
      <p:sp>
        <p:nvSpPr>
          <p:cNvPr id="30723" name="Content Placeholder 2">
            <a:extLst>
              <a:ext uri="{FF2B5EF4-FFF2-40B4-BE49-F238E27FC236}">
                <a16:creationId xmlns:a16="http://schemas.microsoft.com/office/drawing/2014/main" id="{ADA5836A-BF0A-215E-9FA5-BF49B62EC2E3}"/>
              </a:ext>
            </a:extLst>
          </p:cNvPr>
          <p:cNvSpPr>
            <a:spLocks noGrp="1"/>
          </p:cNvSpPr>
          <p:nvPr>
            <p:ph idx="1"/>
          </p:nvPr>
        </p:nvSpPr>
        <p:spPr/>
        <p:txBody>
          <a:bodyPr/>
          <a:lstStyle/>
          <a:p>
            <a:pPr eaLnBrk="1" hangingPunct="1"/>
            <a:r>
              <a:rPr lang="en-US" altLang="zh-CN">
                <a:ea typeface="宋体" panose="02010600030101010101" pitchFamily="2" charset="-122"/>
              </a:rPr>
              <a:t>It improves the target code generated by the code generator:</a:t>
            </a:r>
          </a:p>
          <a:p>
            <a:pPr lvl="1" eaLnBrk="1" hangingPunct="1"/>
            <a:r>
              <a:rPr lang="en-US" altLang="zh-CN">
                <a:ea typeface="宋体" panose="02010600030101010101" pitchFamily="2" charset="-122"/>
              </a:rPr>
              <a:t>By choosing addressing modes to increase performance</a:t>
            </a:r>
          </a:p>
          <a:p>
            <a:pPr lvl="1" eaLnBrk="1" hangingPunct="1"/>
            <a:r>
              <a:rPr lang="en-US" altLang="zh-CN">
                <a:ea typeface="宋体" panose="02010600030101010101" pitchFamily="2" charset="-122"/>
              </a:rPr>
              <a:t>Replacing slow instructions with faster ones</a:t>
            </a:r>
          </a:p>
          <a:p>
            <a:pPr lvl="1" eaLnBrk="1" hangingPunct="1"/>
            <a:r>
              <a:rPr lang="en-US" altLang="zh-CN">
                <a:ea typeface="宋体" panose="02010600030101010101" pitchFamily="2" charset="-122"/>
              </a:rPr>
              <a:t>eliminating redundant operations</a:t>
            </a:r>
          </a:p>
          <a:p>
            <a:pPr>
              <a:buFont typeface="Wingdings" panose="05000000000000000000" pitchFamily="2" charset="2"/>
              <a:buNone/>
            </a:pPr>
            <a:endParaRPr lang="en-US" altLang="en-US"/>
          </a:p>
        </p:txBody>
      </p:sp>
      <p:sp>
        <p:nvSpPr>
          <p:cNvPr id="30724" name="Slide Number Placeholder 3">
            <a:extLst>
              <a:ext uri="{FF2B5EF4-FFF2-40B4-BE49-F238E27FC236}">
                <a16:creationId xmlns:a16="http://schemas.microsoft.com/office/drawing/2014/main" id="{7491A08D-1293-F0CD-4EED-64CA6155AD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B8937FED-1107-4254-978D-7222BC0DA086}" type="slidenum">
              <a:rPr lang="ar-SA" altLang="en-US" sz="1200">
                <a:latin typeface="Garamond" panose="02020404030301010803" pitchFamily="18" charset="0"/>
              </a:rPr>
              <a:pPr>
                <a:spcBef>
                  <a:spcPct val="0"/>
                </a:spcBef>
                <a:buClrTx/>
                <a:buSzTx/>
                <a:buFontTx/>
                <a:buNone/>
              </a:pPr>
              <a:t>45</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FFD57D5-F3A0-FBEE-CB42-53877EC937D8}"/>
              </a:ext>
            </a:extLst>
          </p:cNvPr>
          <p:cNvSpPr>
            <a:spLocks noGrp="1"/>
          </p:cNvSpPr>
          <p:nvPr>
            <p:ph type="title"/>
          </p:nvPr>
        </p:nvSpPr>
        <p:spPr/>
        <p:txBody>
          <a:bodyPr/>
          <a:lstStyle/>
          <a:p>
            <a:r>
              <a:rPr lang="en-US" altLang="en-US"/>
              <a:t>Principal Data Structures Used in Compilers</a:t>
            </a:r>
          </a:p>
        </p:txBody>
      </p:sp>
      <p:sp>
        <p:nvSpPr>
          <p:cNvPr id="31747" name="Content Placeholder 2">
            <a:extLst>
              <a:ext uri="{FF2B5EF4-FFF2-40B4-BE49-F238E27FC236}">
                <a16:creationId xmlns:a16="http://schemas.microsoft.com/office/drawing/2014/main" id="{63BB2E72-E0CA-55CF-AE12-19000ADDF52E}"/>
              </a:ext>
            </a:extLst>
          </p:cNvPr>
          <p:cNvSpPr>
            <a:spLocks noGrp="1"/>
          </p:cNvSpPr>
          <p:nvPr>
            <p:ph idx="1"/>
          </p:nvPr>
        </p:nvSpPr>
        <p:spPr/>
        <p:txBody>
          <a:bodyPr>
            <a:normAutofit fontScale="92500" lnSpcReduction="20000"/>
          </a:bodyPr>
          <a:lstStyle/>
          <a:p>
            <a:pPr eaLnBrk="1" hangingPunct="1">
              <a:lnSpc>
                <a:spcPct val="90000"/>
              </a:lnSpc>
            </a:pPr>
            <a:r>
              <a:rPr lang="en-US" altLang="zh-CN" sz="2000" dirty="0">
                <a:ea typeface="宋体" panose="02010600030101010101" pitchFamily="2" charset="-122"/>
              </a:rPr>
              <a:t>TOKENS</a:t>
            </a:r>
          </a:p>
          <a:p>
            <a:pPr lvl="1" eaLnBrk="1" hangingPunct="1">
              <a:lnSpc>
                <a:spcPct val="90000"/>
              </a:lnSpc>
            </a:pPr>
            <a:r>
              <a:rPr lang="en-US" altLang="zh-CN" sz="2200" dirty="0">
                <a:ea typeface="宋体" panose="02010600030101010101" pitchFamily="2" charset="-122"/>
              </a:rPr>
              <a:t>A scanner collects characters into a token, as </a:t>
            </a:r>
            <a:r>
              <a:rPr lang="en-US" altLang="zh-CN" sz="2200" dirty="0">
                <a:solidFill>
                  <a:srgbClr val="FF0000"/>
                </a:solidFill>
                <a:ea typeface="宋体" panose="02010600030101010101" pitchFamily="2" charset="-122"/>
              </a:rPr>
              <a:t>a value of an enumerated data type</a:t>
            </a:r>
            <a:r>
              <a:rPr lang="en-US" altLang="zh-CN" sz="2200" dirty="0">
                <a:ea typeface="宋体" panose="02010600030101010101" pitchFamily="2" charset="-122"/>
              </a:rPr>
              <a:t> for tokens</a:t>
            </a:r>
          </a:p>
          <a:p>
            <a:pPr lvl="1" eaLnBrk="1" hangingPunct="1">
              <a:lnSpc>
                <a:spcPct val="90000"/>
              </a:lnSpc>
            </a:pPr>
            <a:r>
              <a:rPr lang="en-US" altLang="zh-CN" sz="2200" dirty="0">
                <a:ea typeface="宋体" panose="02010600030101010101" pitchFamily="2" charset="-122"/>
              </a:rPr>
              <a:t>May also preserve the string of characters or </a:t>
            </a:r>
            <a:r>
              <a:rPr lang="en-US" altLang="zh-CN" sz="2200" dirty="0">
                <a:solidFill>
                  <a:srgbClr val="FF0000"/>
                </a:solidFill>
                <a:ea typeface="宋体" panose="02010600030101010101" pitchFamily="2" charset="-122"/>
              </a:rPr>
              <a:t>other derived information</a:t>
            </a:r>
            <a:r>
              <a:rPr lang="en-US" altLang="zh-CN" sz="2200" dirty="0">
                <a:ea typeface="宋体" panose="02010600030101010101" pitchFamily="2" charset="-122"/>
              </a:rPr>
              <a:t>, such as name of identifier, value of a number </a:t>
            </a:r>
          </a:p>
          <a:p>
            <a:pPr lvl="1" eaLnBrk="1" hangingPunct="1">
              <a:lnSpc>
                <a:spcPct val="90000"/>
              </a:lnSpc>
            </a:pPr>
            <a:r>
              <a:rPr lang="en-US" altLang="zh-CN" sz="2200" dirty="0">
                <a:ea typeface="宋体" panose="02010600030101010101" pitchFamily="2" charset="-122"/>
              </a:rPr>
              <a:t>A </a:t>
            </a:r>
            <a:r>
              <a:rPr lang="en-US" altLang="zh-CN" sz="2200" dirty="0">
                <a:solidFill>
                  <a:srgbClr val="FF0000"/>
                </a:solidFill>
                <a:ea typeface="宋体" panose="02010600030101010101" pitchFamily="2" charset="-122"/>
              </a:rPr>
              <a:t>single</a:t>
            </a:r>
            <a:r>
              <a:rPr lang="en-US" altLang="zh-CN" sz="2200" dirty="0">
                <a:ea typeface="宋体" panose="02010600030101010101" pitchFamily="2" charset="-122"/>
              </a:rPr>
              <a:t> global variable or an </a:t>
            </a:r>
            <a:r>
              <a:rPr lang="en-US" altLang="zh-CN" sz="2200" dirty="0">
                <a:solidFill>
                  <a:srgbClr val="FF0000"/>
                </a:solidFill>
                <a:ea typeface="宋体" panose="02010600030101010101" pitchFamily="2" charset="-122"/>
              </a:rPr>
              <a:t>array</a:t>
            </a:r>
            <a:r>
              <a:rPr lang="en-US" altLang="zh-CN" sz="2200" dirty="0">
                <a:ea typeface="宋体" panose="02010600030101010101" pitchFamily="2" charset="-122"/>
              </a:rPr>
              <a:t> of tokens</a:t>
            </a:r>
          </a:p>
          <a:p>
            <a:pPr eaLnBrk="1" hangingPunct="1">
              <a:lnSpc>
                <a:spcPct val="90000"/>
              </a:lnSpc>
            </a:pPr>
            <a:r>
              <a:rPr lang="en-US" altLang="zh-CN" sz="2000" dirty="0">
                <a:ea typeface="宋体" panose="02010600030101010101" pitchFamily="2" charset="-122"/>
              </a:rPr>
              <a:t>THE SYNTAX  TREE</a:t>
            </a:r>
          </a:p>
          <a:p>
            <a:pPr lvl="1" eaLnBrk="1" hangingPunct="1">
              <a:lnSpc>
                <a:spcPct val="90000"/>
              </a:lnSpc>
            </a:pPr>
            <a:r>
              <a:rPr lang="en-US" altLang="zh-CN" sz="2200" dirty="0">
                <a:ea typeface="宋体" panose="02010600030101010101" pitchFamily="2" charset="-122"/>
              </a:rPr>
              <a:t>A standard </a:t>
            </a:r>
            <a:r>
              <a:rPr lang="en-US" altLang="zh-CN" sz="2200" dirty="0">
                <a:solidFill>
                  <a:srgbClr val="FF0000"/>
                </a:solidFill>
                <a:ea typeface="宋体" panose="02010600030101010101" pitchFamily="2" charset="-122"/>
              </a:rPr>
              <a:t>pointer-based structure</a:t>
            </a:r>
            <a:r>
              <a:rPr lang="en-US" altLang="zh-CN" sz="2200" dirty="0">
                <a:ea typeface="宋体" panose="02010600030101010101" pitchFamily="2" charset="-122"/>
              </a:rPr>
              <a:t> generated by parser</a:t>
            </a:r>
          </a:p>
          <a:p>
            <a:pPr lvl="1" eaLnBrk="1" hangingPunct="1">
              <a:lnSpc>
                <a:spcPct val="90000"/>
              </a:lnSpc>
            </a:pPr>
            <a:r>
              <a:rPr lang="en-US" altLang="zh-CN" sz="2200" dirty="0">
                <a:ea typeface="宋体" panose="02010600030101010101" pitchFamily="2" charset="-122"/>
              </a:rPr>
              <a:t>Each node represents </a:t>
            </a:r>
            <a:r>
              <a:rPr lang="en-US" altLang="zh-CN" sz="2200" dirty="0">
                <a:solidFill>
                  <a:srgbClr val="FF0000"/>
                </a:solidFill>
                <a:ea typeface="宋体" panose="02010600030101010101" pitchFamily="2" charset="-122"/>
              </a:rPr>
              <a:t>information collected by parser</a:t>
            </a:r>
            <a:r>
              <a:rPr lang="en-US" altLang="zh-CN" sz="2200" dirty="0">
                <a:ea typeface="宋体" panose="02010600030101010101" pitchFamily="2" charset="-122"/>
              </a:rPr>
              <a:t>, which maybe dynamically allocated in symbol table</a:t>
            </a:r>
          </a:p>
          <a:p>
            <a:pPr lvl="1" eaLnBrk="1" hangingPunct="1">
              <a:lnSpc>
                <a:spcPct val="90000"/>
              </a:lnSpc>
            </a:pPr>
            <a:r>
              <a:rPr lang="en-US" altLang="zh-CN" sz="2200" dirty="0">
                <a:ea typeface="宋体" panose="02010600030101010101" pitchFamily="2" charset="-122"/>
              </a:rPr>
              <a:t>The node requires different attributes </a:t>
            </a:r>
            <a:r>
              <a:rPr lang="en-US" altLang="zh-CN" sz="2200" dirty="0">
                <a:solidFill>
                  <a:srgbClr val="FF0000"/>
                </a:solidFill>
                <a:ea typeface="宋体" panose="02010600030101010101" pitchFamily="2" charset="-122"/>
              </a:rPr>
              <a:t>depending on kind of language structure</a:t>
            </a:r>
            <a:r>
              <a:rPr lang="en-US" altLang="zh-CN" sz="2200" dirty="0">
                <a:ea typeface="宋体" panose="02010600030101010101" pitchFamily="2" charset="-122"/>
              </a:rPr>
              <a:t>, which may be represented as variable record</a:t>
            </a:r>
            <a:endParaRPr lang="zh-CN" altLang="en-US" sz="2200" dirty="0">
              <a:ea typeface="宋体" panose="02010600030101010101" pitchFamily="2" charset="-122"/>
            </a:endParaRPr>
          </a:p>
        </p:txBody>
      </p:sp>
      <p:sp>
        <p:nvSpPr>
          <p:cNvPr id="31748" name="Slide Number Placeholder 3">
            <a:extLst>
              <a:ext uri="{FF2B5EF4-FFF2-40B4-BE49-F238E27FC236}">
                <a16:creationId xmlns:a16="http://schemas.microsoft.com/office/drawing/2014/main" id="{9F9DCD1D-66F8-6139-F28B-730AEC414B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E4817DF-6673-4786-8D44-771757F6697E}" type="slidenum">
              <a:rPr lang="ar-SA" altLang="en-US" sz="1200">
                <a:latin typeface="Garamond" panose="02020404030301010803" pitchFamily="18" charset="0"/>
              </a:rPr>
              <a:pPr>
                <a:spcBef>
                  <a:spcPct val="0"/>
                </a:spcBef>
                <a:buClrTx/>
                <a:buSzTx/>
                <a:buFontTx/>
                <a:buNone/>
              </a:pPr>
              <a:t>46</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AE1247A4-70F0-7C47-818B-37BEF1A5DBA6}"/>
              </a:ext>
            </a:extLst>
          </p:cNvPr>
          <p:cNvSpPr>
            <a:spLocks noGrp="1"/>
          </p:cNvSpPr>
          <p:nvPr>
            <p:ph type="title"/>
          </p:nvPr>
        </p:nvSpPr>
        <p:spPr/>
        <p:txBody>
          <a:bodyPr/>
          <a:lstStyle/>
          <a:p>
            <a:r>
              <a:rPr lang="en-US" altLang="en-US"/>
              <a:t>Principal Data Structures Used in Compilers </a:t>
            </a:r>
            <a:r>
              <a:rPr lang="en-US" altLang="en-US" sz="2400"/>
              <a:t>(Continue…)</a:t>
            </a:r>
          </a:p>
        </p:txBody>
      </p:sp>
      <p:sp>
        <p:nvSpPr>
          <p:cNvPr id="32771" name="Content Placeholder 2">
            <a:extLst>
              <a:ext uri="{FF2B5EF4-FFF2-40B4-BE49-F238E27FC236}">
                <a16:creationId xmlns:a16="http://schemas.microsoft.com/office/drawing/2014/main" id="{4D7D0FF0-E273-3F2F-8731-B88A43A4E89A}"/>
              </a:ext>
            </a:extLst>
          </p:cNvPr>
          <p:cNvSpPr>
            <a:spLocks noGrp="1"/>
          </p:cNvSpPr>
          <p:nvPr>
            <p:ph idx="1"/>
          </p:nvPr>
        </p:nvSpPr>
        <p:spPr/>
        <p:txBody>
          <a:bodyPr>
            <a:normAutofit fontScale="85000" lnSpcReduction="20000"/>
          </a:bodyPr>
          <a:lstStyle/>
          <a:p>
            <a:pPr eaLnBrk="1" hangingPunct="1"/>
            <a:r>
              <a:rPr lang="en-US" altLang="zh-CN" sz="2400">
                <a:ea typeface="宋体" panose="02010600030101010101" pitchFamily="2" charset="-122"/>
              </a:rPr>
              <a:t>THE SYMBOL TABLE</a:t>
            </a:r>
          </a:p>
          <a:p>
            <a:pPr lvl="1" eaLnBrk="1" hangingPunct="1"/>
            <a:r>
              <a:rPr lang="en-US" altLang="zh-CN" sz="2200">
                <a:ea typeface="宋体" panose="02010600030101010101" pitchFamily="2" charset="-122"/>
              </a:rPr>
              <a:t>Keeps information associated with identifiers: function, variable, constants, and data types</a:t>
            </a:r>
          </a:p>
          <a:p>
            <a:pPr lvl="1" eaLnBrk="1" hangingPunct="1"/>
            <a:r>
              <a:rPr lang="en-US" altLang="zh-CN" sz="2200">
                <a:ea typeface="宋体" panose="02010600030101010101" pitchFamily="2" charset="-122"/>
              </a:rPr>
              <a:t>Interacts with almost every phase of compiler</a:t>
            </a:r>
          </a:p>
          <a:p>
            <a:pPr lvl="1" eaLnBrk="1" hangingPunct="1"/>
            <a:r>
              <a:rPr lang="en-US" altLang="zh-CN" sz="2200">
                <a:ea typeface="宋体" panose="02010600030101010101" pitchFamily="2" charset="-122"/>
              </a:rPr>
              <a:t>Access operation need to be constant-time</a:t>
            </a:r>
          </a:p>
          <a:p>
            <a:pPr lvl="1" eaLnBrk="1" hangingPunct="1"/>
            <a:r>
              <a:rPr lang="en-US" altLang="zh-CN" sz="2200">
                <a:ea typeface="宋体" panose="02010600030101010101" pitchFamily="2" charset="-122"/>
              </a:rPr>
              <a:t>One or several hash tables are often used</a:t>
            </a:r>
            <a:r>
              <a:rPr lang="en-US" altLang="zh-CN">
                <a:ea typeface="宋体" panose="02010600030101010101" pitchFamily="2" charset="-122"/>
              </a:rPr>
              <a:t> </a:t>
            </a:r>
          </a:p>
          <a:p>
            <a:pPr eaLnBrk="1" hangingPunct="1"/>
            <a:r>
              <a:rPr lang="en-US" altLang="zh-CN" sz="2400">
                <a:ea typeface="宋体" panose="02010600030101010101" pitchFamily="2" charset="-122"/>
              </a:rPr>
              <a:t>THE LITERAL TABLE</a:t>
            </a:r>
          </a:p>
          <a:p>
            <a:pPr lvl="1" eaLnBrk="1" hangingPunct="1"/>
            <a:r>
              <a:rPr lang="en-US" altLang="zh-CN" sz="2200">
                <a:ea typeface="宋体" panose="02010600030101010101" pitchFamily="2" charset="-122"/>
              </a:rPr>
              <a:t>Stores constants and strings, reducing size of program</a:t>
            </a:r>
          </a:p>
          <a:p>
            <a:pPr lvl="1" eaLnBrk="1" hangingPunct="1"/>
            <a:r>
              <a:rPr lang="en-US" altLang="zh-CN" sz="2200">
                <a:ea typeface="宋体" panose="02010600030101010101" pitchFamily="2" charset="-122"/>
              </a:rPr>
              <a:t>Quick insertion and lookup are essential</a:t>
            </a:r>
          </a:p>
          <a:p>
            <a:pPr lvl="1" eaLnBrk="1" hangingPunct="1"/>
            <a:r>
              <a:rPr lang="en-US" altLang="en-US" sz="2200"/>
              <a:t>If a literal is used more than once (as they often are in a program), we still want to store it only once</a:t>
            </a:r>
            <a:endParaRPr lang="zh-CN" altLang="en-US" sz="2200">
              <a:ea typeface="宋体" panose="02010600030101010101" pitchFamily="2" charset="-122"/>
            </a:endParaRPr>
          </a:p>
        </p:txBody>
      </p:sp>
      <p:sp>
        <p:nvSpPr>
          <p:cNvPr id="32772" name="Slide Number Placeholder 3">
            <a:extLst>
              <a:ext uri="{FF2B5EF4-FFF2-40B4-BE49-F238E27FC236}">
                <a16:creationId xmlns:a16="http://schemas.microsoft.com/office/drawing/2014/main" id="{A52C4B62-4A68-D49A-527F-9DE9BBE82B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AE8DF26B-B73F-4865-87D6-6A5D5686E6AC}" type="slidenum">
              <a:rPr lang="ar-SA" altLang="en-US" sz="1200">
                <a:latin typeface="Garamond" panose="02020404030301010803" pitchFamily="18" charset="0"/>
              </a:rPr>
              <a:pPr>
                <a:spcBef>
                  <a:spcPct val="0"/>
                </a:spcBef>
                <a:buClrTx/>
                <a:buSzTx/>
                <a:buFontTx/>
                <a:buNone/>
              </a:pPr>
              <a:t>47</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53B89094-08E2-3EAA-43F8-CF87A1CD37FA}"/>
              </a:ext>
            </a:extLst>
          </p:cNvPr>
          <p:cNvSpPr>
            <a:spLocks noGrp="1"/>
          </p:cNvSpPr>
          <p:nvPr>
            <p:ph type="title"/>
          </p:nvPr>
        </p:nvSpPr>
        <p:spPr/>
        <p:txBody>
          <a:bodyPr/>
          <a:lstStyle/>
          <a:p>
            <a:r>
              <a:rPr lang="en-US" altLang="en-US"/>
              <a:t>Principal Data Structures Used in Compilers </a:t>
            </a:r>
            <a:r>
              <a:rPr lang="en-US" altLang="en-US" sz="2400"/>
              <a:t>(Continue…)</a:t>
            </a:r>
          </a:p>
        </p:txBody>
      </p:sp>
      <p:sp>
        <p:nvSpPr>
          <p:cNvPr id="33795" name="Content Placeholder 2">
            <a:extLst>
              <a:ext uri="{FF2B5EF4-FFF2-40B4-BE49-F238E27FC236}">
                <a16:creationId xmlns:a16="http://schemas.microsoft.com/office/drawing/2014/main" id="{13ADD477-D3AB-0B29-3DB4-57FF4791C4A5}"/>
              </a:ext>
            </a:extLst>
          </p:cNvPr>
          <p:cNvSpPr>
            <a:spLocks noGrp="1"/>
          </p:cNvSpPr>
          <p:nvPr>
            <p:ph idx="1"/>
          </p:nvPr>
        </p:nvSpPr>
        <p:spPr/>
        <p:txBody>
          <a:bodyPr/>
          <a:lstStyle/>
          <a:p>
            <a:pPr eaLnBrk="1" hangingPunct="1">
              <a:lnSpc>
                <a:spcPct val="90000"/>
              </a:lnSpc>
            </a:pPr>
            <a:r>
              <a:rPr lang="en-US" altLang="zh-CN" sz="2400">
                <a:ea typeface="宋体" panose="02010600030101010101" pitchFamily="2" charset="-122"/>
              </a:rPr>
              <a:t>INTERMEDIATE CODE</a:t>
            </a:r>
          </a:p>
          <a:p>
            <a:pPr lvl="1" eaLnBrk="1" hangingPunct="1">
              <a:lnSpc>
                <a:spcPct val="90000"/>
              </a:lnSpc>
            </a:pPr>
            <a:r>
              <a:rPr lang="en-US" altLang="zh-CN" sz="2200">
                <a:ea typeface="宋体" panose="02010600030101010101" pitchFamily="2" charset="-122"/>
              </a:rPr>
              <a:t>Kept as an array of text string, a temporary text, or a linked list of structures, depending on kind of intermediate code (e.g. three-address code and p-code)</a:t>
            </a:r>
          </a:p>
          <a:p>
            <a:pPr lvl="1" eaLnBrk="1" hangingPunct="1">
              <a:lnSpc>
                <a:spcPct val="90000"/>
              </a:lnSpc>
            </a:pPr>
            <a:r>
              <a:rPr lang="en-US" altLang="zh-CN" sz="2200">
                <a:ea typeface="宋体" panose="02010600030101010101" pitchFamily="2" charset="-122"/>
              </a:rPr>
              <a:t>Should be </a:t>
            </a:r>
            <a:r>
              <a:rPr lang="en-US" altLang="zh-CN" sz="2200">
                <a:solidFill>
                  <a:srgbClr val="FF0000"/>
                </a:solidFill>
                <a:ea typeface="宋体" panose="02010600030101010101" pitchFamily="2" charset="-122"/>
              </a:rPr>
              <a:t>easy for reorganization</a:t>
            </a:r>
          </a:p>
          <a:p>
            <a:pPr eaLnBrk="1" hangingPunct="1">
              <a:lnSpc>
                <a:spcPct val="90000"/>
              </a:lnSpc>
            </a:pPr>
            <a:r>
              <a:rPr lang="en-US" altLang="zh-CN" sz="2400">
                <a:ea typeface="宋体" panose="02010600030101010101" pitchFamily="2" charset="-122"/>
              </a:rPr>
              <a:t>TEMPORARY FILES</a:t>
            </a:r>
          </a:p>
          <a:p>
            <a:pPr lvl="1" eaLnBrk="1" hangingPunct="1">
              <a:lnSpc>
                <a:spcPct val="90000"/>
              </a:lnSpc>
            </a:pPr>
            <a:r>
              <a:rPr lang="en-US" altLang="zh-CN" sz="2200">
                <a:ea typeface="宋体" panose="02010600030101010101" pitchFamily="2" charset="-122"/>
              </a:rPr>
              <a:t>Holds the product of intermediate steps during compiling</a:t>
            </a:r>
          </a:p>
          <a:p>
            <a:pPr lvl="1" eaLnBrk="1" hangingPunct="1">
              <a:lnSpc>
                <a:spcPct val="90000"/>
              </a:lnSpc>
            </a:pPr>
            <a:r>
              <a:rPr lang="en-US" altLang="zh-CN" sz="2200">
                <a:ea typeface="宋体" panose="02010600030101010101" pitchFamily="2" charset="-122"/>
              </a:rPr>
              <a:t>Solve the problem of </a:t>
            </a:r>
            <a:r>
              <a:rPr lang="en-US" altLang="zh-CN" sz="2200">
                <a:solidFill>
                  <a:srgbClr val="FF0000"/>
                </a:solidFill>
                <a:ea typeface="宋体" panose="02010600030101010101" pitchFamily="2" charset="-122"/>
              </a:rPr>
              <a:t>memory constraints or back-patch</a:t>
            </a:r>
            <a:r>
              <a:rPr lang="en-US" altLang="zh-CN" sz="2200">
                <a:ea typeface="宋体" panose="02010600030101010101" pitchFamily="2" charset="-122"/>
              </a:rPr>
              <a:t> addressed during code generation </a:t>
            </a:r>
          </a:p>
          <a:p>
            <a:pPr>
              <a:buFont typeface="Wingdings" panose="05000000000000000000" pitchFamily="2" charset="2"/>
              <a:buNone/>
            </a:pPr>
            <a:endParaRPr lang="en-US" altLang="en-US"/>
          </a:p>
        </p:txBody>
      </p:sp>
      <p:sp>
        <p:nvSpPr>
          <p:cNvPr id="33796" name="Slide Number Placeholder 3">
            <a:extLst>
              <a:ext uri="{FF2B5EF4-FFF2-40B4-BE49-F238E27FC236}">
                <a16:creationId xmlns:a16="http://schemas.microsoft.com/office/drawing/2014/main" id="{F46E9C6F-FD74-5B8B-487C-2E33F91805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B09460C-E5C8-4175-A77D-4B4A256F4060}" type="slidenum">
              <a:rPr lang="ar-SA" altLang="en-US" sz="1200">
                <a:latin typeface="Garamond" panose="02020404030301010803" pitchFamily="18" charset="0"/>
              </a:rPr>
              <a:pPr>
                <a:spcBef>
                  <a:spcPct val="0"/>
                </a:spcBef>
                <a:buClrTx/>
                <a:buSzTx/>
                <a:buFontTx/>
                <a:buNone/>
              </a:pPr>
              <a:t>48</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AF72BB0D-8CD8-EF69-876B-6DA38A081392}"/>
              </a:ext>
            </a:extLst>
          </p:cNvPr>
          <p:cNvSpPr>
            <a:spLocks noGrp="1"/>
          </p:cNvSpPr>
          <p:nvPr>
            <p:ph type="title"/>
          </p:nvPr>
        </p:nvSpPr>
        <p:spPr/>
        <p:txBody>
          <a:bodyPr/>
          <a:lstStyle/>
          <a:p>
            <a:r>
              <a:rPr lang="en-US" altLang="en-US"/>
              <a:t>Error Handling</a:t>
            </a:r>
          </a:p>
        </p:txBody>
      </p:sp>
      <p:sp>
        <p:nvSpPr>
          <p:cNvPr id="34819" name="Content Placeholder 2">
            <a:extLst>
              <a:ext uri="{FF2B5EF4-FFF2-40B4-BE49-F238E27FC236}">
                <a16:creationId xmlns:a16="http://schemas.microsoft.com/office/drawing/2014/main" id="{7F872519-0092-FA69-4763-8FBDC97F9E35}"/>
              </a:ext>
            </a:extLst>
          </p:cNvPr>
          <p:cNvSpPr>
            <a:spLocks noGrp="1"/>
          </p:cNvSpPr>
          <p:nvPr>
            <p:ph idx="1"/>
          </p:nvPr>
        </p:nvSpPr>
        <p:spPr/>
        <p:txBody>
          <a:bodyPr>
            <a:normAutofit/>
          </a:bodyPr>
          <a:lstStyle/>
          <a:p>
            <a:pPr eaLnBrk="1" hangingPunct="1">
              <a:lnSpc>
                <a:spcPct val="90000"/>
              </a:lnSpc>
            </a:pPr>
            <a:r>
              <a:rPr lang="en-US" altLang="zh-CN" sz="2000" dirty="0">
                <a:ea typeface="宋体" panose="02010600030101010101" pitchFamily="2" charset="-122"/>
              </a:rPr>
              <a:t>Static (or compile-time) errors must be reported by a compiler</a:t>
            </a:r>
          </a:p>
          <a:p>
            <a:pPr lvl="1" eaLnBrk="1" hangingPunct="1">
              <a:lnSpc>
                <a:spcPct val="90000"/>
              </a:lnSpc>
            </a:pPr>
            <a:r>
              <a:rPr lang="en-US" altLang="zh-CN" sz="2000" dirty="0">
                <a:ea typeface="宋体" panose="02010600030101010101" pitchFamily="2" charset="-122"/>
              </a:rPr>
              <a:t>Generate meaningful error messages and resume compilation after each error</a:t>
            </a:r>
          </a:p>
          <a:p>
            <a:pPr lvl="1" eaLnBrk="1" hangingPunct="1">
              <a:lnSpc>
                <a:spcPct val="90000"/>
              </a:lnSpc>
            </a:pPr>
            <a:r>
              <a:rPr lang="en-US" altLang="zh-CN" sz="2000" dirty="0">
                <a:ea typeface="宋体" panose="02010600030101010101" pitchFamily="2" charset="-122"/>
              </a:rPr>
              <a:t>Each phase of a compiler needs different kind of error handing</a:t>
            </a:r>
          </a:p>
          <a:p>
            <a:pPr lvl="1">
              <a:buFont typeface="Symbol" panose="05050102010706020507" pitchFamily="18" charset="2"/>
              <a:buChar char="·"/>
            </a:pPr>
            <a:r>
              <a:rPr lang="en-US" altLang="en-US" sz="2000" dirty="0"/>
              <a:t>Must handle a wide range of errors</a:t>
            </a:r>
          </a:p>
          <a:p>
            <a:pPr lvl="1">
              <a:buFont typeface="Symbol" panose="05050102010706020507" pitchFamily="18" charset="2"/>
              <a:buChar char="·"/>
            </a:pPr>
            <a:r>
              <a:rPr lang="en-US" altLang="en-US" sz="2000" dirty="0"/>
              <a:t>Must handle multiple errors.</a:t>
            </a:r>
          </a:p>
          <a:p>
            <a:pPr lvl="1">
              <a:buFont typeface="Symbol" panose="05050102010706020507" pitchFamily="18" charset="2"/>
              <a:buChar char="·"/>
            </a:pPr>
            <a:r>
              <a:rPr lang="en-US" altLang="en-US" sz="2000" dirty="0"/>
              <a:t>Must not get stuck.</a:t>
            </a:r>
          </a:p>
          <a:p>
            <a:pPr lvl="1">
              <a:buFont typeface="Symbol" panose="05050102010706020507" pitchFamily="18" charset="2"/>
              <a:buChar char="·"/>
            </a:pPr>
            <a:r>
              <a:rPr lang="en-US" altLang="en-US" sz="2000" dirty="0"/>
              <a:t>Must not get into an infinite loop</a:t>
            </a:r>
            <a:endParaRPr lang="en-US" altLang="zh-CN" sz="2000" dirty="0">
              <a:ea typeface="宋体" panose="02010600030101010101" pitchFamily="2" charset="-122"/>
            </a:endParaRPr>
          </a:p>
        </p:txBody>
      </p:sp>
      <p:sp>
        <p:nvSpPr>
          <p:cNvPr id="34820" name="Slide Number Placeholder 3">
            <a:extLst>
              <a:ext uri="{FF2B5EF4-FFF2-40B4-BE49-F238E27FC236}">
                <a16:creationId xmlns:a16="http://schemas.microsoft.com/office/drawing/2014/main" id="{CF481C51-A9F1-F6B5-7455-E7DD3654741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2E36F39F-D26D-4CAF-8DC8-947B4A5F00B2}" type="slidenum">
              <a:rPr lang="ar-SA" altLang="en-US" sz="1200">
                <a:latin typeface="Garamond" panose="02020404030301010803" pitchFamily="18" charset="0"/>
              </a:rPr>
              <a:pPr>
                <a:spcBef>
                  <a:spcPct val="0"/>
                </a:spcBef>
                <a:buClrTx/>
                <a:buSzTx/>
                <a:buFontTx/>
                <a:buNone/>
              </a:pPr>
              <a:t>49</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573C4AAB-BFB7-5C06-2F7A-042C35687060}"/>
              </a:ext>
            </a:extLst>
          </p:cNvPr>
          <p:cNvSpPr>
            <a:spLocks noGrp="1"/>
          </p:cNvSpPr>
          <p:nvPr>
            <p:ph type="title"/>
          </p:nvPr>
        </p:nvSpPr>
        <p:spPr/>
        <p:txBody>
          <a:bodyPr/>
          <a:lstStyle/>
          <a:p>
            <a:r>
              <a:rPr lang="en-US" altLang="en-US"/>
              <a:t>Error Handling </a:t>
            </a:r>
            <a:r>
              <a:rPr lang="en-US" altLang="en-US" sz="2400"/>
              <a:t>(Continue…)</a:t>
            </a:r>
          </a:p>
        </p:txBody>
      </p:sp>
      <p:sp>
        <p:nvSpPr>
          <p:cNvPr id="35843" name="Content Placeholder 2">
            <a:extLst>
              <a:ext uri="{FF2B5EF4-FFF2-40B4-BE49-F238E27FC236}">
                <a16:creationId xmlns:a16="http://schemas.microsoft.com/office/drawing/2014/main" id="{6F2247FD-B18B-215E-CF64-723F0D716A92}"/>
              </a:ext>
            </a:extLst>
          </p:cNvPr>
          <p:cNvSpPr>
            <a:spLocks noGrp="1"/>
          </p:cNvSpPr>
          <p:nvPr>
            <p:ph idx="1"/>
          </p:nvPr>
        </p:nvSpPr>
        <p:spPr/>
        <p:txBody>
          <a:bodyPr/>
          <a:lstStyle/>
          <a:p>
            <a:pPr eaLnBrk="1" hangingPunct="1">
              <a:lnSpc>
                <a:spcPct val="90000"/>
              </a:lnSpc>
            </a:pPr>
            <a:r>
              <a:rPr lang="en-US" altLang="zh-CN" sz="2000" dirty="0">
                <a:ea typeface="宋体" panose="02010600030101010101" pitchFamily="2" charset="-122"/>
              </a:rPr>
              <a:t>Exception handling</a:t>
            </a:r>
          </a:p>
          <a:p>
            <a:pPr lvl="1" eaLnBrk="1" hangingPunct="1">
              <a:lnSpc>
                <a:spcPct val="90000"/>
              </a:lnSpc>
            </a:pPr>
            <a:r>
              <a:rPr lang="en-US" altLang="zh-CN" sz="2000" dirty="0">
                <a:ea typeface="宋体" panose="02010600030101010101" pitchFamily="2" charset="-122"/>
              </a:rPr>
              <a:t>Generate extra code to perform suitable runtime tests to guarantee all such errors to cause an appropriate event during execution</a:t>
            </a:r>
            <a:endParaRPr lang="zh-CN" altLang="en-US" sz="2000" dirty="0">
              <a:ea typeface="宋体" panose="02010600030101010101" pitchFamily="2" charset="-122"/>
            </a:endParaRPr>
          </a:p>
          <a:p>
            <a:pPr>
              <a:buFont typeface="Wingdings" panose="05000000000000000000" pitchFamily="2" charset="2"/>
              <a:buNone/>
            </a:pPr>
            <a:endParaRPr lang="en-US" altLang="en-US" dirty="0"/>
          </a:p>
        </p:txBody>
      </p:sp>
      <p:sp>
        <p:nvSpPr>
          <p:cNvPr id="35844" name="Slide Number Placeholder 3">
            <a:extLst>
              <a:ext uri="{FF2B5EF4-FFF2-40B4-BE49-F238E27FC236}">
                <a16:creationId xmlns:a16="http://schemas.microsoft.com/office/drawing/2014/main" id="{1C82B78E-F425-43BA-D03F-B1860A1AE6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E545CFD7-0B59-4D46-97BC-CD305613EAF8}" type="slidenum">
              <a:rPr lang="ar-SA" altLang="en-US" sz="1200">
                <a:latin typeface="Garamond" panose="02020404030301010803" pitchFamily="18" charset="0"/>
              </a:rPr>
              <a:pPr>
                <a:spcBef>
                  <a:spcPct val="0"/>
                </a:spcBef>
                <a:buClrTx/>
                <a:buSzTx/>
                <a:buFontTx/>
                <a:buNone/>
              </a:pPr>
              <a:t>50</a:t>
            </a:fld>
            <a:endParaRPr lang="en-US" altLang="en-US" sz="1200">
              <a:latin typeface="Garamond" panose="02020404030301010803"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E301-5D75-C746-0F0F-57EE95132E55}"/>
              </a:ext>
            </a:extLst>
          </p:cNvPr>
          <p:cNvSpPr>
            <a:spLocks noGrp="1"/>
          </p:cNvSpPr>
          <p:nvPr>
            <p:ph type="title"/>
          </p:nvPr>
        </p:nvSpPr>
        <p:spPr/>
        <p:txBody>
          <a:bodyPr/>
          <a:lstStyle/>
          <a:p>
            <a:r>
              <a:rPr lang="en-US" dirty="0"/>
              <a:t>Two pass compiler</a:t>
            </a:r>
          </a:p>
        </p:txBody>
      </p:sp>
      <p:pic>
        <p:nvPicPr>
          <p:cNvPr id="5" name="Content Placeholder 4">
            <a:extLst>
              <a:ext uri="{FF2B5EF4-FFF2-40B4-BE49-F238E27FC236}">
                <a16:creationId xmlns:a16="http://schemas.microsoft.com/office/drawing/2014/main" id="{2631EF66-1C08-79EE-9A67-4AE6755814E1}"/>
              </a:ext>
            </a:extLst>
          </p:cNvPr>
          <p:cNvPicPr>
            <a:picLocks noGrp="1" noChangeAspect="1"/>
          </p:cNvPicPr>
          <p:nvPr>
            <p:ph idx="1"/>
          </p:nvPr>
        </p:nvPicPr>
        <p:blipFill>
          <a:blip r:embed="rId2"/>
          <a:stretch>
            <a:fillRect/>
          </a:stretch>
        </p:blipFill>
        <p:spPr>
          <a:xfrm>
            <a:off x="2867776" y="1783995"/>
            <a:ext cx="6904318" cy="2004234"/>
          </a:xfrm>
        </p:spPr>
      </p:pic>
      <p:sp>
        <p:nvSpPr>
          <p:cNvPr id="6" name="TextBox 5">
            <a:extLst>
              <a:ext uri="{FF2B5EF4-FFF2-40B4-BE49-F238E27FC236}">
                <a16:creationId xmlns:a16="http://schemas.microsoft.com/office/drawing/2014/main" id="{A15ABE24-A805-9EC1-59ED-B6B24B931413}"/>
              </a:ext>
            </a:extLst>
          </p:cNvPr>
          <p:cNvSpPr txBox="1"/>
          <p:nvPr/>
        </p:nvSpPr>
        <p:spPr>
          <a:xfrm>
            <a:off x="1408922" y="3788229"/>
            <a:ext cx="6447454" cy="3176895"/>
          </a:xfrm>
          <a:prstGeom prst="rect">
            <a:avLst/>
          </a:prstGeom>
          <a:noFill/>
        </p:spPr>
        <p:txBody>
          <a:bodyPr wrap="square" rtlCol="0">
            <a:spAutoFit/>
          </a:bodyPr>
          <a:lstStyle/>
          <a:p>
            <a:pPr>
              <a:spcBef>
                <a:spcPct val="20000"/>
              </a:spcBef>
              <a:spcAft>
                <a:spcPts val="600"/>
              </a:spcAft>
              <a:buClr>
                <a:schemeClr val="accent2"/>
              </a:buClr>
              <a:buSzPct val="92000"/>
              <a:buFont typeface="Wingdings 2" panose="05020102010507070707" pitchFamily="18" charset="2"/>
            </a:pPr>
            <a:r>
              <a:rPr lang="en-US" sz="2000" dirty="0">
                <a:solidFill>
                  <a:schemeClr val="tx2"/>
                </a:solidFill>
              </a:rPr>
              <a:t>Implications:</a:t>
            </a:r>
          </a:p>
          <a:p>
            <a:pPr marL="800100" lvl="1" indent="-342900">
              <a:spcBef>
                <a:spcPct val="20000"/>
              </a:spcBef>
              <a:spcAft>
                <a:spcPts val="600"/>
              </a:spcAft>
              <a:buClr>
                <a:schemeClr val="accent2"/>
              </a:buClr>
              <a:buSzPct val="92000"/>
              <a:buFont typeface="Wingdings" panose="05000000000000000000" pitchFamily="2" charset="2"/>
              <a:buChar char="§"/>
            </a:pPr>
            <a:r>
              <a:rPr lang="en-US" sz="2000" dirty="0">
                <a:solidFill>
                  <a:schemeClr val="tx2"/>
                </a:solidFill>
              </a:rPr>
              <a:t>intermediate representation (IR)</a:t>
            </a:r>
          </a:p>
          <a:p>
            <a:pPr marL="800100" lvl="1" indent="-342900">
              <a:spcBef>
                <a:spcPct val="20000"/>
              </a:spcBef>
              <a:spcAft>
                <a:spcPts val="600"/>
              </a:spcAft>
              <a:buClr>
                <a:schemeClr val="accent2"/>
              </a:buClr>
              <a:buSzPct val="92000"/>
              <a:buFont typeface="Wingdings" panose="05000000000000000000" pitchFamily="2" charset="2"/>
              <a:buChar char="§"/>
            </a:pPr>
            <a:r>
              <a:rPr lang="en-US" sz="2000" dirty="0">
                <a:solidFill>
                  <a:schemeClr val="tx2"/>
                </a:solidFill>
              </a:rPr>
              <a:t>front end maps legal code into IR</a:t>
            </a:r>
          </a:p>
          <a:p>
            <a:pPr marL="800100" lvl="1" indent="-342900">
              <a:spcBef>
                <a:spcPct val="20000"/>
              </a:spcBef>
              <a:spcAft>
                <a:spcPts val="600"/>
              </a:spcAft>
              <a:buClr>
                <a:schemeClr val="accent2"/>
              </a:buClr>
              <a:buSzPct val="92000"/>
              <a:buFont typeface="Wingdings" panose="05000000000000000000" pitchFamily="2" charset="2"/>
              <a:buChar char="§"/>
            </a:pPr>
            <a:r>
              <a:rPr lang="en-US" sz="2000" dirty="0">
                <a:solidFill>
                  <a:schemeClr val="tx2"/>
                </a:solidFill>
              </a:rPr>
              <a:t>back end maps IR onto target machine </a:t>
            </a:r>
          </a:p>
          <a:p>
            <a:pPr marL="800100" lvl="1" indent="-342900">
              <a:spcBef>
                <a:spcPct val="20000"/>
              </a:spcBef>
              <a:spcAft>
                <a:spcPts val="600"/>
              </a:spcAft>
              <a:buClr>
                <a:schemeClr val="accent2"/>
              </a:buClr>
              <a:buSzPct val="92000"/>
              <a:buFont typeface="Wingdings" panose="05000000000000000000" pitchFamily="2" charset="2"/>
              <a:buChar char="§"/>
            </a:pPr>
            <a:r>
              <a:rPr lang="en-US" sz="2000" dirty="0">
                <a:solidFill>
                  <a:schemeClr val="tx2"/>
                </a:solidFill>
              </a:rPr>
              <a:t>simplify retargeting </a:t>
            </a:r>
          </a:p>
          <a:p>
            <a:pPr marL="800100" lvl="1" indent="-342900">
              <a:spcBef>
                <a:spcPct val="20000"/>
              </a:spcBef>
              <a:spcAft>
                <a:spcPts val="600"/>
              </a:spcAft>
              <a:buClr>
                <a:schemeClr val="accent2"/>
              </a:buClr>
              <a:buSzPct val="92000"/>
              <a:buFont typeface="Wingdings" panose="05000000000000000000" pitchFamily="2" charset="2"/>
              <a:buChar char="§"/>
            </a:pPr>
            <a:r>
              <a:rPr lang="en-US" sz="2000" dirty="0">
                <a:solidFill>
                  <a:schemeClr val="tx2"/>
                </a:solidFill>
              </a:rPr>
              <a:t>allows multiple front ends </a:t>
            </a:r>
          </a:p>
          <a:p>
            <a:pPr marL="800100" lvl="1" indent="-342900">
              <a:spcBef>
                <a:spcPct val="20000"/>
              </a:spcBef>
              <a:spcAft>
                <a:spcPts val="600"/>
              </a:spcAft>
              <a:buClr>
                <a:schemeClr val="accent2"/>
              </a:buClr>
              <a:buSzPct val="92000"/>
              <a:buFont typeface="Wingdings" panose="05000000000000000000" pitchFamily="2" charset="2"/>
              <a:buChar char="§"/>
            </a:pPr>
            <a:r>
              <a:rPr lang="en-US" sz="2000" dirty="0">
                <a:solidFill>
                  <a:schemeClr val="tx2"/>
                </a:solidFill>
              </a:rPr>
              <a:t>multiple passes </a:t>
            </a:r>
            <a:r>
              <a:rPr lang="en-US" sz="2000" dirty="0">
                <a:solidFill>
                  <a:schemeClr val="tx2"/>
                </a:solidFill>
                <a:sym typeface="Wingdings" panose="05000000000000000000" pitchFamily="2" charset="2"/>
              </a:rPr>
              <a:t></a:t>
            </a:r>
            <a:r>
              <a:rPr lang="en-US" sz="2000" dirty="0">
                <a:solidFill>
                  <a:schemeClr val="tx2"/>
                </a:solidFill>
              </a:rPr>
              <a:t> better code</a:t>
            </a:r>
          </a:p>
        </p:txBody>
      </p:sp>
      <p:sp>
        <p:nvSpPr>
          <p:cNvPr id="7" name="Slide Number Placeholder 6">
            <a:extLst>
              <a:ext uri="{FF2B5EF4-FFF2-40B4-BE49-F238E27FC236}">
                <a16:creationId xmlns:a16="http://schemas.microsoft.com/office/drawing/2014/main" id="{18F37C7D-BA98-24FF-EFBF-91A62804460F}"/>
              </a:ext>
            </a:extLst>
          </p:cNvPr>
          <p:cNvSpPr>
            <a:spLocks noGrp="1"/>
          </p:cNvSpPr>
          <p:nvPr>
            <p:ph type="sldNum" sz="quarter" idx="12"/>
          </p:nvPr>
        </p:nvSpPr>
        <p:spPr/>
        <p:txBody>
          <a:bodyPr/>
          <a:lstStyle/>
          <a:p>
            <a:fld id="{AB86D660-B180-40FF-8373-2B84F1D09655}" type="slidenum">
              <a:rPr lang="en-US" smtClean="0"/>
              <a:t>51</a:t>
            </a:fld>
            <a:endParaRPr lang="en-US"/>
          </a:p>
        </p:txBody>
      </p:sp>
    </p:spTree>
    <p:extLst>
      <p:ext uri="{BB962C8B-B14F-4D97-AF65-F5344CB8AC3E}">
        <p14:creationId xmlns:p14="http://schemas.microsoft.com/office/powerpoint/2010/main" val="192439399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0C2E-91D7-4609-930C-807FFE0CA0EB}"/>
              </a:ext>
            </a:extLst>
          </p:cNvPr>
          <p:cNvSpPr>
            <a:spLocks noGrp="1"/>
          </p:cNvSpPr>
          <p:nvPr>
            <p:ph type="title"/>
          </p:nvPr>
        </p:nvSpPr>
        <p:spPr/>
        <p:txBody>
          <a:bodyPr/>
          <a:lstStyle/>
          <a:p>
            <a:r>
              <a:rPr lang="en-US" dirty="0"/>
              <a:t>Use of Two pass compiler architecture</a:t>
            </a:r>
          </a:p>
        </p:txBody>
      </p:sp>
      <p:sp>
        <p:nvSpPr>
          <p:cNvPr id="3" name="Content Placeholder 2">
            <a:extLst>
              <a:ext uri="{FF2B5EF4-FFF2-40B4-BE49-F238E27FC236}">
                <a16:creationId xmlns:a16="http://schemas.microsoft.com/office/drawing/2014/main" id="{97D568AB-B72C-1B2F-F8A8-B5D1CF02B12C}"/>
              </a:ext>
            </a:extLst>
          </p:cNvPr>
          <p:cNvSpPr>
            <a:spLocks noGrp="1"/>
          </p:cNvSpPr>
          <p:nvPr>
            <p:ph idx="1"/>
          </p:nvPr>
        </p:nvSpPr>
        <p:spPr>
          <a:xfrm>
            <a:off x="581192" y="4810682"/>
            <a:ext cx="11029615" cy="2047318"/>
          </a:xfrm>
        </p:spPr>
        <p:txBody>
          <a:bodyPr>
            <a:normAutofit/>
          </a:bodyPr>
          <a:lstStyle/>
          <a:p>
            <a:pPr marL="0" indent="0">
              <a:buNone/>
            </a:pPr>
            <a:r>
              <a:rPr lang="en-GB" sz="2000" dirty="0"/>
              <a:t>Can we build </a:t>
            </a:r>
            <a:r>
              <a:rPr lang="en-GB" sz="2000" i="1" dirty="0"/>
              <a:t>n x m </a:t>
            </a:r>
            <a:r>
              <a:rPr lang="en-GB" sz="2000" dirty="0"/>
              <a:t>compilers with </a:t>
            </a:r>
            <a:r>
              <a:rPr lang="en-GB" sz="2000" i="1" dirty="0"/>
              <a:t>n + m</a:t>
            </a:r>
            <a:r>
              <a:rPr lang="en-GB" sz="2000" dirty="0"/>
              <a:t> components?</a:t>
            </a:r>
            <a:endParaRPr lang="en-US" sz="2000" dirty="0"/>
          </a:p>
        </p:txBody>
      </p:sp>
      <p:pic>
        <p:nvPicPr>
          <p:cNvPr id="5" name="Picture 4">
            <a:extLst>
              <a:ext uri="{FF2B5EF4-FFF2-40B4-BE49-F238E27FC236}">
                <a16:creationId xmlns:a16="http://schemas.microsoft.com/office/drawing/2014/main" id="{9A64F01B-C346-39D0-7838-4A8C0723C7D3}"/>
              </a:ext>
            </a:extLst>
          </p:cNvPr>
          <p:cNvPicPr>
            <a:picLocks noChangeAspect="1"/>
          </p:cNvPicPr>
          <p:nvPr/>
        </p:nvPicPr>
        <p:blipFill>
          <a:blip r:embed="rId2"/>
          <a:stretch>
            <a:fillRect/>
          </a:stretch>
        </p:blipFill>
        <p:spPr>
          <a:xfrm>
            <a:off x="3085988" y="1823383"/>
            <a:ext cx="6187976" cy="2987299"/>
          </a:xfrm>
          <a:prstGeom prst="rect">
            <a:avLst/>
          </a:prstGeom>
        </p:spPr>
      </p:pic>
      <p:sp>
        <p:nvSpPr>
          <p:cNvPr id="6" name="Slide Number Placeholder 5">
            <a:extLst>
              <a:ext uri="{FF2B5EF4-FFF2-40B4-BE49-F238E27FC236}">
                <a16:creationId xmlns:a16="http://schemas.microsoft.com/office/drawing/2014/main" id="{E0833345-546F-F3D5-2EED-28FE92CBE67E}"/>
              </a:ext>
            </a:extLst>
          </p:cNvPr>
          <p:cNvSpPr>
            <a:spLocks noGrp="1"/>
          </p:cNvSpPr>
          <p:nvPr>
            <p:ph type="sldNum" sz="quarter" idx="12"/>
          </p:nvPr>
        </p:nvSpPr>
        <p:spPr/>
        <p:txBody>
          <a:bodyPr/>
          <a:lstStyle/>
          <a:p>
            <a:fld id="{AB86D660-B180-40FF-8373-2B84F1D09655}" type="slidenum">
              <a:rPr lang="en-US" smtClean="0"/>
              <a:t>52</a:t>
            </a:fld>
            <a:endParaRPr lang="en-US"/>
          </a:p>
        </p:txBody>
      </p:sp>
    </p:spTree>
    <p:extLst>
      <p:ext uri="{BB962C8B-B14F-4D97-AF65-F5344CB8AC3E}">
        <p14:creationId xmlns:p14="http://schemas.microsoft.com/office/powerpoint/2010/main" val="303817566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33A62-A4FF-CDE2-6B0D-CADDCC302EBD}"/>
              </a:ext>
            </a:extLst>
          </p:cNvPr>
          <p:cNvSpPr>
            <a:spLocks noGrp="1"/>
          </p:cNvSpPr>
          <p:nvPr>
            <p:ph type="title"/>
          </p:nvPr>
        </p:nvSpPr>
        <p:spPr/>
        <p:txBody>
          <a:bodyPr/>
          <a:lstStyle/>
          <a:p>
            <a:r>
              <a:rPr lang="en-US" dirty="0"/>
              <a:t>Front end</a:t>
            </a:r>
          </a:p>
        </p:txBody>
      </p:sp>
      <p:sp>
        <p:nvSpPr>
          <p:cNvPr id="3" name="Content Placeholder 2">
            <a:extLst>
              <a:ext uri="{FF2B5EF4-FFF2-40B4-BE49-F238E27FC236}">
                <a16:creationId xmlns:a16="http://schemas.microsoft.com/office/drawing/2014/main" id="{76A90845-7D6A-459D-CA4E-9B3550F1B1FD}"/>
              </a:ext>
            </a:extLst>
          </p:cNvPr>
          <p:cNvSpPr>
            <a:spLocks noGrp="1"/>
          </p:cNvSpPr>
          <p:nvPr>
            <p:ph idx="1"/>
          </p:nvPr>
        </p:nvSpPr>
        <p:spPr>
          <a:xfrm>
            <a:off x="571861" y="3660243"/>
            <a:ext cx="11029615" cy="3067127"/>
          </a:xfrm>
        </p:spPr>
        <p:txBody>
          <a:bodyPr>
            <a:noAutofit/>
          </a:bodyPr>
          <a:lstStyle/>
          <a:p>
            <a:pPr marL="0" indent="0">
              <a:buNone/>
            </a:pPr>
            <a:r>
              <a:rPr lang="en-GB" sz="2000" dirty="0"/>
              <a:t>Responsibilities:</a:t>
            </a:r>
          </a:p>
          <a:p>
            <a:pPr lvl="2"/>
            <a:r>
              <a:rPr lang="en-GB" sz="2000" dirty="0"/>
              <a:t>recognize legal procedure</a:t>
            </a:r>
          </a:p>
          <a:p>
            <a:pPr lvl="2"/>
            <a:r>
              <a:rPr lang="en-GB" sz="2000" dirty="0"/>
              <a:t>report errors</a:t>
            </a:r>
          </a:p>
          <a:p>
            <a:pPr lvl="2"/>
            <a:r>
              <a:rPr lang="en-GB" sz="2000" dirty="0"/>
              <a:t>produce IR </a:t>
            </a:r>
          </a:p>
          <a:p>
            <a:pPr lvl="2"/>
            <a:r>
              <a:rPr lang="en-GB" sz="2000" dirty="0"/>
              <a:t>preliminary storage map </a:t>
            </a:r>
          </a:p>
          <a:p>
            <a:pPr lvl="2"/>
            <a:r>
              <a:rPr lang="en-GB" sz="2000" dirty="0"/>
              <a:t>shape the code for the back end</a:t>
            </a:r>
          </a:p>
          <a:p>
            <a:pPr marL="0" indent="0">
              <a:buNone/>
            </a:pPr>
            <a:r>
              <a:rPr lang="en-GB" sz="2000" i="1" dirty="0"/>
              <a:t>Much of front end construction can be automated</a:t>
            </a:r>
            <a:endParaRPr lang="en-US" sz="2000" i="1" dirty="0"/>
          </a:p>
        </p:txBody>
      </p:sp>
      <p:pic>
        <p:nvPicPr>
          <p:cNvPr id="5" name="Picture 4">
            <a:extLst>
              <a:ext uri="{FF2B5EF4-FFF2-40B4-BE49-F238E27FC236}">
                <a16:creationId xmlns:a16="http://schemas.microsoft.com/office/drawing/2014/main" id="{7FD4CD0E-01E1-0D01-7F52-91ED8340A01F}"/>
              </a:ext>
            </a:extLst>
          </p:cNvPr>
          <p:cNvPicPr>
            <a:picLocks noChangeAspect="1"/>
          </p:cNvPicPr>
          <p:nvPr/>
        </p:nvPicPr>
        <p:blipFill>
          <a:blip r:embed="rId2"/>
          <a:stretch>
            <a:fillRect/>
          </a:stretch>
        </p:blipFill>
        <p:spPr>
          <a:xfrm>
            <a:off x="3116321" y="1854147"/>
            <a:ext cx="5959356" cy="1806097"/>
          </a:xfrm>
          <a:prstGeom prst="rect">
            <a:avLst/>
          </a:prstGeom>
        </p:spPr>
      </p:pic>
      <p:sp>
        <p:nvSpPr>
          <p:cNvPr id="6" name="Slide Number Placeholder 5">
            <a:extLst>
              <a:ext uri="{FF2B5EF4-FFF2-40B4-BE49-F238E27FC236}">
                <a16:creationId xmlns:a16="http://schemas.microsoft.com/office/drawing/2014/main" id="{C9A51C71-42A6-9D4A-2C78-FE8E39C11F47}"/>
              </a:ext>
            </a:extLst>
          </p:cNvPr>
          <p:cNvSpPr>
            <a:spLocks noGrp="1"/>
          </p:cNvSpPr>
          <p:nvPr>
            <p:ph type="sldNum" sz="quarter" idx="12"/>
          </p:nvPr>
        </p:nvSpPr>
        <p:spPr/>
        <p:txBody>
          <a:bodyPr/>
          <a:lstStyle/>
          <a:p>
            <a:fld id="{AB86D660-B180-40FF-8373-2B84F1D09655}" type="slidenum">
              <a:rPr lang="en-US" smtClean="0"/>
              <a:t>53</a:t>
            </a:fld>
            <a:endParaRPr lang="en-US"/>
          </a:p>
        </p:txBody>
      </p:sp>
    </p:spTree>
    <p:extLst>
      <p:ext uri="{BB962C8B-B14F-4D97-AF65-F5344CB8AC3E}">
        <p14:creationId xmlns:p14="http://schemas.microsoft.com/office/powerpoint/2010/main" val="238275976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61605-13F8-FA8B-CB1C-E3E64C7D0A0F}"/>
              </a:ext>
            </a:extLst>
          </p:cNvPr>
          <p:cNvSpPr>
            <a:spLocks noGrp="1"/>
          </p:cNvSpPr>
          <p:nvPr>
            <p:ph type="title"/>
          </p:nvPr>
        </p:nvSpPr>
        <p:spPr/>
        <p:txBody>
          <a:bodyPr/>
          <a:lstStyle/>
          <a:p>
            <a:r>
              <a:rPr lang="en-US" dirty="0"/>
              <a:t>Back end</a:t>
            </a:r>
          </a:p>
        </p:txBody>
      </p:sp>
      <p:sp>
        <p:nvSpPr>
          <p:cNvPr id="3" name="Content Placeholder 2">
            <a:extLst>
              <a:ext uri="{FF2B5EF4-FFF2-40B4-BE49-F238E27FC236}">
                <a16:creationId xmlns:a16="http://schemas.microsoft.com/office/drawing/2014/main" id="{D9E6E19A-F91D-C51D-F6B8-C3CA05826DD8}"/>
              </a:ext>
            </a:extLst>
          </p:cNvPr>
          <p:cNvSpPr>
            <a:spLocks noGrp="1"/>
          </p:cNvSpPr>
          <p:nvPr>
            <p:ph idx="1"/>
          </p:nvPr>
        </p:nvSpPr>
        <p:spPr>
          <a:xfrm>
            <a:off x="581192" y="3290631"/>
            <a:ext cx="11029615" cy="2998202"/>
          </a:xfrm>
        </p:spPr>
        <p:txBody>
          <a:bodyPr>
            <a:noAutofit/>
          </a:bodyPr>
          <a:lstStyle/>
          <a:p>
            <a:pPr marL="0" indent="0">
              <a:buNone/>
            </a:pPr>
            <a:r>
              <a:rPr lang="en-GB" dirty="0"/>
              <a:t>Responsibilities</a:t>
            </a:r>
          </a:p>
          <a:p>
            <a:pPr lvl="2"/>
            <a:r>
              <a:rPr lang="en-GB" sz="2000" dirty="0"/>
              <a:t>translate IR into target machine code </a:t>
            </a:r>
          </a:p>
          <a:p>
            <a:pPr lvl="2"/>
            <a:r>
              <a:rPr lang="en-GB" sz="2000" dirty="0"/>
              <a:t>choose instructions for each IR operation </a:t>
            </a:r>
          </a:p>
          <a:p>
            <a:pPr lvl="2"/>
            <a:r>
              <a:rPr lang="en-GB" sz="2000" dirty="0"/>
              <a:t>decide what to keep in registers at each point </a:t>
            </a:r>
          </a:p>
          <a:p>
            <a:pPr lvl="2"/>
            <a:r>
              <a:rPr lang="en-GB" sz="2000" dirty="0"/>
              <a:t>ensure conformance with system interfaces</a:t>
            </a:r>
            <a:endParaRPr lang="en-US" sz="2000" dirty="0"/>
          </a:p>
          <a:p>
            <a:pPr marL="0" lvl="2" indent="0">
              <a:buNone/>
            </a:pPr>
            <a:endParaRPr lang="en-US" sz="2000" dirty="0"/>
          </a:p>
          <a:p>
            <a:pPr marL="0" lvl="2" indent="0">
              <a:buNone/>
            </a:pPr>
            <a:r>
              <a:rPr lang="en-GB" sz="2000" i="1" dirty="0"/>
              <a:t>Automation has been less successful here</a:t>
            </a:r>
            <a:endParaRPr lang="en-US" sz="2000" i="1" dirty="0"/>
          </a:p>
        </p:txBody>
      </p:sp>
      <p:pic>
        <p:nvPicPr>
          <p:cNvPr id="7" name="Picture 6">
            <a:extLst>
              <a:ext uri="{FF2B5EF4-FFF2-40B4-BE49-F238E27FC236}">
                <a16:creationId xmlns:a16="http://schemas.microsoft.com/office/drawing/2014/main" id="{3DFD493C-2990-CB7C-7F30-7282746C3829}"/>
              </a:ext>
            </a:extLst>
          </p:cNvPr>
          <p:cNvPicPr>
            <a:picLocks noChangeAspect="1"/>
          </p:cNvPicPr>
          <p:nvPr/>
        </p:nvPicPr>
        <p:blipFill>
          <a:blip r:embed="rId2"/>
          <a:stretch>
            <a:fillRect/>
          </a:stretch>
        </p:blipFill>
        <p:spPr>
          <a:xfrm>
            <a:off x="3332231" y="1880809"/>
            <a:ext cx="5730737" cy="1409822"/>
          </a:xfrm>
          <a:prstGeom prst="rect">
            <a:avLst/>
          </a:prstGeom>
        </p:spPr>
      </p:pic>
      <p:sp>
        <p:nvSpPr>
          <p:cNvPr id="8" name="Slide Number Placeholder 7">
            <a:extLst>
              <a:ext uri="{FF2B5EF4-FFF2-40B4-BE49-F238E27FC236}">
                <a16:creationId xmlns:a16="http://schemas.microsoft.com/office/drawing/2014/main" id="{F26BB45B-9999-AA54-A4A1-B84BF83E1E42}"/>
              </a:ext>
            </a:extLst>
          </p:cNvPr>
          <p:cNvSpPr>
            <a:spLocks noGrp="1"/>
          </p:cNvSpPr>
          <p:nvPr>
            <p:ph type="sldNum" sz="quarter" idx="12"/>
          </p:nvPr>
        </p:nvSpPr>
        <p:spPr/>
        <p:txBody>
          <a:bodyPr/>
          <a:lstStyle/>
          <a:p>
            <a:fld id="{AB86D660-B180-40FF-8373-2B84F1D09655}" type="slidenum">
              <a:rPr lang="en-US" smtClean="0"/>
              <a:t>54</a:t>
            </a:fld>
            <a:endParaRPr lang="en-US"/>
          </a:p>
        </p:txBody>
      </p:sp>
    </p:spTree>
    <p:extLst>
      <p:ext uri="{BB962C8B-B14F-4D97-AF65-F5344CB8AC3E}">
        <p14:creationId xmlns:p14="http://schemas.microsoft.com/office/powerpoint/2010/main" val="76227641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Pass Compiler</a:t>
            </a:r>
          </a:p>
        </p:txBody>
      </p:sp>
      <p:sp>
        <p:nvSpPr>
          <p:cNvPr id="5" name="Content Placeholder 4">
            <a:extLst>
              <a:ext uri="{FF2B5EF4-FFF2-40B4-BE49-F238E27FC236}">
                <a16:creationId xmlns:a16="http://schemas.microsoft.com/office/drawing/2014/main" id="{7FB6E95E-5D9B-95E8-7EFD-96C4227FE5F7}"/>
              </a:ext>
            </a:extLst>
          </p:cNvPr>
          <p:cNvSpPr>
            <a:spLocks noGrp="1"/>
          </p:cNvSpPr>
          <p:nvPr>
            <p:ph idx="1"/>
          </p:nvPr>
        </p:nvSpPr>
        <p:spPr>
          <a:xfrm>
            <a:off x="581192" y="3285497"/>
            <a:ext cx="11029615" cy="2573302"/>
          </a:xfrm>
        </p:spPr>
        <p:txBody>
          <a:bodyPr>
            <a:normAutofit/>
          </a:bodyPr>
          <a:lstStyle/>
          <a:p>
            <a:pPr marL="58737" lvl="2" indent="0">
              <a:buNone/>
            </a:pPr>
            <a:r>
              <a:rPr lang="en-GB" sz="2000" dirty="0"/>
              <a:t>Code improvement</a:t>
            </a:r>
          </a:p>
          <a:p>
            <a:pPr marL="876575" lvl="2" indent="-282575"/>
            <a:r>
              <a:rPr lang="en-GB" sz="2000" dirty="0" err="1"/>
              <a:t>analyzes</a:t>
            </a:r>
            <a:r>
              <a:rPr lang="en-GB" sz="2000" dirty="0"/>
              <a:t> and changes IR </a:t>
            </a:r>
          </a:p>
          <a:p>
            <a:pPr marL="876575" lvl="2" indent="-282575"/>
            <a:r>
              <a:rPr lang="en-GB" sz="2000" dirty="0"/>
              <a:t>goal is to reduce runtime </a:t>
            </a:r>
          </a:p>
          <a:p>
            <a:pPr marL="876575" lvl="2" indent="-282575"/>
            <a:r>
              <a:rPr lang="en-GB" sz="2000" dirty="0"/>
              <a:t>must preserve values</a:t>
            </a:r>
            <a:endParaRPr lang="en-US" sz="2000" dirty="0"/>
          </a:p>
        </p:txBody>
      </p:sp>
      <p:pic>
        <p:nvPicPr>
          <p:cNvPr id="7" name="Picture 6">
            <a:extLst>
              <a:ext uri="{FF2B5EF4-FFF2-40B4-BE49-F238E27FC236}">
                <a16:creationId xmlns:a16="http://schemas.microsoft.com/office/drawing/2014/main" id="{5196C4FD-3501-153C-A7D7-60D71B07E4D8}"/>
              </a:ext>
            </a:extLst>
          </p:cNvPr>
          <p:cNvPicPr>
            <a:picLocks noChangeAspect="1"/>
          </p:cNvPicPr>
          <p:nvPr/>
        </p:nvPicPr>
        <p:blipFill>
          <a:blip r:embed="rId2"/>
          <a:stretch>
            <a:fillRect/>
          </a:stretch>
        </p:blipFill>
        <p:spPr>
          <a:xfrm>
            <a:off x="2617167" y="1860434"/>
            <a:ext cx="6957663" cy="1425063"/>
          </a:xfrm>
          <a:prstGeom prst="rect">
            <a:avLst/>
          </a:prstGeom>
        </p:spPr>
      </p:pic>
      <p:sp>
        <p:nvSpPr>
          <p:cNvPr id="8" name="Slide Number Placeholder 7">
            <a:extLst>
              <a:ext uri="{FF2B5EF4-FFF2-40B4-BE49-F238E27FC236}">
                <a16:creationId xmlns:a16="http://schemas.microsoft.com/office/drawing/2014/main" id="{8CC6965E-31E8-BB57-8C48-D33D1D480CC4}"/>
              </a:ext>
            </a:extLst>
          </p:cNvPr>
          <p:cNvSpPr>
            <a:spLocks noGrp="1"/>
          </p:cNvSpPr>
          <p:nvPr>
            <p:ph type="sldNum" sz="quarter" idx="12"/>
          </p:nvPr>
        </p:nvSpPr>
        <p:spPr/>
        <p:txBody>
          <a:bodyPr/>
          <a:lstStyle/>
          <a:p>
            <a:fld id="{AB86D660-B180-40FF-8373-2B84F1D09655}" type="slidenum">
              <a:rPr lang="en-US" smtClean="0"/>
              <a:t>55</a:t>
            </a:fld>
            <a:endParaRPr lang="en-US"/>
          </a:p>
        </p:txBody>
      </p:sp>
    </p:spTree>
    <p:extLst>
      <p:ext uri="{BB962C8B-B14F-4D97-AF65-F5344CB8AC3E}">
        <p14:creationId xmlns:p14="http://schemas.microsoft.com/office/powerpoint/2010/main" val="131912977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904009" y="796781"/>
            <a:ext cx="10641013" cy="5811837"/>
          </a:xfrm>
          <a:prstGeom prst="rect">
            <a:avLst/>
          </a:prstGeom>
        </p:spPr>
      </p:pic>
      <p:sp>
        <p:nvSpPr>
          <p:cNvPr id="3" name="Slide Number Placeholder 2">
            <a:extLst>
              <a:ext uri="{FF2B5EF4-FFF2-40B4-BE49-F238E27FC236}">
                <a16:creationId xmlns:a16="http://schemas.microsoft.com/office/drawing/2014/main" id="{9A91786E-7033-84EF-D994-FDEAB3FE57A7}"/>
              </a:ext>
            </a:extLst>
          </p:cNvPr>
          <p:cNvSpPr>
            <a:spLocks noGrp="1"/>
          </p:cNvSpPr>
          <p:nvPr>
            <p:ph type="sldNum" sz="quarter" idx="12"/>
          </p:nvPr>
        </p:nvSpPr>
        <p:spPr/>
        <p:txBody>
          <a:bodyPr/>
          <a:lstStyle/>
          <a:p>
            <a:fld id="{AB86D660-B180-40FF-8373-2B84F1D09655}" type="slidenum">
              <a:rPr lang="en-US" smtClean="0"/>
              <a:t>56</a:t>
            </a:fld>
            <a:endParaRPr lang="en-US"/>
          </a:p>
        </p:txBody>
      </p:sp>
    </p:spTree>
    <p:extLst>
      <p:ext uri="{BB962C8B-B14F-4D97-AF65-F5344CB8AC3E}">
        <p14:creationId xmlns:p14="http://schemas.microsoft.com/office/powerpoint/2010/main" val="386490699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p:txBody>
          <a:bodyPr/>
          <a:lstStyle/>
          <a:p>
            <a:r>
              <a:rPr lang="en-US" altLang="en-US"/>
              <a:t>Compiler-Construction Tools</a:t>
            </a:r>
            <a:br>
              <a:rPr lang="en-US" altLang="en-US"/>
            </a:br>
            <a:endParaRPr lang="ar-SA" altLang="en-US"/>
          </a:p>
        </p:txBody>
      </p:sp>
      <p:sp>
        <p:nvSpPr>
          <p:cNvPr id="3" name="Content Placeholder 2">
            <a:extLst>
              <a:ext uri="{FF2B5EF4-FFF2-40B4-BE49-F238E27FC236}">
                <a16:creationId xmlns:a16="http://schemas.microsoft.com/office/drawing/2014/main" id="{E7FF2924-A32A-4A27-A100-089096371765}"/>
              </a:ext>
            </a:extLst>
          </p:cNvPr>
          <p:cNvSpPr>
            <a:spLocks noGrp="1"/>
          </p:cNvSpPr>
          <p:nvPr>
            <p:ph idx="1"/>
          </p:nvPr>
        </p:nvSpPr>
        <p:spPr>
          <a:xfrm>
            <a:off x="1143000" y="1412875"/>
            <a:ext cx="10498138" cy="5184775"/>
          </a:xfrm>
        </p:spPr>
        <p:txBody>
          <a:bodyPr rtlCol="0">
            <a:normAutofit/>
          </a:bodyPr>
          <a:lstStyle/>
          <a:p>
            <a:pPr indent="-182880" fontAlgn="auto">
              <a:spcAft>
                <a:spcPts val="0"/>
              </a:spcAft>
              <a:buFont typeface="+mj-lt"/>
              <a:buAutoNum type="arabicPeriod"/>
              <a:defRPr/>
            </a:pPr>
            <a:r>
              <a:rPr lang="en-US" b="1" dirty="0">
                <a:latin typeface="+mj-lt"/>
              </a:rPr>
              <a:t>Parser generators </a:t>
            </a:r>
            <a:r>
              <a:rPr lang="en-US" dirty="0">
                <a:latin typeface="+mj-lt"/>
              </a:rPr>
              <a:t>that automatically produce syntax analyzers from a grammatical description of a programming language.</a:t>
            </a:r>
          </a:p>
          <a:p>
            <a:pPr indent="-182880" fontAlgn="auto">
              <a:spcAft>
                <a:spcPts val="0"/>
              </a:spcAft>
              <a:buFont typeface="+mj-lt"/>
              <a:buAutoNum type="arabicPeriod"/>
              <a:defRPr/>
            </a:pPr>
            <a:r>
              <a:rPr lang="en-US" b="1" dirty="0">
                <a:latin typeface="+mj-lt"/>
              </a:rPr>
              <a:t>Scanner generators </a:t>
            </a:r>
            <a:r>
              <a:rPr lang="en-US" dirty="0">
                <a:latin typeface="+mj-lt"/>
              </a:rPr>
              <a:t>that produce lexical analyzers from a regular-expression description of the tokens of a language.</a:t>
            </a:r>
          </a:p>
          <a:p>
            <a:pPr indent="-182880" fontAlgn="auto">
              <a:spcAft>
                <a:spcPts val="0"/>
              </a:spcAft>
              <a:buFont typeface="+mj-lt"/>
              <a:buAutoNum type="arabicPeriod"/>
              <a:defRPr/>
            </a:pPr>
            <a:r>
              <a:rPr lang="en-US" b="1" dirty="0">
                <a:latin typeface="+mj-lt"/>
              </a:rPr>
              <a:t>Syntax-directed translation engines </a:t>
            </a:r>
            <a:r>
              <a:rPr lang="en-US" dirty="0">
                <a:latin typeface="+mj-lt"/>
              </a:rPr>
              <a:t>that produce collections of routines for walking a parse tree and generating intermediate code.</a:t>
            </a:r>
          </a:p>
          <a:p>
            <a:pPr indent="-182880" fontAlgn="auto">
              <a:spcAft>
                <a:spcPts val="0"/>
              </a:spcAft>
              <a:buFont typeface="+mj-lt"/>
              <a:buAutoNum type="arabicPeriod"/>
              <a:defRPr/>
            </a:pPr>
            <a:r>
              <a:rPr lang="en-US" b="1" dirty="0">
                <a:latin typeface="+mj-lt"/>
              </a:rPr>
              <a:t>Code-generator generators </a:t>
            </a:r>
            <a:r>
              <a:rPr lang="en-US" dirty="0">
                <a:latin typeface="+mj-lt"/>
              </a:rPr>
              <a:t>that produce a code generator from a collection of rules for translating each operation of the intermediate language into the machine language for a target machine.</a:t>
            </a:r>
          </a:p>
          <a:p>
            <a:pPr indent="-182880" fontAlgn="auto">
              <a:spcAft>
                <a:spcPts val="0"/>
              </a:spcAft>
              <a:buFont typeface="+mj-lt"/>
              <a:buAutoNum type="arabicPeriod"/>
              <a:defRPr/>
            </a:pPr>
            <a:r>
              <a:rPr lang="en-US" b="1" dirty="0">
                <a:latin typeface="+mj-lt"/>
              </a:rPr>
              <a:t>Data-flow analysis engines </a:t>
            </a:r>
            <a:r>
              <a:rPr lang="en-US" dirty="0">
                <a:latin typeface="+mj-lt"/>
              </a:rPr>
              <a:t>that facilitate the gathering of information about how values are transmitted from one part of a program to each other part. Data-flow analysis is a key part of code optimization.</a:t>
            </a:r>
          </a:p>
          <a:p>
            <a:pPr indent="-182880" fontAlgn="auto">
              <a:spcAft>
                <a:spcPts val="0"/>
              </a:spcAft>
              <a:buFont typeface="+mj-lt"/>
              <a:buAutoNum type="arabicPeriod"/>
              <a:defRPr/>
            </a:pPr>
            <a:r>
              <a:rPr lang="en-US" b="1" dirty="0">
                <a:latin typeface="+mj-lt"/>
              </a:rPr>
              <a:t>Compiler-construction toolkits </a:t>
            </a:r>
            <a:r>
              <a:rPr lang="en-US" dirty="0">
                <a:latin typeface="+mj-lt"/>
              </a:rPr>
              <a:t>that provide an integrated set of routines for constructing various phases of a compiler.</a:t>
            </a:r>
          </a:p>
          <a:p>
            <a:pPr indent="-182880" fontAlgn="auto">
              <a:spcAft>
                <a:spcPts val="0"/>
              </a:spcAft>
              <a:defRPr/>
            </a:pPr>
            <a:endParaRPr lang="ar-SA" dirty="0">
              <a:latin typeface="+mj-lt"/>
            </a:endParaRPr>
          </a:p>
        </p:txBody>
      </p:sp>
      <p:sp>
        <p:nvSpPr>
          <p:cNvPr id="18436"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09A2CD70-BDFA-4386-946D-9385DF1D9C4C}" type="slidenum">
              <a:rPr lang="en-US" altLang="en-US"/>
              <a:pPr fontAlgn="base">
                <a:spcBef>
                  <a:spcPct val="0"/>
                </a:spcBef>
                <a:spcAft>
                  <a:spcPct val="0"/>
                </a:spcAft>
              </a:pPr>
              <a:t>57</a:t>
            </a:fld>
            <a:endParaRPr lang="en-US" altLang="en-US"/>
          </a:p>
        </p:txBody>
      </p:sp>
    </p:spTree>
    <p:extLst>
      <p:ext uri="{BB962C8B-B14F-4D97-AF65-F5344CB8AC3E}">
        <p14:creationId xmlns:p14="http://schemas.microsoft.com/office/powerpoint/2010/main" val="253675298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60" name="Rectangle 23559">
            <a:extLst>
              <a:ext uri="{FF2B5EF4-FFF2-40B4-BE49-F238E27FC236}">
                <a16:creationId xmlns:a16="http://schemas.microsoft.com/office/drawing/2014/main" id="{DB691D59-8F51-4DD8-AD41-D568D29B08F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562" name="Rectangle 23561">
            <a:extLst>
              <a:ext uri="{FF2B5EF4-FFF2-40B4-BE49-F238E27FC236}">
                <a16:creationId xmlns:a16="http://schemas.microsoft.com/office/drawing/2014/main" id="{204AEF18-0627-48F3-9B3D-F7E8F050B1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564" name="Rectangle 23563">
            <a:extLst>
              <a:ext uri="{FF2B5EF4-FFF2-40B4-BE49-F238E27FC236}">
                <a16:creationId xmlns:a16="http://schemas.microsoft.com/office/drawing/2014/main" id="{CEAEE08A-C572-438F-9753-B0D527A515A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566" name="Rectangle 23565">
            <a:extLst>
              <a:ext uri="{FF2B5EF4-FFF2-40B4-BE49-F238E27FC236}">
                <a16:creationId xmlns:a16="http://schemas.microsoft.com/office/drawing/2014/main" id="{DB93146F-62ED-4C59-844C-0935D0FB503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3568" name="Rectangle 23567">
            <a:extLst>
              <a:ext uri="{FF2B5EF4-FFF2-40B4-BE49-F238E27FC236}">
                <a16:creationId xmlns:a16="http://schemas.microsoft.com/office/drawing/2014/main" id="{BF3D65BA-1C65-40FB-92EF-83951BDC1D7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0" name="Rectangle 23569">
            <a:extLst>
              <a:ext uri="{FF2B5EF4-FFF2-40B4-BE49-F238E27FC236}">
                <a16:creationId xmlns:a16="http://schemas.microsoft.com/office/drawing/2014/main" id="{ADF52CCA-FCDD-49A0-BFFC-3BD41F1B827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314" name="Rectangle 2">
            <a:extLst>
              <a:ext uri="{FF2B5EF4-FFF2-40B4-BE49-F238E27FC236}">
                <a16:creationId xmlns:a16="http://schemas.microsoft.com/office/drawing/2014/main" id="{221F2291-AA8F-4EC2-932C-47514D6D6128}"/>
              </a:ext>
            </a:extLst>
          </p:cNvPr>
          <p:cNvSpPr>
            <a:spLocks noGrp="1" noChangeArrowheads="1"/>
          </p:cNvSpPr>
          <p:nvPr>
            <p:ph type="title" idx="4294967295"/>
          </p:nvPr>
        </p:nvSpPr>
        <p:spPr>
          <a:xfrm>
            <a:off x="8296275" y="1419225"/>
            <a:ext cx="3081576" cy="2085869"/>
          </a:xfrm>
        </p:spPr>
        <p:txBody>
          <a:bodyPr vert="horz" lIns="91440" tIns="45720" rIns="91440" bIns="45720" rtlCol="0" anchor="b">
            <a:normAutofit/>
          </a:bodyPr>
          <a:lstStyle/>
          <a:p>
            <a:pPr fontAlgn="auto">
              <a:spcAft>
                <a:spcPts val="0"/>
              </a:spcAft>
              <a:defRPr/>
            </a:pPr>
            <a:r>
              <a:rPr lang="en-US" altLang="en-US" sz="3600" dirty="0">
                <a:solidFill>
                  <a:srgbClr val="FFFFFF"/>
                </a:solidFill>
              </a:rPr>
              <a:t>The Phases of a Compiler</a:t>
            </a:r>
          </a:p>
        </p:txBody>
      </p:sp>
      <p:sp>
        <p:nvSpPr>
          <p:cNvPr id="23555" name="Slide Number Placeholder 1"/>
          <p:cNvSpPr>
            <a:spLocks noGrp="1" noChangeArrowheads="1"/>
          </p:cNvSpPr>
          <p:nvPr>
            <p:ph type="sldNum" sz="quarter" idx="12"/>
          </p:nvPr>
        </p:nvSpPr>
        <p:spPr bwMode="auto">
          <a:xfrm>
            <a:off x="10558300" y="6400800"/>
            <a:ext cx="101644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ctr" anchorCtr="0" compatLnSpc="1">
            <a:prstTxWarp prst="textNoShape">
              <a:avLst/>
            </a:prstTxWarp>
            <a:normAutofit/>
          </a:bodyPr>
          <a:lstStyle>
            <a:lvl1pPr>
              <a:defRPr>
                <a:solidFill>
                  <a:schemeClr val="tx1"/>
                </a:solidFill>
                <a:latin typeface="Arial" panose="020B0604020202020204" pitchFamily="34" charset="0"/>
              </a:defRPr>
            </a:lvl1pPr>
            <a:lvl2pPr marL="557213" indent="-214313">
              <a:defRPr>
                <a:solidFill>
                  <a:schemeClr val="tx1"/>
                </a:solidFill>
                <a:latin typeface="Arial" panose="020B0604020202020204" pitchFamily="34" charset="0"/>
              </a:defRPr>
            </a:lvl2pPr>
            <a:lvl3pPr marL="857250" indent="-171450">
              <a:defRPr>
                <a:solidFill>
                  <a:schemeClr val="tx1"/>
                </a:solidFill>
                <a:latin typeface="Arial" panose="020B0604020202020204" pitchFamily="34" charset="0"/>
              </a:defRPr>
            </a:lvl3pPr>
            <a:lvl4pPr marL="1200150" indent="-171450">
              <a:defRPr>
                <a:solidFill>
                  <a:schemeClr val="tx1"/>
                </a:solidFill>
                <a:latin typeface="Arial" panose="020B0604020202020204" pitchFamily="34" charset="0"/>
              </a:defRPr>
            </a:lvl4pPr>
            <a:lvl5pPr marL="1543050" indent="-171450">
              <a:defRPr>
                <a:solidFill>
                  <a:schemeClr val="tx1"/>
                </a:solidFill>
                <a:latin typeface="Arial" panose="020B0604020202020204" pitchFamily="34" charset="0"/>
              </a:defRPr>
            </a:lvl5pPr>
            <a:lvl6pPr marL="2000250" indent="-171450" defTabSz="457200" fontAlgn="base">
              <a:spcBef>
                <a:spcPct val="0"/>
              </a:spcBef>
              <a:spcAft>
                <a:spcPct val="0"/>
              </a:spcAft>
              <a:defRPr>
                <a:solidFill>
                  <a:schemeClr val="tx1"/>
                </a:solidFill>
                <a:latin typeface="Arial" panose="020B0604020202020204" pitchFamily="34" charset="0"/>
              </a:defRPr>
            </a:lvl6pPr>
            <a:lvl7pPr marL="2457450" indent="-171450" defTabSz="457200" fontAlgn="base">
              <a:spcBef>
                <a:spcPct val="0"/>
              </a:spcBef>
              <a:spcAft>
                <a:spcPct val="0"/>
              </a:spcAft>
              <a:defRPr>
                <a:solidFill>
                  <a:schemeClr val="tx1"/>
                </a:solidFill>
                <a:latin typeface="Arial" panose="020B0604020202020204" pitchFamily="34" charset="0"/>
              </a:defRPr>
            </a:lvl7pPr>
            <a:lvl8pPr marL="2914650" indent="-171450" defTabSz="457200" fontAlgn="base">
              <a:spcBef>
                <a:spcPct val="0"/>
              </a:spcBef>
              <a:spcAft>
                <a:spcPct val="0"/>
              </a:spcAft>
              <a:defRPr>
                <a:solidFill>
                  <a:schemeClr val="tx1"/>
                </a:solidFill>
                <a:latin typeface="Arial" panose="020B0604020202020204" pitchFamily="34" charset="0"/>
              </a:defRPr>
            </a:lvl8pPr>
            <a:lvl9pPr marL="3371850" indent="-171450" defTabSz="457200" fontAlgn="base">
              <a:spcBef>
                <a:spcPct val="0"/>
              </a:spcBef>
              <a:spcAft>
                <a:spcPct val="0"/>
              </a:spcAft>
              <a:defRPr>
                <a:solidFill>
                  <a:schemeClr val="tx1"/>
                </a:solidFill>
                <a:latin typeface="Arial" panose="020B0604020202020204" pitchFamily="34" charset="0"/>
              </a:defRPr>
            </a:lvl9pPr>
          </a:lstStyle>
          <a:p>
            <a:pPr defTabSz="914400" fontAlgn="base">
              <a:spcBef>
                <a:spcPct val="0"/>
              </a:spcBef>
              <a:spcAft>
                <a:spcPts val="600"/>
              </a:spcAft>
            </a:pPr>
            <a:fld id="{D45ABA11-8B5B-463B-AA46-BF325629A7A9}" type="slidenum">
              <a:rPr lang="en-US" altLang="en-US">
                <a:solidFill>
                  <a:schemeClr val="accent1">
                    <a:lumMod val="75000"/>
                    <a:lumOff val="25000"/>
                  </a:schemeClr>
                </a:solidFill>
                <a:latin typeface="+mn-lt"/>
              </a:rPr>
              <a:pPr defTabSz="914400" fontAlgn="base">
                <a:spcBef>
                  <a:spcPct val="0"/>
                </a:spcBef>
                <a:spcAft>
                  <a:spcPts val="600"/>
                </a:spcAft>
              </a:pPr>
              <a:t>58</a:t>
            </a:fld>
            <a:endParaRPr lang="en-US" altLang="en-US">
              <a:solidFill>
                <a:schemeClr val="accent1">
                  <a:lumMod val="75000"/>
                  <a:lumOff val="25000"/>
                </a:schemeClr>
              </a:solidFill>
              <a:latin typeface="+mn-lt"/>
            </a:endParaRPr>
          </a:p>
        </p:txBody>
      </p:sp>
      <p:graphicFrame>
        <p:nvGraphicFramePr>
          <p:cNvPr id="13431" name="Group 119">
            <a:extLst>
              <a:ext uri="{FF2B5EF4-FFF2-40B4-BE49-F238E27FC236}">
                <a16:creationId xmlns:a16="http://schemas.microsoft.com/office/drawing/2014/main" id="{7E934832-1AA8-460E-BE63-EC85B3B6A937}"/>
              </a:ext>
            </a:extLst>
          </p:cNvPr>
          <p:cNvGraphicFramePr>
            <a:graphicFrameLocks noGrp="1"/>
          </p:cNvGraphicFramePr>
          <p:nvPr>
            <p:extLst>
              <p:ext uri="{D42A27DB-BD31-4B8C-83A1-F6EECF244321}">
                <p14:modId xmlns:p14="http://schemas.microsoft.com/office/powerpoint/2010/main" val="3398560119"/>
              </p:ext>
            </p:extLst>
          </p:nvPr>
        </p:nvGraphicFramePr>
        <p:xfrm>
          <a:off x="482600" y="548640"/>
          <a:ext cx="7523481" cy="5913010"/>
        </p:xfrm>
        <a:graphic>
          <a:graphicData uri="http://schemas.openxmlformats.org/drawingml/2006/table">
            <a:tbl>
              <a:tblPr firstRow="1" bandRow="1"/>
              <a:tblGrid>
                <a:gridCol w="2507827">
                  <a:extLst>
                    <a:ext uri="{9D8B030D-6E8A-4147-A177-3AD203B41FA5}">
                      <a16:colId xmlns:a16="http://schemas.microsoft.com/office/drawing/2014/main" val="912311001"/>
                    </a:ext>
                  </a:extLst>
                </a:gridCol>
                <a:gridCol w="2507827">
                  <a:extLst>
                    <a:ext uri="{9D8B030D-6E8A-4147-A177-3AD203B41FA5}">
                      <a16:colId xmlns:a16="http://schemas.microsoft.com/office/drawing/2014/main" val="3544635552"/>
                    </a:ext>
                  </a:extLst>
                </a:gridCol>
                <a:gridCol w="2507827">
                  <a:extLst>
                    <a:ext uri="{9D8B030D-6E8A-4147-A177-3AD203B41FA5}">
                      <a16:colId xmlns:a16="http://schemas.microsoft.com/office/drawing/2014/main" val="302933705"/>
                    </a:ext>
                  </a:extLst>
                </a:gridCol>
              </a:tblGrid>
              <a:tr h="345299">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Phase</a:t>
                      </a:r>
                      <a:endParaRPr kumimoji="0" lang="en-US" altLang="en-US" sz="1100" b="0" i="0" u="none" strike="noStrike" cap="none" normalizeH="0" baseline="0">
                        <a:ln>
                          <a:noFill/>
                        </a:ln>
                        <a:solidFill>
                          <a:schemeClr val="tx1"/>
                        </a:solidFill>
                        <a:effectLst/>
                        <a:latin typeface="Times" panose="02020603050405020304" pitchFamily="18" charset="0"/>
                      </a:endParaRP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Output</a:t>
                      </a:r>
                      <a:endParaRPr kumimoji="0" lang="en-US" altLang="en-US" sz="1100" b="0" i="0" u="none" strike="noStrike" cap="none" normalizeH="0" baseline="0">
                        <a:ln>
                          <a:noFill/>
                        </a:ln>
                        <a:solidFill>
                          <a:schemeClr val="tx1"/>
                        </a:solidFill>
                        <a:effectLst/>
                        <a:latin typeface="Times" panose="02020603050405020304" pitchFamily="18" charset="0"/>
                      </a:endParaRP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Sample</a:t>
                      </a:r>
                      <a:endParaRPr kumimoji="0" lang="en-US" altLang="en-US" sz="1100" b="0" i="0" u="none" strike="noStrike" cap="none" normalizeH="0" baseline="0">
                        <a:ln>
                          <a:noFill/>
                        </a:ln>
                        <a:solidFill>
                          <a:schemeClr val="tx1"/>
                        </a:solidFill>
                        <a:effectLst/>
                        <a:latin typeface="Times" panose="02020603050405020304" pitchFamily="18" charset="0"/>
                      </a:endParaRP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27060987"/>
                  </a:ext>
                </a:extLst>
              </a:tr>
              <a:tr h="345299">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Programmer</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Source string</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Courier New" panose="02070309020205020404" pitchFamily="49" charset="0"/>
                        </a:rPr>
                        <a:t>A=B+C;</a:t>
                      </a: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2036505"/>
                  </a:ext>
                </a:extLst>
              </a:tr>
              <a:tr h="586570">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Scanner (performs lexical analysis)</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Token string</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Courier New" panose="02070309020205020404" pitchFamily="49" charset="0"/>
                        </a:rPr>
                        <a:t>‘A’</a:t>
                      </a:r>
                      <a:r>
                        <a:rPr kumimoji="0" lang="en-US" altLang="en-US" sz="1100" b="1" i="0" u="none" strike="noStrike" cap="none" normalizeH="0" baseline="0">
                          <a:ln>
                            <a:noFill/>
                          </a:ln>
                          <a:solidFill>
                            <a:schemeClr val="tx1"/>
                          </a:solidFill>
                          <a:effectLst/>
                          <a:latin typeface="Times New Roman" panose="02020603050405020304" pitchFamily="18" charset="0"/>
                        </a:rPr>
                        <a:t>, </a:t>
                      </a:r>
                      <a:r>
                        <a:rPr kumimoji="0" lang="en-US" altLang="en-US" sz="1100" b="1" i="0" u="none" strike="noStrike" cap="none" normalizeH="0" baseline="0">
                          <a:ln>
                            <a:noFill/>
                          </a:ln>
                          <a:solidFill>
                            <a:schemeClr val="tx1"/>
                          </a:solidFill>
                          <a:effectLst/>
                          <a:latin typeface="Courier New" panose="02070309020205020404" pitchFamily="49" charset="0"/>
                        </a:rPr>
                        <a:t>‘=’</a:t>
                      </a:r>
                      <a:r>
                        <a:rPr kumimoji="0" lang="en-US" altLang="en-US" sz="1100" b="1" i="0" u="none" strike="noStrike" cap="none" normalizeH="0" baseline="0">
                          <a:ln>
                            <a:noFill/>
                          </a:ln>
                          <a:solidFill>
                            <a:schemeClr val="tx1"/>
                          </a:solidFill>
                          <a:effectLst/>
                          <a:latin typeface="Times New Roman" panose="02020603050405020304" pitchFamily="18" charset="0"/>
                        </a:rPr>
                        <a:t>, </a:t>
                      </a:r>
                      <a:r>
                        <a:rPr kumimoji="0" lang="en-US" altLang="en-US" sz="1100" b="1" i="0" u="none" strike="noStrike" cap="none" normalizeH="0" baseline="0">
                          <a:ln>
                            <a:noFill/>
                          </a:ln>
                          <a:solidFill>
                            <a:schemeClr val="tx1"/>
                          </a:solidFill>
                          <a:effectLst/>
                          <a:latin typeface="Courier New" panose="02070309020205020404" pitchFamily="49" charset="0"/>
                        </a:rPr>
                        <a:t>‘B’</a:t>
                      </a:r>
                      <a:r>
                        <a:rPr kumimoji="0" lang="en-US" altLang="en-US" sz="1100" b="1" i="0" u="none" strike="noStrike" cap="none" normalizeH="0" baseline="0">
                          <a:ln>
                            <a:noFill/>
                          </a:ln>
                          <a:solidFill>
                            <a:schemeClr val="tx1"/>
                          </a:solidFill>
                          <a:effectLst/>
                          <a:latin typeface="Times New Roman" panose="02020603050405020304" pitchFamily="18" charset="0"/>
                        </a:rPr>
                        <a:t>, </a:t>
                      </a:r>
                      <a:r>
                        <a:rPr kumimoji="0" lang="en-US" altLang="en-US" sz="1100" b="1" i="0" u="none" strike="noStrike" cap="none" normalizeH="0" baseline="0">
                          <a:ln>
                            <a:noFill/>
                          </a:ln>
                          <a:solidFill>
                            <a:schemeClr val="tx1"/>
                          </a:solidFill>
                          <a:effectLst/>
                          <a:latin typeface="Courier New" panose="02070309020205020404" pitchFamily="49" charset="0"/>
                        </a:rPr>
                        <a:t>‘+’</a:t>
                      </a:r>
                      <a:r>
                        <a:rPr kumimoji="0" lang="en-US" altLang="en-US" sz="1100" b="1" i="0" u="none" strike="noStrike" cap="none" normalizeH="0" baseline="0">
                          <a:ln>
                            <a:noFill/>
                          </a:ln>
                          <a:solidFill>
                            <a:schemeClr val="tx1"/>
                          </a:solidFill>
                          <a:effectLst/>
                          <a:latin typeface="Times New Roman" panose="02020603050405020304" pitchFamily="18" charset="0"/>
                        </a:rPr>
                        <a:t>, </a:t>
                      </a:r>
                      <a:r>
                        <a:rPr kumimoji="0" lang="en-US" altLang="en-US" sz="1100" b="1" i="0" u="none" strike="noStrike" cap="none" normalizeH="0" baseline="0">
                          <a:ln>
                            <a:noFill/>
                          </a:ln>
                          <a:solidFill>
                            <a:schemeClr val="tx1"/>
                          </a:solidFill>
                          <a:effectLst/>
                          <a:latin typeface="Courier New" panose="02070309020205020404" pitchFamily="49" charset="0"/>
                        </a:rPr>
                        <a:t>‘C’</a:t>
                      </a:r>
                      <a:r>
                        <a:rPr kumimoji="0" lang="en-US" altLang="en-US" sz="1100" b="1" i="0" u="none" strike="noStrike" cap="none" normalizeH="0" baseline="0">
                          <a:ln>
                            <a:noFill/>
                          </a:ln>
                          <a:solidFill>
                            <a:schemeClr val="tx1"/>
                          </a:solidFill>
                          <a:effectLst/>
                          <a:latin typeface="Times New Roman" panose="02020603050405020304" pitchFamily="18" charset="0"/>
                        </a:rPr>
                        <a:t>, </a:t>
                      </a:r>
                      <a:r>
                        <a:rPr kumimoji="0" lang="en-US" altLang="en-US" sz="1100" b="1" i="0" u="none" strike="noStrike" cap="none" normalizeH="0" baseline="0">
                          <a:ln>
                            <a:noFill/>
                          </a:ln>
                          <a:solidFill>
                            <a:schemeClr val="tx1"/>
                          </a:solidFill>
                          <a:effectLst/>
                          <a:latin typeface="Courier New" panose="02070309020205020404" pitchFamily="49" charset="0"/>
                        </a:rPr>
                        <a:t>‘;’</a:t>
                      </a:r>
                      <a:br>
                        <a:rPr kumimoji="0" lang="en-US" altLang="en-US" sz="1100" b="1" i="0" u="none" strike="noStrike" cap="none" normalizeH="0" baseline="0">
                          <a:ln>
                            <a:noFill/>
                          </a:ln>
                          <a:solidFill>
                            <a:schemeClr val="tx1"/>
                          </a:solidFill>
                          <a:effectLst/>
                          <a:latin typeface="Courier New" panose="02070309020205020404" pitchFamily="49" charset="0"/>
                        </a:rPr>
                      </a:br>
                      <a:r>
                        <a:rPr kumimoji="0" lang="en-US" altLang="en-US" sz="1100" b="0" i="0" u="none" strike="noStrike" cap="none" normalizeH="0" baseline="0">
                          <a:ln>
                            <a:noFill/>
                          </a:ln>
                          <a:solidFill>
                            <a:schemeClr val="tx1"/>
                          </a:solidFill>
                          <a:effectLst/>
                          <a:latin typeface="Times" panose="02020603050405020304" pitchFamily="18" charset="0"/>
                        </a:rPr>
                        <a:t>And </a:t>
                      </a:r>
                      <a:r>
                        <a:rPr kumimoji="0" lang="en-US" altLang="en-US" sz="1100" b="0" i="1" u="none" strike="noStrike" cap="none" normalizeH="0" baseline="0">
                          <a:ln>
                            <a:noFill/>
                          </a:ln>
                          <a:solidFill>
                            <a:schemeClr val="tx1"/>
                          </a:solidFill>
                          <a:effectLst/>
                          <a:latin typeface="Times" panose="02020603050405020304" pitchFamily="18" charset="0"/>
                        </a:rPr>
                        <a:t>symbol table</a:t>
                      </a:r>
                      <a:r>
                        <a:rPr kumimoji="0" lang="en-US" altLang="en-US" sz="1100" b="0" i="0" u="none" strike="noStrike" cap="none" normalizeH="0" baseline="0">
                          <a:ln>
                            <a:noFill/>
                          </a:ln>
                          <a:solidFill>
                            <a:schemeClr val="tx1"/>
                          </a:solidFill>
                          <a:effectLst/>
                          <a:latin typeface="Times" panose="02020603050405020304" pitchFamily="18" charset="0"/>
                        </a:rPr>
                        <a:t> for identifiers</a:t>
                      </a: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6472426"/>
                  </a:ext>
                </a:extLst>
              </a:tr>
              <a:tr h="1159592">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Parser (performs syntax analysis based on the grammar of the programming language)</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Parse tree or abstract syntax tree</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dirty="0">
                          <a:ln>
                            <a:noFill/>
                          </a:ln>
                          <a:solidFill>
                            <a:schemeClr val="tx1"/>
                          </a:solidFill>
                          <a:effectLst/>
                          <a:latin typeface="Courier New" panose="02070309020205020404" pitchFamily="49" charset="0"/>
                        </a:rPr>
                        <a:t>  ;</a:t>
                      </a:r>
                      <a:br>
                        <a:rPr kumimoji="0" lang="en-US" altLang="en-US" sz="1100" b="1" i="0" u="none" strike="noStrike" cap="none" normalizeH="0" baseline="0" dirty="0">
                          <a:ln>
                            <a:noFill/>
                          </a:ln>
                          <a:solidFill>
                            <a:schemeClr val="tx1"/>
                          </a:solidFill>
                          <a:effectLst/>
                          <a:latin typeface="Courier New" panose="02070309020205020404" pitchFamily="49" charset="0"/>
                        </a:rPr>
                      </a:br>
                      <a:r>
                        <a:rPr kumimoji="0" lang="en-US" altLang="en-US" sz="1100" b="1" i="0" u="none" strike="noStrike" cap="none" normalizeH="0" baseline="0" dirty="0">
                          <a:ln>
                            <a:noFill/>
                          </a:ln>
                          <a:solidFill>
                            <a:schemeClr val="tx1"/>
                          </a:solidFill>
                          <a:effectLst/>
                          <a:latin typeface="Courier New" panose="02070309020205020404" pitchFamily="49" charset="0"/>
                        </a:rPr>
                        <a:t>  |</a:t>
                      </a:r>
                      <a:br>
                        <a:rPr kumimoji="0" lang="en-US" altLang="en-US" sz="1100" b="1" i="0" u="none" strike="noStrike" cap="none" normalizeH="0" baseline="0" dirty="0">
                          <a:ln>
                            <a:noFill/>
                          </a:ln>
                          <a:solidFill>
                            <a:schemeClr val="tx1"/>
                          </a:solidFill>
                          <a:effectLst/>
                          <a:latin typeface="Courier New" panose="02070309020205020404" pitchFamily="49" charset="0"/>
                        </a:rPr>
                      </a:br>
                      <a:r>
                        <a:rPr kumimoji="0" lang="en-US" altLang="en-US" sz="1100" b="1" i="0" u="none" strike="noStrike" cap="none" normalizeH="0" baseline="0" dirty="0">
                          <a:ln>
                            <a:noFill/>
                          </a:ln>
                          <a:solidFill>
                            <a:schemeClr val="tx1"/>
                          </a:solidFill>
                          <a:effectLst/>
                          <a:latin typeface="Courier New" panose="02070309020205020404" pitchFamily="49" charset="0"/>
                        </a:rPr>
                        <a:t>  =</a:t>
                      </a:r>
                      <a:br>
                        <a:rPr kumimoji="0" lang="en-US" altLang="en-US" sz="1100" b="1" i="0" u="none" strike="noStrike" cap="none" normalizeH="0" baseline="0" dirty="0">
                          <a:ln>
                            <a:noFill/>
                          </a:ln>
                          <a:solidFill>
                            <a:schemeClr val="tx1"/>
                          </a:solidFill>
                          <a:effectLst/>
                          <a:latin typeface="Courier New" panose="02070309020205020404" pitchFamily="49" charset="0"/>
                        </a:rPr>
                      </a:br>
                      <a:r>
                        <a:rPr kumimoji="0" lang="en-US" altLang="en-US" sz="1100" b="1" i="0" u="none" strike="noStrike" cap="none" normalizeH="0" baseline="0" dirty="0">
                          <a:ln>
                            <a:noFill/>
                          </a:ln>
                          <a:solidFill>
                            <a:schemeClr val="tx1"/>
                          </a:solidFill>
                          <a:effectLst/>
                          <a:latin typeface="Courier New" panose="02070309020205020404" pitchFamily="49" charset="0"/>
                        </a:rPr>
                        <a:t> / \</a:t>
                      </a:r>
                      <a:br>
                        <a:rPr kumimoji="0" lang="en-US" altLang="en-US" sz="1100" b="1" i="0" u="none" strike="noStrike" cap="none" normalizeH="0" baseline="0" dirty="0">
                          <a:ln>
                            <a:noFill/>
                          </a:ln>
                          <a:solidFill>
                            <a:schemeClr val="tx1"/>
                          </a:solidFill>
                          <a:effectLst/>
                          <a:latin typeface="Courier New" panose="02070309020205020404" pitchFamily="49" charset="0"/>
                        </a:rPr>
                      </a:br>
                      <a:r>
                        <a:rPr kumimoji="0" lang="en-US" altLang="en-US" sz="1100" b="1" i="0" u="none" strike="noStrike" cap="none" normalizeH="0" baseline="0" dirty="0">
                          <a:ln>
                            <a:noFill/>
                          </a:ln>
                          <a:solidFill>
                            <a:schemeClr val="tx1"/>
                          </a:solidFill>
                          <a:effectLst/>
                          <a:latin typeface="Courier New" panose="02070309020205020404" pitchFamily="49" charset="0"/>
                        </a:rPr>
                        <a:t>A   +</a:t>
                      </a:r>
                      <a:br>
                        <a:rPr kumimoji="0" lang="en-US" altLang="en-US" sz="1100" b="1" i="0" u="none" strike="noStrike" cap="none" normalizeH="0" baseline="0" dirty="0">
                          <a:ln>
                            <a:noFill/>
                          </a:ln>
                          <a:solidFill>
                            <a:schemeClr val="tx1"/>
                          </a:solidFill>
                          <a:effectLst/>
                          <a:latin typeface="Courier New" panose="02070309020205020404" pitchFamily="49" charset="0"/>
                        </a:rPr>
                      </a:br>
                      <a:r>
                        <a:rPr kumimoji="0" lang="en-US" altLang="en-US" sz="1100" b="1" i="0" u="none" strike="noStrike" cap="none" normalizeH="0" baseline="0" dirty="0">
                          <a:ln>
                            <a:noFill/>
                          </a:ln>
                          <a:solidFill>
                            <a:schemeClr val="tx1"/>
                          </a:solidFill>
                          <a:effectLst/>
                          <a:latin typeface="Courier New" panose="02070309020205020404" pitchFamily="49" charset="0"/>
                        </a:rPr>
                        <a:t>   / \</a:t>
                      </a:r>
                      <a:br>
                        <a:rPr kumimoji="0" lang="en-US" altLang="en-US" sz="1100" b="1" i="0" u="none" strike="noStrike" cap="none" normalizeH="0" baseline="0" dirty="0">
                          <a:ln>
                            <a:noFill/>
                          </a:ln>
                          <a:solidFill>
                            <a:schemeClr val="tx1"/>
                          </a:solidFill>
                          <a:effectLst/>
                          <a:latin typeface="Courier New" panose="02070309020205020404" pitchFamily="49" charset="0"/>
                        </a:rPr>
                      </a:br>
                      <a:r>
                        <a:rPr kumimoji="0" lang="en-US" altLang="en-US" sz="1100" b="1" i="0" u="none" strike="noStrike" cap="none" normalizeH="0" baseline="0" dirty="0">
                          <a:ln>
                            <a:noFill/>
                          </a:ln>
                          <a:solidFill>
                            <a:schemeClr val="tx1"/>
                          </a:solidFill>
                          <a:effectLst/>
                          <a:latin typeface="Courier New" panose="02070309020205020404" pitchFamily="49" charset="0"/>
                        </a:rPr>
                        <a:t>  B   C</a:t>
                      </a: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5143533"/>
                  </a:ext>
                </a:extLst>
              </a:tr>
              <a:tr h="586570">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Semantic analyzer (type checking,  etc)</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Parse tree or abstract syntax tree</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100" b="1" i="0" u="none" strike="noStrike" cap="none" normalizeH="0" baseline="0">
                        <a:ln>
                          <a:noFill/>
                        </a:ln>
                        <a:solidFill>
                          <a:schemeClr val="tx1"/>
                        </a:solidFill>
                        <a:effectLst/>
                        <a:latin typeface="Courier New" panose="02070309020205020404" pitchFamily="49" charset="0"/>
                      </a:endParaRP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439797"/>
                  </a:ext>
                </a:extLst>
              </a:tr>
              <a:tr h="827844">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Intermediate code generator</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Three-address code, quads, or RTL</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Courier New" panose="02070309020205020404" pitchFamily="49" charset="0"/>
                        </a:rPr>
                        <a:t>int2fp B          t1</a:t>
                      </a:r>
                      <a:br>
                        <a:rPr kumimoji="0" lang="en-US" altLang="en-US" sz="1100" b="1" i="0" u="none" strike="noStrike" cap="none" normalizeH="0" baseline="0">
                          <a:ln>
                            <a:noFill/>
                          </a:ln>
                          <a:solidFill>
                            <a:schemeClr val="tx1"/>
                          </a:solidFill>
                          <a:effectLst/>
                          <a:latin typeface="Courier New" panose="02070309020205020404" pitchFamily="49" charset="0"/>
                        </a:rPr>
                      </a:br>
                      <a:r>
                        <a:rPr kumimoji="0" lang="en-US" altLang="en-US" sz="1100" b="1" i="0" u="none" strike="noStrike" cap="none" normalizeH="0" baseline="0">
                          <a:ln>
                            <a:noFill/>
                          </a:ln>
                          <a:solidFill>
                            <a:schemeClr val="tx1"/>
                          </a:solidFill>
                          <a:effectLst/>
                          <a:latin typeface="Courier New" panose="02070309020205020404" pitchFamily="49" charset="0"/>
                        </a:rPr>
                        <a:t>+      t1    C    t2</a:t>
                      </a:r>
                      <a:br>
                        <a:rPr kumimoji="0" lang="en-US" altLang="en-US" sz="1100" b="1" i="0" u="none" strike="noStrike" cap="none" normalizeH="0" baseline="0">
                          <a:ln>
                            <a:noFill/>
                          </a:ln>
                          <a:solidFill>
                            <a:schemeClr val="tx1"/>
                          </a:solidFill>
                          <a:effectLst/>
                          <a:latin typeface="Courier New" panose="02070309020205020404" pitchFamily="49" charset="0"/>
                        </a:rPr>
                      </a:br>
                      <a:r>
                        <a:rPr kumimoji="0" lang="en-US" altLang="en-US" sz="1100" b="1" i="0" u="none" strike="noStrike" cap="none" normalizeH="0" baseline="0">
                          <a:ln>
                            <a:noFill/>
                          </a:ln>
                          <a:solidFill>
                            <a:schemeClr val="tx1"/>
                          </a:solidFill>
                          <a:effectLst/>
                          <a:latin typeface="Courier New" panose="02070309020205020404" pitchFamily="49" charset="0"/>
                        </a:rPr>
                        <a:t>:=     t2         A</a:t>
                      </a: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98565820"/>
                  </a:ext>
                </a:extLst>
              </a:tr>
              <a:tr h="586570">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Optimizer</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Three-address code, quads, or RTL</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Courier New" panose="02070309020205020404" pitchFamily="49" charset="0"/>
                        </a:rPr>
                        <a:t>int2fp B          t1</a:t>
                      </a:r>
                      <a:br>
                        <a:rPr kumimoji="0" lang="en-US" altLang="en-US" sz="1100" b="1" i="0" u="none" strike="noStrike" cap="none" normalizeH="0" baseline="0">
                          <a:ln>
                            <a:noFill/>
                          </a:ln>
                          <a:solidFill>
                            <a:schemeClr val="tx1"/>
                          </a:solidFill>
                          <a:effectLst/>
                          <a:latin typeface="Courier New" panose="02070309020205020404" pitchFamily="49" charset="0"/>
                        </a:rPr>
                      </a:br>
                      <a:r>
                        <a:rPr kumimoji="0" lang="en-US" altLang="en-US" sz="1100" b="1" i="0" u="none" strike="noStrike" cap="none" normalizeH="0" baseline="0">
                          <a:ln>
                            <a:noFill/>
                          </a:ln>
                          <a:solidFill>
                            <a:schemeClr val="tx1"/>
                          </a:solidFill>
                          <a:effectLst/>
                          <a:latin typeface="Courier New" panose="02070309020205020404" pitchFamily="49" charset="0"/>
                        </a:rPr>
                        <a:t>+      t1   #2.3  A</a:t>
                      </a: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36298715"/>
                  </a:ext>
                </a:extLst>
              </a:tr>
              <a:tr h="827844">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Code generator</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Assembly code</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Courier New" panose="02070309020205020404" pitchFamily="49" charset="0"/>
                        </a:rPr>
                        <a:t>MOVF  #2.3,r1</a:t>
                      </a:r>
                      <a:br>
                        <a:rPr kumimoji="0" lang="en-US" altLang="en-US" sz="1100" b="1" i="0" u="none" strike="noStrike" cap="none" normalizeH="0" baseline="0">
                          <a:ln>
                            <a:noFill/>
                          </a:ln>
                          <a:solidFill>
                            <a:schemeClr val="tx1"/>
                          </a:solidFill>
                          <a:effectLst/>
                          <a:latin typeface="Courier New" panose="02070309020205020404" pitchFamily="49" charset="0"/>
                        </a:rPr>
                      </a:br>
                      <a:r>
                        <a:rPr kumimoji="0" lang="en-US" altLang="en-US" sz="1100" b="1" i="0" u="none" strike="noStrike" cap="none" normalizeH="0" baseline="0">
                          <a:ln>
                            <a:noFill/>
                          </a:ln>
                          <a:solidFill>
                            <a:schemeClr val="tx1"/>
                          </a:solidFill>
                          <a:effectLst/>
                          <a:latin typeface="Courier New" panose="02070309020205020404" pitchFamily="49" charset="0"/>
                        </a:rPr>
                        <a:t>ADDF2 r1,r2</a:t>
                      </a:r>
                      <a:br>
                        <a:rPr kumimoji="0" lang="en-US" altLang="en-US" sz="1100" b="1" i="0" u="none" strike="noStrike" cap="none" normalizeH="0" baseline="0">
                          <a:ln>
                            <a:noFill/>
                          </a:ln>
                          <a:solidFill>
                            <a:schemeClr val="tx1"/>
                          </a:solidFill>
                          <a:effectLst/>
                          <a:latin typeface="Courier New" panose="02070309020205020404" pitchFamily="49" charset="0"/>
                        </a:rPr>
                      </a:br>
                      <a:r>
                        <a:rPr kumimoji="0" lang="en-US" altLang="en-US" sz="1100" b="1" i="0" u="none" strike="noStrike" cap="none" normalizeH="0" baseline="0">
                          <a:ln>
                            <a:noFill/>
                          </a:ln>
                          <a:solidFill>
                            <a:schemeClr val="tx1"/>
                          </a:solidFill>
                          <a:effectLst/>
                          <a:latin typeface="Courier New" panose="02070309020205020404" pitchFamily="49" charset="0"/>
                        </a:rPr>
                        <a:t>MOVF  r2,A</a:t>
                      </a:r>
                      <a:endParaRPr kumimoji="0" lang="en-US" altLang="en-US" sz="1100" b="0" i="0" u="none" strike="noStrike" cap="none" normalizeH="0" baseline="0">
                        <a:ln>
                          <a:noFill/>
                        </a:ln>
                        <a:solidFill>
                          <a:schemeClr val="tx1"/>
                        </a:solidFill>
                        <a:effectLst/>
                        <a:latin typeface="Times" panose="02020603050405020304" pitchFamily="18" charset="0"/>
                      </a:endParaRP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5172120"/>
                  </a:ext>
                </a:extLst>
              </a:tr>
              <a:tr h="586570">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a:ln>
                            <a:noFill/>
                          </a:ln>
                          <a:solidFill>
                            <a:schemeClr val="tx1"/>
                          </a:solidFill>
                          <a:effectLst/>
                          <a:latin typeface="Times" panose="02020603050405020304" pitchFamily="18" charset="0"/>
                        </a:rPr>
                        <a:t>Peephole optimizer</a:t>
                      </a:r>
                    </a:p>
                  </a:txBody>
                  <a:tcPr marL="46982" marR="46982" marT="23482" marB="2348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0" i="0" u="none" strike="noStrike" cap="none" normalizeH="0" baseline="0">
                          <a:ln>
                            <a:noFill/>
                          </a:ln>
                          <a:solidFill>
                            <a:schemeClr val="tx1"/>
                          </a:solidFill>
                          <a:effectLst/>
                          <a:latin typeface="Times" panose="02020603050405020304" pitchFamily="18" charset="0"/>
                        </a:rPr>
                        <a:t>Assembly code</a:t>
                      </a:r>
                    </a:p>
                  </a:txBody>
                  <a:tcPr marL="46982" marR="46982" marT="23482" marB="23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panose="02020603050405020304" pitchFamily="18" charset="0"/>
                        </a:defRPr>
                      </a:lvl1pPr>
                      <a:lvl2pPr>
                        <a:spcBef>
                          <a:spcPct val="20000"/>
                        </a:spcBef>
                        <a:defRPr sz="2400">
                          <a:solidFill>
                            <a:schemeClr val="tx1"/>
                          </a:solidFill>
                          <a:latin typeface="Times" panose="02020603050405020304" pitchFamily="18" charset="0"/>
                        </a:defRPr>
                      </a:lvl2pPr>
                      <a:lvl3pPr>
                        <a:spcBef>
                          <a:spcPct val="20000"/>
                        </a:spcBef>
                        <a:defRPr sz="2000">
                          <a:solidFill>
                            <a:schemeClr val="tx1"/>
                          </a:solidFill>
                          <a:latin typeface="Times" panose="02020603050405020304" pitchFamily="18" charset="0"/>
                        </a:defRPr>
                      </a:lvl3pPr>
                      <a:lvl4pPr>
                        <a:spcBef>
                          <a:spcPct val="20000"/>
                        </a:spcBef>
                        <a:defRPr>
                          <a:solidFill>
                            <a:schemeClr val="tx1"/>
                          </a:solidFill>
                          <a:latin typeface="Times" panose="02020603050405020304" pitchFamily="18" charset="0"/>
                        </a:defRPr>
                      </a:lvl4pPr>
                      <a:lvl5pPr>
                        <a:spcBef>
                          <a:spcPct val="20000"/>
                        </a:spcBef>
                        <a:defRPr>
                          <a:solidFill>
                            <a:schemeClr val="tx1"/>
                          </a:solidFill>
                          <a:latin typeface="Times" panose="02020603050405020304" pitchFamily="18" charset="0"/>
                        </a:defRPr>
                      </a:lvl5pPr>
                      <a:lvl6pPr fontAlgn="base">
                        <a:spcBef>
                          <a:spcPct val="20000"/>
                        </a:spcBef>
                        <a:spcAft>
                          <a:spcPct val="0"/>
                        </a:spcAft>
                        <a:defRPr>
                          <a:solidFill>
                            <a:schemeClr val="tx1"/>
                          </a:solidFill>
                          <a:latin typeface="Times" panose="02020603050405020304" pitchFamily="18" charset="0"/>
                        </a:defRPr>
                      </a:lvl6pPr>
                      <a:lvl7pPr fontAlgn="base">
                        <a:spcBef>
                          <a:spcPct val="20000"/>
                        </a:spcBef>
                        <a:spcAft>
                          <a:spcPct val="0"/>
                        </a:spcAft>
                        <a:defRPr>
                          <a:solidFill>
                            <a:schemeClr val="tx1"/>
                          </a:solidFill>
                          <a:latin typeface="Times" panose="02020603050405020304" pitchFamily="18" charset="0"/>
                        </a:defRPr>
                      </a:lvl7pPr>
                      <a:lvl8pPr fontAlgn="base">
                        <a:spcBef>
                          <a:spcPct val="20000"/>
                        </a:spcBef>
                        <a:spcAft>
                          <a:spcPct val="0"/>
                        </a:spcAft>
                        <a:defRPr>
                          <a:solidFill>
                            <a:schemeClr val="tx1"/>
                          </a:solidFill>
                          <a:latin typeface="Times" panose="02020603050405020304" pitchFamily="18" charset="0"/>
                        </a:defRPr>
                      </a:lvl8pPr>
                      <a:lvl9pPr fontAlgn="base">
                        <a:spcBef>
                          <a:spcPct val="20000"/>
                        </a:spcBef>
                        <a:spcAft>
                          <a:spcPct val="0"/>
                        </a:spcAft>
                        <a:defRPr>
                          <a:solidFill>
                            <a:schemeClr val="tx1"/>
                          </a:solidFill>
                          <a:latin typeface="Times"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100" b="1" i="0" u="none" strike="noStrike" cap="none" normalizeH="0" baseline="0" dirty="0">
                          <a:ln>
                            <a:noFill/>
                          </a:ln>
                          <a:solidFill>
                            <a:schemeClr val="tx1"/>
                          </a:solidFill>
                          <a:effectLst/>
                          <a:latin typeface="Courier New" panose="02070309020205020404" pitchFamily="49" charset="0"/>
                        </a:rPr>
                        <a:t>ADDF2 #2.3,r2</a:t>
                      </a:r>
                      <a:br>
                        <a:rPr kumimoji="0" lang="en-US" altLang="en-US" sz="1100" b="1" i="0" u="none" strike="noStrike" cap="none" normalizeH="0" baseline="0" dirty="0">
                          <a:ln>
                            <a:noFill/>
                          </a:ln>
                          <a:solidFill>
                            <a:schemeClr val="tx1"/>
                          </a:solidFill>
                          <a:effectLst/>
                          <a:latin typeface="Courier New" panose="02070309020205020404" pitchFamily="49" charset="0"/>
                        </a:rPr>
                      </a:br>
                      <a:r>
                        <a:rPr kumimoji="0" lang="en-US" altLang="en-US" sz="1100" b="1" i="0" u="none" strike="noStrike" cap="none" normalizeH="0" baseline="0" dirty="0">
                          <a:ln>
                            <a:noFill/>
                          </a:ln>
                          <a:solidFill>
                            <a:schemeClr val="tx1"/>
                          </a:solidFill>
                          <a:effectLst/>
                          <a:latin typeface="Courier New" panose="02070309020205020404" pitchFamily="49" charset="0"/>
                        </a:rPr>
                        <a:t>MOVF  r2,A</a:t>
                      </a:r>
                    </a:p>
                  </a:txBody>
                  <a:tcPr marL="46982" marR="46982" marT="23482" marB="2348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5113694"/>
                  </a:ext>
                </a:extLst>
              </a:tr>
            </a:tbl>
          </a:graphicData>
        </a:graphic>
      </p:graphicFrame>
    </p:spTree>
    <p:extLst>
      <p:ext uri="{BB962C8B-B14F-4D97-AF65-F5344CB8AC3E}">
        <p14:creationId xmlns:p14="http://schemas.microsoft.com/office/powerpoint/2010/main" val="359118196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noChangeArrowheads="1"/>
          </p:cNvSpPr>
          <p:nvPr>
            <p:ph type="title"/>
          </p:nvPr>
        </p:nvSpPr>
        <p:spPr>
          <a:xfrm>
            <a:off x="623888" y="260350"/>
            <a:ext cx="9874250" cy="1357313"/>
          </a:xfrm>
        </p:spPr>
        <p:txBody>
          <a:bodyPr/>
          <a:lstStyle/>
          <a:p>
            <a:r>
              <a:rPr lang="en-US" altLang="en-US" dirty="0"/>
              <a:t> Summary</a:t>
            </a:r>
            <a:endParaRPr lang="ar-SA" altLang="en-US" dirty="0"/>
          </a:p>
        </p:txBody>
      </p:sp>
      <p:sp>
        <p:nvSpPr>
          <p:cNvPr id="3" name="Content Placeholder 2">
            <a:extLst>
              <a:ext uri="{FF2B5EF4-FFF2-40B4-BE49-F238E27FC236}">
                <a16:creationId xmlns:a16="http://schemas.microsoft.com/office/drawing/2014/main" id="{F0214C4A-AA71-423B-A687-935445D80DC3}"/>
              </a:ext>
            </a:extLst>
          </p:cNvPr>
          <p:cNvSpPr>
            <a:spLocks noGrp="1"/>
          </p:cNvSpPr>
          <p:nvPr>
            <p:ph idx="1"/>
          </p:nvPr>
        </p:nvSpPr>
        <p:spPr>
          <a:xfrm>
            <a:off x="1143000" y="1891145"/>
            <a:ext cx="10353675" cy="4633480"/>
          </a:xfrm>
        </p:spPr>
        <p:txBody>
          <a:bodyPr rtlCol="0">
            <a:normAutofit lnSpcReduction="10000"/>
          </a:bodyPr>
          <a:lstStyle/>
          <a:p>
            <a:pPr indent="-182880" fontAlgn="auto">
              <a:spcAft>
                <a:spcPts val="0"/>
              </a:spcAft>
              <a:defRPr/>
            </a:pPr>
            <a:r>
              <a:rPr lang="en-US" b="1" dirty="0">
                <a:latin typeface="Times New Roman" panose="02020603050405020304" pitchFamily="18" charset="0"/>
                <a:cs typeface="Times New Roman" panose="02020603050405020304" pitchFamily="18" charset="0"/>
              </a:rPr>
              <a:t>Language Processors: </a:t>
            </a:r>
            <a:r>
              <a:rPr lang="en-US" dirty="0">
                <a:latin typeface="Times New Roman" panose="02020603050405020304" pitchFamily="18" charset="0"/>
                <a:cs typeface="Times New Roman" panose="02020603050405020304" pitchFamily="18" charset="0"/>
              </a:rPr>
              <a:t>An integrated software development environment includes many different kinds of language processors such as compilers, interpreters, assemblers, linkers, loaders, debuggers, profilers.</a:t>
            </a:r>
          </a:p>
          <a:p>
            <a:pPr indent="-182880" fontAlgn="auto">
              <a:spcAft>
                <a:spcPts val="0"/>
              </a:spcAft>
              <a:defRPr/>
            </a:pPr>
            <a:r>
              <a:rPr lang="en-US" b="1" dirty="0">
                <a:latin typeface="Times New Roman" panose="02020603050405020304" pitchFamily="18" charset="0"/>
                <a:cs typeface="Times New Roman" panose="02020603050405020304" pitchFamily="18" charset="0"/>
              </a:rPr>
              <a:t>Compiler Phases: </a:t>
            </a:r>
            <a:r>
              <a:rPr lang="en-US" dirty="0">
                <a:latin typeface="Times New Roman" panose="02020603050405020304" pitchFamily="18" charset="0"/>
                <a:cs typeface="Times New Roman" panose="02020603050405020304" pitchFamily="18" charset="0"/>
              </a:rPr>
              <a:t>A compiler operates as a sequence of phases, each of which transforms the source program from one intermediate representation to another.</a:t>
            </a:r>
          </a:p>
          <a:p>
            <a:pPr lvl="1" indent="-182880" fontAlgn="auto">
              <a:defRPr/>
            </a:pPr>
            <a:r>
              <a:rPr lang="en-US" dirty="0">
                <a:latin typeface="Times New Roman" panose="02020603050405020304" pitchFamily="18" charset="0"/>
                <a:cs typeface="Times New Roman" panose="02020603050405020304" pitchFamily="18" charset="0"/>
              </a:rPr>
              <a:t>Lexical Analyzer</a:t>
            </a:r>
          </a:p>
          <a:p>
            <a:pPr lvl="1" indent="-182880" fontAlgn="auto">
              <a:defRPr/>
            </a:pPr>
            <a:r>
              <a:rPr lang="en-US" dirty="0">
                <a:latin typeface="Times New Roman" panose="02020603050405020304" pitchFamily="18" charset="0"/>
                <a:cs typeface="Times New Roman" panose="02020603050405020304" pitchFamily="18" charset="0"/>
              </a:rPr>
              <a:t>Syntax Analyzer</a:t>
            </a:r>
          </a:p>
          <a:p>
            <a:pPr lvl="1" indent="-182880" fontAlgn="auto">
              <a:defRPr/>
            </a:pPr>
            <a:r>
              <a:rPr lang="en-US" dirty="0">
                <a:latin typeface="Times New Roman" panose="02020603050405020304" pitchFamily="18" charset="0"/>
                <a:cs typeface="Times New Roman" panose="02020603050405020304" pitchFamily="18" charset="0"/>
              </a:rPr>
              <a:t>Semantic Analyzer</a:t>
            </a:r>
          </a:p>
          <a:p>
            <a:pPr lvl="1" indent="-182880" fontAlgn="auto">
              <a:defRPr/>
            </a:pPr>
            <a:r>
              <a:rPr lang="en-US" dirty="0">
                <a:latin typeface="Times New Roman" panose="02020603050405020304" pitchFamily="18" charset="0"/>
                <a:cs typeface="Times New Roman" panose="02020603050405020304" pitchFamily="18" charset="0"/>
              </a:rPr>
              <a:t>Intermediate Code Generator</a:t>
            </a:r>
          </a:p>
          <a:p>
            <a:pPr lvl="1" indent="-182880" fontAlgn="auto">
              <a:defRPr/>
            </a:pPr>
            <a:r>
              <a:rPr lang="en-US" dirty="0">
                <a:latin typeface="Times New Roman" panose="02020603050405020304" pitchFamily="18" charset="0"/>
                <a:cs typeface="Times New Roman" panose="02020603050405020304" pitchFamily="18" charset="0"/>
              </a:rPr>
              <a:t>Machine-Independent Code Optimizer</a:t>
            </a:r>
          </a:p>
          <a:p>
            <a:pPr lvl="1" indent="-182880" fontAlgn="auto">
              <a:defRPr/>
            </a:pPr>
            <a:r>
              <a:rPr lang="en-US" dirty="0">
                <a:latin typeface="Times New Roman" panose="02020603050405020304" pitchFamily="18" charset="0"/>
                <a:cs typeface="Times New Roman" panose="02020603050405020304" pitchFamily="18" charset="0"/>
              </a:rPr>
              <a:t>Code Generator</a:t>
            </a:r>
          </a:p>
          <a:p>
            <a:pPr lvl="1" indent="-182880" fontAlgn="auto">
              <a:defRPr/>
            </a:pPr>
            <a:r>
              <a:rPr lang="en-US" dirty="0">
                <a:latin typeface="Times New Roman" panose="02020603050405020304" pitchFamily="18" charset="0"/>
                <a:cs typeface="Times New Roman" panose="02020603050405020304" pitchFamily="18" charset="0"/>
              </a:rPr>
              <a:t>Machine-Dependent Code Optimizer</a:t>
            </a:r>
          </a:p>
          <a:p>
            <a:pPr indent="-182880" fontAlgn="auto">
              <a:spcAft>
                <a:spcPts val="0"/>
              </a:spcAft>
              <a:defRPr/>
            </a:pPr>
            <a:r>
              <a:rPr lang="en-US" b="1" dirty="0">
                <a:latin typeface="Times New Roman" panose="02020603050405020304" pitchFamily="18" charset="0"/>
                <a:cs typeface="Times New Roman" panose="02020603050405020304" pitchFamily="18" charset="0"/>
              </a:rPr>
              <a:t>Machine and Assembly Languages: </a:t>
            </a:r>
            <a:r>
              <a:rPr lang="en-US" dirty="0">
                <a:latin typeface="Times New Roman" panose="02020603050405020304" pitchFamily="18" charset="0"/>
                <a:cs typeface="Times New Roman" panose="02020603050405020304" pitchFamily="18" charset="0"/>
              </a:rPr>
              <a:t>Machine languages were the first generation programming languages, followed by assembly languages. Programming in these languages was </a:t>
            </a:r>
            <a:r>
              <a:rPr lang="en-US" dirty="0">
                <a:solidFill>
                  <a:srgbClr val="C00000"/>
                </a:solidFill>
                <a:latin typeface="Times New Roman" panose="02020603050405020304" pitchFamily="18" charset="0"/>
                <a:cs typeface="Times New Roman" panose="02020603050405020304" pitchFamily="18" charset="0"/>
              </a:rPr>
              <a:t>time consuming </a:t>
            </a:r>
            <a:r>
              <a:rPr lang="en-US" dirty="0">
                <a:latin typeface="Times New Roman" panose="02020603050405020304" pitchFamily="18" charset="0"/>
                <a:cs typeface="Times New Roman" panose="02020603050405020304" pitchFamily="18" charset="0"/>
              </a:rPr>
              <a:t>and</a:t>
            </a:r>
            <a:r>
              <a:rPr lang="en-US" dirty="0">
                <a:solidFill>
                  <a:srgbClr val="C00000"/>
                </a:solidFill>
                <a:latin typeface="Times New Roman" panose="02020603050405020304" pitchFamily="18" charset="0"/>
                <a:cs typeface="Times New Roman" panose="02020603050405020304" pitchFamily="18" charset="0"/>
              </a:rPr>
              <a:t> error prone</a:t>
            </a:r>
            <a:r>
              <a:rPr lang="en-US" dirty="0">
                <a:latin typeface="Times New Roman" panose="02020603050405020304" pitchFamily="18" charset="0"/>
                <a:cs typeface="Times New Roman" panose="02020603050405020304" pitchFamily="18" charset="0"/>
              </a:rPr>
              <a:t>.</a:t>
            </a:r>
          </a:p>
          <a:p>
            <a:pPr indent="-182880" fontAlgn="auto">
              <a:spcAft>
                <a:spcPts val="0"/>
              </a:spcAft>
              <a:defRPr/>
            </a:pPr>
            <a:endParaRPr lang="ar-SA" dirty="0"/>
          </a:p>
        </p:txBody>
      </p:sp>
      <p:sp>
        <p:nvSpPr>
          <p:cNvPr id="26628"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60844380-558B-4BF2-9085-527BADBF0BDA}" type="slidenum">
              <a:rPr lang="en-US" altLang="en-US"/>
              <a:pPr fontAlgn="base">
                <a:spcBef>
                  <a:spcPct val="0"/>
                </a:spcBef>
                <a:spcAft>
                  <a:spcPct val="0"/>
                </a:spcAft>
              </a:pPr>
              <a:t>59</a:t>
            </a:fld>
            <a:endParaRPr lang="en-US" altLang="en-US"/>
          </a:p>
        </p:txBody>
      </p:sp>
    </p:spTree>
    <p:extLst>
      <p:ext uri="{BB962C8B-B14F-4D97-AF65-F5344CB8AC3E}">
        <p14:creationId xmlns:p14="http://schemas.microsoft.com/office/powerpoint/2010/main" val="4281905588"/>
      </p:ext>
    </p:extLst>
  </p:cSld>
  <p:clrMapOvr>
    <a:masterClrMapping/>
  </p:clrMapOvr>
  <p:timing>
    <p:tnLst>
      <p:par>
        <p:cTn id="1" dur="indefinite" restart="never" nodeType="tmRoot"/>
      </p:par>
    </p:tnLst>
  </p:timing>
</p:sld>
</file>

<file path=ppt/theme/theme1.xml><?xml version="1.0" encoding="utf-8"?>
<a:theme xmlns:a="http://schemas.openxmlformats.org/drawingml/2006/main" name="Dividend">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2007</TotalTime>
  <Words>2824</Words>
  <Application>Microsoft Office PowerPoint</Application>
  <PresentationFormat>Widescreen</PresentationFormat>
  <Paragraphs>451</Paragraphs>
  <Slides>59</Slides>
  <Notes>3</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59</vt:i4>
      </vt:variant>
    </vt:vector>
  </HeadingPairs>
  <TitlesOfParts>
    <vt:vector size="73" baseType="lpstr">
      <vt:lpstr>Gill Sans MT</vt:lpstr>
      <vt:lpstr>Majalla UI</vt:lpstr>
      <vt:lpstr>宋体</vt:lpstr>
      <vt:lpstr>Arial</vt:lpstr>
      <vt:lpstr>Calibri</vt:lpstr>
      <vt:lpstr>Corbel</vt:lpstr>
      <vt:lpstr>Courier New</vt:lpstr>
      <vt:lpstr>Garamond</vt:lpstr>
      <vt:lpstr>Symbol</vt:lpstr>
      <vt:lpstr>Times</vt:lpstr>
      <vt:lpstr>Times New Roman</vt:lpstr>
      <vt:lpstr>Wingdings</vt:lpstr>
      <vt:lpstr>Wingdings 2</vt:lpstr>
      <vt:lpstr>Dividend</vt:lpstr>
      <vt:lpstr>CS-4301 Compiler Construction</vt:lpstr>
      <vt:lpstr>PowerPoint Presentation</vt:lpstr>
      <vt:lpstr>Course Instructor’s and TA’s Information</vt:lpstr>
      <vt:lpstr>Text book and reference material</vt:lpstr>
      <vt:lpstr>Course Learning Outcomes  </vt:lpstr>
      <vt:lpstr>Compilers and Interpreters</vt:lpstr>
      <vt:lpstr>Why we use high-level language for programming?</vt:lpstr>
      <vt:lpstr>Why learn about compilers?</vt:lpstr>
      <vt:lpstr> The Evolution of Programming Language</vt:lpstr>
      <vt:lpstr>Impacts on Compilers</vt:lpstr>
      <vt:lpstr>Compilers and Interpreters</vt:lpstr>
      <vt:lpstr>Compilers and Interpreters (cont’d)</vt:lpstr>
      <vt:lpstr>Compiler vs. Interpreter </vt:lpstr>
      <vt:lpstr>Hybrid compiler</vt:lpstr>
      <vt:lpstr>PowerPoint Presentation</vt:lpstr>
      <vt:lpstr>Preprocessors, Compilers, Assemblers, and Linkers</vt:lpstr>
      <vt:lpstr>Accompanies of a compiler</vt:lpstr>
      <vt:lpstr>The Compilation Process</vt:lpstr>
      <vt:lpstr>Two Pass Compiler</vt:lpstr>
      <vt:lpstr>Two Pass Compiler</vt:lpstr>
      <vt:lpstr>PowerPoint Presentation</vt:lpstr>
      <vt:lpstr>Front End</vt:lpstr>
      <vt:lpstr>Scanner</vt:lpstr>
      <vt:lpstr>The Scanner</vt:lpstr>
      <vt:lpstr>Parser</vt:lpstr>
      <vt:lpstr>Context Free Grammars</vt:lpstr>
      <vt:lpstr>PowerPoint Presentation</vt:lpstr>
      <vt:lpstr>PowerPoint Presentation</vt:lpstr>
      <vt:lpstr>A parse can be represented by a tree: parse tree or syntax tree.</vt:lpstr>
      <vt:lpstr>The Parse Tree</vt:lpstr>
      <vt:lpstr>The Syntax Tree</vt:lpstr>
      <vt:lpstr>The Semantic Analyzer</vt:lpstr>
      <vt:lpstr>The Annotated Syntax Tree</vt:lpstr>
      <vt:lpstr>AST-Abstract Syntax Tree</vt:lpstr>
      <vt:lpstr>Back End</vt:lpstr>
      <vt:lpstr>Back End</vt:lpstr>
      <vt:lpstr>Instruction Selection</vt:lpstr>
      <vt:lpstr>Register Allocation</vt:lpstr>
      <vt:lpstr>Instruction Scheduling</vt:lpstr>
      <vt:lpstr>The Source Code Optimizer</vt:lpstr>
      <vt:lpstr>Annotated Tree Without Optimization</vt:lpstr>
      <vt:lpstr>Optimized Annotated Tree</vt:lpstr>
      <vt:lpstr>Optimization on Intermediate Code</vt:lpstr>
      <vt:lpstr>The Code Generator</vt:lpstr>
      <vt:lpstr>The Target Code Optimizer</vt:lpstr>
      <vt:lpstr>Principal Data Structures Used in Compilers</vt:lpstr>
      <vt:lpstr>Principal Data Structures Used in Compilers (Continue…)</vt:lpstr>
      <vt:lpstr>Principal Data Structures Used in Compilers (Continue…)</vt:lpstr>
      <vt:lpstr>Error Handling</vt:lpstr>
      <vt:lpstr>Error Handling (Continue…)</vt:lpstr>
      <vt:lpstr>Two pass compiler</vt:lpstr>
      <vt:lpstr>Use of Two pass compiler architecture</vt:lpstr>
      <vt:lpstr>Front end</vt:lpstr>
      <vt:lpstr>Back end</vt:lpstr>
      <vt:lpstr>Three Pass Compiler</vt:lpstr>
      <vt:lpstr>PowerPoint Presentation</vt:lpstr>
      <vt:lpstr>Compiler-Construction Tools </vt:lpstr>
      <vt:lpstr>The Phases of a Compiler</vt:lpstr>
      <vt:lpstr>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Moazzam Ali</dc:creator>
  <cp:lastModifiedBy>Moazzam Ali</cp:lastModifiedBy>
  <cp:revision>36</cp:revision>
  <dcterms:created xsi:type="dcterms:W3CDTF">2025-01-17T04:14:48Z</dcterms:created>
  <dcterms:modified xsi:type="dcterms:W3CDTF">2025-01-24T03:51:32Z</dcterms:modified>
</cp:coreProperties>
</file>