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72" r:id="rId12"/>
    <p:sldId id="269" r:id="rId13"/>
    <p:sldId id="267" r:id="rId14"/>
    <p:sldId id="274" r:id="rId15"/>
    <p:sldId id="268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73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6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73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43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6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2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881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81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2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37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5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01C88-F60A-458E-99BB-1D76CB5D343C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360B6-4F58-4B70-B0E5-99101744A7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867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Run Time </a:t>
            </a:r>
            <a:r>
              <a:rPr lang="en-US" dirty="0" err="1" smtClean="0"/>
              <a:t>Enviorments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449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Runtime Environments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224616"/>
            <a:ext cx="7574509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memory, registers, and resources during program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memory allocation, procedure execution, and variable scoping.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Three Runtime Environment Types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Static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Pre-allocated memory (e.g., FORTRAN77).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recursion or dynamic allocation.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Stack-Based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recursion via activation records (e.g., C, Pascal).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Fully Dynamic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allocation with garbage collection (e.g., LISP, Java).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390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Runtime </a:t>
            </a:r>
            <a:r>
              <a:rPr lang="en-US" dirty="0" err="1" smtClean="0"/>
              <a:t>enviorment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Design Importance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Manages variable scoping and memory allocation.</a:t>
            </a:r>
          </a:p>
          <a:p>
            <a:pPr lvl="1"/>
            <a:r>
              <a:rPr lang="en-US" dirty="0" smtClean="0"/>
              <a:t>Implements parameter-passing mechanisms (call-by-value, call-by-reference).</a:t>
            </a:r>
          </a:p>
          <a:p>
            <a:pPr lvl="1"/>
            <a:r>
              <a:rPr lang="en-US" dirty="0" smtClean="0"/>
              <a:t>Optimizes program execution on the target machine.</a:t>
            </a:r>
          </a:p>
          <a:p>
            <a:r>
              <a:rPr lang="en-US" b="1" dirty="0" smtClean="0"/>
              <a:t>Compiler’s Role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Generates code to manage the runtime environment.</a:t>
            </a:r>
          </a:p>
          <a:p>
            <a:pPr lvl="1"/>
            <a:r>
              <a:rPr lang="en-US" dirty="0" smtClean="0"/>
              <a:t>Ensures compatibility with OS and hardware.</a:t>
            </a:r>
          </a:p>
          <a:p>
            <a:r>
              <a:rPr lang="en-US" i="1" dirty="0" smtClean="0"/>
              <a:t>Sets the foundation for exploring memory organization, calling conventions, and dynamic allocation.</a:t>
            </a:r>
            <a:endParaRPr lang="en-US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058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9429" y="1690688"/>
            <a:ext cx="6651851" cy="347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1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068" y="1027906"/>
            <a:ext cx="6276975" cy="49484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524" y="804497"/>
            <a:ext cx="5846059" cy="4917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48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419" y="2155372"/>
            <a:ext cx="10464195" cy="397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Fully Static Runtime Environments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657" y="1552190"/>
            <a:ext cx="4780482" cy="530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93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21037" y="822961"/>
            <a:ext cx="4724400" cy="4673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12" y="365125"/>
            <a:ext cx="5649014" cy="602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13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based Run time Environments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91" y="2251981"/>
            <a:ext cx="5081681" cy="39249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65972"/>
            <a:ext cx="4829175" cy="345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2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814" y="135436"/>
            <a:ext cx="10515600" cy="1325563"/>
          </a:xfrm>
        </p:spPr>
        <p:txBody>
          <a:bodyPr/>
          <a:lstStyle/>
          <a:p>
            <a:r>
              <a:rPr lang="en-US" dirty="0" smtClean="0"/>
              <a:t>Example 7.3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5485" y="1460999"/>
            <a:ext cx="4213452" cy="487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11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814" y="135436"/>
            <a:ext cx="10515600" cy="1325563"/>
          </a:xfrm>
        </p:spPr>
        <p:txBody>
          <a:bodyPr/>
          <a:lstStyle/>
          <a:p>
            <a:r>
              <a:rPr lang="en-US" dirty="0" smtClean="0"/>
              <a:t>Example 7.3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814" y="1169894"/>
            <a:ext cx="4213452" cy="48721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337" y="548640"/>
            <a:ext cx="3700463" cy="34051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0046" y="3698920"/>
            <a:ext cx="4851527" cy="274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00891"/>
            <a:ext cx="7048864" cy="34277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152" y="74214"/>
            <a:ext cx="4609648" cy="448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5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365124"/>
            <a:ext cx="4747991" cy="2606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616" y="1027906"/>
            <a:ext cx="6211253" cy="496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89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365124"/>
            <a:ext cx="4747991" cy="2606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616" y="1027906"/>
            <a:ext cx="6211253" cy="49641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612" y="3575821"/>
            <a:ext cx="3045509" cy="2829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41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1917" y="757646"/>
            <a:ext cx="8832792" cy="513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03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 Length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7"/>
            <a:ext cx="9126071" cy="10062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348318"/>
            <a:ext cx="6216201" cy="139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42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 and local Variable </a:t>
            </a:r>
            <a:r>
              <a:rPr lang="en-US" dirty="0" err="1" smtClean="0"/>
              <a:t>variable</a:t>
            </a:r>
            <a:r>
              <a:rPr lang="en-US" dirty="0" smtClean="0"/>
              <a:t> length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3235" y="1825625"/>
            <a:ext cx="520683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65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Local Temporaries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2895" y="1468623"/>
            <a:ext cx="6407560" cy="500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1768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Declaration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307" y="1690688"/>
            <a:ext cx="3632666" cy="38215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1948" y="1635533"/>
            <a:ext cx="4552950" cy="3876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950" y="1369358"/>
            <a:ext cx="421005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0102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Stack Based Environments with local procedures</a:t>
            </a: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1739" y="1407610"/>
            <a:ext cx="3685414" cy="54503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593" y="1407610"/>
            <a:ext cx="443865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11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0577" y="847012"/>
            <a:ext cx="3630705" cy="58657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1282" y="842894"/>
            <a:ext cx="5603208" cy="453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46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 Memory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Memory allocated </a:t>
            </a:r>
            <a:r>
              <a:rPr lang="en-US" b="1" dirty="0" smtClean="0"/>
              <a:t>at runtime</a:t>
            </a:r>
            <a:r>
              <a:rPr lang="en-US" dirty="0" smtClean="0"/>
              <a:t> (not compile time).</a:t>
            </a:r>
          </a:p>
          <a:p>
            <a:pPr lvl="1"/>
            <a:r>
              <a:rPr lang="en-US" dirty="0" smtClean="0"/>
              <a:t>Data structures with variable size (e.g., linked lists, trees).</a:t>
            </a:r>
          </a:p>
          <a:p>
            <a:pPr lvl="1"/>
            <a:r>
              <a:rPr lang="en-US" dirty="0" smtClean="0"/>
              <a:t>Objects in OOP languages (e.g., Java, C++).</a:t>
            </a:r>
          </a:p>
          <a:p>
            <a:r>
              <a:rPr lang="en-US" b="1" dirty="0" smtClean="0"/>
              <a:t>Memory Segments</a:t>
            </a:r>
            <a:r>
              <a:rPr lang="en-US" dirty="0" smtClean="0"/>
              <a:t>:</a:t>
            </a:r>
          </a:p>
          <a:p>
            <a:pPr lvl="1"/>
            <a:r>
              <a:rPr lang="en-US" b="1" dirty="0" smtClean="0"/>
              <a:t>Heap</a:t>
            </a:r>
            <a:r>
              <a:rPr lang="en-US" dirty="0" smtClean="0"/>
              <a:t>: Primary area for dynamic allocation.</a:t>
            </a:r>
          </a:p>
          <a:p>
            <a:pPr lvl="1"/>
            <a:r>
              <a:rPr lang="en-US" b="1" dirty="0" smtClean="0"/>
              <a:t>Stack</a:t>
            </a:r>
            <a:r>
              <a:rPr lang="en-US" dirty="0" smtClean="0"/>
              <a:t>: Limited to function-local, fixed-size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0404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Heap management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893369"/>
            <a:ext cx="7996869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Manages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dynamic memory allocation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(e.g.,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malloc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new).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Handles variable-sized data structures (linked lists, trees).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25071" y="3001365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Circular Linked List</a:t>
            </a:r>
            <a:r>
              <a:rPr lang="en-US" dirty="0" smtClean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Tracks </a:t>
            </a:r>
            <a:r>
              <a:rPr lang="en-US" b="1" dirty="0" smtClean="0"/>
              <a:t>free blocks</a:t>
            </a:r>
            <a:r>
              <a:rPr lang="en-US" dirty="0" smtClean="0"/>
              <a:t> and </a:t>
            </a:r>
            <a:r>
              <a:rPr lang="en-US" b="1" dirty="0" smtClean="0"/>
              <a:t>allocated blocks</a:t>
            </a:r>
            <a:r>
              <a:rPr lang="en-US" dirty="0" smtClean="0"/>
              <a:t> using a linked list.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Header structure</a:t>
            </a:r>
            <a:r>
              <a:rPr lang="en-US" dirty="0" smtClean="0"/>
              <a:t>: Stores metadata (block size, next pointer).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Allocation Process</a:t>
            </a:r>
            <a:r>
              <a:rPr lang="en-US" dirty="0" smtClean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Search free list for a block of sufficient size.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Split block if extra space remains.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Free Process</a:t>
            </a:r>
            <a:r>
              <a:rPr lang="en-US" dirty="0" smtClean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Mark block as free.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Coalesce</a:t>
            </a:r>
            <a:r>
              <a:rPr lang="en-US" dirty="0" smtClean="0"/>
              <a:t> adjacent free blocks to reduce fragmentation.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321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Garbage Collection 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2624"/>
            <a:ext cx="10515600" cy="4684339"/>
          </a:xfrm>
        </p:spPr>
        <p:txBody>
          <a:bodyPr/>
          <a:lstStyle/>
          <a:p>
            <a:r>
              <a:rPr lang="en-US" b="1" dirty="0" smtClean="0"/>
              <a:t>Calls when </a:t>
            </a:r>
            <a:r>
              <a:rPr lang="en-US" b="1" dirty="0" err="1" smtClean="0"/>
              <a:t>malloc</a:t>
            </a:r>
            <a:r>
              <a:rPr lang="en-US" b="1" dirty="0" smtClean="0"/>
              <a:t>  fails</a:t>
            </a:r>
          </a:p>
          <a:p>
            <a:r>
              <a:rPr lang="en-US" b="1" dirty="0" smtClean="0"/>
              <a:t>Mark-and-Sweep</a:t>
            </a:r>
            <a:r>
              <a:rPr lang="en-US" dirty="0" smtClean="0"/>
              <a:t>:</a:t>
            </a:r>
          </a:p>
          <a:p>
            <a:pPr lvl="1"/>
            <a:r>
              <a:rPr lang="en-US" b="1" dirty="0" smtClean="0"/>
              <a:t>Mark</a:t>
            </a:r>
            <a:r>
              <a:rPr lang="en-US" dirty="0" smtClean="0"/>
              <a:t>: follow all pointers recursively and marks each block of storage reached.</a:t>
            </a:r>
          </a:p>
          <a:p>
            <a:pPr lvl="1"/>
            <a:r>
              <a:rPr lang="en-US" b="1" dirty="0" smtClean="0"/>
              <a:t>Sweep</a:t>
            </a:r>
            <a:r>
              <a:rPr lang="en-US" dirty="0" smtClean="0"/>
              <a:t>: Free unmarked (unreachable) blocks.</a:t>
            </a:r>
          </a:p>
          <a:p>
            <a:r>
              <a:rPr lang="en-US" b="1" dirty="0" smtClean="0"/>
              <a:t>Stop-and-Copy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Divide heap into two spaces; copy live objects to new space.</a:t>
            </a:r>
          </a:p>
          <a:p>
            <a:pPr lvl="1"/>
            <a:r>
              <a:rPr lang="en-US" b="1" dirty="0" smtClean="0"/>
              <a:t>Advantage</a:t>
            </a:r>
            <a:r>
              <a:rPr lang="en-US" dirty="0" smtClean="0"/>
              <a:t>: Automatic compaction.</a:t>
            </a:r>
          </a:p>
          <a:p>
            <a:r>
              <a:rPr lang="en-US" b="1" dirty="0" smtClean="0"/>
              <a:t>Generational GC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Prioritizes collection of short-lived objects (e.g., Java’s Young/Old generations).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011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 Passing Mechanism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Call-by-Value</a:t>
            </a:r>
          </a:p>
          <a:p>
            <a:r>
              <a:rPr lang="en-US" b="1" dirty="0" smtClean="0"/>
              <a:t>Mechanism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Copies the </a:t>
            </a:r>
            <a:r>
              <a:rPr lang="en-US" b="1" dirty="0" smtClean="0"/>
              <a:t>value</a:t>
            </a:r>
            <a:r>
              <a:rPr lang="en-US" dirty="0" smtClean="0"/>
              <a:t> of the actual parameter to the formal parameter.</a:t>
            </a:r>
          </a:p>
          <a:p>
            <a:pPr lvl="1"/>
            <a:r>
              <a:rPr lang="en-US" dirty="0" smtClean="0"/>
              <a:t>Changes to the formal parameter </a:t>
            </a:r>
            <a:r>
              <a:rPr lang="en-US" b="1" dirty="0" smtClean="0"/>
              <a:t>do not affect</a:t>
            </a:r>
            <a:r>
              <a:rPr lang="en-US" dirty="0" smtClean="0"/>
              <a:t> the actual parameter.</a:t>
            </a:r>
          </a:p>
          <a:p>
            <a:r>
              <a:rPr lang="en-US" b="1" dirty="0" smtClean="0"/>
              <a:t>Implementation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Simplest to implement; no aliasing issues.</a:t>
            </a:r>
          </a:p>
          <a:p>
            <a:pPr lvl="1"/>
            <a:r>
              <a:rPr lang="en-US" dirty="0" smtClean="0"/>
              <a:t>Used in C, Pascal, and Ada (default).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232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Call-by-Reference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17177" y="2177935"/>
            <a:ext cx="1106187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Mechanism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Passes the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location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of the actual parameter.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Formal parameter becomes an 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alias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for the actual parameter.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Implementation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Requires compiler to compute and pass addresses.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in Fortran77, Pascal (</a:t>
            </a:r>
            <a:r>
              <a:rPr kumimoji="0" lang="en-US" altLang="en-US" sz="3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var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keyword), and C++ (&amp;).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4621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Call-by-Value-Result (Copy-In/Copy-Out)</a:t>
            </a:r>
            <a:br>
              <a:rPr lang="en-US" altLang="en-US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9054723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Mechanism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Copies the value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into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the formal parameter at call time.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Copies the result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back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the actual parameter at return.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Implementation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Resembles pass-by-reference but avoids aliasing.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in Ada (in out parameters).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72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Call-by-Name (Delayed Evaluation)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Mechanism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Replaces every use of the formal parameter with the </a:t>
            </a:r>
            <a:r>
              <a:rPr lang="en-US" b="1" dirty="0" smtClean="0"/>
              <a:t>unevaluated expression</a:t>
            </a:r>
            <a:r>
              <a:rPr lang="en-US" dirty="0" smtClean="0"/>
              <a:t> of the actual parameter.</a:t>
            </a:r>
          </a:p>
          <a:p>
            <a:pPr lvl="1"/>
            <a:r>
              <a:rPr lang="en-US" dirty="0" smtClean="0"/>
              <a:t>Evaluated </a:t>
            </a:r>
            <a:r>
              <a:rPr lang="en-US" b="1" dirty="0" smtClean="0"/>
              <a:t>each time</a:t>
            </a:r>
            <a:r>
              <a:rPr lang="en-US" dirty="0" smtClean="0"/>
              <a:t> it is referenced.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717" y="3740150"/>
            <a:ext cx="640080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7919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9289"/>
            <a:ext cx="9411727" cy="330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672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2469</TotalTime>
  <Words>548</Words>
  <Application>Microsoft Office PowerPoint</Application>
  <PresentationFormat>Widescreen</PresentationFormat>
  <Paragraphs>97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Chapter 7</vt:lpstr>
      <vt:lpstr>Runtime Environments</vt:lpstr>
      <vt:lpstr>Runtime enviorment</vt:lpstr>
      <vt:lpstr>PowerPoint Presentation</vt:lpstr>
      <vt:lpstr>PowerPoint Presentation</vt:lpstr>
      <vt:lpstr>PowerPoint Presentation</vt:lpstr>
      <vt:lpstr>Fully Static Runtime Environments</vt:lpstr>
      <vt:lpstr>PowerPoint Presentation</vt:lpstr>
      <vt:lpstr>Stack based Run time Environments</vt:lpstr>
      <vt:lpstr>Example 7.3</vt:lpstr>
      <vt:lpstr>Example 7.3</vt:lpstr>
      <vt:lpstr>PowerPoint Presentation</vt:lpstr>
      <vt:lpstr>PowerPoint Presentation</vt:lpstr>
      <vt:lpstr>PowerPoint Presentation</vt:lpstr>
      <vt:lpstr>PowerPoint Presentation</vt:lpstr>
      <vt:lpstr>Variable Length Data</vt:lpstr>
      <vt:lpstr>Parameter and local Variable variable length</vt:lpstr>
      <vt:lpstr>Local Temporaries</vt:lpstr>
      <vt:lpstr>Nested Declaration</vt:lpstr>
      <vt:lpstr>Stack Based Environments with local procedures</vt:lpstr>
      <vt:lpstr>PowerPoint Presentation</vt:lpstr>
      <vt:lpstr>Dynamic  Memory </vt:lpstr>
      <vt:lpstr>Heap management</vt:lpstr>
      <vt:lpstr>Garbage Collection  </vt:lpstr>
      <vt:lpstr>Parameter Passing Mechanism </vt:lpstr>
      <vt:lpstr>Call-by-Reference </vt:lpstr>
      <vt:lpstr>Call-by-Value-Result (Copy-In/Copy-Out) </vt:lpstr>
      <vt:lpstr>Call-by-Name (Delayed Evaluation)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creator>Moazzam Ali</dc:creator>
  <cp:lastModifiedBy>Moazzam Ali</cp:lastModifiedBy>
  <cp:revision>22</cp:revision>
  <dcterms:created xsi:type="dcterms:W3CDTF">2025-04-27T12:55:35Z</dcterms:created>
  <dcterms:modified xsi:type="dcterms:W3CDTF">2025-04-29T06:04:58Z</dcterms:modified>
</cp:coreProperties>
</file>