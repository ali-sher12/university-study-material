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84" r:id="rId3"/>
  </p:sldMasterIdLst>
  <p:sldIdLst>
    <p:sldId id="321" r:id="rId4"/>
    <p:sldId id="257" r:id="rId5"/>
    <p:sldId id="416" r:id="rId6"/>
    <p:sldId id="440" r:id="rId7"/>
    <p:sldId id="442" r:id="rId8"/>
    <p:sldId id="443" r:id="rId9"/>
    <p:sldId id="444" r:id="rId10"/>
    <p:sldId id="445" r:id="rId11"/>
    <p:sldId id="446" r:id="rId12"/>
    <p:sldId id="447" r:id="rId13"/>
    <p:sldId id="448" r:id="rId14"/>
    <p:sldId id="449" r:id="rId15"/>
    <p:sldId id="417" r:id="rId16"/>
    <p:sldId id="322" r:id="rId17"/>
    <p:sldId id="418" r:id="rId18"/>
    <p:sldId id="419" r:id="rId19"/>
    <p:sldId id="420" r:id="rId20"/>
    <p:sldId id="432" r:id="rId21"/>
    <p:sldId id="434" r:id="rId22"/>
    <p:sldId id="435" r:id="rId23"/>
    <p:sldId id="436" r:id="rId24"/>
    <p:sldId id="437" r:id="rId25"/>
    <p:sldId id="423" r:id="rId26"/>
    <p:sldId id="424" r:id="rId27"/>
    <p:sldId id="425" r:id="rId28"/>
    <p:sldId id="329" r:id="rId29"/>
    <p:sldId id="331" r:id="rId30"/>
    <p:sldId id="332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44" r:id="rId40"/>
    <p:sldId id="345" r:id="rId41"/>
    <p:sldId id="346" r:id="rId42"/>
    <p:sldId id="347" r:id="rId43"/>
    <p:sldId id="348" r:id="rId44"/>
    <p:sldId id="349" r:id="rId45"/>
    <p:sldId id="350" r:id="rId46"/>
    <p:sldId id="351" r:id="rId47"/>
    <p:sldId id="270" r:id="rId48"/>
    <p:sldId id="271" r:id="rId49"/>
    <p:sldId id="272" r:id="rId50"/>
    <p:sldId id="273" r:id="rId51"/>
    <p:sldId id="274" r:id="rId52"/>
    <p:sldId id="275" r:id="rId53"/>
    <p:sldId id="276" r:id="rId54"/>
    <p:sldId id="277" r:id="rId55"/>
    <p:sldId id="278" r:id="rId56"/>
    <p:sldId id="279" r:id="rId57"/>
    <p:sldId id="280" r:id="rId58"/>
    <p:sldId id="281" r:id="rId59"/>
    <p:sldId id="282" r:id="rId60"/>
    <p:sldId id="283" r:id="rId61"/>
    <p:sldId id="284" r:id="rId62"/>
    <p:sldId id="285" r:id="rId63"/>
    <p:sldId id="286" r:id="rId64"/>
    <p:sldId id="287" r:id="rId65"/>
    <p:sldId id="288" r:id="rId66"/>
    <p:sldId id="289" r:id="rId67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358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6"/>
            <a:ext cx="908939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9191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1"/>
            <a:ext cx="74853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688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9191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1586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02911" y="1828800"/>
            <a:ext cx="969679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9144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914400" y="457200"/>
                </a:lnTo>
                <a:lnTo>
                  <a:pt x="9144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302911" y="1828800"/>
            <a:ext cx="969679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457200"/>
                </a:moveTo>
                <a:lnTo>
                  <a:pt x="0" y="457200"/>
                </a:lnTo>
                <a:lnTo>
                  <a:pt x="0" y="0"/>
                </a:lnTo>
                <a:lnTo>
                  <a:pt x="914400" y="0"/>
                </a:lnTo>
                <a:lnTo>
                  <a:pt x="914400" y="457200"/>
                </a:lnTo>
                <a:lnTo>
                  <a:pt x="457200" y="4572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242268" y="1828800"/>
            <a:ext cx="969679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9144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914400" y="457200"/>
                </a:lnTo>
                <a:lnTo>
                  <a:pt x="9144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242268" y="1828800"/>
            <a:ext cx="969679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457200"/>
                </a:moveTo>
                <a:lnTo>
                  <a:pt x="0" y="457200"/>
                </a:lnTo>
                <a:lnTo>
                  <a:pt x="0" y="0"/>
                </a:lnTo>
                <a:lnTo>
                  <a:pt x="914400" y="0"/>
                </a:lnTo>
                <a:lnTo>
                  <a:pt x="914400" y="457200"/>
                </a:lnTo>
                <a:lnTo>
                  <a:pt x="457200" y="4572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6302911" y="1828799"/>
            <a:ext cx="1939357" cy="457200"/>
          </a:xfrm>
          <a:custGeom>
            <a:avLst/>
            <a:gdLst/>
            <a:ahLst/>
            <a:cxnLst/>
            <a:rect l="l" t="t" r="r" b="b"/>
            <a:pathLst>
              <a:path w="1828800" h="457200">
                <a:moveTo>
                  <a:pt x="1828800" y="0"/>
                </a:moveTo>
                <a:lnTo>
                  <a:pt x="914400" y="0"/>
                </a:ln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914400" y="457200"/>
                </a:lnTo>
                <a:lnTo>
                  <a:pt x="1371600" y="457200"/>
                </a:lnTo>
                <a:lnTo>
                  <a:pt x="1828800" y="457200"/>
                </a:lnTo>
                <a:lnTo>
                  <a:pt x="18288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272589" y="1828800"/>
            <a:ext cx="969679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457200"/>
                </a:moveTo>
                <a:lnTo>
                  <a:pt x="0" y="457200"/>
                </a:lnTo>
                <a:lnTo>
                  <a:pt x="0" y="0"/>
                </a:lnTo>
                <a:lnTo>
                  <a:pt x="914400" y="0"/>
                </a:lnTo>
                <a:lnTo>
                  <a:pt x="914400" y="457200"/>
                </a:lnTo>
                <a:lnTo>
                  <a:pt x="457200" y="4572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211946" y="1828800"/>
            <a:ext cx="969679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9144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914400" y="457200"/>
                </a:lnTo>
                <a:lnTo>
                  <a:pt x="914400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211946" y="1828800"/>
            <a:ext cx="969679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457200"/>
                </a:moveTo>
                <a:lnTo>
                  <a:pt x="0" y="457200"/>
                </a:lnTo>
                <a:lnTo>
                  <a:pt x="0" y="0"/>
                </a:lnTo>
                <a:lnTo>
                  <a:pt x="914400" y="0"/>
                </a:lnTo>
                <a:lnTo>
                  <a:pt x="914400" y="457200"/>
                </a:lnTo>
                <a:lnTo>
                  <a:pt x="457200" y="45720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242268" y="1828800"/>
            <a:ext cx="969679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9144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914400" y="457200"/>
                </a:lnTo>
                <a:lnTo>
                  <a:pt x="91440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9211946" y="1828800"/>
            <a:ext cx="969679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9144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914400" y="457200"/>
                </a:lnTo>
                <a:lnTo>
                  <a:pt x="914400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7272589" y="1828800"/>
            <a:ext cx="969679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9144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914400" y="457200"/>
                </a:lnTo>
                <a:lnTo>
                  <a:pt x="914400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9191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1" y="1737995"/>
            <a:ext cx="465162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2" y="1737995"/>
            <a:ext cx="465162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397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9191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2773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469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6"/>
            <a:ext cx="908939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9191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1"/>
            <a:ext cx="748538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19191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4838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9191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19191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6553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9191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24574" y="2264410"/>
            <a:ext cx="4229549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19191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900225" y="1578609"/>
            <a:ext cx="4228876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9191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5823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9191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1369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9427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1466" y="801254"/>
            <a:ext cx="670115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69760" y="1909564"/>
            <a:ext cx="6211570" cy="3916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765" y="115569"/>
            <a:ext cx="10539868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9191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69941" y="2620382"/>
            <a:ext cx="509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6"/>
            <a:ext cx="34218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6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6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4019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808" y="554990"/>
            <a:ext cx="952978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91919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4573" y="2264410"/>
            <a:ext cx="4649744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19191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6"/>
            <a:ext cx="34218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6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6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7098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0325" y="3070428"/>
            <a:ext cx="4217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5100" algn="l"/>
              </a:tabLst>
            </a:pPr>
            <a:r>
              <a:rPr sz="3600" spc="-20" dirty="0"/>
              <a:t>Code</a:t>
            </a:r>
            <a:r>
              <a:rPr sz="3600" dirty="0"/>
              <a:t>	</a:t>
            </a:r>
            <a:r>
              <a:rPr sz="3600" spc="-10" dirty="0"/>
              <a:t>Generation</a:t>
            </a:r>
            <a:endParaRPr sz="3600"/>
          </a:p>
        </p:txBody>
      </p:sp>
    </p:spTree>
    <p:extLst>
      <p:ext uri="{BB962C8B-B14F-4D97-AF65-F5344CB8AC3E}">
        <p14:creationId xmlns:p14="http://schemas.microsoft.com/office/powerpoint/2010/main" val="3625292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5491" y="801254"/>
            <a:ext cx="67938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Compiler</a:t>
            </a:r>
            <a:r>
              <a:rPr spc="-4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11283" y="3222509"/>
            <a:ext cx="762000" cy="609600"/>
          </a:xfrm>
          <a:prstGeom prst="rect">
            <a:avLst/>
          </a:prstGeom>
          <a:solidFill>
            <a:srgbClr val="FFFDA9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3505" marR="66040" indent="-38100">
              <a:lnSpc>
                <a:spcPts val="1600"/>
              </a:lnSpc>
            </a:pPr>
            <a:r>
              <a:rPr sz="1400" b="1" spc="-10" dirty="0">
                <a:latin typeface="Times New Roman"/>
                <a:cs typeface="Times New Roman"/>
              </a:rPr>
              <a:t>Scanner (lexical</a:t>
            </a:r>
            <a:endParaRPr sz="1400">
              <a:latin typeface="Times New Roman"/>
              <a:cs typeface="Times New Roman"/>
            </a:endParaRPr>
          </a:p>
          <a:p>
            <a:pPr marL="90805">
              <a:lnSpc>
                <a:spcPts val="1600"/>
              </a:lnSpc>
            </a:pPr>
            <a:r>
              <a:rPr sz="1400" b="1" spc="-10" dirty="0">
                <a:latin typeface="Times New Roman"/>
                <a:cs typeface="Times New Roman"/>
              </a:rPr>
              <a:t>analysis)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8083" y="3222509"/>
            <a:ext cx="762000" cy="609600"/>
          </a:xfrm>
          <a:prstGeom prst="rect">
            <a:avLst/>
          </a:prstGeom>
          <a:solidFill>
            <a:srgbClr val="FFFDA9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 marR="109220" indent="38100">
              <a:lnSpc>
                <a:spcPts val="1600"/>
              </a:lnSpc>
            </a:pPr>
            <a:r>
              <a:rPr sz="1400" b="1" spc="-10" dirty="0">
                <a:latin typeface="Times New Roman"/>
                <a:cs typeface="Times New Roman"/>
              </a:rPr>
              <a:t>Parser (syntax</a:t>
            </a:r>
            <a:endParaRPr sz="1400">
              <a:latin typeface="Times New Roman"/>
              <a:cs typeface="Times New Roman"/>
            </a:endParaRPr>
          </a:p>
          <a:p>
            <a:pPr marL="91440">
              <a:lnSpc>
                <a:spcPts val="1600"/>
              </a:lnSpc>
            </a:pPr>
            <a:r>
              <a:rPr sz="1400" b="1" spc="-10" dirty="0">
                <a:latin typeface="Times New Roman"/>
                <a:cs typeface="Times New Roman"/>
              </a:rPr>
              <a:t>analysis)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368520" y="3489209"/>
            <a:ext cx="1529080" cy="76200"/>
            <a:chOff x="2368520" y="3489209"/>
            <a:chExt cx="1529080" cy="76200"/>
          </a:xfrm>
        </p:grpSpPr>
        <p:sp>
          <p:nvSpPr>
            <p:cNvPr id="6" name="object 6"/>
            <p:cNvSpPr/>
            <p:nvPr/>
          </p:nvSpPr>
          <p:spPr>
            <a:xfrm>
              <a:off x="2373283" y="3527309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39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01883" y="34892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40083" y="3527309"/>
              <a:ext cx="431800" cy="0"/>
            </a:xfrm>
            <a:custGeom>
              <a:avLst/>
              <a:gdLst/>
              <a:ahLst/>
              <a:cxnLst/>
              <a:rect l="l" t="t" r="r" b="b"/>
              <a:pathLst>
                <a:path w="431800">
                  <a:moveTo>
                    <a:pt x="0" y="0"/>
                  </a:moveTo>
                  <a:lnTo>
                    <a:pt x="43179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21083" y="34892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88083" y="3222509"/>
            <a:ext cx="914400" cy="609600"/>
          </a:xfrm>
          <a:prstGeom prst="rect">
            <a:avLst/>
          </a:prstGeom>
          <a:solidFill>
            <a:srgbClr val="FFFDA9"/>
          </a:solidFill>
          <a:ln w="9524">
            <a:solidFill>
              <a:srgbClr val="000000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marL="65405" marR="60325" indent="190500">
              <a:lnSpc>
                <a:spcPts val="1600"/>
              </a:lnSpc>
              <a:spcBef>
                <a:spcPts val="840"/>
              </a:spcBef>
            </a:pPr>
            <a:r>
              <a:rPr sz="1400" b="1" spc="-20" dirty="0">
                <a:latin typeface="Times New Roman"/>
                <a:cs typeface="Times New Roman"/>
              </a:rPr>
              <a:t>Code </a:t>
            </a:r>
            <a:r>
              <a:rPr sz="1400" b="1" spc="-10" dirty="0">
                <a:latin typeface="Times New Roman"/>
                <a:cs typeface="Times New Roman"/>
              </a:rPr>
              <a:t>Optimizer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859683" y="3222509"/>
            <a:ext cx="914400" cy="609600"/>
          </a:xfrm>
          <a:prstGeom prst="rect">
            <a:avLst/>
          </a:prstGeom>
          <a:solidFill>
            <a:srgbClr val="FFFDA9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5405" marR="51435" indent="190500">
              <a:lnSpc>
                <a:spcPts val="1600"/>
              </a:lnSpc>
            </a:pPr>
            <a:r>
              <a:rPr sz="1400" b="1" spc="-20" dirty="0">
                <a:latin typeface="Times New Roman"/>
                <a:cs typeface="Times New Roman"/>
              </a:rPr>
              <a:t>Code </a:t>
            </a:r>
            <a:r>
              <a:rPr sz="1400" b="1" spc="-10" dirty="0">
                <a:latin typeface="Times New Roman"/>
                <a:cs typeface="Times New Roman"/>
              </a:rPr>
              <a:t>Generator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01720" y="3489209"/>
            <a:ext cx="7777480" cy="76200"/>
            <a:chOff x="1301720" y="3489209"/>
            <a:chExt cx="7777480" cy="76200"/>
          </a:xfrm>
        </p:grpSpPr>
        <p:sp>
          <p:nvSpPr>
            <p:cNvPr id="13" name="object 13"/>
            <p:cNvSpPr/>
            <p:nvPr/>
          </p:nvSpPr>
          <p:spPr>
            <a:xfrm>
              <a:off x="1306483" y="3527309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39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083" y="34892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74081" y="3527309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0" y="0"/>
                  </a:moveTo>
                  <a:lnTo>
                    <a:pt x="27940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02681" y="34892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15323" y="3331729"/>
            <a:ext cx="4718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Source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1823" y="3509529"/>
            <a:ext cx="610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language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75823" y="2950729"/>
            <a:ext cx="448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tokens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66423" y="2950729"/>
            <a:ext cx="678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imes New Roman"/>
                <a:cs typeface="Times New Roman"/>
              </a:rPr>
              <a:t>Parse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Times New Roman"/>
                <a:cs typeface="Times New Roman"/>
              </a:rPr>
              <a:t>tree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54646" y="2798329"/>
            <a:ext cx="1082040" cy="3860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23215" marR="5080" indent="-101600">
              <a:lnSpc>
                <a:spcPts val="1400"/>
              </a:lnSpc>
              <a:spcBef>
                <a:spcPts val="180"/>
              </a:spcBef>
            </a:pPr>
            <a:r>
              <a:rPr sz="1200" b="1" spc="-10" dirty="0">
                <a:latin typeface="Times New Roman"/>
                <a:cs typeface="Times New Roman"/>
              </a:rPr>
              <a:t>Intermediate Language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14746" y="3331729"/>
            <a:ext cx="4521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Times New Roman"/>
                <a:cs typeface="Times New Roman"/>
              </a:rPr>
              <a:t>Target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38546" y="3509529"/>
            <a:ext cx="610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language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873720" y="3489209"/>
            <a:ext cx="1986280" cy="76200"/>
            <a:chOff x="5873720" y="3489209"/>
            <a:chExt cx="1986280" cy="76200"/>
          </a:xfrm>
        </p:grpSpPr>
        <p:sp>
          <p:nvSpPr>
            <p:cNvPr id="25" name="object 25"/>
            <p:cNvSpPr/>
            <p:nvPr/>
          </p:nvSpPr>
          <p:spPr>
            <a:xfrm>
              <a:off x="5878483" y="3527309"/>
              <a:ext cx="584200" cy="0"/>
            </a:xfrm>
            <a:custGeom>
              <a:avLst/>
              <a:gdLst/>
              <a:ahLst/>
              <a:cxnLst/>
              <a:rect l="l" t="t" r="r" b="b"/>
              <a:pathLst>
                <a:path w="584200">
                  <a:moveTo>
                    <a:pt x="0" y="0"/>
                  </a:moveTo>
                  <a:lnTo>
                    <a:pt x="58419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11883" y="34892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02483" y="3527309"/>
              <a:ext cx="431800" cy="0"/>
            </a:xfrm>
            <a:custGeom>
              <a:avLst/>
              <a:gdLst/>
              <a:ahLst/>
              <a:cxnLst/>
              <a:rect l="l" t="t" r="r" b="b"/>
              <a:pathLst>
                <a:path w="431800">
                  <a:moveTo>
                    <a:pt x="0" y="0"/>
                  </a:moveTo>
                  <a:lnTo>
                    <a:pt x="43180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783483" y="34892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159628" y="2645929"/>
            <a:ext cx="872490" cy="3860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13664" marR="5080" indent="-101600">
              <a:lnSpc>
                <a:spcPts val="1400"/>
              </a:lnSpc>
              <a:spcBef>
                <a:spcPts val="180"/>
              </a:spcBef>
            </a:pPr>
            <a:r>
              <a:rPr sz="1200" b="1" spc="-10" dirty="0">
                <a:latin typeface="Times New Roman"/>
                <a:cs typeface="Times New Roman"/>
              </a:rPr>
              <a:t>Intermediate Language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444595" y="2441459"/>
            <a:ext cx="7425055" cy="1790700"/>
            <a:chOff x="1444595" y="2441459"/>
            <a:chExt cx="7425055" cy="1790700"/>
          </a:xfrm>
        </p:grpSpPr>
        <p:sp>
          <p:nvSpPr>
            <p:cNvPr id="31" name="object 31"/>
            <p:cNvSpPr/>
            <p:nvPr/>
          </p:nvSpPr>
          <p:spPr>
            <a:xfrm>
              <a:off x="5649883" y="2689109"/>
              <a:ext cx="2514600" cy="533400"/>
            </a:xfrm>
            <a:custGeom>
              <a:avLst/>
              <a:gdLst/>
              <a:ahLst/>
              <a:cxnLst/>
              <a:rect l="l" t="t" r="r" b="b"/>
              <a:pathLst>
                <a:path w="2514600" h="533400">
                  <a:moveTo>
                    <a:pt x="0" y="0"/>
                  </a:moveTo>
                  <a:lnTo>
                    <a:pt x="1" y="533399"/>
                  </a:lnTo>
                </a:path>
                <a:path w="2514600" h="533400">
                  <a:moveTo>
                    <a:pt x="0" y="0"/>
                  </a:moveTo>
                  <a:lnTo>
                    <a:pt x="2514599" y="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164483" y="2689109"/>
              <a:ext cx="0" cy="508000"/>
            </a:xfrm>
            <a:custGeom>
              <a:avLst/>
              <a:gdLst/>
              <a:ahLst/>
              <a:cxnLst/>
              <a:rect l="l" t="t" r="r" b="b"/>
              <a:pathLst>
                <a:path h="508000">
                  <a:moveTo>
                    <a:pt x="0" y="5079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126383" y="31463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58883" y="2460509"/>
              <a:ext cx="4495800" cy="1752600"/>
            </a:xfrm>
            <a:custGeom>
              <a:avLst/>
              <a:gdLst/>
              <a:ahLst/>
              <a:cxnLst/>
              <a:rect l="l" t="t" r="r" b="b"/>
              <a:pathLst>
                <a:path w="4495800" h="1752600">
                  <a:moveTo>
                    <a:pt x="0" y="0"/>
                  </a:moveTo>
                  <a:lnTo>
                    <a:pt x="4495798" y="0"/>
                  </a:lnTo>
                  <a:lnTo>
                    <a:pt x="4495798" y="1752599"/>
                  </a:lnTo>
                  <a:lnTo>
                    <a:pt x="0" y="17525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11883" y="2460509"/>
              <a:ext cx="2438400" cy="1752600"/>
            </a:xfrm>
            <a:custGeom>
              <a:avLst/>
              <a:gdLst/>
              <a:ahLst/>
              <a:cxnLst/>
              <a:rect l="l" t="t" r="r" b="b"/>
              <a:pathLst>
                <a:path w="2438400" h="1752600">
                  <a:moveTo>
                    <a:pt x="0" y="0"/>
                  </a:moveTo>
                  <a:lnTo>
                    <a:pt x="2438399" y="0"/>
                  </a:lnTo>
                  <a:lnTo>
                    <a:pt x="2438399" y="1752599"/>
                  </a:lnTo>
                  <a:lnTo>
                    <a:pt x="0" y="17525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FF4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97283" y="3222509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7620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762000" y="685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FD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897283" y="3222509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0"/>
                  </a:moveTo>
                  <a:lnTo>
                    <a:pt x="761999" y="0"/>
                  </a:lnTo>
                  <a:lnTo>
                    <a:pt x="761999" y="685799"/>
                  </a:lnTo>
                  <a:lnTo>
                    <a:pt x="0" y="685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902045" y="3339349"/>
            <a:ext cx="752475" cy="44195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48260" marR="20320" indent="-25400">
              <a:lnSpc>
                <a:spcPts val="1600"/>
              </a:lnSpc>
              <a:spcBef>
                <a:spcPts val="219"/>
              </a:spcBef>
            </a:pPr>
            <a:r>
              <a:rPr sz="1400" b="1" spc="-10" dirty="0">
                <a:latin typeface="Times New Roman"/>
                <a:cs typeface="Times New Roman"/>
              </a:rPr>
              <a:t>Semantic Analysis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035520" y="3217747"/>
            <a:ext cx="847725" cy="695325"/>
            <a:chOff x="5035520" y="3217747"/>
            <a:chExt cx="847725" cy="695325"/>
          </a:xfrm>
        </p:grpSpPr>
        <p:sp>
          <p:nvSpPr>
            <p:cNvPr id="40" name="object 40"/>
            <p:cNvSpPr/>
            <p:nvPr/>
          </p:nvSpPr>
          <p:spPr>
            <a:xfrm>
              <a:off x="5040283" y="3222509"/>
              <a:ext cx="838200" cy="685800"/>
            </a:xfrm>
            <a:custGeom>
              <a:avLst/>
              <a:gdLst/>
              <a:ahLst/>
              <a:cxnLst/>
              <a:rect l="l" t="t" r="r" b="b"/>
              <a:pathLst>
                <a:path w="838200" h="685800">
                  <a:moveTo>
                    <a:pt x="8382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838200" y="685800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FFFD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40283" y="3222509"/>
              <a:ext cx="838200" cy="685800"/>
            </a:xfrm>
            <a:custGeom>
              <a:avLst/>
              <a:gdLst/>
              <a:ahLst/>
              <a:cxnLst/>
              <a:rect l="l" t="t" r="r" b="b"/>
              <a:pathLst>
                <a:path w="838200" h="685800">
                  <a:moveTo>
                    <a:pt x="0" y="0"/>
                  </a:moveTo>
                  <a:lnTo>
                    <a:pt x="838199" y="0"/>
                  </a:lnTo>
                  <a:lnTo>
                    <a:pt x="838199" y="685799"/>
                  </a:lnTo>
                  <a:lnTo>
                    <a:pt x="0" y="685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045045" y="3339349"/>
            <a:ext cx="828675" cy="4419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639"/>
              </a:lnSpc>
              <a:spcBef>
                <a:spcPts val="100"/>
              </a:spcBef>
            </a:pPr>
            <a:r>
              <a:rPr sz="1400" b="1" spc="-25" dirty="0">
                <a:latin typeface="Times New Roman"/>
                <a:cs typeface="Times New Roman"/>
              </a:rPr>
              <a:t>IC</a:t>
            </a:r>
            <a:endParaRPr sz="1400">
              <a:latin typeface="Times New Roman"/>
              <a:cs typeface="Times New Roman"/>
            </a:endParaRPr>
          </a:p>
          <a:p>
            <a:pPr marL="8890" algn="ctr">
              <a:lnSpc>
                <a:spcPts val="1639"/>
              </a:lnSpc>
            </a:pPr>
            <a:r>
              <a:rPr sz="1400" b="1" spc="-10" dirty="0">
                <a:latin typeface="Times New Roman"/>
                <a:cs typeface="Times New Roman"/>
              </a:rPr>
              <a:t>generator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654520" y="3489209"/>
            <a:ext cx="386080" cy="76200"/>
            <a:chOff x="4654520" y="3489209"/>
            <a:chExt cx="386080" cy="76200"/>
          </a:xfrm>
        </p:grpSpPr>
        <p:sp>
          <p:nvSpPr>
            <p:cNvPr id="44" name="object 44"/>
            <p:cNvSpPr/>
            <p:nvPr/>
          </p:nvSpPr>
          <p:spPr>
            <a:xfrm>
              <a:off x="4659283" y="3527309"/>
              <a:ext cx="355600" cy="0"/>
            </a:xfrm>
            <a:custGeom>
              <a:avLst/>
              <a:gdLst/>
              <a:ahLst/>
              <a:cxnLst/>
              <a:rect l="l" t="t" r="r" b="b"/>
              <a:pathLst>
                <a:path w="355600">
                  <a:moveTo>
                    <a:pt x="0" y="0"/>
                  </a:moveTo>
                  <a:lnTo>
                    <a:pt x="35559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964083" y="34892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691985" y="2950729"/>
            <a:ext cx="3225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Times New Roman"/>
                <a:cs typeface="Times New Roman"/>
              </a:rPr>
              <a:t>AST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135283" y="5637098"/>
            <a:ext cx="1219200" cy="938530"/>
          </a:xfrm>
          <a:prstGeom prst="rect">
            <a:avLst/>
          </a:prstGeom>
          <a:solidFill>
            <a:srgbClr val="D7AEFF"/>
          </a:solidFill>
          <a:ln w="9524">
            <a:solidFill>
              <a:srgbClr val="000000"/>
            </a:solidFill>
          </a:ln>
        </p:spPr>
        <p:txBody>
          <a:bodyPr vert="horz" wrap="square" lIns="0" tIns="163830" rIns="0" bIns="0" rtlCol="0">
            <a:spAutoFit/>
          </a:bodyPr>
          <a:lstStyle/>
          <a:p>
            <a:pPr marL="154940" marR="153035" indent="139700">
              <a:lnSpc>
                <a:spcPct val="100000"/>
              </a:lnSpc>
              <a:spcBef>
                <a:spcPts val="1290"/>
              </a:spcBef>
            </a:pPr>
            <a:r>
              <a:rPr sz="2000" b="1" spc="-10" dirty="0">
                <a:latin typeface="Times New Roman"/>
                <a:cs typeface="Times New Roman"/>
              </a:rPr>
              <a:t>Error Handler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977995" y="3817822"/>
            <a:ext cx="5972175" cy="1833880"/>
            <a:chOff x="1977995" y="3817822"/>
            <a:chExt cx="5972175" cy="1833880"/>
          </a:xfrm>
        </p:grpSpPr>
        <p:sp>
          <p:nvSpPr>
            <p:cNvPr id="49" name="object 49"/>
            <p:cNvSpPr/>
            <p:nvPr/>
          </p:nvSpPr>
          <p:spPr>
            <a:xfrm>
              <a:off x="1992283" y="3832109"/>
              <a:ext cx="1371600" cy="1805305"/>
            </a:xfrm>
            <a:custGeom>
              <a:avLst/>
              <a:gdLst/>
              <a:ahLst/>
              <a:cxnLst/>
              <a:rect l="l" t="t" r="r" b="b"/>
              <a:pathLst>
                <a:path w="1371600" h="1805304">
                  <a:moveTo>
                    <a:pt x="0" y="0"/>
                  </a:moveTo>
                  <a:lnTo>
                    <a:pt x="1371599" y="1804987"/>
                  </a:lnTo>
                </a:path>
              </a:pathLst>
            </a:custGeom>
            <a:ln w="2857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982883" y="3832109"/>
              <a:ext cx="533400" cy="1805305"/>
            </a:xfrm>
            <a:custGeom>
              <a:avLst/>
              <a:gdLst/>
              <a:ahLst/>
              <a:cxnLst/>
              <a:rect l="l" t="t" r="r" b="b"/>
              <a:pathLst>
                <a:path w="533400" h="1805304">
                  <a:moveTo>
                    <a:pt x="0" y="0"/>
                  </a:moveTo>
                  <a:lnTo>
                    <a:pt x="533399" y="1804987"/>
                  </a:lnTo>
                </a:path>
              </a:pathLst>
            </a:custGeom>
            <a:ln w="2857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049684" y="3832109"/>
              <a:ext cx="3886200" cy="1805305"/>
            </a:xfrm>
            <a:custGeom>
              <a:avLst/>
              <a:gdLst/>
              <a:ahLst/>
              <a:cxnLst/>
              <a:rect l="l" t="t" r="r" b="b"/>
              <a:pathLst>
                <a:path w="3886200" h="1805304">
                  <a:moveTo>
                    <a:pt x="3886198" y="0"/>
                  </a:moveTo>
                  <a:lnTo>
                    <a:pt x="0" y="1804987"/>
                  </a:lnTo>
                </a:path>
              </a:pathLst>
            </a:custGeom>
            <a:ln w="2857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44883" y="3908309"/>
              <a:ext cx="1676400" cy="1729105"/>
            </a:xfrm>
            <a:custGeom>
              <a:avLst/>
              <a:gdLst/>
              <a:ahLst/>
              <a:cxnLst/>
              <a:rect l="l" t="t" r="r" b="b"/>
              <a:pathLst>
                <a:path w="1676400" h="1729104">
                  <a:moveTo>
                    <a:pt x="1676399" y="0"/>
                  </a:moveTo>
                  <a:lnTo>
                    <a:pt x="0" y="1728787"/>
                  </a:lnTo>
                </a:path>
              </a:pathLst>
            </a:custGeom>
            <a:ln w="2857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897282" y="3832109"/>
              <a:ext cx="2971800" cy="1805305"/>
            </a:xfrm>
            <a:custGeom>
              <a:avLst/>
              <a:gdLst/>
              <a:ahLst/>
              <a:cxnLst/>
              <a:rect l="l" t="t" r="r" b="b"/>
              <a:pathLst>
                <a:path w="2971800" h="1805304">
                  <a:moveTo>
                    <a:pt x="2971799" y="0"/>
                  </a:moveTo>
                  <a:lnTo>
                    <a:pt x="0" y="1804987"/>
                  </a:lnTo>
                </a:path>
              </a:pathLst>
            </a:custGeom>
            <a:ln w="2857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592483" y="3908309"/>
              <a:ext cx="685800" cy="1729105"/>
            </a:xfrm>
            <a:custGeom>
              <a:avLst/>
              <a:gdLst/>
              <a:ahLst/>
              <a:cxnLst/>
              <a:rect l="l" t="t" r="r" b="b"/>
              <a:pathLst>
                <a:path w="685800" h="1729104">
                  <a:moveTo>
                    <a:pt x="685799" y="0"/>
                  </a:moveTo>
                  <a:lnTo>
                    <a:pt x="0" y="1728787"/>
                  </a:lnTo>
                </a:path>
              </a:pathLst>
            </a:custGeom>
            <a:ln w="28574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030883" y="5584709"/>
            <a:ext cx="1219200" cy="990600"/>
          </a:xfrm>
          <a:prstGeom prst="rect">
            <a:avLst/>
          </a:prstGeom>
          <a:solidFill>
            <a:srgbClr val="FFD300"/>
          </a:solidFill>
          <a:ln w="9524">
            <a:solidFill>
              <a:srgbClr val="000000"/>
            </a:solidFill>
          </a:ln>
        </p:spPr>
        <p:txBody>
          <a:bodyPr vert="horz" wrap="square" lIns="0" tIns="190500" rIns="0" bIns="0" rtlCol="0">
            <a:spAutoFit/>
          </a:bodyPr>
          <a:lstStyle/>
          <a:p>
            <a:pPr marL="307340" marR="186690" indent="-101600">
              <a:lnSpc>
                <a:spcPct val="100000"/>
              </a:lnSpc>
              <a:spcBef>
                <a:spcPts val="1500"/>
              </a:spcBef>
            </a:pPr>
            <a:r>
              <a:rPr sz="2000" b="1" spc="-10" dirty="0">
                <a:latin typeface="Times New Roman"/>
                <a:cs typeface="Times New Roman"/>
              </a:rPr>
              <a:t>Symbol Table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2206595" y="3817822"/>
            <a:ext cx="6200775" cy="1781175"/>
            <a:chOff x="2206595" y="3817822"/>
            <a:chExt cx="6200775" cy="1781175"/>
          </a:xfrm>
        </p:grpSpPr>
        <p:sp>
          <p:nvSpPr>
            <p:cNvPr id="57" name="object 57"/>
            <p:cNvSpPr/>
            <p:nvPr/>
          </p:nvSpPr>
          <p:spPr>
            <a:xfrm>
              <a:off x="2220883" y="3832109"/>
              <a:ext cx="3962400" cy="1752600"/>
            </a:xfrm>
            <a:custGeom>
              <a:avLst/>
              <a:gdLst/>
              <a:ahLst/>
              <a:cxnLst/>
              <a:rect l="l" t="t" r="r" b="b"/>
              <a:pathLst>
                <a:path w="3962400" h="1752600">
                  <a:moveTo>
                    <a:pt x="0" y="0"/>
                  </a:moveTo>
                  <a:lnTo>
                    <a:pt x="3962398" y="1752599"/>
                  </a:lnTo>
                </a:path>
              </a:pathLst>
            </a:custGeom>
            <a:ln w="28574">
              <a:solidFill>
                <a:srgbClr val="FF4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135283" y="3832109"/>
              <a:ext cx="3276600" cy="1752600"/>
            </a:xfrm>
            <a:custGeom>
              <a:avLst/>
              <a:gdLst/>
              <a:ahLst/>
              <a:cxnLst/>
              <a:rect l="l" t="t" r="r" b="b"/>
              <a:pathLst>
                <a:path w="3276600" h="1752600">
                  <a:moveTo>
                    <a:pt x="0" y="0"/>
                  </a:moveTo>
                  <a:lnTo>
                    <a:pt x="3276599" y="1752599"/>
                  </a:lnTo>
                </a:path>
              </a:pathLst>
            </a:custGeom>
            <a:ln w="28574">
              <a:solidFill>
                <a:srgbClr val="FF4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649883" y="3832109"/>
              <a:ext cx="1066800" cy="1752600"/>
            </a:xfrm>
            <a:custGeom>
              <a:avLst/>
              <a:gdLst/>
              <a:ahLst/>
              <a:cxnLst/>
              <a:rect l="l" t="t" r="r" b="b"/>
              <a:pathLst>
                <a:path w="1066800" h="1752600">
                  <a:moveTo>
                    <a:pt x="0" y="0"/>
                  </a:moveTo>
                  <a:lnTo>
                    <a:pt x="1066799" y="1752599"/>
                  </a:lnTo>
                </a:path>
              </a:pathLst>
            </a:custGeom>
            <a:ln w="28574">
              <a:solidFill>
                <a:srgbClr val="FF4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869083" y="3832109"/>
              <a:ext cx="152400" cy="1752600"/>
            </a:xfrm>
            <a:custGeom>
              <a:avLst/>
              <a:gdLst/>
              <a:ahLst/>
              <a:cxnLst/>
              <a:rect l="l" t="t" r="r" b="b"/>
              <a:pathLst>
                <a:path w="152400" h="1752600">
                  <a:moveTo>
                    <a:pt x="152399" y="0"/>
                  </a:moveTo>
                  <a:lnTo>
                    <a:pt x="0" y="1752599"/>
                  </a:lnTo>
                </a:path>
              </a:pathLst>
            </a:custGeom>
            <a:ln w="28574">
              <a:solidFill>
                <a:srgbClr val="FF4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021483" y="3832109"/>
              <a:ext cx="1371600" cy="1752600"/>
            </a:xfrm>
            <a:custGeom>
              <a:avLst/>
              <a:gdLst/>
              <a:ahLst/>
              <a:cxnLst/>
              <a:rect l="l" t="t" r="r" b="b"/>
              <a:pathLst>
                <a:path w="1371600" h="1752600">
                  <a:moveTo>
                    <a:pt x="1371599" y="0"/>
                  </a:moveTo>
                  <a:lnTo>
                    <a:pt x="0" y="1752599"/>
                  </a:lnTo>
                </a:path>
              </a:pathLst>
            </a:custGeom>
            <a:ln w="28574">
              <a:solidFill>
                <a:srgbClr val="FF4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430682" y="3908309"/>
              <a:ext cx="2133600" cy="1676400"/>
            </a:xfrm>
            <a:custGeom>
              <a:avLst/>
              <a:gdLst/>
              <a:ahLst/>
              <a:cxnLst/>
              <a:rect l="l" t="t" r="r" b="b"/>
              <a:pathLst>
                <a:path w="2133600" h="1676400">
                  <a:moveTo>
                    <a:pt x="0" y="0"/>
                  </a:moveTo>
                  <a:lnTo>
                    <a:pt x="2133599" y="1676399"/>
                  </a:lnTo>
                </a:path>
              </a:pathLst>
            </a:custGeom>
            <a:ln w="28574">
              <a:solidFill>
                <a:srgbClr val="FF4C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7489160" y="3103129"/>
            <a:ext cx="305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latin typeface="Times New Roman"/>
                <a:cs typeface="Times New Roman"/>
              </a:rPr>
              <a:t>OIL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537623" y="2036329"/>
            <a:ext cx="1383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Front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00FF"/>
                </a:solidFill>
                <a:latin typeface="Times New Roman"/>
                <a:cs typeface="Times New Roman"/>
              </a:rPr>
              <a:t>End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490622" y="2036329"/>
            <a:ext cx="1304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90707"/>
                </a:solidFill>
                <a:latin typeface="Times New Roman"/>
                <a:cs typeface="Times New Roman"/>
              </a:rPr>
              <a:t>Back</a:t>
            </a:r>
            <a:r>
              <a:rPr sz="2400" b="1" spc="-20" dirty="0">
                <a:solidFill>
                  <a:srgbClr val="F90707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90707"/>
                </a:solidFill>
                <a:latin typeface="Times New Roman"/>
                <a:cs typeface="Times New Roman"/>
              </a:rPr>
              <a:t>End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0900" y="306704"/>
            <a:ext cx="7895268" cy="1365465"/>
          </a:xfrm>
          <a:prstGeom prst="rect">
            <a:avLst/>
          </a:prstGeom>
        </p:spPr>
        <p:txBody>
          <a:bodyPr vert="horz" wrap="square" lIns="0" tIns="11139" rIns="0" bIns="0" rtlCol="0">
            <a:spAutoFit/>
          </a:bodyPr>
          <a:lstStyle/>
          <a:p>
            <a:pPr marL="11139">
              <a:spcBef>
                <a:spcPts val="88"/>
              </a:spcBef>
            </a:pPr>
            <a:r>
              <a:rPr dirty="0"/>
              <a:t>An</a:t>
            </a:r>
            <a:r>
              <a:rPr spc="-35" dirty="0"/>
              <a:t> </a:t>
            </a:r>
            <a:r>
              <a:rPr dirty="0"/>
              <a:t>Overview</a:t>
            </a:r>
            <a:r>
              <a:rPr spc="-31" dirty="0"/>
              <a:t> </a:t>
            </a:r>
            <a:r>
              <a:rPr dirty="0"/>
              <a:t>of</a:t>
            </a:r>
            <a:r>
              <a:rPr spc="-22" dirty="0"/>
              <a:t> </a:t>
            </a:r>
            <a:r>
              <a:rPr spc="-9" dirty="0"/>
              <a:t>Compilation</a:t>
            </a:r>
          </a:p>
        </p:txBody>
      </p:sp>
      <p:sp>
        <p:nvSpPr>
          <p:cNvPr id="3" name="object 3"/>
          <p:cNvSpPr/>
          <p:nvPr/>
        </p:nvSpPr>
        <p:spPr>
          <a:xfrm>
            <a:off x="517293" y="2926787"/>
            <a:ext cx="2842105" cy="632693"/>
          </a:xfrm>
          <a:custGeom>
            <a:avLst/>
            <a:gdLst/>
            <a:ahLst/>
            <a:cxnLst/>
            <a:rect l="l" t="t" r="r" b="b"/>
            <a:pathLst>
              <a:path w="3240404" h="721360">
                <a:moveTo>
                  <a:pt x="3119882" y="0"/>
                </a:moveTo>
                <a:lnTo>
                  <a:pt x="120142" y="0"/>
                </a:lnTo>
                <a:lnTo>
                  <a:pt x="73375" y="9449"/>
                </a:lnTo>
                <a:lnTo>
                  <a:pt x="35186" y="35210"/>
                </a:lnTo>
                <a:lnTo>
                  <a:pt x="9440" y="73402"/>
                </a:lnTo>
                <a:lnTo>
                  <a:pt x="0" y="120141"/>
                </a:lnTo>
                <a:lnTo>
                  <a:pt x="0" y="600710"/>
                </a:lnTo>
                <a:lnTo>
                  <a:pt x="9440" y="647449"/>
                </a:lnTo>
                <a:lnTo>
                  <a:pt x="35186" y="685641"/>
                </a:lnTo>
                <a:lnTo>
                  <a:pt x="73375" y="711402"/>
                </a:lnTo>
                <a:lnTo>
                  <a:pt x="120142" y="720851"/>
                </a:lnTo>
                <a:lnTo>
                  <a:pt x="3119882" y="720851"/>
                </a:lnTo>
                <a:lnTo>
                  <a:pt x="3166621" y="711402"/>
                </a:lnTo>
                <a:lnTo>
                  <a:pt x="3204813" y="685641"/>
                </a:lnTo>
                <a:lnTo>
                  <a:pt x="3230574" y="647449"/>
                </a:lnTo>
                <a:lnTo>
                  <a:pt x="3240024" y="600710"/>
                </a:lnTo>
                <a:lnTo>
                  <a:pt x="3240024" y="120141"/>
                </a:lnTo>
                <a:lnTo>
                  <a:pt x="3230574" y="73402"/>
                </a:lnTo>
                <a:lnTo>
                  <a:pt x="3204813" y="35210"/>
                </a:lnTo>
                <a:lnTo>
                  <a:pt x="3166621" y="9449"/>
                </a:lnTo>
                <a:lnTo>
                  <a:pt x="311988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pPr defTabSz="802020"/>
            <a:endParaRPr sz="1579"/>
          </a:p>
        </p:txBody>
      </p:sp>
      <p:sp>
        <p:nvSpPr>
          <p:cNvPr id="4" name="object 4"/>
          <p:cNvSpPr txBox="1"/>
          <p:nvPr/>
        </p:nvSpPr>
        <p:spPr>
          <a:xfrm>
            <a:off x="1110888" y="3054440"/>
            <a:ext cx="1654135" cy="335183"/>
          </a:xfrm>
          <a:prstGeom prst="rect">
            <a:avLst/>
          </a:prstGeom>
        </p:spPr>
        <p:txBody>
          <a:bodyPr vert="horz" wrap="square" lIns="0" tIns="11139" rIns="0" bIns="0" rtlCol="0">
            <a:spAutoFit/>
          </a:bodyPr>
          <a:lstStyle/>
          <a:p>
            <a:pPr marL="11139" defTabSz="802020">
              <a:spcBef>
                <a:spcPts val="88"/>
              </a:spcBef>
            </a:pPr>
            <a:r>
              <a:rPr sz="2105" dirty="0">
                <a:solidFill>
                  <a:srgbClr val="FFFFFF"/>
                </a:solidFill>
                <a:latin typeface="Calibri"/>
                <a:cs typeface="Calibri"/>
              </a:rPr>
              <a:t>lexical</a:t>
            </a:r>
            <a:r>
              <a:rPr sz="2105" spc="-8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5" spc="-9" dirty="0">
                <a:solidFill>
                  <a:srgbClr val="FFFFFF"/>
                </a:solidFill>
                <a:latin typeface="Calibri"/>
                <a:cs typeface="Calibri"/>
              </a:rPr>
              <a:t>analyzer</a:t>
            </a:r>
            <a:endParaRPr sz="2105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7293" y="5331467"/>
            <a:ext cx="2842105" cy="631022"/>
          </a:xfrm>
          <a:custGeom>
            <a:avLst/>
            <a:gdLst/>
            <a:ahLst/>
            <a:cxnLst/>
            <a:rect l="l" t="t" r="r" b="b"/>
            <a:pathLst>
              <a:path w="3240404" h="719454">
                <a:moveTo>
                  <a:pt x="3120136" y="0"/>
                </a:moveTo>
                <a:lnTo>
                  <a:pt x="119888" y="0"/>
                </a:lnTo>
                <a:lnTo>
                  <a:pt x="73219" y="9427"/>
                </a:lnTo>
                <a:lnTo>
                  <a:pt x="35112" y="35131"/>
                </a:lnTo>
                <a:lnTo>
                  <a:pt x="9420" y="73241"/>
                </a:lnTo>
                <a:lnTo>
                  <a:pt x="0" y="119887"/>
                </a:lnTo>
                <a:lnTo>
                  <a:pt x="0" y="599440"/>
                </a:lnTo>
                <a:lnTo>
                  <a:pt x="9420" y="646102"/>
                </a:lnTo>
                <a:lnTo>
                  <a:pt x="35112" y="684210"/>
                </a:lnTo>
                <a:lnTo>
                  <a:pt x="73219" y="709905"/>
                </a:lnTo>
                <a:lnTo>
                  <a:pt x="119888" y="719328"/>
                </a:lnTo>
                <a:lnTo>
                  <a:pt x="3120136" y="719328"/>
                </a:lnTo>
                <a:lnTo>
                  <a:pt x="3166782" y="709905"/>
                </a:lnTo>
                <a:lnTo>
                  <a:pt x="3204892" y="684210"/>
                </a:lnTo>
                <a:lnTo>
                  <a:pt x="3230596" y="646102"/>
                </a:lnTo>
                <a:lnTo>
                  <a:pt x="3240024" y="599440"/>
                </a:lnTo>
                <a:lnTo>
                  <a:pt x="3240024" y="119887"/>
                </a:lnTo>
                <a:lnTo>
                  <a:pt x="3230596" y="73241"/>
                </a:lnTo>
                <a:lnTo>
                  <a:pt x="3204892" y="35131"/>
                </a:lnTo>
                <a:lnTo>
                  <a:pt x="3166782" y="9427"/>
                </a:lnTo>
                <a:lnTo>
                  <a:pt x="312013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pPr defTabSz="802020"/>
            <a:endParaRPr sz="1579"/>
          </a:p>
        </p:txBody>
      </p:sp>
      <p:sp>
        <p:nvSpPr>
          <p:cNvPr id="6" name="object 6"/>
          <p:cNvSpPr txBox="1"/>
          <p:nvPr/>
        </p:nvSpPr>
        <p:spPr>
          <a:xfrm>
            <a:off x="954475" y="5458272"/>
            <a:ext cx="1966583" cy="335183"/>
          </a:xfrm>
          <a:prstGeom prst="rect">
            <a:avLst/>
          </a:prstGeom>
        </p:spPr>
        <p:txBody>
          <a:bodyPr vert="horz" wrap="square" lIns="0" tIns="11139" rIns="0" bIns="0" rtlCol="0">
            <a:spAutoFit/>
          </a:bodyPr>
          <a:lstStyle/>
          <a:p>
            <a:pPr marL="11139" defTabSz="802020">
              <a:spcBef>
                <a:spcPts val="88"/>
              </a:spcBef>
            </a:pPr>
            <a:r>
              <a:rPr sz="2105" dirty="0">
                <a:solidFill>
                  <a:srgbClr val="FFFFFF"/>
                </a:solidFill>
                <a:latin typeface="Calibri"/>
                <a:cs typeface="Calibri"/>
              </a:rPr>
              <a:t>semantic</a:t>
            </a:r>
            <a:r>
              <a:rPr sz="2105" spc="-6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5" spc="-9" dirty="0">
                <a:solidFill>
                  <a:srgbClr val="FFFFFF"/>
                </a:solidFill>
                <a:latin typeface="Calibri"/>
                <a:cs typeface="Calibri"/>
              </a:rPr>
              <a:t>analyzer</a:t>
            </a:r>
            <a:endParaRPr sz="2105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0560" y="2024086"/>
            <a:ext cx="1449735" cy="281756"/>
          </a:xfrm>
          <a:prstGeom prst="rect">
            <a:avLst/>
          </a:prstGeom>
        </p:spPr>
        <p:txBody>
          <a:bodyPr vert="horz" wrap="square" lIns="0" tIns="11696" rIns="0" bIns="0" rtlCol="0">
            <a:spAutoFit/>
          </a:bodyPr>
          <a:lstStyle/>
          <a:p>
            <a:pPr marL="11139" defTabSz="802020">
              <a:spcBef>
                <a:spcPts val="92"/>
              </a:spcBef>
            </a:pPr>
            <a:r>
              <a:rPr sz="1754" dirty="0">
                <a:latin typeface="Calibri"/>
                <a:cs typeface="Calibri"/>
              </a:rPr>
              <a:t>source</a:t>
            </a:r>
            <a:r>
              <a:rPr sz="1754" spc="-44" dirty="0">
                <a:latin typeface="Calibri"/>
                <a:cs typeface="Calibri"/>
              </a:rPr>
              <a:t> </a:t>
            </a:r>
            <a:r>
              <a:rPr sz="1754" spc="-9" dirty="0">
                <a:latin typeface="Calibri"/>
                <a:cs typeface="Calibri"/>
              </a:rPr>
              <a:t>program</a:t>
            </a:r>
            <a:endParaRPr sz="1754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17878" y="3676663"/>
            <a:ext cx="242272" cy="338624"/>
            <a:chOff x="2072639" y="3313176"/>
            <a:chExt cx="276225" cy="386080"/>
          </a:xfrm>
        </p:grpSpPr>
        <p:sp>
          <p:nvSpPr>
            <p:cNvPr id="9" name="object 9"/>
            <p:cNvSpPr/>
            <p:nvPr/>
          </p:nvSpPr>
          <p:spPr>
            <a:xfrm>
              <a:off x="2209609" y="3528060"/>
              <a:ext cx="0" cy="8255"/>
            </a:xfrm>
            <a:custGeom>
              <a:avLst/>
              <a:gdLst/>
              <a:ahLst/>
              <a:cxnLst/>
              <a:rect l="l" t="t" r="r" b="b"/>
              <a:pathLst>
                <a:path h="8254">
                  <a:moveTo>
                    <a:pt x="0" y="8000"/>
                  </a:moveTo>
                  <a:lnTo>
                    <a:pt x="0" y="0"/>
                  </a:lnTo>
                </a:path>
              </a:pathLst>
            </a:custGeom>
            <a:ln w="57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  <p:sp>
          <p:nvSpPr>
            <p:cNvPr id="10" name="object 10"/>
            <p:cNvSpPr/>
            <p:nvPr/>
          </p:nvSpPr>
          <p:spPr>
            <a:xfrm>
              <a:off x="2082545" y="3323082"/>
              <a:ext cx="256540" cy="365760"/>
            </a:xfrm>
            <a:custGeom>
              <a:avLst/>
              <a:gdLst/>
              <a:ahLst/>
              <a:cxnLst/>
              <a:rect l="l" t="t" r="r" b="b"/>
              <a:pathLst>
                <a:path w="256539" h="365760">
                  <a:moveTo>
                    <a:pt x="0" y="237743"/>
                  </a:moveTo>
                  <a:lnTo>
                    <a:pt x="64008" y="237743"/>
                  </a:lnTo>
                  <a:lnTo>
                    <a:pt x="64008" y="0"/>
                  </a:lnTo>
                  <a:lnTo>
                    <a:pt x="192024" y="0"/>
                  </a:lnTo>
                  <a:lnTo>
                    <a:pt x="192024" y="237743"/>
                  </a:lnTo>
                  <a:lnTo>
                    <a:pt x="256031" y="237743"/>
                  </a:lnTo>
                  <a:lnTo>
                    <a:pt x="128016" y="365759"/>
                  </a:lnTo>
                  <a:lnTo>
                    <a:pt x="0" y="237743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835254" y="4881007"/>
            <a:ext cx="207185" cy="333055"/>
            <a:chOff x="2092451" y="4686300"/>
            <a:chExt cx="236220" cy="379730"/>
          </a:xfrm>
        </p:grpSpPr>
        <p:sp>
          <p:nvSpPr>
            <p:cNvPr id="12" name="object 12"/>
            <p:cNvSpPr/>
            <p:nvPr/>
          </p:nvSpPr>
          <p:spPr>
            <a:xfrm>
              <a:off x="2209609" y="4898136"/>
              <a:ext cx="0" cy="8255"/>
            </a:xfrm>
            <a:custGeom>
              <a:avLst/>
              <a:gdLst/>
              <a:ahLst/>
              <a:cxnLst/>
              <a:rect l="l" t="t" r="r" b="b"/>
              <a:pathLst>
                <a:path h="8254">
                  <a:moveTo>
                    <a:pt x="0" y="8000"/>
                  </a:moveTo>
                  <a:lnTo>
                    <a:pt x="0" y="0"/>
                  </a:lnTo>
                </a:path>
              </a:pathLst>
            </a:custGeom>
            <a:ln w="57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  <p:sp>
          <p:nvSpPr>
            <p:cNvPr id="13" name="object 13"/>
            <p:cNvSpPr/>
            <p:nvPr/>
          </p:nvSpPr>
          <p:spPr>
            <a:xfrm>
              <a:off x="2102357" y="4696205"/>
              <a:ext cx="216535" cy="360045"/>
            </a:xfrm>
            <a:custGeom>
              <a:avLst/>
              <a:gdLst/>
              <a:ahLst/>
              <a:cxnLst/>
              <a:rect l="l" t="t" r="r" b="b"/>
              <a:pathLst>
                <a:path w="216535" h="360045">
                  <a:moveTo>
                    <a:pt x="0" y="251460"/>
                  </a:moveTo>
                  <a:lnTo>
                    <a:pt x="54102" y="251460"/>
                  </a:lnTo>
                  <a:lnTo>
                    <a:pt x="54102" y="0"/>
                  </a:lnTo>
                  <a:lnTo>
                    <a:pt x="162306" y="0"/>
                  </a:lnTo>
                  <a:lnTo>
                    <a:pt x="162306" y="251460"/>
                  </a:lnTo>
                  <a:lnTo>
                    <a:pt x="216408" y="251460"/>
                  </a:lnTo>
                  <a:lnTo>
                    <a:pt x="108204" y="359664"/>
                  </a:lnTo>
                  <a:lnTo>
                    <a:pt x="0" y="25146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835254" y="2476328"/>
            <a:ext cx="207185" cy="334169"/>
            <a:chOff x="2092451" y="1944623"/>
            <a:chExt cx="236220" cy="381000"/>
          </a:xfrm>
        </p:grpSpPr>
        <p:sp>
          <p:nvSpPr>
            <p:cNvPr id="15" name="object 15"/>
            <p:cNvSpPr/>
            <p:nvPr/>
          </p:nvSpPr>
          <p:spPr>
            <a:xfrm>
              <a:off x="2209609" y="2156460"/>
              <a:ext cx="0" cy="10160"/>
            </a:xfrm>
            <a:custGeom>
              <a:avLst/>
              <a:gdLst/>
              <a:ahLst/>
              <a:cxnLst/>
              <a:rect l="l" t="t" r="r" b="b"/>
              <a:pathLst>
                <a:path h="10160">
                  <a:moveTo>
                    <a:pt x="0" y="10159"/>
                  </a:moveTo>
                  <a:lnTo>
                    <a:pt x="0" y="0"/>
                  </a:lnTo>
                </a:path>
              </a:pathLst>
            </a:custGeom>
            <a:ln w="57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  <p:sp>
          <p:nvSpPr>
            <p:cNvPr id="16" name="object 16"/>
            <p:cNvSpPr/>
            <p:nvPr/>
          </p:nvSpPr>
          <p:spPr>
            <a:xfrm>
              <a:off x="2102357" y="1954529"/>
              <a:ext cx="216535" cy="361315"/>
            </a:xfrm>
            <a:custGeom>
              <a:avLst/>
              <a:gdLst/>
              <a:ahLst/>
              <a:cxnLst/>
              <a:rect l="l" t="t" r="r" b="b"/>
              <a:pathLst>
                <a:path w="216535" h="361314">
                  <a:moveTo>
                    <a:pt x="0" y="252984"/>
                  </a:moveTo>
                  <a:lnTo>
                    <a:pt x="54102" y="252984"/>
                  </a:lnTo>
                  <a:lnTo>
                    <a:pt x="54102" y="0"/>
                  </a:lnTo>
                  <a:lnTo>
                    <a:pt x="162306" y="0"/>
                  </a:lnTo>
                  <a:lnTo>
                    <a:pt x="162306" y="252984"/>
                  </a:lnTo>
                  <a:lnTo>
                    <a:pt x="216408" y="252984"/>
                  </a:lnTo>
                  <a:lnTo>
                    <a:pt x="108204" y="361188"/>
                  </a:lnTo>
                  <a:lnTo>
                    <a:pt x="0" y="252984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</p:grpSp>
      <p:sp>
        <p:nvSpPr>
          <p:cNvPr id="17" name="object 17"/>
          <p:cNvSpPr/>
          <p:nvPr/>
        </p:nvSpPr>
        <p:spPr>
          <a:xfrm>
            <a:off x="517293" y="4131132"/>
            <a:ext cx="2842105" cy="631022"/>
          </a:xfrm>
          <a:custGeom>
            <a:avLst/>
            <a:gdLst/>
            <a:ahLst/>
            <a:cxnLst/>
            <a:rect l="l" t="t" r="r" b="b"/>
            <a:pathLst>
              <a:path w="3240404" h="719454">
                <a:moveTo>
                  <a:pt x="3120136" y="0"/>
                </a:moveTo>
                <a:lnTo>
                  <a:pt x="119888" y="0"/>
                </a:lnTo>
                <a:lnTo>
                  <a:pt x="73219" y="9427"/>
                </a:lnTo>
                <a:lnTo>
                  <a:pt x="35112" y="35131"/>
                </a:lnTo>
                <a:lnTo>
                  <a:pt x="9420" y="73241"/>
                </a:lnTo>
                <a:lnTo>
                  <a:pt x="0" y="119887"/>
                </a:lnTo>
                <a:lnTo>
                  <a:pt x="0" y="599439"/>
                </a:lnTo>
                <a:lnTo>
                  <a:pt x="9420" y="646086"/>
                </a:lnTo>
                <a:lnTo>
                  <a:pt x="35112" y="684196"/>
                </a:lnTo>
                <a:lnTo>
                  <a:pt x="73219" y="709900"/>
                </a:lnTo>
                <a:lnTo>
                  <a:pt x="119888" y="719327"/>
                </a:lnTo>
                <a:lnTo>
                  <a:pt x="3120136" y="719327"/>
                </a:lnTo>
                <a:lnTo>
                  <a:pt x="3166782" y="709900"/>
                </a:lnTo>
                <a:lnTo>
                  <a:pt x="3204892" y="684196"/>
                </a:lnTo>
                <a:lnTo>
                  <a:pt x="3230596" y="646086"/>
                </a:lnTo>
                <a:lnTo>
                  <a:pt x="3240024" y="599439"/>
                </a:lnTo>
                <a:lnTo>
                  <a:pt x="3240024" y="119887"/>
                </a:lnTo>
                <a:lnTo>
                  <a:pt x="3230596" y="73241"/>
                </a:lnTo>
                <a:lnTo>
                  <a:pt x="3204892" y="35131"/>
                </a:lnTo>
                <a:lnTo>
                  <a:pt x="3166782" y="9427"/>
                </a:lnTo>
                <a:lnTo>
                  <a:pt x="3120136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pPr defTabSz="802020"/>
            <a:endParaRPr sz="1579"/>
          </a:p>
        </p:txBody>
      </p:sp>
      <p:sp>
        <p:nvSpPr>
          <p:cNvPr id="18" name="object 18"/>
          <p:cNvSpPr txBox="1"/>
          <p:nvPr/>
        </p:nvSpPr>
        <p:spPr>
          <a:xfrm>
            <a:off x="1101509" y="4258785"/>
            <a:ext cx="1672515" cy="335183"/>
          </a:xfrm>
          <a:prstGeom prst="rect">
            <a:avLst/>
          </a:prstGeom>
        </p:spPr>
        <p:txBody>
          <a:bodyPr vert="horz" wrap="square" lIns="0" tIns="11139" rIns="0" bIns="0" rtlCol="0">
            <a:spAutoFit/>
          </a:bodyPr>
          <a:lstStyle/>
          <a:p>
            <a:pPr marL="11139" defTabSz="802020">
              <a:spcBef>
                <a:spcPts val="88"/>
              </a:spcBef>
            </a:pPr>
            <a:r>
              <a:rPr sz="2105" spc="-9" dirty="0">
                <a:solidFill>
                  <a:srgbClr val="FFFFFF"/>
                </a:solidFill>
                <a:latin typeface="Calibri"/>
                <a:cs typeface="Calibri"/>
              </a:rPr>
              <a:t>syntax</a:t>
            </a:r>
            <a:r>
              <a:rPr sz="2105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5" spc="-9" dirty="0">
                <a:solidFill>
                  <a:srgbClr val="FFFFFF"/>
                </a:solidFill>
                <a:latin typeface="Calibri"/>
                <a:cs typeface="Calibri"/>
              </a:rPr>
              <a:t>analyzer</a:t>
            </a:r>
            <a:endParaRPr sz="2105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019994" y="4158979"/>
            <a:ext cx="2853243" cy="642161"/>
            <a:chOff x="8003793" y="3863085"/>
            <a:chExt cx="3253104" cy="732155"/>
          </a:xfrm>
        </p:grpSpPr>
        <p:sp>
          <p:nvSpPr>
            <p:cNvPr id="20" name="object 20"/>
            <p:cNvSpPr/>
            <p:nvPr/>
          </p:nvSpPr>
          <p:spPr>
            <a:xfrm>
              <a:off x="8010143" y="3869435"/>
              <a:ext cx="3240405" cy="719455"/>
            </a:xfrm>
            <a:custGeom>
              <a:avLst/>
              <a:gdLst/>
              <a:ahLst/>
              <a:cxnLst/>
              <a:rect l="l" t="t" r="r" b="b"/>
              <a:pathLst>
                <a:path w="3240404" h="719454">
                  <a:moveTo>
                    <a:pt x="3120135" y="0"/>
                  </a:moveTo>
                  <a:lnTo>
                    <a:pt x="119887" y="0"/>
                  </a:lnTo>
                  <a:lnTo>
                    <a:pt x="73241" y="9427"/>
                  </a:lnTo>
                  <a:lnTo>
                    <a:pt x="35131" y="35131"/>
                  </a:lnTo>
                  <a:lnTo>
                    <a:pt x="9427" y="73241"/>
                  </a:lnTo>
                  <a:lnTo>
                    <a:pt x="0" y="119887"/>
                  </a:lnTo>
                  <a:lnTo>
                    <a:pt x="0" y="599439"/>
                  </a:lnTo>
                  <a:lnTo>
                    <a:pt x="9427" y="646086"/>
                  </a:lnTo>
                  <a:lnTo>
                    <a:pt x="35131" y="684196"/>
                  </a:lnTo>
                  <a:lnTo>
                    <a:pt x="73241" y="709900"/>
                  </a:lnTo>
                  <a:lnTo>
                    <a:pt x="119887" y="719327"/>
                  </a:lnTo>
                  <a:lnTo>
                    <a:pt x="3120135" y="719327"/>
                  </a:lnTo>
                  <a:lnTo>
                    <a:pt x="3166782" y="709900"/>
                  </a:lnTo>
                  <a:lnTo>
                    <a:pt x="3204892" y="684196"/>
                  </a:lnTo>
                  <a:lnTo>
                    <a:pt x="3230596" y="646086"/>
                  </a:lnTo>
                  <a:lnTo>
                    <a:pt x="3240024" y="599439"/>
                  </a:lnTo>
                  <a:lnTo>
                    <a:pt x="3240024" y="119887"/>
                  </a:lnTo>
                  <a:lnTo>
                    <a:pt x="3230596" y="73241"/>
                  </a:lnTo>
                  <a:lnTo>
                    <a:pt x="3204892" y="35131"/>
                  </a:lnTo>
                  <a:lnTo>
                    <a:pt x="3166782" y="9427"/>
                  </a:lnTo>
                  <a:lnTo>
                    <a:pt x="3120135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  <p:sp>
          <p:nvSpPr>
            <p:cNvPr id="21" name="object 21"/>
            <p:cNvSpPr/>
            <p:nvPr/>
          </p:nvSpPr>
          <p:spPr>
            <a:xfrm>
              <a:off x="8010143" y="3869435"/>
              <a:ext cx="3240405" cy="719455"/>
            </a:xfrm>
            <a:custGeom>
              <a:avLst/>
              <a:gdLst/>
              <a:ahLst/>
              <a:cxnLst/>
              <a:rect l="l" t="t" r="r" b="b"/>
              <a:pathLst>
                <a:path w="3240404" h="719454">
                  <a:moveTo>
                    <a:pt x="0" y="119887"/>
                  </a:moveTo>
                  <a:lnTo>
                    <a:pt x="9427" y="73241"/>
                  </a:lnTo>
                  <a:lnTo>
                    <a:pt x="35131" y="35131"/>
                  </a:lnTo>
                  <a:lnTo>
                    <a:pt x="73241" y="9427"/>
                  </a:lnTo>
                  <a:lnTo>
                    <a:pt x="119887" y="0"/>
                  </a:lnTo>
                  <a:lnTo>
                    <a:pt x="3120135" y="0"/>
                  </a:lnTo>
                  <a:lnTo>
                    <a:pt x="3166782" y="9427"/>
                  </a:lnTo>
                  <a:lnTo>
                    <a:pt x="3204892" y="35131"/>
                  </a:lnTo>
                  <a:lnTo>
                    <a:pt x="3230596" y="73241"/>
                  </a:lnTo>
                  <a:lnTo>
                    <a:pt x="3240024" y="119887"/>
                  </a:lnTo>
                  <a:lnTo>
                    <a:pt x="3240024" y="599439"/>
                  </a:lnTo>
                  <a:lnTo>
                    <a:pt x="3230596" y="646086"/>
                  </a:lnTo>
                  <a:lnTo>
                    <a:pt x="3204892" y="684196"/>
                  </a:lnTo>
                  <a:lnTo>
                    <a:pt x="3166782" y="709900"/>
                  </a:lnTo>
                  <a:lnTo>
                    <a:pt x="3120135" y="719327"/>
                  </a:lnTo>
                  <a:lnTo>
                    <a:pt x="119887" y="719327"/>
                  </a:lnTo>
                  <a:lnTo>
                    <a:pt x="73241" y="709900"/>
                  </a:lnTo>
                  <a:lnTo>
                    <a:pt x="35131" y="684196"/>
                  </a:lnTo>
                  <a:lnTo>
                    <a:pt x="9427" y="646086"/>
                  </a:lnTo>
                  <a:lnTo>
                    <a:pt x="0" y="599439"/>
                  </a:lnTo>
                  <a:lnTo>
                    <a:pt x="0" y="119887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626621" y="4292202"/>
            <a:ext cx="1640769" cy="335183"/>
          </a:xfrm>
          <a:prstGeom prst="rect">
            <a:avLst/>
          </a:prstGeom>
        </p:spPr>
        <p:txBody>
          <a:bodyPr vert="horz" wrap="square" lIns="0" tIns="11139" rIns="0" bIns="0" rtlCol="0">
            <a:spAutoFit/>
          </a:bodyPr>
          <a:lstStyle/>
          <a:p>
            <a:pPr marL="11139" defTabSz="802020">
              <a:spcBef>
                <a:spcPts val="88"/>
              </a:spcBef>
            </a:pPr>
            <a:r>
              <a:rPr sz="2105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2105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5" spc="-9" dirty="0">
                <a:solidFill>
                  <a:srgbClr val="FFFFFF"/>
                </a:solidFill>
                <a:latin typeface="Calibri"/>
                <a:cs typeface="Calibri"/>
              </a:rPr>
              <a:t>optimizer</a:t>
            </a:r>
            <a:endParaRPr sz="2105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326148" y="4895711"/>
            <a:ext cx="242272" cy="336953"/>
            <a:chOff x="9492995" y="4703064"/>
            <a:chExt cx="276225" cy="384175"/>
          </a:xfrm>
        </p:grpSpPr>
        <p:sp>
          <p:nvSpPr>
            <p:cNvPr id="24" name="object 24"/>
            <p:cNvSpPr/>
            <p:nvPr/>
          </p:nvSpPr>
          <p:spPr>
            <a:xfrm>
              <a:off x="9629965" y="4913376"/>
              <a:ext cx="0" cy="8255"/>
            </a:xfrm>
            <a:custGeom>
              <a:avLst/>
              <a:gdLst/>
              <a:ahLst/>
              <a:cxnLst/>
              <a:rect l="l" t="t" r="r" b="b"/>
              <a:pathLst>
                <a:path h="8254">
                  <a:moveTo>
                    <a:pt x="0" y="8000"/>
                  </a:moveTo>
                  <a:lnTo>
                    <a:pt x="0" y="0"/>
                  </a:lnTo>
                </a:path>
              </a:pathLst>
            </a:custGeom>
            <a:ln w="57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  <p:sp>
          <p:nvSpPr>
            <p:cNvPr id="25" name="object 25"/>
            <p:cNvSpPr/>
            <p:nvPr/>
          </p:nvSpPr>
          <p:spPr>
            <a:xfrm>
              <a:off x="9502901" y="4712970"/>
              <a:ext cx="256540" cy="364490"/>
            </a:xfrm>
            <a:custGeom>
              <a:avLst/>
              <a:gdLst/>
              <a:ahLst/>
              <a:cxnLst/>
              <a:rect l="l" t="t" r="r" b="b"/>
              <a:pathLst>
                <a:path w="256540" h="364489">
                  <a:moveTo>
                    <a:pt x="256031" y="128015"/>
                  </a:moveTo>
                  <a:lnTo>
                    <a:pt x="192024" y="128015"/>
                  </a:lnTo>
                  <a:lnTo>
                    <a:pt x="192024" y="364235"/>
                  </a:lnTo>
                  <a:lnTo>
                    <a:pt x="64007" y="364235"/>
                  </a:lnTo>
                  <a:lnTo>
                    <a:pt x="64007" y="128015"/>
                  </a:lnTo>
                  <a:lnTo>
                    <a:pt x="0" y="128015"/>
                  </a:lnTo>
                  <a:lnTo>
                    <a:pt x="128016" y="0"/>
                  </a:lnTo>
                  <a:lnTo>
                    <a:pt x="256031" y="128015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8343524" y="3732803"/>
            <a:ext cx="207185" cy="334169"/>
            <a:chOff x="9512807" y="3377184"/>
            <a:chExt cx="236220" cy="381000"/>
          </a:xfrm>
        </p:grpSpPr>
        <p:sp>
          <p:nvSpPr>
            <p:cNvPr id="27" name="object 27"/>
            <p:cNvSpPr/>
            <p:nvPr/>
          </p:nvSpPr>
          <p:spPr>
            <a:xfrm>
              <a:off x="9629965" y="3585972"/>
              <a:ext cx="0" cy="8255"/>
            </a:xfrm>
            <a:custGeom>
              <a:avLst/>
              <a:gdLst/>
              <a:ahLst/>
              <a:cxnLst/>
              <a:rect l="l" t="t" r="r" b="b"/>
              <a:pathLst>
                <a:path h="8254">
                  <a:moveTo>
                    <a:pt x="0" y="8000"/>
                  </a:moveTo>
                  <a:lnTo>
                    <a:pt x="0" y="0"/>
                  </a:lnTo>
                </a:path>
              </a:pathLst>
            </a:custGeom>
            <a:ln w="57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  <p:sp>
          <p:nvSpPr>
            <p:cNvPr id="28" name="object 28"/>
            <p:cNvSpPr/>
            <p:nvPr/>
          </p:nvSpPr>
          <p:spPr>
            <a:xfrm>
              <a:off x="9522713" y="3387090"/>
              <a:ext cx="216535" cy="361315"/>
            </a:xfrm>
            <a:custGeom>
              <a:avLst/>
              <a:gdLst/>
              <a:ahLst/>
              <a:cxnLst/>
              <a:rect l="l" t="t" r="r" b="b"/>
              <a:pathLst>
                <a:path w="216534" h="361314">
                  <a:moveTo>
                    <a:pt x="216407" y="108204"/>
                  </a:moveTo>
                  <a:lnTo>
                    <a:pt x="162305" y="108204"/>
                  </a:lnTo>
                  <a:lnTo>
                    <a:pt x="162305" y="361188"/>
                  </a:lnTo>
                  <a:lnTo>
                    <a:pt x="54101" y="361188"/>
                  </a:lnTo>
                  <a:lnTo>
                    <a:pt x="54101" y="108204"/>
                  </a:lnTo>
                  <a:lnTo>
                    <a:pt x="0" y="108204"/>
                  </a:lnTo>
                  <a:lnTo>
                    <a:pt x="108203" y="0"/>
                  </a:lnTo>
                  <a:lnTo>
                    <a:pt x="216407" y="108204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8326148" y="2567222"/>
            <a:ext cx="242272" cy="336953"/>
            <a:chOff x="9492995" y="2048255"/>
            <a:chExt cx="276225" cy="384175"/>
          </a:xfrm>
        </p:grpSpPr>
        <p:sp>
          <p:nvSpPr>
            <p:cNvPr id="30" name="object 30"/>
            <p:cNvSpPr/>
            <p:nvPr/>
          </p:nvSpPr>
          <p:spPr>
            <a:xfrm>
              <a:off x="9629965" y="2258567"/>
              <a:ext cx="0" cy="8255"/>
            </a:xfrm>
            <a:custGeom>
              <a:avLst/>
              <a:gdLst/>
              <a:ahLst/>
              <a:cxnLst/>
              <a:rect l="l" t="t" r="r" b="b"/>
              <a:pathLst>
                <a:path h="8255">
                  <a:moveTo>
                    <a:pt x="0" y="8000"/>
                  </a:moveTo>
                  <a:lnTo>
                    <a:pt x="0" y="0"/>
                  </a:lnTo>
                </a:path>
              </a:pathLst>
            </a:custGeom>
            <a:ln w="571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  <p:sp>
          <p:nvSpPr>
            <p:cNvPr id="31" name="object 31"/>
            <p:cNvSpPr/>
            <p:nvPr/>
          </p:nvSpPr>
          <p:spPr>
            <a:xfrm>
              <a:off x="9502901" y="2058161"/>
              <a:ext cx="256540" cy="364490"/>
            </a:xfrm>
            <a:custGeom>
              <a:avLst/>
              <a:gdLst/>
              <a:ahLst/>
              <a:cxnLst/>
              <a:rect l="l" t="t" r="r" b="b"/>
              <a:pathLst>
                <a:path w="256540" h="364489">
                  <a:moveTo>
                    <a:pt x="256031" y="128015"/>
                  </a:moveTo>
                  <a:lnTo>
                    <a:pt x="192024" y="128015"/>
                  </a:lnTo>
                  <a:lnTo>
                    <a:pt x="192024" y="364236"/>
                  </a:lnTo>
                  <a:lnTo>
                    <a:pt x="64007" y="364236"/>
                  </a:lnTo>
                  <a:lnTo>
                    <a:pt x="64007" y="128015"/>
                  </a:lnTo>
                  <a:lnTo>
                    <a:pt x="0" y="128015"/>
                  </a:lnTo>
                  <a:lnTo>
                    <a:pt x="128016" y="0"/>
                  </a:lnTo>
                  <a:lnTo>
                    <a:pt x="256031" y="128015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</p:grpSp>
      <p:sp>
        <p:nvSpPr>
          <p:cNvPr id="32" name="object 32"/>
          <p:cNvSpPr/>
          <p:nvPr/>
        </p:nvSpPr>
        <p:spPr>
          <a:xfrm>
            <a:off x="7025563" y="3002978"/>
            <a:ext cx="2842105" cy="631022"/>
          </a:xfrm>
          <a:custGeom>
            <a:avLst/>
            <a:gdLst/>
            <a:ahLst/>
            <a:cxnLst/>
            <a:rect l="l" t="t" r="r" b="b"/>
            <a:pathLst>
              <a:path w="3240404" h="719454">
                <a:moveTo>
                  <a:pt x="3120135" y="0"/>
                </a:moveTo>
                <a:lnTo>
                  <a:pt x="119887" y="0"/>
                </a:lnTo>
                <a:lnTo>
                  <a:pt x="73241" y="9427"/>
                </a:lnTo>
                <a:lnTo>
                  <a:pt x="35131" y="35131"/>
                </a:lnTo>
                <a:lnTo>
                  <a:pt x="9427" y="73241"/>
                </a:lnTo>
                <a:lnTo>
                  <a:pt x="0" y="119887"/>
                </a:lnTo>
                <a:lnTo>
                  <a:pt x="0" y="599440"/>
                </a:lnTo>
                <a:lnTo>
                  <a:pt x="9427" y="646086"/>
                </a:lnTo>
                <a:lnTo>
                  <a:pt x="35131" y="684196"/>
                </a:lnTo>
                <a:lnTo>
                  <a:pt x="73241" y="709900"/>
                </a:lnTo>
                <a:lnTo>
                  <a:pt x="119887" y="719328"/>
                </a:lnTo>
                <a:lnTo>
                  <a:pt x="3120135" y="719328"/>
                </a:lnTo>
                <a:lnTo>
                  <a:pt x="3166782" y="709900"/>
                </a:lnTo>
                <a:lnTo>
                  <a:pt x="3204892" y="684196"/>
                </a:lnTo>
                <a:lnTo>
                  <a:pt x="3230596" y="646086"/>
                </a:lnTo>
                <a:lnTo>
                  <a:pt x="3240024" y="599440"/>
                </a:lnTo>
                <a:lnTo>
                  <a:pt x="3240024" y="119887"/>
                </a:lnTo>
                <a:lnTo>
                  <a:pt x="3230596" y="73241"/>
                </a:lnTo>
                <a:lnTo>
                  <a:pt x="3204892" y="35131"/>
                </a:lnTo>
                <a:lnTo>
                  <a:pt x="3166782" y="9427"/>
                </a:lnTo>
                <a:lnTo>
                  <a:pt x="3120135" y="0"/>
                </a:lnTo>
                <a:close/>
              </a:path>
            </a:pathLst>
          </a:custGeom>
          <a:solidFill>
            <a:srgbClr val="7B7B7B"/>
          </a:solidFill>
        </p:spPr>
        <p:txBody>
          <a:bodyPr wrap="square" lIns="0" tIns="0" rIns="0" bIns="0" rtlCol="0"/>
          <a:lstStyle/>
          <a:p>
            <a:pPr defTabSz="802020"/>
            <a:endParaRPr sz="1579"/>
          </a:p>
        </p:txBody>
      </p:sp>
      <p:sp>
        <p:nvSpPr>
          <p:cNvPr id="33" name="object 33"/>
          <p:cNvSpPr txBox="1"/>
          <p:nvPr/>
        </p:nvSpPr>
        <p:spPr>
          <a:xfrm>
            <a:off x="7610581" y="3130073"/>
            <a:ext cx="1674185" cy="335183"/>
          </a:xfrm>
          <a:prstGeom prst="rect">
            <a:avLst/>
          </a:prstGeom>
        </p:spPr>
        <p:txBody>
          <a:bodyPr vert="horz" wrap="square" lIns="0" tIns="11139" rIns="0" bIns="0" rtlCol="0">
            <a:spAutoFit/>
          </a:bodyPr>
          <a:lstStyle/>
          <a:p>
            <a:pPr marL="11139" defTabSz="802020">
              <a:spcBef>
                <a:spcPts val="88"/>
              </a:spcBef>
            </a:pPr>
            <a:r>
              <a:rPr sz="2105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2105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5" spc="-9" dirty="0">
                <a:solidFill>
                  <a:srgbClr val="FFFFFF"/>
                </a:solidFill>
                <a:latin typeface="Calibri"/>
                <a:cs typeface="Calibri"/>
              </a:rPr>
              <a:t>generator</a:t>
            </a:r>
            <a:endParaRPr sz="2105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019994" y="5325897"/>
            <a:ext cx="2853243" cy="642161"/>
            <a:chOff x="8003793" y="5193538"/>
            <a:chExt cx="3253104" cy="732155"/>
          </a:xfrm>
        </p:grpSpPr>
        <p:sp>
          <p:nvSpPr>
            <p:cNvPr id="35" name="object 35"/>
            <p:cNvSpPr/>
            <p:nvPr/>
          </p:nvSpPr>
          <p:spPr>
            <a:xfrm>
              <a:off x="8010143" y="5199888"/>
              <a:ext cx="3240405" cy="719455"/>
            </a:xfrm>
            <a:custGeom>
              <a:avLst/>
              <a:gdLst/>
              <a:ahLst/>
              <a:cxnLst/>
              <a:rect l="l" t="t" r="r" b="b"/>
              <a:pathLst>
                <a:path w="3240404" h="719454">
                  <a:moveTo>
                    <a:pt x="3120135" y="0"/>
                  </a:moveTo>
                  <a:lnTo>
                    <a:pt x="119887" y="0"/>
                  </a:lnTo>
                  <a:lnTo>
                    <a:pt x="73241" y="9427"/>
                  </a:lnTo>
                  <a:lnTo>
                    <a:pt x="35131" y="35131"/>
                  </a:lnTo>
                  <a:lnTo>
                    <a:pt x="9427" y="73241"/>
                  </a:lnTo>
                  <a:lnTo>
                    <a:pt x="0" y="119887"/>
                  </a:lnTo>
                  <a:lnTo>
                    <a:pt x="0" y="599440"/>
                  </a:lnTo>
                  <a:lnTo>
                    <a:pt x="9427" y="646102"/>
                  </a:lnTo>
                  <a:lnTo>
                    <a:pt x="35131" y="684210"/>
                  </a:lnTo>
                  <a:lnTo>
                    <a:pt x="73241" y="709905"/>
                  </a:lnTo>
                  <a:lnTo>
                    <a:pt x="119887" y="719328"/>
                  </a:lnTo>
                  <a:lnTo>
                    <a:pt x="3120135" y="719328"/>
                  </a:lnTo>
                  <a:lnTo>
                    <a:pt x="3166782" y="709905"/>
                  </a:lnTo>
                  <a:lnTo>
                    <a:pt x="3204892" y="684210"/>
                  </a:lnTo>
                  <a:lnTo>
                    <a:pt x="3230596" y="646102"/>
                  </a:lnTo>
                  <a:lnTo>
                    <a:pt x="3240024" y="599440"/>
                  </a:lnTo>
                  <a:lnTo>
                    <a:pt x="3240024" y="119887"/>
                  </a:lnTo>
                  <a:lnTo>
                    <a:pt x="3230596" y="73241"/>
                  </a:lnTo>
                  <a:lnTo>
                    <a:pt x="3204892" y="35131"/>
                  </a:lnTo>
                  <a:lnTo>
                    <a:pt x="3166782" y="9427"/>
                  </a:lnTo>
                  <a:lnTo>
                    <a:pt x="312013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  <p:sp>
          <p:nvSpPr>
            <p:cNvPr id="36" name="object 36"/>
            <p:cNvSpPr/>
            <p:nvPr/>
          </p:nvSpPr>
          <p:spPr>
            <a:xfrm>
              <a:off x="8010143" y="5199888"/>
              <a:ext cx="3240405" cy="719455"/>
            </a:xfrm>
            <a:custGeom>
              <a:avLst/>
              <a:gdLst/>
              <a:ahLst/>
              <a:cxnLst/>
              <a:rect l="l" t="t" r="r" b="b"/>
              <a:pathLst>
                <a:path w="3240404" h="719454">
                  <a:moveTo>
                    <a:pt x="0" y="119887"/>
                  </a:moveTo>
                  <a:lnTo>
                    <a:pt x="9427" y="73241"/>
                  </a:lnTo>
                  <a:lnTo>
                    <a:pt x="35131" y="35131"/>
                  </a:lnTo>
                  <a:lnTo>
                    <a:pt x="73241" y="9427"/>
                  </a:lnTo>
                  <a:lnTo>
                    <a:pt x="119887" y="0"/>
                  </a:lnTo>
                  <a:lnTo>
                    <a:pt x="3120135" y="0"/>
                  </a:lnTo>
                  <a:lnTo>
                    <a:pt x="3166782" y="9427"/>
                  </a:lnTo>
                  <a:lnTo>
                    <a:pt x="3204892" y="35131"/>
                  </a:lnTo>
                  <a:lnTo>
                    <a:pt x="3230596" y="73241"/>
                  </a:lnTo>
                  <a:lnTo>
                    <a:pt x="3240024" y="119887"/>
                  </a:lnTo>
                  <a:lnTo>
                    <a:pt x="3240024" y="599440"/>
                  </a:lnTo>
                  <a:lnTo>
                    <a:pt x="3230596" y="646102"/>
                  </a:lnTo>
                  <a:lnTo>
                    <a:pt x="3204892" y="684210"/>
                  </a:lnTo>
                  <a:lnTo>
                    <a:pt x="3166782" y="709905"/>
                  </a:lnTo>
                  <a:lnTo>
                    <a:pt x="3120135" y="719328"/>
                  </a:lnTo>
                  <a:lnTo>
                    <a:pt x="119887" y="719328"/>
                  </a:lnTo>
                  <a:lnTo>
                    <a:pt x="73241" y="709905"/>
                  </a:lnTo>
                  <a:lnTo>
                    <a:pt x="35131" y="684210"/>
                  </a:lnTo>
                  <a:lnTo>
                    <a:pt x="9427" y="646102"/>
                  </a:lnTo>
                  <a:lnTo>
                    <a:pt x="0" y="599440"/>
                  </a:lnTo>
                  <a:lnTo>
                    <a:pt x="0" y="119887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439487" y="5298161"/>
            <a:ext cx="2013924" cy="659117"/>
          </a:xfrm>
          <a:prstGeom prst="rect">
            <a:avLst/>
          </a:prstGeom>
        </p:spPr>
        <p:txBody>
          <a:bodyPr vert="horz" wrap="square" lIns="0" tIns="11139" rIns="0" bIns="0" rtlCol="0">
            <a:spAutoFit/>
          </a:bodyPr>
          <a:lstStyle/>
          <a:p>
            <a:pPr marL="474529" marR="4456" indent="-463946" defTabSz="802020">
              <a:spcBef>
                <a:spcPts val="88"/>
              </a:spcBef>
            </a:pPr>
            <a:r>
              <a:rPr sz="2105" spc="-9" dirty="0">
                <a:solidFill>
                  <a:srgbClr val="FFFFFF"/>
                </a:solidFill>
                <a:latin typeface="Calibri"/>
                <a:cs typeface="Calibri"/>
              </a:rPr>
              <a:t>intermediate</a:t>
            </a:r>
            <a:r>
              <a:rPr sz="2105" spc="-9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5" spc="-18" dirty="0">
                <a:solidFill>
                  <a:srgbClr val="FFFFFF"/>
                </a:solidFill>
                <a:latin typeface="Calibri"/>
                <a:cs typeface="Calibri"/>
              </a:rPr>
              <a:t>code </a:t>
            </a:r>
            <a:r>
              <a:rPr sz="2105" spc="-9" dirty="0">
                <a:solidFill>
                  <a:srgbClr val="FFFFFF"/>
                </a:solidFill>
                <a:latin typeface="Calibri"/>
                <a:cs typeface="Calibri"/>
              </a:rPr>
              <a:t>generator</a:t>
            </a:r>
            <a:endParaRPr sz="2105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753606" y="2131243"/>
            <a:ext cx="1387914" cy="281756"/>
          </a:xfrm>
          <a:prstGeom prst="rect">
            <a:avLst/>
          </a:prstGeom>
        </p:spPr>
        <p:txBody>
          <a:bodyPr vert="horz" wrap="square" lIns="0" tIns="11696" rIns="0" bIns="0" rtlCol="0">
            <a:spAutoFit/>
          </a:bodyPr>
          <a:lstStyle/>
          <a:p>
            <a:pPr marL="11139" defTabSz="802020">
              <a:spcBef>
                <a:spcPts val="92"/>
              </a:spcBef>
            </a:pPr>
            <a:r>
              <a:rPr sz="1754" spc="-9" dirty="0">
                <a:latin typeface="Calibri"/>
                <a:cs typeface="Calibri"/>
              </a:rPr>
              <a:t>target</a:t>
            </a:r>
            <a:r>
              <a:rPr sz="1754" spc="-66" dirty="0">
                <a:latin typeface="Calibri"/>
                <a:cs typeface="Calibri"/>
              </a:rPr>
              <a:t> </a:t>
            </a:r>
            <a:r>
              <a:rPr sz="1754" spc="-9" dirty="0">
                <a:latin typeface="Calibri"/>
                <a:cs typeface="Calibri"/>
              </a:rPr>
              <a:t>program</a:t>
            </a:r>
            <a:endParaRPr sz="1754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346644" y="4272819"/>
            <a:ext cx="1742133" cy="1518797"/>
            <a:chOff x="4955794" y="3992879"/>
            <a:chExt cx="1986280" cy="1731645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29883" y="5550408"/>
              <a:ext cx="40300" cy="1015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965954" y="5348477"/>
              <a:ext cx="1965960" cy="365760"/>
            </a:xfrm>
            <a:custGeom>
              <a:avLst/>
              <a:gdLst/>
              <a:ahLst/>
              <a:cxnLst/>
              <a:rect l="l" t="t" r="r" b="b"/>
              <a:pathLst>
                <a:path w="1965959" h="365760">
                  <a:moveTo>
                    <a:pt x="1783079" y="365760"/>
                  </a:moveTo>
                  <a:lnTo>
                    <a:pt x="1783079" y="274320"/>
                  </a:lnTo>
                  <a:lnTo>
                    <a:pt x="0" y="274320"/>
                  </a:lnTo>
                  <a:lnTo>
                    <a:pt x="0" y="91440"/>
                  </a:lnTo>
                  <a:lnTo>
                    <a:pt x="1783079" y="91440"/>
                  </a:lnTo>
                  <a:lnTo>
                    <a:pt x="1783079" y="0"/>
                  </a:lnTo>
                  <a:lnTo>
                    <a:pt x="1965960" y="182880"/>
                  </a:lnTo>
                  <a:lnTo>
                    <a:pt x="1783079" y="36576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  <p:sp>
          <p:nvSpPr>
            <p:cNvPr id="42" name="object 42"/>
            <p:cNvSpPr/>
            <p:nvPr/>
          </p:nvSpPr>
          <p:spPr>
            <a:xfrm>
              <a:off x="5084064" y="3992879"/>
              <a:ext cx="1728470" cy="541020"/>
            </a:xfrm>
            <a:custGeom>
              <a:avLst/>
              <a:gdLst/>
              <a:ahLst/>
              <a:cxnLst/>
              <a:rect l="l" t="t" r="r" b="b"/>
              <a:pathLst>
                <a:path w="1728470" h="541020">
                  <a:moveTo>
                    <a:pt x="1638045" y="0"/>
                  </a:moveTo>
                  <a:lnTo>
                    <a:pt x="90170" y="0"/>
                  </a:lnTo>
                  <a:lnTo>
                    <a:pt x="55078" y="7088"/>
                  </a:lnTo>
                  <a:lnTo>
                    <a:pt x="26416" y="26416"/>
                  </a:lnTo>
                  <a:lnTo>
                    <a:pt x="7088" y="55078"/>
                  </a:lnTo>
                  <a:lnTo>
                    <a:pt x="0" y="90170"/>
                  </a:lnTo>
                  <a:lnTo>
                    <a:pt x="0" y="450850"/>
                  </a:lnTo>
                  <a:lnTo>
                    <a:pt x="7088" y="485941"/>
                  </a:lnTo>
                  <a:lnTo>
                    <a:pt x="26416" y="514604"/>
                  </a:lnTo>
                  <a:lnTo>
                    <a:pt x="55078" y="533931"/>
                  </a:lnTo>
                  <a:lnTo>
                    <a:pt x="90170" y="541020"/>
                  </a:lnTo>
                  <a:lnTo>
                    <a:pt x="1638045" y="541020"/>
                  </a:lnTo>
                  <a:lnTo>
                    <a:pt x="1673137" y="533931"/>
                  </a:lnTo>
                  <a:lnTo>
                    <a:pt x="1701799" y="514604"/>
                  </a:lnTo>
                  <a:lnTo>
                    <a:pt x="1721127" y="485941"/>
                  </a:lnTo>
                  <a:lnTo>
                    <a:pt x="1728215" y="450850"/>
                  </a:lnTo>
                  <a:lnTo>
                    <a:pt x="1728215" y="90170"/>
                  </a:lnTo>
                  <a:lnTo>
                    <a:pt x="1721127" y="55078"/>
                  </a:lnTo>
                  <a:lnTo>
                    <a:pt x="1701800" y="26416"/>
                  </a:lnTo>
                  <a:lnTo>
                    <a:pt x="1673137" y="7088"/>
                  </a:lnTo>
                  <a:lnTo>
                    <a:pt x="1638045" y="0"/>
                  </a:lnTo>
                  <a:close/>
                </a:path>
              </a:pathLst>
            </a:custGeom>
            <a:solidFill>
              <a:srgbClr val="843B0C"/>
            </a:solidFill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601950" y="4351460"/>
            <a:ext cx="1231412" cy="281193"/>
          </a:xfrm>
          <a:prstGeom prst="rect">
            <a:avLst/>
          </a:prstGeom>
        </p:spPr>
        <p:txBody>
          <a:bodyPr vert="horz" wrap="square" lIns="0" tIns="11139" rIns="0" bIns="0" rtlCol="0">
            <a:spAutoFit/>
          </a:bodyPr>
          <a:lstStyle/>
          <a:p>
            <a:pPr marL="11139" defTabSz="802020">
              <a:spcBef>
                <a:spcPts val="88"/>
              </a:spcBef>
            </a:pPr>
            <a:r>
              <a:rPr sz="1754" dirty="0">
                <a:solidFill>
                  <a:srgbClr val="FFFFFF"/>
                </a:solidFill>
                <a:latin typeface="Calibri"/>
                <a:cs typeface="Calibri"/>
              </a:rPr>
              <a:t>error</a:t>
            </a:r>
            <a:r>
              <a:rPr sz="1754" spc="-53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54" spc="-9" dirty="0">
                <a:solidFill>
                  <a:srgbClr val="FFFFFF"/>
                </a:solidFill>
                <a:latin typeface="Calibri"/>
                <a:cs typeface="Calibri"/>
              </a:rPr>
              <a:t>handler</a:t>
            </a:r>
            <a:endParaRPr sz="1754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459148" y="3293037"/>
            <a:ext cx="1516012" cy="473406"/>
          </a:xfrm>
          <a:custGeom>
            <a:avLst/>
            <a:gdLst/>
            <a:ahLst/>
            <a:cxnLst/>
            <a:rect l="l" t="t" r="r" b="b"/>
            <a:pathLst>
              <a:path w="1728470" h="539750">
                <a:moveTo>
                  <a:pt x="1638300" y="0"/>
                </a:moveTo>
                <a:lnTo>
                  <a:pt x="89915" y="0"/>
                </a:lnTo>
                <a:lnTo>
                  <a:pt x="54917" y="7066"/>
                </a:lnTo>
                <a:lnTo>
                  <a:pt x="26336" y="26336"/>
                </a:lnTo>
                <a:lnTo>
                  <a:pt x="7066" y="54917"/>
                </a:lnTo>
                <a:lnTo>
                  <a:pt x="0" y="89915"/>
                </a:lnTo>
                <a:lnTo>
                  <a:pt x="0" y="449579"/>
                </a:lnTo>
                <a:lnTo>
                  <a:pt x="7066" y="484578"/>
                </a:lnTo>
                <a:lnTo>
                  <a:pt x="26336" y="513159"/>
                </a:lnTo>
                <a:lnTo>
                  <a:pt x="54917" y="532429"/>
                </a:lnTo>
                <a:lnTo>
                  <a:pt x="89915" y="539496"/>
                </a:lnTo>
                <a:lnTo>
                  <a:pt x="1638300" y="539496"/>
                </a:lnTo>
                <a:lnTo>
                  <a:pt x="1673298" y="532429"/>
                </a:lnTo>
                <a:lnTo>
                  <a:pt x="1701879" y="513159"/>
                </a:lnTo>
                <a:lnTo>
                  <a:pt x="1721149" y="484578"/>
                </a:lnTo>
                <a:lnTo>
                  <a:pt x="1728215" y="449579"/>
                </a:lnTo>
                <a:lnTo>
                  <a:pt x="1728215" y="89915"/>
                </a:lnTo>
                <a:lnTo>
                  <a:pt x="1721149" y="54917"/>
                </a:lnTo>
                <a:lnTo>
                  <a:pt x="1701879" y="26336"/>
                </a:lnTo>
                <a:lnTo>
                  <a:pt x="1673298" y="7066"/>
                </a:lnTo>
                <a:lnTo>
                  <a:pt x="16383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pPr defTabSz="802020"/>
            <a:endParaRPr sz="1579"/>
          </a:p>
        </p:txBody>
      </p:sp>
      <p:sp>
        <p:nvSpPr>
          <p:cNvPr id="45" name="object 45"/>
          <p:cNvSpPr txBox="1"/>
          <p:nvPr/>
        </p:nvSpPr>
        <p:spPr>
          <a:xfrm>
            <a:off x="4628683" y="3371233"/>
            <a:ext cx="1179616" cy="281756"/>
          </a:xfrm>
          <a:prstGeom prst="rect">
            <a:avLst/>
          </a:prstGeom>
        </p:spPr>
        <p:txBody>
          <a:bodyPr vert="horz" wrap="square" lIns="0" tIns="11696" rIns="0" bIns="0" rtlCol="0">
            <a:spAutoFit/>
          </a:bodyPr>
          <a:lstStyle/>
          <a:p>
            <a:pPr marL="11139" defTabSz="802020">
              <a:spcBef>
                <a:spcPts val="92"/>
              </a:spcBef>
            </a:pPr>
            <a:r>
              <a:rPr sz="1754" dirty="0">
                <a:latin typeface="Calibri"/>
                <a:cs typeface="Calibri"/>
              </a:rPr>
              <a:t>symbol</a:t>
            </a:r>
            <a:r>
              <a:rPr sz="1754" spc="-61" dirty="0">
                <a:latin typeface="Calibri"/>
                <a:cs typeface="Calibri"/>
              </a:rPr>
              <a:t> </a:t>
            </a:r>
            <a:r>
              <a:rPr sz="1754" spc="-9" dirty="0">
                <a:latin typeface="Calibri"/>
                <a:cs typeface="Calibri"/>
              </a:rPr>
              <a:t>table</a:t>
            </a:r>
            <a:endParaRPr sz="1754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359733" y="3227427"/>
            <a:ext cx="3666945" cy="2420496"/>
          </a:xfrm>
          <a:custGeom>
            <a:avLst/>
            <a:gdLst/>
            <a:ahLst/>
            <a:cxnLst/>
            <a:rect l="l" t="t" r="r" b="b"/>
            <a:pathLst>
              <a:path w="4180840" h="2759710">
                <a:moveTo>
                  <a:pt x="1254760" y="345313"/>
                </a:moveTo>
                <a:lnTo>
                  <a:pt x="1209751" y="355930"/>
                </a:lnTo>
                <a:lnTo>
                  <a:pt x="1209751" y="410413"/>
                </a:lnTo>
                <a:lnTo>
                  <a:pt x="889266" y="1026706"/>
                </a:lnTo>
                <a:lnTo>
                  <a:pt x="879424" y="1015377"/>
                </a:lnTo>
                <a:lnTo>
                  <a:pt x="879424" y="1045629"/>
                </a:lnTo>
                <a:lnTo>
                  <a:pt x="684606" y="1420279"/>
                </a:lnTo>
                <a:lnTo>
                  <a:pt x="76631" y="1385290"/>
                </a:lnTo>
                <a:lnTo>
                  <a:pt x="76669" y="1384554"/>
                </a:lnTo>
                <a:lnTo>
                  <a:pt x="77355" y="1372412"/>
                </a:lnTo>
                <a:lnTo>
                  <a:pt x="82931" y="1371092"/>
                </a:lnTo>
                <a:lnTo>
                  <a:pt x="77787" y="1364919"/>
                </a:lnTo>
                <a:lnTo>
                  <a:pt x="78232" y="1357122"/>
                </a:lnTo>
                <a:lnTo>
                  <a:pt x="73113" y="1359331"/>
                </a:lnTo>
                <a:lnTo>
                  <a:pt x="71716" y="1357630"/>
                </a:lnTo>
                <a:lnTo>
                  <a:pt x="64909" y="1349476"/>
                </a:lnTo>
                <a:lnTo>
                  <a:pt x="690638" y="828205"/>
                </a:lnTo>
                <a:lnTo>
                  <a:pt x="879424" y="1045629"/>
                </a:lnTo>
                <a:lnTo>
                  <a:pt x="879424" y="1015377"/>
                </a:lnTo>
                <a:lnTo>
                  <a:pt x="705891" y="815492"/>
                </a:lnTo>
                <a:lnTo>
                  <a:pt x="1200823" y="403186"/>
                </a:lnTo>
                <a:lnTo>
                  <a:pt x="1205953" y="405866"/>
                </a:lnTo>
                <a:lnTo>
                  <a:pt x="1209751" y="410413"/>
                </a:lnTo>
                <a:lnTo>
                  <a:pt x="1209751" y="355930"/>
                </a:lnTo>
                <a:lnTo>
                  <a:pt x="1171829" y="364871"/>
                </a:lnTo>
                <a:lnTo>
                  <a:pt x="1189837" y="386499"/>
                </a:lnTo>
                <a:lnTo>
                  <a:pt x="692873" y="800506"/>
                </a:lnTo>
                <a:lnTo>
                  <a:pt x="57480" y="68656"/>
                </a:lnTo>
                <a:lnTo>
                  <a:pt x="57873" y="68313"/>
                </a:lnTo>
                <a:lnTo>
                  <a:pt x="64135" y="73787"/>
                </a:lnTo>
                <a:lnTo>
                  <a:pt x="67792" y="59677"/>
                </a:lnTo>
                <a:lnTo>
                  <a:pt x="68516" y="59055"/>
                </a:lnTo>
                <a:lnTo>
                  <a:pt x="78740" y="50165"/>
                </a:lnTo>
                <a:lnTo>
                  <a:pt x="71094" y="47015"/>
                </a:lnTo>
                <a:lnTo>
                  <a:pt x="71221" y="46520"/>
                </a:lnTo>
                <a:lnTo>
                  <a:pt x="1178521" y="335648"/>
                </a:lnTo>
                <a:lnTo>
                  <a:pt x="1171448" y="362839"/>
                </a:lnTo>
                <a:lnTo>
                  <a:pt x="1254760" y="345313"/>
                </a:lnTo>
                <a:lnTo>
                  <a:pt x="1247355" y="338836"/>
                </a:lnTo>
                <a:lnTo>
                  <a:pt x="1190625" y="289179"/>
                </a:lnTo>
                <a:lnTo>
                  <a:pt x="1183525" y="316458"/>
                </a:lnTo>
                <a:lnTo>
                  <a:pt x="76200" y="27355"/>
                </a:lnTo>
                <a:lnTo>
                  <a:pt x="77038" y="24130"/>
                </a:lnTo>
                <a:lnTo>
                  <a:pt x="83312" y="0"/>
                </a:lnTo>
                <a:lnTo>
                  <a:pt x="0" y="17653"/>
                </a:lnTo>
                <a:lnTo>
                  <a:pt x="21209" y="100203"/>
                </a:lnTo>
                <a:lnTo>
                  <a:pt x="42468" y="81711"/>
                </a:lnTo>
                <a:lnTo>
                  <a:pt x="677621" y="813219"/>
                </a:lnTo>
                <a:lnTo>
                  <a:pt x="52209" y="1334223"/>
                </a:lnTo>
                <a:lnTo>
                  <a:pt x="34163" y="1312545"/>
                </a:lnTo>
                <a:lnTo>
                  <a:pt x="0" y="1390650"/>
                </a:lnTo>
                <a:lnTo>
                  <a:pt x="647" y="1390497"/>
                </a:lnTo>
                <a:lnTo>
                  <a:pt x="0" y="1390777"/>
                </a:lnTo>
                <a:lnTo>
                  <a:pt x="73914" y="1433195"/>
                </a:lnTo>
                <a:lnTo>
                  <a:pt x="75501" y="1405102"/>
                </a:lnTo>
                <a:lnTo>
                  <a:pt x="674598" y="1439506"/>
                </a:lnTo>
                <a:lnTo>
                  <a:pt x="28803" y="2681376"/>
                </a:lnTo>
                <a:lnTo>
                  <a:pt x="25654" y="2678303"/>
                </a:lnTo>
                <a:lnTo>
                  <a:pt x="23596" y="2684805"/>
                </a:lnTo>
                <a:lnTo>
                  <a:pt x="1397" y="2673223"/>
                </a:lnTo>
                <a:lnTo>
                  <a:pt x="0" y="2758440"/>
                </a:lnTo>
                <a:lnTo>
                  <a:pt x="457" y="2758109"/>
                </a:lnTo>
                <a:lnTo>
                  <a:pt x="0" y="2759583"/>
                </a:lnTo>
                <a:lnTo>
                  <a:pt x="80391" y="2731389"/>
                </a:lnTo>
                <a:lnTo>
                  <a:pt x="69519" y="2720848"/>
                </a:lnTo>
                <a:lnTo>
                  <a:pt x="61925" y="2713507"/>
                </a:lnTo>
                <a:lnTo>
                  <a:pt x="68961" y="2708402"/>
                </a:lnTo>
                <a:lnTo>
                  <a:pt x="65544" y="2706624"/>
                </a:lnTo>
                <a:lnTo>
                  <a:pt x="65227" y="2706471"/>
                </a:lnTo>
                <a:lnTo>
                  <a:pt x="1208811" y="1525536"/>
                </a:lnTo>
                <a:lnTo>
                  <a:pt x="1229106" y="1545209"/>
                </a:lnTo>
                <a:lnTo>
                  <a:pt x="1242529" y="1502664"/>
                </a:lnTo>
                <a:lnTo>
                  <a:pt x="1254760" y="1463929"/>
                </a:lnTo>
                <a:lnTo>
                  <a:pt x="1241971" y="1468412"/>
                </a:lnTo>
                <a:lnTo>
                  <a:pt x="1239901" y="1469136"/>
                </a:lnTo>
                <a:lnTo>
                  <a:pt x="1190752" y="1469136"/>
                </a:lnTo>
                <a:lnTo>
                  <a:pt x="1178077" y="1469136"/>
                </a:lnTo>
                <a:lnTo>
                  <a:pt x="1176820" y="1491272"/>
                </a:lnTo>
                <a:lnTo>
                  <a:pt x="1174369" y="1492123"/>
                </a:lnTo>
                <a:lnTo>
                  <a:pt x="1176642" y="1494345"/>
                </a:lnTo>
                <a:lnTo>
                  <a:pt x="1176528" y="1496568"/>
                </a:lnTo>
                <a:lnTo>
                  <a:pt x="1178204" y="1495856"/>
                </a:lnTo>
                <a:lnTo>
                  <a:pt x="1194625" y="1511782"/>
                </a:lnTo>
                <a:lnTo>
                  <a:pt x="46939" y="2696946"/>
                </a:lnTo>
                <a:lnTo>
                  <a:pt x="43942" y="2695384"/>
                </a:lnTo>
                <a:lnTo>
                  <a:pt x="696290" y="1440751"/>
                </a:lnTo>
                <a:lnTo>
                  <a:pt x="1178115" y="1468412"/>
                </a:lnTo>
                <a:lnTo>
                  <a:pt x="1190790" y="1468412"/>
                </a:lnTo>
                <a:lnTo>
                  <a:pt x="1241971" y="1468412"/>
                </a:lnTo>
                <a:lnTo>
                  <a:pt x="1254760" y="1462913"/>
                </a:lnTo>
                <a:lnTo>
                  <a:pt x="1253959" y="1462455"/>
                </a:lnTo>
                <a:lnTo>
                  <a:pt x="1254760" y="1462786"/>
                </a:lnTo>
                <a:lnTo>
                  <a:pt x="1244079" y="1421257"/>
                </a:lnTo>
                <a:lnTo>
                  <a:pt x="1233551" y="1380236"/>
                </a:lnTo>
                <a:lnTo>
                  <a:pt x="1212253" y="1398714"/>
                </a:lnTo>
                <a:lnTo>
                  <a:pt x="1197292" y="1381493"/>
                </a:lnTo>
                <a:lnTo>
                  <a:pt x="1197292" y="1411693"/>
                </a:lnTo>
                <a:lnTo>
                  <a:pt x="1184630" y="1422679"/>
                </a:lnTo>
                <a:lnTo>
                  <a:pt x="1180846" y="1420495"/>
                </a:lnTo>
                <a:lnTo>
                  <a:pt x="1180515" y="1426248"/>
                </a:lnTo>
                <a:lnTo>
                  <a:pt x="1176020" y="1430147"/>
                </a:lnTo>
                <a:lnTo>
                  <a:pt x="1180185" y="1431886"/>
                </a:lnTo>
                <a:lnTo>
                  <a:pt x="1179233" y="1448727"/>
                </a:lnTo>
                <a:lnTo>
                  <a:pt x="706297" y="1421523"/>
                </a:lnTo>
                <a:lnTo>
                  <a:pt x="893381" y="1061707"/>
                </a:lnTo>
                <a:lnTo>
                  <a:pt x="1197292" y="1411693"/>
                </a:lnTo>
                <a:lnTo>
                  <a:pt x="1197292" y="1381493"/>
                </a:lnTo>
                <a:lnTo>
                  <a:pt x="903224" y="1042784"/>
                </a:lnTo>
                <a:lnTo>
                  <a:pt x="1228344" y="417512"/>
                </a:lnTo>
                <a:lnTo>
                  <a:pt x="1253363" y="430530"/>
                </a:lnTo>
                <a:lnTo>
                  <a:pt x="1253909" y="397129"/>
                </a:lnTo>
                <a:lnTo>
                  <a:pt x="1254760" y="345313"/>
                </a:lnTo>
                <a:close/>
              </a:path>
              <a:path w="4180840" h="2759710">
                <a:moveTo>
                  <a:pt x="4180332" y="2673223"/>
                </a:moveTo>
                <a:lnTo>
                  <a:pt x="4158183" y="2684221"/>
                </a:lnTo>
                <a:lnTo>
                  <a:pt x="4156329" y="2677795"/>
                </a:lnTo>
                <a:lnTo>
                  <a:pt x="4152709" y="2681135"/>
                </a:lnTo>
                <a:lnTo>
                  <a:pt x="4137317" y="2650121"/>
                </a:lnTo>
                <a:lnTo>
                  <a:pt x="4137317" y="2694571"/>
                </a:lnTo>
                <a:lnTo>
                  <a:pt x="4134675" y="2695892"/>
                </a:lnTo>
                <a:lnTo>
                  <a:pt x="3041510" y="1513141"/>
                </a:lnTo>
                <a:lnTo>
                  <a:pt x="3051619" y="1503807"/>
                </a:lnTo>
                <a:lnTo>
                  <a:pt x="3057791" y="1498117"/>
                </a:lnTo>
                <a:lnTo>
                  <a:pt x="3059684" y="1498981"/>
                </a:lnTo>
                <a:lnTo>
                  <a:pt x="3059607" y="1496441"/>
                </a:lnTo>
                <a:lnTo>
                  <a:pt x="3062224" y="1494028"/>
                </a:lnTo>
                <a:lnTo>
                  <a:pt x="3059506" y="1493012"/>
                </a:lnTo>
                <a:lnTo>
                  <a:pt x="3058884" y="1471168"/>
                </a:lnTo>
                <a:lnTo>
                  <a:pt x="3058884" y="1470812"/>
                </a:lnTo>
                <a:lnTo>
                  <a:pt x="3523335" y="1457540"/>
                </a:lnTo>
                <a:lnTo>
                  <a:pt x="4137317" y="2694571"/>
                </a:lnTo>
                <a:lnTo>
                  <a:pt x="4137317" y="2650121"/>
                </a:lnTo>
                <a:lnTo>
                  <a:pt x="3545167" y="1456918"/>
                </a:lnTo>
                <a:lnTo>
                  <a:pt x="4104170" y="1440929"/>
                </a:lnTo>
                <a:lnTo>
                  <a:pt x="4105021" y="1469136"/>
                </a:lnTo>
                <a:lnTo>
                  <a:pt x="4180078" y="1428877"/>
                </a:lnTo>
                <a:lnTo>
                  <a:pt x="4178706" y="1428254"/>
                </a:lnTo>
                <a:lnTo>
                  <a:pt x="4180078" y="1428623"/>
                </a:lnTo>
                <a:lnTo>
                  <a:pt x="4166285" y="1393317"/>
                </a:lnTo>
                <a:lnTo>
                  <a:pt x="4149090" y="1349248"/>
                </a:lnTo>
                <a:lnTo>
                  <a:pt x="4130217" y="1370139"/>
                </a:lnTo>
                <a:lnTo>
                  <a:pt x="4116946" y="1358138"/>
                </a:lnTo>
                <a:lnTo>
                  <a:pt x="4116946" y="1384820"/>
                </a:lnTo>
                <a:lnTo>
                  <a:pt x="4107573" y="1395196"/>
                </a:lnTo>
                <a:lnTo>
                  <a:pt x="4102735" y="1392936"/>
                </a:lnTo>
                <a:lnTo>
                  <a:pt x="4102951" y="1400327"/>
                </a:lnTo>
                <a:lnTo>
                  <a:pt x="4098036" y="1405763"/>
                </a:lnTo>
                <a:lnTo>
                  <a:pt x="4103154" y="1407198"/>
                </a:lnTo>
                <a:lnTo>
                  <a:pt x="4103560" y="1420749"/>
                </a:lnTo>
                <a:lnTo>
                  <a:pt x="4103573" y="1421117"/>
                </a:lnTo>
                <a:lnTo>
                  <a:pt x="3535464" y="1437360"/>
                </a:lnTo>
                <a:lnTo>
                  <a:pt x="3513632" y="1393380"/>
                </a:lnTo>
                <a:lnTo>
                  <a:pt x="3513632" y="1437995"/>
                </a:lnTo>
                <a:lnTo>
                  <a:pt x="3058312" y="1451000"/>
                </a:lnTo>
                <a:lnTo>
                  <a:pt x="3057804" y="1432902"/>
                </a:lnTo>
                <a:lnTo>
                  <a:pt x="3061462" y="1431417"/>
                </a:lnTo>
                <a:lnTo>
                  <a:pt x="3057664" y="1428089"/>
                </a:lnTo>
                <a:lnTo>
                  <a:pt x="3057525" y="1422781"/>
                </a:lnTo>
                <a:lnTo>
                  <a:pt x="3053880" y="1424736"/>
                </a:lnTo>
                <a:lnTo>
                  <a:pt x="3051086" y="1422273"/>
                </a:lnTo>
                <a:lnTo>
                  <a:pt x="3040278" y="1412735"/>
                </a:lnTo>
                <a:lnTo>
                  <a:pt x="3335083" y="1078255"/>
                </a:lnTo>
                <a:lnTo>
                  <a:pt x="3513632" y="1437995"/>
                </a:lnTo>
                <a:lnTo>
                  <a:pt x="3513632" y="1393380"/>
                </a:lnTo>
                <a:lnTo>
                  <a:pt x="3349269" y="1062177"/>
                </a:lnTo>
                <a:lnTo>
                  <a:pt x="3531552" y="855357"/>
                </a:lnTo>
                <a:lnTo>
                  <a:pt x="4116946" y="1384820"/>
                </a:lnTo>
                <a:lnTo>
                  <a:pt x="4116946" y="1358138"/>
                </a:lnTo>
                <a:lnTo>
                  <a:pt x="3544633" y="840511"/>
                </a:lnTo>
                <a:lnTo>
                  <a:pt x="4137139" y="168275"/>
                </a:lnTo>
                <a:lnTo>
                  <a:pt x="4158234" y="186817"/>
                </a:lnTo>
                <a:lnTo>
                  <a:pt x="4169156" y="145669"/>
                </a:lnTo>
                <a:lnTo>
                  <a:pt x="4180078" y="104521"/>
                </a:lnTo>
                <a:lnTo>
                  <a:pt x="4122280" y="88823"/>
                </a:lnTo>
                <a:lnTo>
                  <a:pt x="4122280" y="155194"/>
                </a:lnTo>
                <a:lnTo>
                  <a:pt x="3529952" y="827227"/>
                </a:lnTo>
                <a:lnTo>
                  <a:pt x="3516871" y="815403"/>
                </a:lnTo>
                <a:lnTo>
                  <a:pt x="3516871" y="842073"/>
                </a:lnTo>
                <a:lnTo>
                  <a:pt x="3339757" y="1043012"/>
                </a:lnTo>
                <a:lnTo>
                  <a:pt x="3026003" y="410794"/>
                </a:lnTo>
                <a:lnTo>
                  <a:pt x="3029343" y="407098"/>
                </a:lnTo>
                <a:lnTo>
                  <a:pt x="3033611" y="404977"/>
                </a:lnTo>
                <a:lnTo>
                  <a:pt x="3516871" y="842073"/>
                </a:lnTo>
                <a:lnTo>
                  <a:pt x="3516871" y="815403"/>
                </a:lnTo>
                <a:lnTo>
                  <a:pt x="3045587" y="389128"/>
                </a:lnTo>
                <a:lnTo>
                  <a:pt x="3053257" y="380619"/>
                </a:lnTo>
                <a:lnTo>
                  <a:pt x="3064510" y="368173"/>
                </a:lnTo>
                <a:lnTo>
                  <a:pt x="3060293" y="367004"/>
                </a:lnTo>
                <a:lnTo>
                  <a:pt x="3064637" y="368173"/>
                </a:lnTo>
                <a:lnTo>
                  <a:pt x="3059607" y="343154"/>
                </a:lnTo>
                <a:lnTo>
                  <a:pt x="3059112" y="340664"/>
                </a:lnTo>
                <a:lnTo>
                  <a:pt x="4107294" y="129260"/>
                </a:lnTo>
                <a:lnTo>
                  <a:pt x="4108170" y="133654"/>
                </a:lnTo>
                <a:lnTo>
                  <a:pt x="4101084" y="136525"/>
                </a:lnTo>
                <a:lnTo>
                  <a:pt x="4110418" y="144754"/>
                </a:lnTo>
                <a:lnTo>
                  <a:pt x="4112895" y="156972"/>
                </a:lnTo>
                <a:lnTo>
                  <a:pt x="4118940" y="152260"/>
                </a:lnTo>
                <a:lnTo>
                  <a:pt x="4122280" y="155194"/>
                </a:lnTo>
                <a:lnTo>
                  <a:pt x="4122280" y="88823"/>
                </a:lnTo>
                <a:lnTo>
                  <a:pt x="4097782" y="82169"/>
                </a:lnTo>
                <a:lnTo>
                  <a:pt x="4103357" y="109829"/>
                </a:lnTo>
                <a:lnTo>
                  <a:pt x="3055213" y="321221"/>
                </a:lnTo>
                <a:lnTo>
                  <a:pt x="3049651" y="293497"/>
                </a:lnTo>
                <a:lnTo>
                  <a:pt x="2983065" y="345490"/>
                </a:lnTo>
                <a:lnTo>
                  <a:pt x="2982468" y="345313"/>
                </a:lnTo>
                <a:lnTo>
                  <a:pt x="2982303" y="396621"/>
                </a:lnTo>
                <a:lnTo>
                  <a:pt x="2982214" y="430530"/>
                </a:lnTo>
                <a:lnTo>
                  <a:pt x="3007398" y="418007"/>
                </a:lnTo>
                <a:lnTo>
                  <a:pt x="3325584" y="1059103"/>
                </a:lnTo>
                <a:lnTo>
                  <a:pt x="3025432" y="1399641"/>
                </a:lnTo>
                <a:lnTo>
                  <a:pt x="3004312" y="1380998"/>
                </a:lnTo>
                <a:lnTo>
                  <a:pt x="2982582" y="1462989"/>
                </a:lnTo>
                <a:lnTo>
                  <a:pt x="2982468" y="1463421"/>
                </a:lnTo>
                <a:lnTo>
                  <a:pt x="2982899" y="1463255"/>
                </a:lnTo>
                <a:lnTo>
                  <a:pt x="2992412" y="1467688"/>
                </a:lnTo>
                <a:lnTo>
                  <a:pt x="2982468" y="1463929"/>
                </a:lnTo>
                <a:lnTo>
                  <a:pt x="3006217" y="1545717"/>
                </a:lnTo>
                <a:lnTo>
                  <a:pt x="3026905" y="1526616"/>
                </a:lnTo>
                <a:lnTo>
                  <a:pt x="4116120" y="2705087"/>
                </a:lnTo>
                <a:lnTo>
                  <a:pt x="4112006" y="2707132"/>
                </a:lnTo>
                <a:lnTo>
                  <a:pt x="4118902" y="2712339"/>
                </a:lnTo>
                <a:lnTo>
                  <a:pt x="4100322" y="2729484"/>
                </a:lnTo>
                <a:lnTo>
                  <a:pt x="4180078" y="2759583"/>
                </a:lnTo>
                <a:lnTo>
                  <a:pt x="4179646" y="2758122"/>
                </a:lnTo>
                <a:lnTo>
                  <a:pt x="4180078" y="2758440"/>
                </a:lnTo>
                <a:lnTo>
                  <a:pt x="4180230" y="2707132"/>
                </a:lnTo>
                <a:lnTo>
                  <a:pt x="4180230" y="2705989"/>
                </a:lnTo>
                <a:lnTo>
                  <a:pt x="4180332" y="26732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802020"/>
            <a:endParaRPr sz="1579"/>
          </a:p>
        </p:txBody>
      </p:sp>
    </p:spTree>
    <p:extLst>
      <p:ext uri="{BB962C8B-B14F-4D97-AF65-F5344CB8AC3E}">
        <p14:creationId xmlns:p14="http://schemas.microsoft.com/office/powerpoint/2010/main" val="1383465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701" y="46553"/>
            <a:ext cx="8986519" cy="1133644"/>
          </a:xfrm>
          <a:prstGeom prst="rect">
            <a:avLst/>
          </a:prstGeom>
        </p:spPr>
        <p:txBody>
          <a:bodyPr vert="horz" wrap="square" lIns="0" tIns="452120" rIns="0" bIns="0" rtlCol="0">
            <a:spAutoFit/>
          </a:bodyPr>
          <a:lstStyle/>
          <a:p>
            <a:pPr marL="2200275">
              <a:spcBef>
                <a:spcPts val="100"/>
              </a:spcBef>
            </a:pPr>
            <a:r>
              <a:rPr spc="114" dirty="0"/>
              <a:t>IR</a:t>
            </a:r>
            <a:r>
              <a:rPr spc="340" dirty="0"/>
              <a:t> </a:t>
            </a:r>
            <a:r>
              <a:rPr spc="229" dirty="0"/>
              <a:t>Optimization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1916" y="1644650"/>
            <a:ext cx="10083800" cy="10222286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ct val="97300"/>
              </a:lnSpc>
              <a:spcBef>
                <a:spcPts val="200"/>
              </a:spcBef>
            </a:pPr>
            <a:endParaRPr lang="en-US" sz="3200" b="1" spc="310" dirty="0">
              <a:solidFill>
                <a:srgbClr val="191919"/>
              </a:solidFill>
              <a:latin typeface="Cambria"/>
              <a:cs typeface="Cambria"/>
            </a:endParaRPr>
          </a:p>
          <a:p>
            <a:pPr marL="12700" marR="5080">
              <a:lnSpc>
                <a:spcPct val="97300"/>
              </a:lnSpc>
              <a:spcBef>
                <a:spcPts val="200"/>
              </a:spcBef>
            </a:pPr>
            <a:r>
              <a:rPr sz="3200" b="1" spc="310" dirty="0">
                <a:solidFill>
                  <a:srgbClr val="191919"/>
                </a:solidFill>
                <a:latin typeface="Cambria"/>
                <a:cs typeface="Cambria"/>
              </a:rPr>
              <a:t>Goal</a:t>
            </a:r>
            <a:r>
              <a:rPr sz="3200" spc="310" dirty="0">
                <a:solidFill>
                  <a:srgbClr val="191919"/>
                </a:solidFill>
                <a:latin typeface="Georgia"/>
                <a:cs typeface="Georgia"/>
              </a:rPr>
              <a:t>:</a:t>
            </a:r>
            <a:r>
              <a:rPr sz="3200" spc="25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endParaRPr lang="en-US" sz="3200" spc="254" dirty="0">
              <a:solidFill>
                <a:srgbClr val="191919"/>
              </a:solidFill>
              <a:latin typeface="Georgia"/>
              <a:cs typeface="Georgia"/>
            </a:endParaRPr>
          </a:p>
          <a:p>
            <a:pPr marL="527050" marR="5080" indent="-514350">
              <a:lnSpc>
                <a:spcPct val="97300"/>
              </a:lnSpc>
              <a:spcBef>
                <a:spcPts val="200"/>
              </a:spcBef>
              <a:buFont typeface="+mj-lt"/>
              <a:buAutoNum type="arabicPeriod"/>
            </a:pPr>
            <a:r>
              <a:rPr sz="3200" spc="195" dirty="0">
                <a:solidFill>
                  <a:srgbClr val="191919"/>
                </a:solidFill>
                <a:latin typeface="Georgia"/>
                <a:cs typeface="Georgia"/>
              </a:rPr>
              <a:t>Improve</a:t>
            </a:r>
            <a:r>
              <a:rPr sz="3200" spc="25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3200" spc="220" dirty="0">
                <a:solidFill>
                  <a:srgbClr val="191919"/>
                </a:solidFill>
                <a:latin typeface="Georgia"/>
                <a:cs typeface="Georgia"/>
              </a:rPr>
              <a:t>the</a:t>
            </a:r>
            <a:r>
              <a:rPr sz="3200" spc="25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3200" spc="80" dirty="0">
                <a:solidFill>
                  <a:srgbClr val="191919"/>
                </a:solidFill>
                <a:latin typeface="Georgia"/>
                <a:cs typeface="Georgia"/>
              </a:rPr>
              <a:t>IR</a:t>
            </a:r>
            <a:r>
              <a:rPr sz="3200" spc="25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3200" spc="275" dirty="0">
                <a:solidFill>
                  <a:srgbClr val="191919"/>
                </a:solidFill>
                <a:latin typeface="Georgia"/>
                <a:cs typeface="Georgia"/>
              </a:rPr>
              <a:t>generated</a:t>
            </a:r>
            <a:r>
              <a:rPr sz="3200" spc="2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3200" spc="229" dirty="0">
                <a:solidFill>
                  <a:srgbClr val="191919"/>
                </a:solidFill>
                <a:latin typeface="Georgia"/>
                <a:cs typeface="Georgia"/>
              </a:rPr>
              <a:t>by</a:t>
            </a:r>
            <a:r>
              <a:rPr sz="3200" spc="25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3200" spc="204" dirty="0">
                <a:solidFill>
                  <a:srgbClr val="191919"/>
                </a:solidFill>
                <a:latin typeface="Georgia"/>
                <a:cs typeface="Georgia"/>
              </a:rPr>
              <a:t>the </a:t>
            </a:r>
            <a:r>
              <a:rPr sz="3200" spc="215" dirty="0">
                <a:solidFill>
                  <a:srgbClr val="191919"/>
                </a:solidFill>
                <a:latin typeface="Georgia"/>
                <a:cs typeface="Georgia"/>
              </a:rPr>
              <a:t>previous</a:t>
            </a:r>
            <a:r>
              <a:rPr sz="3200" spc="2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3200" spc="240" dirty="0">
                <a:solidFill>
                  <a:srgbClr val="191919"/>
                </a:solidFill>
                <a:latin typeface="Georgia"/>
                <a:cs typeface="Georgia"/>
              </a:rPr>
              <a:t>step</a:t>
            </a:r>
            <a:r>
              <a:rPr sz="3200" spc="2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3200" spc="180" dirty="0">
                <a:solidFill>
                  <a:srgbClr val="191919"/>
                </a:solidFill>
                <a:latin typeface="Georgia"/>
                <a:cs typeface="Georgia"/>
              </a:rPr>
              <a:t>to</a:t>
            </a:r>
            <a:r>
              <a:rPr sz="3200" spc="2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3200" spc="245" dirty="0">
                <a:solidFill>
                  <a:srgbClr val="191919"/>
                </a:solidFill>
                <a:latin typeface="Georgia"/>
                <a:cs typeface="Georgia"/>
              </a:rPr>
              <a:t>take</a:t>
            </a:r>
            <a:r>
              <a:rPr sz="3200" spc="2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3200" spc="245" dirty="0">
                <a:solidFill>
                  <a:srgbClr val="191919"/>
                </a:solidFill>
                <a:latin typeface="Georgia"/>
                <a:cs typeface="Georgia"/>
              </a:rPr>
              <a:t>better</a:t>
            </a:r>
            <a:r>
              <a:rPr sz="3200" spc="260" dirty="0">
                <a:solidFill>
                  <a:srgbClr val="191919"/>
                </a:solidFill>
                <a:latin typeface="Georgia"/>
                <a:cs typeface="Georgia"/>
              </a:rPr>
              <a:t> advantage</a:t>
            </a:r>
            <a:r>
              <a:rPr sz="3200" spc="25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3200" spc="145" dirty="0">
                <a:solidFill>
                  <a:srgbClr val="191919"/>
                </a:solidFill>
                <a:latin typeface="Georgia"/>
                <a:cs typeface="Georgia"/>
              </a:rPr>
              <a:t>of </a:t>
            </a:r>
            <a:r>
              <a:rPr sz="3200" spc="240" dirty="0">
                <a:solidFill>
                  <a:srgbClr val="191919"/>
                </a:solidFill>
                <a:latin typeface="Georgia"/>
                <a:cs typeface="Georgia"/>
              </a:rPr>
              <a:t>resources.</a:t>
            </a:r>
            <a:endParaRPr lang="en-US" sz="3200" spc="240" dirty="0">
              <a:solidFill>
                <a:srgbClr val="191919"/>
              </a:solidFill>
              <a:latin typeface="Georgia"/>
              <a:cs typeface="Georgia"/>
            </a:endParaRPr>
          </a:p>
          <a:p>
            <a:pPr marL="527050" marR="5080" indent="-514350">
              <a:lnSpc>
                <a:spcPct val="130600"/>
              </a:lnSpc>
              <a:spcBef>
                <a:spcPts val="95"/>
              </a:spcBef>
              <a:buFont typeface="+mj-lt"/>
              <a:buAutoNum type="arabicPeriod"/>
            </a:pPr>
            <a:r>
              <a:rPr lang="en-US" sz="3200" spc="135" dirty="0">
                <a:solidFill>
                  <a:srgbClr val="191919"/>
                </a:solidFill>
                <a:latin typeface="Georgia"/>
                <a:cs typeface="Georgia"/>
              </a:rPr>
              <a:t>Should</a:t>
            </a:r>
            <a:r>
              <a:rPr lang="en-US" sz="3200" spc="17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65" dirty="0">
                <a:solidFill>
                  <a:srgbClr val="191919"/>
                </a:solidFill>
                <a:latin typeface="Georgia"/>
                <a:cs typeface="Georgia"/>
              </a:rPr>
              <a:t>never</a:t>
            </a:r>
            <a:r>
              <a:rPr lang="en-US" sz="3200" spc="17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85" dirty="0">
                <a:solidFill>
                  <a:srgbClr val="191919"/>
                </a:solidFill>
                <a:latin typeface="Georgia"/>
                <a:cs typeface="Georgia"/>
              </a:rPr>
              <a:t>change</a:t>
            </a:r>
            <a:r>
              <a:rPr lang="en-US" sz="3200" spc="17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50" dirty="0">
                <a:solidFill>
                  <a:srgbClr val="191919"/>
                </a:solidFill>
                <a:latin typeface="Georgia"/>
                <a:cs typeface="Georgia"/>
              </a:rPr>
              <a:t>the</a:t>
            </a:r>
            <a:r>
              <a:rPr lang="en-US" sz="3200" spc="17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55" dirty="0">
                <a:solidFill>
                  <a:srgbClr val="191919"/>
                </a:solidFill>
                <a:latin typeface="Georgia"/>
                <a:cs typeface="Georgia"/>
              </a:rPr>
              <a:t>observable</a:t>
            </a:r>
            <a:r>
              <a:rPr lang="en-US" sz="3200" spc="17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40" dirty="0">
                <a:solidFill>
                  <a:srgbClr val="191919"/>
                </a:solidFill>
                <a:latin typeface="Georgia"/>
                <a:cs typeface="Georgia"/>
              </a:rPr>
              <a:t>behavior</a:t>
            </a:r>
            <a:r>
              <a:rPr lang="en-US" sz="3200" spc="17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00" dirty="0">
                <a:solidFill>
                  <a:srgbClr val="191919"/>
                </a:solidFill>
                <a:latin typeface="Georgia"/>
                <a:cs typeface="Georgia"/>
              </a:rPr>
              <a:t>of</a:t>
            </a:r>
            <a:r>
              <a:rPr lang="en-US" sz="3200" spc="17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80" dirty="0">
                <a:solidFill>
                  <a:srgbClr val="191919"/>
                </a:solidFill>
                <a:latin typeface="Georgia"/>
                <a:cs typeface="Georgia"/>
              </a:rPr>
              <a:t>a</a:t>
            </a:r>
            <a:r>
              <a:rPr lang="en-US" sz="3200" spc="16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40" dirty="0">
                <a:solidFill>
                  <a:srgbClr val="191919"/>
                </a:solidFill>
                <a:latin typeface="Georgia"/>
                <a:cs typeface="Georgia"/>
              </a:rPr>
              <a:t>program.</a:t>
            </a:r>
          </a:p>
          <a:p>
            <a:pPr marL="527050" marR="5080" indent="-514350">
              <a:lnSpc>
                <a:spcPct val="130600"/>
              </a:lnSpc>
              <a:spcBef>
                <a:spcPts val="95"/>
              </a:spcBef>
              <a:buFont typeface="+mj-lt"/>
              <a:buAutoNum type="arabicPeriod"/>
            </a:pPr>
            <a:r>
              <a:rPr lang="en-US" sz="3200" spc="135" dirty="0">
                <a:solidFill>
                  <a:srgbClr val="191919"/>
                </a:solidFill>
                <a:latin typeface="Georgia"/>
                <a:cs typeface="Georgia"/>
              </a:rPr>
              <a:t>Should</a:t>
            </a:r>
            <a:r>
              <a:rPr lang="en-US" sz="3200" spc="17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55" dirty="0">
                <a:solidFill>
                  <a:srgbClr val="191919"/>
                </a:solidFill>
                <a:latin typeface="Georgia"/>
                <a:cs typeface="Georgia"/>
              </a:rPr>
              <a:t>produce</a:t>
            </a:r>
            <a:r>
              <a:rPr lang="en-US" sz="3200" spc="18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50" dirty="0">
                <a:solidFill>
                  <a:srgbClr val="191919"/>
                </a:solidFill>
                <a:latin typeface="Georgia"/>
                <a:cs typeface="Georgia"/>
              </a:rPr>
              <a:t>IR</a:t>
            </a:r>
            <a:r>
              <a:rPr lang="en-US" sz="3200" spc="16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30" dirty="0">
                <a:solidFill>
                  <a:srgbClr val="191919"/>
                </a:solidFill>
                <a:latin typeface="Georgia"/>
                <a:cs typeface="Georgia"/>
              </a:rPr>
              <a:t>that</a:t>
            </a:r>
            <a:r>
              <a:rPr lang="en-US" sz="3200" spc="17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00" dirty="0">
                <a:solidFill>
                  <a:srgbClr val="191919"/>
                </a:solidFill>
                <a:latin typeface="Georgia"/>
                <a:cs typeface="Georgia"/>
              </a:rPr>
              <a:t>is</a:t>
            </a:r>
            <a:r>
              <a:rPr lang="en-US" sz="3200" spc="17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65" dirty="0">
                <a:solidFill>
                  <a:srgbClr val="191919"/>
                </a:solidFill>
                <a:latin typeface="Georgia"/>
                <a:cs typeface="Georgia"/>
              </a:rPr>
              <a:t>as</a:t>
            </a:r>
            <a:r>
              <a:rPr lang="en-US" sz="3200" spc="17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25" dirty="0">
                <a:solidFill>
                  <a:srgbClr val="191919"/>
                </a:solidFill>
                <a:latin typeface="Georgia"/>
                <a:cs typeface="Georgia"/>
              </a:rPr>
              <a:t>efficient</a:t>
            </a:r>
            <a:r>
              <a:rPr lang="en-US" sz="3200" spc="18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60" dirty="0">
                <a:solidFill>
                  <a:srgbClr val="191919"/>
                </a:solidFill>
                <a:latin typeface="Georgia"/>
                <a:cs typeface="Georgia"/>
              </a:rPr>
              <a:t>as</a:t>
            </a:r>
            <a:r>
              <a:rPr lang="en-US" sz="320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20" dirty="0">
                <a:solidFill>
                  <a:srgbClr val="191919"/>
                </a:solidFill>
                <a:latin typeface="Georgia"/>
                <a:cs typeface="Georgia"/>
              </a:rPr>
              <a:t>possible.</a:t>
            </a:r>
            <a:endParaRPr lang="en-US" sz="3200" dirty="0">
              <a:latin typeface="Georgia"/>
              <a:cs typeface="Georgia"/>
            </a:endParaRPr>
          </a:p>
          <a:p>
            <a:pPr marL="527050" indent="-514350">
              <a:spcBef>
                <a:spcPts val="770"/>
              </a:spcBef>
              <a:buFont typeface="+mj-lt"/>
              <a:buAutoNum type="arabicPeriod"/>
            </a:pPr>
            <a:r>
              <a:rPr lang="en-US" sz="3200" spc="135" dirty="0">
                <a:solidFill>
                  <a:srgbClr val="191919"/>
                </a:solidFill>
                <a:latin typeface="Georgia"/>
                <a:cs typeface="Georgia"/>
              </a:rPr>
              <a:t>Should</a:t>
            </a:r>
            <a:r>
              <a:rPr lang="en-US" sz="3200" spc="17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14" dirty="0">
                <a:solidFill>
                  <a:srgbClr val="191919"/>
                </a:solidFill>
                <a:latin typeface="Georgia"/>
                <a:cs typeface="Georgia"/>
              </a:rPr>
              <a:t>not</a:t>
            </a:r>
            <a:r>
              <a:rPr lang="en-US" sz="3200" spc="16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60" dirty="0">
                <a:solidFill>
                  <a:srgbClr val="191919"/>
                </a:solidFill>
                <a:latin typeface="Georgia"/>
                <a:cs typeface="Georgia"/>
              </a:rPr>
              <a:t>take</a:t>
            </a:r>
            <a:r>
              <a:rPr lang="en-US" sz="3200" spc="18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14" dirty="0">
                <a:solidFill>
                  <a:srgbClr val="191919"/>
                </a:solidFill>
                <a:latin typeface="Georgia"/>
                <a:cs typeface="Georgia"/>
              </a:rPr>
              <a:t>too</a:t>
            </a:r>
            <a:r>
              <a:rPr lang="en-US" sz="3200" spc="16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40" dirty="0">
                <a:solidFill>
                  <a:srgbClr val="191919"/>
                </a:solidFill>
                <a:latin typeface="Georgia"/>
                <a:cs typeface="Georgia"/>
              </a:rPr>
              <a:t>long</a:t>
            </a:r>
            <a:r>
              <a:rPr lang="en-US" sz="3200" spc="16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14" dirty="0">
                <a:solidFill>
                  <a:srgbClr val="191919"/>
                </a:solidFill>
                <a:latin typeface="Georgia"/>
                <a:cs typeface="Georgia"/>
              </a:rPr>
              <a:t>to</a:t>
            </a:r>
            <a:r>
              <a:rPr lang="en-US" sz="3200" spc="18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60" dirty="0">
                <a:solidFill>
                  <a:srgbClr val="191919"/>
                </a:solidFill>
                <a:latin typeface="Georgia"/>
                <a:cs typeface="Georgia"/>
              </a:rPr>
              <a:t>process</a:t>
            </a:r>
            <a:r>
              <a:rPr lang="en-US" sz="3200" spc="17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lang="en-US" sz="3200" spc="105" dirty="0">
                <a:solidFill>
                  <a:srgbClr val="191919"/>
                </a:solidFill>
                <a:latin typeface="Georgia"/>
                <a:cs typeface="Georgia"/>
              </a:rPr>
              <a:t>inputs.</a:t>
            </a:r>
            <a:endParaRPr lang="en-US" sz="3200" dirty="0">
              <a:latin typeface="Georgia"/>
              <a:cs typeface="Georgia"/>
            </a:endParaRPr>
          </a:p>
          <a:p>
            <a:pPr marL="12700" marR="5080">
              <a:lnSpc>
                <a:spcPct val="97300"/>
              </a:lnSpc>
              <a:spcBef>
                <a:spcPts val="200"/>
              </a:spcBef>
            </a:pPr>
            <a:endParaRPr lang="en-US" sz="3200" spc="240" dirty="0">
              <a:solidFill>
                <a:srgbClr val="191919"/>
              </a:solidFill>
              <a:latin typeface="Georgia"/>
              <a:cs typeface="Georgia"/>
            </a:endParaRPr>
          </a:p>
          <a:p>
            <a:pPr marL="12700" marR="5080">
              <a:lnSpc>
                <a:spcPct val="97300"/>
              </a:lnSpc>
              <a:spcBef>
                <a:spcPts val="200"/>
              </a:spcBef>
            </a:pPr>
            <a:endParaRPr lang="en-US" sz="3200" spc="240" dirty="0">
              <a:solidFill>
                <a:srgbClr val="191919"/>
              </a:solidFill>
              <a:latin typeface="Georgia"/>
              <a:cs typeface="Georgia"/>
            </a:endParaRPr>
          </a:p>
          <a:p>
            <a:pPr marL="12700" marR="5080">
              <a:lnSpc>
                <a:spcPct val="97300"/>
              </a:lnSpc>
              <a:spcBef>
                <a:spcPts val="200"/>
              </a:spcBef>
            </a:pPr>
            <a:endParaRPr lang="en-US" sz="3200" spc="240" dirty="0">
              <a:solidFill>
                <a:srgbClr val="191919"/>
              </a:solidFill>
              <a:latin typeface="Georgia"/>
              <a:cs typeface="Georgia"/>
            </a:endParaRPr>
          </a:p>
          <a:p>
            <a:pPr marL="12700" marR="5080">
              <a:lnSpc>
                <a:spcPct val="97300"/>
              </a:lnSpc>
              <a:spcBef>
                <a:spcPts val="200"/>
              </a:spcBef>
            </a:pPr>
            <a:endParaRPr lang="en-US" sz="3200" spc="240" dirty="0">
              <a:solidFill>
                <a:srgbClr val="191919"/>
              </a:solidFill>
              <a:latin typeface="Georgia"/>
              <a:cs typeface="Georgia"/>
            </a:endParaRPr>
          </a:p>
          <a:p>
            <a:pPr marL="12700" marR="5080">
              <a:lnSpc>
                <a:spcPct val="97300"/>
              </a:lnSpc>
              <a:spcBef>
                <a:spcPts val="200"/>
              </a:spcBef>
            </a:pPr>
            <a:endParaRPr lang="en-US" sz="3200" spc="240" dirty="0">
              <a:solidFill>
                <a:srgbClr val="191919"/>
              </a:solidFill>
              <a:latin typeface="Georgia"/>
              <a:cs typeface="Georgia"/>
            </a:endParaRPr>
          </a:p>
          <a:p>
            <a:pPr marL="12700" marR="5080">
              <a:lnSpc>
                <a:spcPct val="97300"/>
              </a:lnSpc>
              <a:spcBef>
                <a:spcPts val="200"/>
              </a:spcBef>
            </a:pPr>
            <a:endParaRPr lang="en-US" sz="3200" spc="240" dirty="0">
              <a:solidFill>
                <a:srgbClr val="191919"/>
              </a:solidFill>
              <a:latin typeface="Georgia"/>
              <a:cs typeface="Georgia"/>
            </a:endParaRPr>
          </a:p>
          <a:p>
            <a:pPr marL="12700" marR="5080">
              <a:lnSpc>
                <a:spcPct val="97300"/>
              </a:lnSpc>
              <a:spcBef>
                <a:spcPts val="200"/>
              </a:spcBef>
            </a:pPr>
            <a:endParaRPr lang="en-US" sz="3200" spc="240" dirty="0">
              <a:solidFill>
                <a:srgbClr val="191919"/>
              </a:solidFill>
              <a:latin typeface="Georgia"/>
              <a:cs typeface="Georgia"/>
            </a:endParaRPr>
          </a:p>
          <a:p>
            <a:pPr marL="12700" marR="5080">
              <a:lnSpc>
                <a:spcPct val="97300"/>
              </a:lnSpc>
              <a:spcBef>
                <a:spcPts val="200"/>
              </a:spcBef>
            </a:pPr>
            <a:endParaRPr lang="en-US" sz="3200" spc="240" dirty="0">
              <a:solidFill>
                <a:srgbClr val="191919"/>
              </a:solidFill>
              <a:latin typeface="Georgia"/>
              <a:cs typeface="Georgia"/>
            </a:endParaRPr>
          </a:p>
          <a:p>
            <a:pPr marL="12700" marR="5080">
              <a:lnSpc>
                <a:spcPct val="97300"/>
              </a:lnSpc>
              <a:spcBef>
                <a:spcPts val="200"/>
              </a:spcBef>
            </a:pPr>
            <a:endParaRPr lang="en-US" sz="3200" spc="240" dirty="0">
              <a:solidFill>
                <a:srgbClr val="191919"/>
              </a:solidFill>
              <a:latin typeface="Georgia"/>
              <a:cs typeface="Georgia"/>
            </a:endParaRPr>
          </a:p>
          <a:p>
            <a:pPr marL="12700" marR="5080">
              <a:lnSpc>
                <a:spcPct val="97300"/>
              </a:lnSpc>
              <a:spcBef>
                <a:spcPts val="200"/>
              </a:spcBef>
            </a:pPr>
            <a:endParaRPr sz="32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20078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6609" y="554990"/>
            <a:ext cx="9529785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66675">
              <a:spcBef>
                <a:spcPts val="100"/>
              </a:spcBef>
            </a:pPr>
            <a:r>
              <a:rPr sz="4000" spc="220" dirty="0"/>
              <a:t>Optimizations</a:t>
            </a:r>
            <a:r>
              <a:rPr sz="4000" spc="295" dirty="0"/>
              <a:t> </a:t>
            </a:r>
            <a:r>
              <a:rPr sz="4000" spc="225" dirty="0"/>
              <a:t>from</a:t>
            </a:r>
            <a:r>
              <a:rPr sz="4000" spc="300" dirty="0"/>
              <a:t> </a:t>
            </a:r>
            <a:r>
              <a:rPr sz="4000" spc="85" dirty="0"/>
              <a:t>IR</a:t>
            </a:r>
            <a:r>
              <a:rPr sz="4000" spc="310" dirty="0"/>
              <a:t> </a:t>
            </a:r>
            <a:r>
              <a:rPr sz="4000" spc="254" dirty="0"/>
              <a:t>Generation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25270" y="2230120"/>
            <a:ext cx="2997835" cy="347941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1391920">
              <a:lnSpc>
                <a:spcPts val="2950"/>
              </a:lnSpc>
              <a:spcBef>
                <a:spcPts val="340"/>
              </a:spcBef>
            </a:pP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int</a:t>
            </a:r>
            <a:r>
              <a:rPr sz="2600" spc="-6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x;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int</a:t>
            </a:r>
            <a:r>
              <a:rPr sz="2600" spc="-6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y;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bool</a:t>
            </a:r>
            <a:r>
              <a:rPr sz="2600" spc="-8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b1;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bool</a:t>
            </a:r>
            <a:r>
              <a:rPr sz="2600" spc="-8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b2;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bool</a:t>
            </a:r>
            <a:r>
              <a:rPr sz="2600" spc="-8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b3;</a:t>
            </a:r>
            <a:endParaRPr sz="2600">
              <a:latin typeface="Courier New"/>
              <a:cs typeface="Courier New"/>
            </a:endParaRPr>
          </a:p>
          <a:p>
            <a:pPr marL="12700" marR="5080">
              <a:lnSpc>
                <a:spcPct val="94700"/>
              </a:lnSpc>
              <a:spcBef>
                <a:spcPts val="2875"/>
              </a:spcBef>
            </a:pP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b1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+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&lt;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50" dirty="0">
                <a:solidFill>
                  <a:srgbClr val="191919"/>
                </a:solidFill>
                <a:latin typeface="Courier New"/>
                <a:cs typeface="Courier New"/>
              </a:rPr>
              <a:t>y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b2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+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==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50" dirty="0">
                <a:solidFill>
                  <a:srgbClr val="191919"/>
                </a:solidFill>
                <a:latin typeface="Courier New"/>
                <a:cs typeface="Courier New"/>
              </a:rPr>
              <a:t>y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b3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+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&gt;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50" dirty="0">
                <a:solidFill>
                  <a:srgbClr val="191919"/>
                </a:solidFill>
                <a:latin typeface="Courier New"/>
                <a:cs typeface="Courier New"/>
              </a:rPr>
              <a:t>y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xfrm>
            <a:off x="6205025" y="1578610"/>
            <a:ext cx="4228876" cy="4675639"/>
          </a:xfrm>
          <a:prstGeom prst="rect">
            <a:avLst/>
          </a:prstGeom>
        </p:spPr>
        <p:txBody>
          <a:bodyPr vert="horz" wrap="square" lIns="0" tIns="490220" rIns="0" bIns="0" rtlCol="0">
            <a:spAutoFit/>
          </a:bodyPr>
          <a:lstStyle/>
          <a:p>
            <a:pPr marL="12700">
              <a:lnSpc>
                <a:spcPts val="3035"/>
              </a:lnSpc>
              <a:spcBef>
                <a:spcPts val="100"/>
              </a:spcBef>
            </a:pPr>
            <a:r>
              <a:rPr dirty="0"/>
              <a:t>_t0</a:t>
            </a:r>
            <a:r>
              <a:rPr spc="-35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dirty="0"/>
              <a:t>x</a:t>
            </a:r>
            <a:r>
              <a:rPr spc="-30" dirty="0"/>
              <a:t> </a:t>
            </a:r>
            <a:r>
              <a:rPr dirty="0"/>
              <a:t>+</a:t>
            </a:r>
            <a:r>
              <a:rPr spc="-30" dirty="0"/>
              <a:t> </a:t>
            </a:r>
            <a:r>
              <a:rPr spc="-25" dirty="0"/>
              <a:t>x;</a:t>
            </a:r>
            <a:endParaRPr/>
          </a:p>
          <a:p>
            <a:pPr marL="12700">
              <a:lnSpc>
                <a:spcPts val="2950"/>
              </a:lnSpc>
            </a:pPr>
            <a:r>
              <a:rPr dirty="0"/>
              <a:t>_t1</a:t>
            </a:r>
            <a:r>
              <a:rPr spc="-45" dirty="0"/>
              <a:t> </a:t>
            </a:r>
            <a:r>
              <a:rPr dirty="0"/>
              <a:t>=</a:t>
            </a:r>
            <a:r>
              <a:rPr spc="-40" dirty="0"/>
              <a:t> </a:t>
            </a:r>
            <a:r>
              <a:rPr spc="-25" dirty="0"/>
              <a:t>y;</a:t>
            </a:r>
            <a:endParaRPr/>
          </a:p>
          <a:p>
            <a:pPr marL="12700">
              <a:lnSpc>
                <a:spcPts val="3035"/>
              </a:lnSpc>
            </a:pPr>
            <a:r>
              <a:rPr dirty="0"/>
              <a:t>b1</a:t>
            </a:r>
            <a:r>
              <a:rPr spc="-40" dirty="0"/>
              <a:t> </a:t>
            </a:r>
            <a:r>
              <a:rPr dirty="0"/>
              <a:t>=</a:t>
            </a:r>
            <a:r>
              <a:rPr spc="-35" dirty="0"/>
              <a:t> </a:t>
            </a:r>
            <a:r>
              <a:rPr dirty="0"/>
              <a:t>_t0</a:t>
            </a:r>
            <a:r>
              <a:rPr spc="-35" dirty="0"/>
              <a:t> </a:t>
            </a:r>
            <a:r>
              <a:rPr dirty="0"/>
              <a:t>&lt;</a:t>
            </a:r>
            <a:r>
              <a:rPr spc="-35" dirty="0"/>
              <a:t> </a:t>
            </a:r>
            <a:r>
              <a:rPr spc="-20" dirty="0"/>
              <a:t>_t1;</a:t>
            </a:r>
            <a:endParaRPr/>
          </a:p>
          <a:p>
            <a:pPr marL="12700">
              <a:lnSpc>
                <a:spcPts val="3035"/>
              </a:lnSpc>
              <a:spcBef>
                <a:spcPts val="2780"/>
              </a:spcBef>
            </a:pPr>
            <a:r>
              <a:rPr dirty="0"/>
              <a:t>_t2</a:t>
            </a:r>
            <a:r>
              <a:rPr spc="-35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dirty="0"/>
              <a:t>x</a:t>
            </a:r>
            <a:r>
              <a:rPr spc="-30" dirty="0"/>
              <a:t> </a:t>
            </a:r>
            <a:r>
              <a:rPr dirty="0"/>
              <a:t>+</a:t>
            </a:r>
            <a:r>
              <a:rPr spc="-30" dirty="0"/>
              <a:t> </a:t>
            </a:r>
            <a:r>
              <a:rPr spc="-25" dirty="0"/>
              <a:t>x;</a:t>
            </a:r>
            <a:endParaRPr/>
          </a:p>
          <a:p>
            <a:pPr marL="12700">
              <a:lnSpc>
                <a:spcPts val="2950"/>
              </a:lnSpc>
            </a:pPr>
            <a:r>
              <a:rPr dirty="0"/>
              <a:t>_t3</a:t>
            </a:r>
            <a:r>
              <a:rPr spc="-45" dirty="0"/>
              <a:t> </a:t>
            </a:r>
            <a:r>
              <a:rPr dirty="0"/>
              <a:t>=</a:t>
            </a:r>
            <a:r>
              <a:rPr spc="-40" dirty="0"/>
              <a:t> </a:t>
            </a:r>
            <a:r>
              <a:rPr spc="-25" dirty="0"/>
              <a:t>y;</a:t>
            </a:r>
            <a:endParaRPr/>
          </a:p>
          <a:p>
            <a:pPr marL="12700">
              <a:lnSpc>
                <a:spcPts val="3035"/>
              </a:lnSpc>
            </a:pPr>
            <a:r>
              <a:rPr dirty="0"/>
              <a:t>b2</a:t>
            </a:r>
            <a:r>
              <a:rPr spc="-55" dirty="0"/>
              <a:t> </a:t>
            </a:r>
            <a:r>
              <a:rPr dirty="0"/>
              <a:t>=</a:t>
            </a:r>
            <a:r>
              <a:rPr spc="-40" dirty="0"/>
              <a:t> </a:t>
            </a:r>
            <a:r>
              <a:rPr dirty="0"/>
              <a:t>_t2</a:t>
            </a:r>
            <a:r>
              <a:rPr spc="-40" dirty="0"/>
              <a:t> </a:t>
            </a:r>
            <a:r>
              <a:rPr dirty="0"/>
              <a:t>==</a:t>
            </a:r>
            <a:r>
              <a:rPr spc="-40" dirty="0"/>
              <a:t> </a:t>
            </a:r>
            <a:r>
              <a:rPr spc="-20" dirty="0"/>
              <a:t>_t3;</a:t>
            </a:r>
            <a:endParaRPr/>
          </a:p>
          <a:p>
            <a:pPr marL="12700">
              <a:lnSpc>
                <a:spcPts val="3035"/>
              </a:lnSpc>
              <a:spcBef>
                <a:spcPts val="2790"/>
              </a:spcBef>
            </a:pPr>
            <a:r>
              <a:rPr dirty="0"/>
              <a:t>_t4</a:t>
            </a:r>
            <a:r>
              <a:rPr spc="-35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dirty="0"/>
              <a:t>x</a:t>
            </a:r>
            <a:r>
              <a:rPr spc="-30" dirty="0"/>
              <a:t> </a:t>
            </a:r>
            <a:r>
              <a:rPr dirty="0"/>
              <a:t>+</a:t>
            </a:r>
            <a:r>
              <a:rPr spc="-30" dirty="0"/>
              <a:t> </a:t>
            </a:r>
            <a:r>
              <a:rPr spc="-25" dirty="0"/>
              <a:t>x;</a:t>
            </a:r>
            <a:endParaRPr/>
          </a:p>
          <a:p>
            <a:pPr marL="12700">
              <a:lnSpc>
                <a:spcPts val="2950"/>
              </a:lnSpc>
            </a:pPr>
            <a:r>
              <a:rPr dirty="0"/>
              <a:t>_t5</a:t>
            </a:r>
            <a:r>
              <a:rPr spc="-45" dirty="0"/>
              <a:t> </a:t>
            </a:r>
            <a:r>
              <a:rPr dirty="0"/>
              <a:t>=</a:t>
            </a:r>
            <a:r>
              <a:rPr spc="-40" dirty="0"/>
              <a:t> </a:t>
            </a:r>
            <a:r>
              <a:rPr spc="-25" dirty="0"/>
              <a:t>y;</a:t>
            </a:r>
            <a:endParaRPr/>
          </a:p>
          <a:p>
            <a:pPr marL="12700">
              <a:lnSpc>
                <a:spcPts val="3035"/>
              </a:lnSpc>
            </a:pPr>
            <a:r>
              <a:rPr dirty="0"/>
              <a:t>b3</a:t>
            </a:r>
            <a:r>
              <a:rPr spc="-40" dirty="0"/>
              <a:t> </a:t>
            </a:r>
            <a:r>
              <a:rPr dirty="0"/>
              <a:t>=</a:t>
            </a:r>
            <a:r>
              <a:rPr spc="-35" dirty="0"/>
              <a:t> </a:t>
            </a:r>
            <a:r>
              <a:rPr dirty="0"/>
              <a:t>_t5</a:t>
            </a:r>
            <a:r>
              <a:rPr spc="-35" dirty="0"/>
              <a:t> </a:t>
            </a:r>
            <a:r>
              <a:rPr dirty="0"/>
              <a:t>&lt;</a:t>
            </a:r>
            <a:r>
              <a:rPr spc="-35" dirty="0"/>
              <a:t> </a:t>
            </a:r>
            <a:r>
              <a:rPr spc="-20" dirty="0"/>
              <a:t>_t4;</a:t>
            </a:r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34000" y="1600200"/>
            <a:ext cx="0" cy="5257800"/>
          </a:xfrm>
          <a:custGeom>
            <a:avLst/>
            <a:gdLst/>
            <a:ahLst/>
            <a:cxnLst/>
            <a:rect l="l" t="t" r="r" b="b"/>
            <a:pathLst>
              <a:path h="5257800">
                <a:moveTo>
                  <a:pt x="0" y="0"/>
                </a:moveTo>
                <a:lnTo>
                  <a:pt x="0" y="5257800"/>
                </a:lnTo>
              </a:path>
            </a:pathLst>
          </a:custGeom>
          <a:ln w="36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5859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6609" y="554990"/>
            <a:ext cx="9529785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66675">
              <a:spcBef>
                <a:spcPts val="100"/>
              </a:spcBef>
            </a:pPr>
            <a:r>
              <a:rPr sz="4000" spc="220" dirty="0"/>
              <a:t>Optimizations</a:t>
            </a:r>
            <a:r>
              <a:rPr sz="4000" spc="295" dirty="0"/>
              <a:t> </a:t>
            </a:r>
            <a:r>
              <a:rPr sz="4000" spc="225" dirty="0"/>
              <a:t>from</a:t>
            </a:r>
            <a:r>
              <a:rPr sz="4000" spc="300" dirty="0"/>
              <a:t> </a:t>
            </a:r>
            <a:r>
              <a:rPr sz="4000" spc="85" dirty="0"/>
              <a:t>IR</a:t>
            </a:r>
            <a:r>
              <a:rPr sz="4000" spc="310" dirty="0"/>
              <a:t> </a:t>
            </a:r>
            <a:r>
              <a:rPr sz="4000" spc="254" dirty="0"/>
              <a:t>Generation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25270" y="2230120"/>
            <a:ext cx="2997835" cy="347941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1391920">
              <a:lnSpc>
                <a:spcPts val="2950"/>
              </a:lnSpc>
              <a:spcBef>
                <a:spcPts val="340"/>
              </a:spcBef>
            </a:pP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int</a:t>
            </a:r>
            <a:r>
              <a:rPr sz="2600" spc="-6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x;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int</a:t>
            </a:r>
            <a:r>
              <a:rPr sz="2600" spc="-6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y;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bool</a:t>
            </a:r>
            <a:r>
              <a:rPr sz="2600" spc="-8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b1;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bool</a:t>
            </a:r>
            <a:r>
              <a:rPr sz="2600" spc="-8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b2;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bool</a:t>
            </a:r>
            <a:r>
              <a:rPr sz="2600" spc="-8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b3;</a:t>
            </a:r>
            <a:endParaRPr sz="2600">
              <a:latin typeface="Courier New"/>
              <a:cs typeface="Courier New"/>
            </a:endParaRPr>
          </a:p>
          <a:p>
            <a:pPr marL="12700" marR="5080">
              <a:lnSpc>
                <a:spcPct val="94700"/>
              </a:lnSpc>
              <a:spcBef>
                <a:spcPts val="2875"/>
              </a:spcBef>
            </a:pP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b1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+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&lt;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50" dirty="0">
                <a:solidFill>
                  <a:srgbClr val="191919"/>
                </a:solidFill>
                <a:latin typeface="Courier New"/>
                <a:cs typeface="Courier New"/>
              </a:rPr>
              <a:t>y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b2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+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==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50" dirty="0">
                <a:solidFill>
                  <a:srgbClr val="191919"/>
                </a:solidFill>
                <a:latin typeface="Courier New"/>
                <a:cs typeface="Courier New"/>
              </a:rPr>
              <a:t>y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b3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+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&gt;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50" dirty="0">
                <a:solidFill>
                  <a:srgbClr val="191919"/>
                </a:solidFill>
                <a:latin typeface="Courier New"/>
                <a:cs typeface="Courier New"/>
              </a:rPr>
              <a:t>y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xfrm>
            <a:off x="6205025" y="1578610"/>
            <a:ext cx="4228876" cy="4675639"/>
          </a:xfrm>
          <a:prstGeom prst="rect">
            <a:avLst/>
          </a:prstGeom>
        </p:spPr>
        <p:txBody>
          <a:bodyPr vert="horz" wrap="square" lIns="0" tIns="490220" rIns="0" bIns="0" rtlCol="0">
            <a:spAutoFit/>
          </a:bodyPr>
          <a:lstStyle/>
          <a:p>
            <a:pPr marL="12700">
              <a:lnSpc>
                <a:spcPts val="3035"/>
              </a:lnSpc>
              <a:spcBef>
                <a:spcPts val="100"/>
              </a:spcBef>
            </a:pPr>
            <a:r>
              <a:rPr dirty="0"/>
              <a:t>_t0</a:t>
            </a:r>
            <a:r>
              <a:rPr spc="-35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dirty="0"/>
              <a:t>x</a:t>
            </a:r>
            <a:r>
              <a:rPr spc="-30" dirty="0"/>
              <a:t> </a:t>
            </a:r>
            <a:r>
              <a:rPr dirty="0"/>
              <a:t>+</a:t>
            </a:r>
            <a:r>
              <a:rPr spc="-30" dirty="0"/>
              <a:t> </a:t>
            </a:r>
            <a:r>
              <a:rPr spc="-25" dirty="0"/>
              <a:t>x;</a:t>
            </a:r>
            <a:endParaRPr/>
          </a:p>
          <a:p>
            <a:pPr marL="12700">
              <a:lnSpc>
                <a:spcPts val="2950"/>
              </a:lnSpc>
            </a:pPr>
            <a:r>
              <a:rPr dirty="0"/>
              <a:t>_t1</a:t>
            </a:r>
            <a:r>
              <a:rPr spc="-45" dirty="0"/>
              <a:t> </a:t>
            </a:r>
            <a:r>
              <a:rPr dirty="0"/>
              <a:t>=</a:t>
            </a:r>
            <a:r>
              <a:rPr spc="-40" dirty="0"/>
              <a:t> </a:t>
            </a:r>
            <a:r>
              <a:rPr spc="-25" dirty="0"/>
              <a:t>y;</a:t>
            </a:r>
            <a:endParaRPr/>
          </a:p>
          <a:p>
            <a:pPr marL="12700">
              <a:lnSpc>
                <a:spcPts val="3035"/>
              </a:lnSpc>
            </a:pPr>
            <a:r>
              <a:rPr dirty="0"/>
              <a:t>b1</a:t>
            </a:r>
            <a:r>
              <a:rPr spc="-40" dirty="0"/>
              <a:t> </a:t>
            </a:r>
            <a:r>
              <a:rPr dirty="0"/>
              <a:t>=</a:t>
            </a:r>
            <a:r>
              <a:rPr spc="-35" dirty="0"/>
              <a:t> </a:t>
            </a:r>
            <a:r>
              <a:rPr dirty="0"/>
              <a:t>_t0</a:t>
            </a:r>
            <a:r>
              <a:rPr spc="-35" dirty="0"/>
              <a:t> </a:t>
            </a:r>
            <a:r>
              <a:rPr dirty="0"/>
              <a:t>&lt;</a:t>
            </a:r>
            <a:r>
              <a:rPr spc="-35" dirty="0"/>
              <a:t> </a:t>
            </a:r>
            <a:r>
              <a:rPr spc="-20" dirty="0"/>
              <a:t>_t1;</a:t>
            </a:r>
            <a:endParaRPr/>
          </a:p>
          <a:p>
            <a:pPr marL="12700">
              <a:lnSpc>
                <a:spcPts val="3035"/>
              </a:lnSpc>
              <a:spcBef>
                <a:spcPts val="2780"/>
              </a:spcBef>
            </a:pPr>
            <a:r>
              <a:rPr dirty="0">
                <a:solidFill>
                  <a:srgbClr val="FF0000"/>
                </a:solidFill>
              </a:rPr>
              <a:t>_t2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=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x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+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x;</a:t>
            </a:r>
            <a:endParaRPr/>
          </a:p>
          <a:p>
            <a:pPr marL="12700">
              <a:lnSpc>
                <a:spcPts val="2950"/>
              </a:lnSpc>
            </a:pPr>
            <a:r>
              <a:rPr dirty="0">
                <a:solidFill>
                  <a:srgbClr val="FF0000"/>
                </a:solidFill>
              </a:rPr>
              <a:t>_t3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=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y;</a:t>
            </a:r>
            <a:endParaRPr/>
          </a:p>
          <a:p>
            <a:pPr marL="12700">
              <a:lnSpc>
                <a:spcPts val="3035"/>
              </a:lnSpc>
            </a:pPr>
            <a:r>
              <a:rPr dirty="0"/>
              <a:t>b2</a:t>
            </a:r>
            <a:r>
              <a:rPr spc="-55" dirty="0"/>
              <a:t> </a:t>
            </a:r>
            <a:r>
              <a:rPr dirty="0"/>
              <a:t>=</a:t>
            </a:r>
            <a:r>
              <a:rPr spc="-40" dirty="0"/>
              <a:t> </a:t>
            </a:r>
            <a:r>
              <a:rPr dirty="0"/>
              <a:t>_t2</a:t>
            </a:r>
            <a:r>
              <a:rPr spc="-40" dirty="0"/>
              <a:t> </a:t>
            </a:r>
            <a:r>
              <a:rPr dirty="0"/>
              <a:t>==</a:t>
            </a:r>
            <a:r>
              <a:rPr spc="-40" dirty="0"/>
              <a:t> </a:t>
            </a:r>
            <a:r>
              <a:rPr spc="-20" dirty="0"/>
              <a:t>_t3;</a:t>
            </a:r>
            <a:endParaRPr/>
          </a:p>
          <a:p>
            <a:pPr marL="12700">
              <a:lnSpc>
                <a:spcPts val="3035"/>
              </a:lnSpc>
              <a:spcBef>
                <a:spcPts val="2790"/>
              </a:spcBef>
            </a:pPr>
            <a:r>
              <a:rPr dirty="0">
                <a:solidFill>
                  <a:srgbClr val="FF0000"/>
                </a:solidFill>
              </a:rPr>
              <a:t>_t4</a:t>
            </a:r>
            <a:r>
              <a:rPr spc="-3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=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x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+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x;</a:t>
            </a:r>
            <a:endParaRPr/>
          </a:p>
          <a:p>
            <a:pPr marL="12700">
              <a:lnSpc>
                <a:spcPts val="2950"/>
              </a:lnSpc>
            </a:pPr>
            <a:r>
              <a:rPr dirty="0">
                <a:solidFill>
                  <a:srgbClr val="FF0000"/>
                </a:solidFill>
              </a:rPr>
              <a:t>_t5</a:t>
            </a:r>
            <a:r>
              <a:rPr spc="-4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=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spc="-25" dirty="0">
                <a:solidFill>
                  <a:srgbClr val="FF0000"/>
                </a:solidFill>
              </a:rPr>
              <a:t>y;</a:t>
            </a:r>
            <a:endParaRPr/>
          </a:p>
          <a:p>
            <a:pPr marL="12700">
              <a:lnSpc>
                <a:spcPts val="3035"/>
              </a:lnSpc>
            </a:pPr>
            <a:r>
              <a:rPr dirty="0"/>
              <a:t>b3</a:t>
            </a:r>
            <a:r>
              <a:rPr spc="-40" dirty="0"/>
              <a:t> </a:t>
            </a:r>
            <a:r>
              <a:rPr dirty="0"/>
              <a:t>=</a:t>
            </a:r>
            <a:r>
              <a:rPr spc="-35" dirty="0"/>
              <a:t> </a:t>
            </a:r>
            <a:r>
              <a:rPr dirty="0"/>
              <a:t>_t5</a:t>
            </a:r>
            <a:r>
              <a:rPr spc="-35" dirty="0"/>
              <a:t> </a:t>
            </a:r>
            <a:r>
              <a:rPr dirty="0"/>
              <a:t>&lt;</a:t>
            </a:r>
            <a:r>
              <a:rPr spc="-35" dirty="0"/>
              <a:t> </a:t>
            </a:r>
            <a:r>
              <a:rPr spc="-20" dirty="0"/>
              <a:t>_t4;</a:t>
            </a:r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34000" y="1600200"/>
            <a:ext cx="0" cy="5257800"/>
          </a:xfrm>
          <a:custGeom>
            <a:avLst/>
            <a:gdLst/>
            <a:ahLst/>
            <a:cxnLst/>
            <a:rect l="l" t="t" r="r" b="b"/>
            <a:pathLst>
              <a:path h="5257800">
                <a:moveTo>
                  <a:pt x="0" y="0"/>
                </a:moveTo>
                <a:lnTo>
                  <a:pt x="0" y="5257800"/>
                </a:lnTo>
              </a:path>
            </a:pathLst>
          </a:custGeom>
          <a:ln w="36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302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6609" y="554990"/>
            <a:ext cx="9529785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66675">
              <a:spcBef>
                <a:spcPts val="100"/>
              </a:spcBef>
            </a:pPr>
            <a:r>
              <a:rPr sz="4000" spc="220" dirty="0"/>
              <a:t>Optimizations</a:t>
            </a:r>
            <a:r>
              <a:rPr sz="4000" spc="295" dirty="0"/>
              <a:t> </a:t>
            </a:r>
            <a:r>
              <a:rPr sz="4000" spc="225" dirty="0"/>
              <a:t>from</a:t>
            </a:r>
            <a:r>
              <a:rPr sz="4000" spc="300" dirty="0"/>
              <a:t> </a:t>
            </a:r>
            <a:r>
              <a:rPr sz="4000" spc="85" dirty="0"/>
              <a:t>IR</a:t>
            </a:r>
            <a:r>
              <a:rPr sz="4000" spc="310" dirty="0"/>
              <a:t> </a:t>
            </a:r>
            <a:r>
              <a:rPr sz="4000" spc="254" dirty="0"/>
              <a:t>Generation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525270" y="2230120"/>
            <a:ext cx="2997835" cy="347941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1391920">
              <a:lnSpc>
                <a:spcPts val="2950"/>
              </a:lnSpc>
              <a:spcBef>
                <a:spcPts val="340"/>
              </a:spcBef>
            </a:pP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int</a:t>
            </a:r>
            <a:r>
              <a:rPr sz="2600" spc="-6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x;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int</a:t>
            </a:r>
            <a:r>
              <a:rPr sz="2600" spc="-6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y;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bool</a:t>
            </a:r>
            <a:r>
              <a:rPr sz="2600" spc="-8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b1;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bool</a:t>
            </a:r>
            <a:r>
              <a:rPr sz="2600" spc="-8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b2;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bool</a:t>
            </a:r>
            <a:r>
              <a:rPr sz="2600" spc="-8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b3;</a:t>
            </a:r>
            <a:endParaRPr sz="2600">
              <a:latin typeface="Courier New"/>
              <a:cs typeface="Courier New"/>
            </a:endParaRPr>
          </a:p>
          <a:p>
            <a:pPr marL="12700" marR="5080">
              <a:lnSpc>
                <a:spcPct val="94700"/>
              </a:lnSpc>
              <a:spcBef>
                <a:spcPts val="2875"/>
              </a:spcBef>
            </a:pP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b1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+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&lt;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50" dirty="0">
                <a:solidFill>
                  <a:srgbClr val="191919"/>
                </a:solidFill>
                <a:latin typeface="Courier New"/>
                <a:cs typeface="Courier New"/>
              </a:rPr>
              <a:t>y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b2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+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==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50" dirty="0">
                <a:solidFill>
                  <a:srgbClr val="191919"/>
                </a:solidFill>
                <a:latin typeface="Courier New"/>
                <a:cs typeface="Courier New"/>
              </a:rPr>
              <a:t>y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b3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+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&gt;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50" dirty="0">
                <a:solidFill>
                  <a:srgbClr val="191919"/>
                </a:solidFill>
                <a:latin typeface="Courier New"/>
                <a:cs typeface="Courier New"/>
              </a:rPr>
              <a:t>y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68670" y="1855470"/>
            <a:ext cx="2997200" cy="1170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35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_t0</a:t>
            </a:r>
            <a:r>
              <a:rPr sz="2600" b="1" spc="-3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+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5" dirty="0">
                <a:solidFill>
                  <a:srgbClr val="191919"/>
                </a:solidFill>
                <a:latin typeface="Courier New"/>
                <a:cs typeface="Courier New"/>
              </a:rPr>
              <a:t>x;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2950"/>
              </a:lnSpc>
            </a:pP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_t1</a:t>
            </a:r>
            <a:r>
              <a:rPr sz="2600" b="1" spc="-4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b="1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5" dirty="0">
                <a:solidFill>
                  <a:srgbClr val="191919"/>
                </a:solidFill>
                <a:latin typeface="Courier New"/>
                <a:cs typeface="Courier New"/>
              </a:rPr>
              <a:t>y;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3035"/>
              </a:lnSpc>
            </a:pP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b1</a:t>
            </a:r>
            <a:r>
              <a:rPr sz="2600" b="1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b="1" spc="-3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_t0</a:t>
            </a:r>
            <a:r>
              <a:rPr sz="2600" b="1" spc="-3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&lt;</a:t>
            </a:r>
            <a:r>
              <a:rPr sz="2600" b="1" spc="-3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_t1;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8670" y="4103370"/>
            <a:ext cx="319532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b2</a:t>
            </a:r>
            <a:r>
              <a:rPr sz="2600" b="1" spc="-5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b="1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_t0</a:t>
            </a:r>
            <a:r>
              <a:rPr sz="2600" b="1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==</a:t>
            </a:r>
            <a:r>
              <a:rPr sz="2600" b="1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_t1;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8670" y="5603240"/>
            <a:ext cx="29972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b3</a:t>
            </a:r>
            <a:r>
              <a:rPr sz="2600" b="1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b="1" spc="-3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_t0</a:t>
            </a:r>
            <a:r>
              <a:rPr sz="2600" b="1" spc="-3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&lt;</a:t>
            </a:r>
            <a:r>
              <a:rPr sz="2600" b="1" spc="-3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_t1;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34000" y="1600200"/>
            <a:ext cx="0" cy="5257800"/>
          </a:xfrm>
          <a:custGeom>
            <a:avLst/>
            <a:gdLst/>
            <a:ahLst/>
            <a:cxnLst/>
            <a:rect l="l" t="t" r="r" b="b"/>
            <a:pathLst>
              <a:path h="5257800">
                <a:moveTo>
                  <a:pt x="0" y="0"/>
                </a:moveTo>
                <a:lnTo>
                  <a:pt x="0" y="5257800"/>
                </a:lnTo>
              </a:path>
            </a:pathLst>
          </a:custGeom>
          <a:ln w="36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08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9470" y="2649220"/>
            <a:ext cx="3790315" cy="11849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805180" marR="5080" indent="-792480">
              <a:lnSpc>
                <a:spcPts val="2950"/>
              </a:lnSpc>
              <a:spcBef>
                <a:spcPts val="340"/>
              </a:spcBef>
            </a:pPr>
            <a:r>
              <a:rPr sz="2600" dirty="0">
                <a:latin typeface="Courier New"/>
                <a:cs typeface="Courier New"/>
              </a:rPr>
              <a:t>while</a:t>
            </a:r>
            <a:r>
              <a:rPr sz="2600" spc="-45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(x</a:t>
            </a:r>
            <a:r>
              <a:rPr sz="2600" spc="-40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&lt;</a:t>
            </a:r>
            <a:r>
              <a:rPr sz="2600" spc="-40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y</a:t>
            </a:r>
            <a:r>
              <a:rPr sz="2600" spc="-40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+</a:t>
            </a:r>
            <a:r>
              <a:rPr sz="2600" spc="-45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z)</a:t>
            </a:r>
            <a:r>
              <a:rPr sz="2600" spc="-40" dirty="0">
                <a:latin typeface="Courier New"/>
                <a:cs typeface="Courier New"/>
              </a:rPr>
              <a:t> </a:t>
            </a:r>
            <a:r>
              <a:rPr sz="2600" spc="-50" dirty="0">
                <a:latin typeface="Courier New"/>
                <a:cs typeface="Courier New"/>
              </a:rPr>
              <a:t>{ </a:t>
            </a:r>
            <a:r>
              <a:rPr sz="2600" dirty="0">
                <a:latin typeface="Courier New"/>
                <a:cs typeface="Courier New"/>
              </a:rPr>
              <a:t>x</a:t>
            </a:r>
            <a:r>
              <a:rPr sz="2600" spc="-25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=</a:t>
            </a:r>
            <a:r>
              <a:rPr sz="2600" spc="-20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x</a:t>
            </a:r>
            <a:r>
              <a:rPr sz="2600" spc="-20" dirty="0">
                <a:latin typeface="Courier New"/>
                <a:cs typeface="Courier New"/>
              </a:rPr>
              <a:t> </a:t>
            </a:r>
            <a:r>
              <a:rPr sz="2600" dirty="0">
                <a:latin typeface="Courier New"/>
                <a:cs typeface="Courier New"/>
              </a:rPr>
              <a:t>–</a:t>
            </a:r>
            <a:r>
              <a:rPr sz="2600" spc="-20" dirty="0">
                <a:latin typeface="Courier New"/>
                <a:cs typeface="Courier New"/>
              </a:rPr>
              <a:t> </a:t>
            </a:r>
            <a:r>
              <a:rPr sz="2600" spc="-25" dirty="0">
                <a:latin typeface="Courier New"/>
                <a:cs typeface="Courier New"/>
              </a:rPr>
              <a:t>y;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2880"/>
              </a:lnSpc>
            </a:pPr>
            <a:r>
              <a:rPr sz="2600" spc="-50" dirty="0">
                <a:latin typeface="Courier New"/>
                <a:cs typeface="Courier New"/>
              </a:rPr>
              <a:t>}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34000" y="1601469"/>
            <a:ext cx="0" cy="5257800"/>
          </a:xfrm>
          <a:custGeom>
            <a:avLst/>
            <a:gdLst/>
            <a:ahLst/>
            <a:cxnLst/>
            <a:rect l="l" t="t" r="r" b="b"/>
            <a:pathLst>
              <a:path h="5257800">
                <a:moveTo>
                  <a:pt x="0" y="0"/>
                </a:moveTo>
                <a:lnTo>
                  <a:pt x="0" y="5257800"/>
                </a:lnTo>
              </a:path>
            </a:pathLst>
          </a:custGeom>
          <a:ln w="36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290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6609" y="554990"/>
            <a:ext cx="9529785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288925">
              <a:spcBef>
                <a:spcPts val="100"/>
              </a:spcBef>
            </a:pPr>
            <a:r>
              <a:rPr sz="4000" spc="220" dirty="0"/>
              <a:t>Optimizations</a:t>
            </a:r>
            <a:r>
              <a:rPr sz="4000" spc="305" dirty="0"/>
              <a:t> </a:t>
            </a:r>
            <a:r>
              <a:rPr sz="4000" spc="225" dirty="0"/>
              <a:t>from</a:t>
            </a:r>
            <a:r>
              <a:rPr sz="4000" spc="310" dirty="0"/>
              <a:t> </a:t>
            </a:r>
            <a:r>
              <a:rPr sz="4000" spc="290" dirty="0"/>
              <a:t>Lazy</a:t>
            </a:r>
            <a:r>
              <a:rPr sz="4000" spc="310" dirty="0"/>
              <a:t> Coders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39470" y="2649220"/>
            <a:ext cx="3790315" cy="11849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805180" marR="5080" indent="-792480">
              <a:lnSpc>
                <a:spcPts val="2950"/>
              </a:lnSpc>
              <a:spcBef>
                <a:spcPts val="340"/>
              </a:spcBef>
            </a:pP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while</a:t>
            </a:r>
            <a:r>
              <a:rPr sz="2600" spc="-4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(x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&lt;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y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+</a:t>
            </a:r>
            <a:r>
              <a:rPr sz="2600" spc="-4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z)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50" dirty="0">
                <a:solidFill>
                  <a:srgbClr val="191919"/>
                </a:solidFill>
                <a:latin typeface="Courier New"/>
                <a:cs typeface="Courier New"/>
              </a:rPr>
              <a:t>{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–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y;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2880"/>
              </a:lnSpc>
            </a:pPr>
            <a:r>
              <a:rPr sz="2600" spc="-50" dirty="0">
                <a:solidFill>
                  <a:srgbClr val="191919"/>
                </a:solidFill>
                <a:latin typeface="Courier New"/>
                <a:cs typeface="Courier New"/>
              </a:rPr>
              <a:t>}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0" y="1601469"/>
            <a:ext cx="0" cy="5257800"/>
          </a:xfrm>
          <a:custGeom>
            <a:avLst/>
            <a:gdLst/>
            <a:ahLst/>
            <a:cxnLst/>
            <a:rect l="l" t="t" r="r" b="b"/>
            <a:pathLst>
              <a:path h="5257800">
                <a:moveTo>
                  <a:pt x="0" y="0"/>
                </a:moveTo>
                <a:lnTo>
                  <a:pt x="0" y="5257800"/>
                </a:lnTo>
              </a:path>
            </a:pathLst>
          </a:custGeom>
          <a:ln w="36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68670" y="2230121"/>
            <a:ext cx="4185920" cy="2705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35"/>
              </a:lnSpc>
              <a:spcBef>
                <a:spcPts val="100"/>
              </a:spcBef>
            </a:pP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_L0:</a:t>
            </a:r>
            <a:endParaRPr sz="2600">
              <a:latin typeface="Courier New"/>
              <a:cs typeface="Courier New"/>
            </a:endParaRPr>
          </a:p>
          <a:p>
            <a:pPr marL="804545">
              <a:lnSpc>
                <a:spcPts val="2950"/>
              </a:lnSpc>
            </a:pP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_t0</a:t>
            </a:r>
            <a:r>
              <a:rPr sz="2600" b="1" spc="-3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y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+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5" dirty="0">
                <a:solidFill>
                  <a:srgbClr val="191919"/>
                </a:solidFill>
                <a:latin typeface="Courier New"/>
                <a:cs typeface="Courier New"/>
              </a:rPr>
              <a:t>z;</a:t>
            </a:r>
            <a:endParaRPr sz="2600">
              <a:latin typeface="Courier New"/>
              <a:cs typeface="Courier New"/>
            </a:endParaRPr>
          </a:p>
          <a:p>
            <a:pPr marL="804545" marR="5080">
              <a:lnSpc>
                <a:spcPts val="2950"/>
              </a:lnSpc>
              <a:spcBef>
                <a:spcPts val="155"/>
              </a:spcBef>
            </a:pP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_t1</a:t>
            </a:r>
            <a:r>
              <a:rPr sz="2600" b="1" spc="-3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&lt;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_t0;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IfZ</a:t>
            </a:r>
            <a:r>
              <a:rPr sz="2600" b="1" spc="-7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_t1</a:t>
            </a:r>
            <a:r>
              <a:rPr sz="2600" b="1" spc="-7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Goto</a:t>
            </a:r>
            <a:r>
              <a:rPr sz="2600" b="1" spc="-7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_L1;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b="1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–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5" dirty="0">
                <a:solidFill>
                  <a:srgbClr val="191919"/>
                </a:solidFill>
                <a:latin typeface="Courier New"/>
                <a:cs typeface="Courier New"/>
              </a:rPr>
              <a:t>y;</a:t>
            </a:r>
            <a:endParaRPr sz="2600">
              <a:latin typeface="Courier New"/>
              <a:cs typeface="Courier New"/>
            </a:endParaRPr>
          </a:p>
          <a:p>
            <a:pPr marL="804545">
              <a:lnSpc>
                <a:spcPts val="2795"/>
              </a:lnSpc>
            </a:pP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Goto</a:t>
            </a:r>
            <a:r>
              <a:rPr sz="2600" b="1" spc="-8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_L0;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3035"/>
              </a:lnSpc>
            </a:pP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_L1:</a:t>
            </a:r>
            <a:endParaRPr sz="2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19416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6609" y="554990"/>
            <a:ext cx="9529785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288925">
              <a:spcBef>
                <a:spcPts val="100"/>
              </a:spcBef>
            </a:pPr>
            <a:r>
              <a:rPr sz="4000" spc="220" dirty="0"/>
              <a:t>Optimizations</a:t>
            </a:r>
            <a:r>
              <a:rPr sz="4000" spc="305" dirty="0"/>
              <a:t> </a:t>
            </a:r>
            <a:r>
              <a:rPr sz="4000" spc="225" dirty="0"/>
              <a:t>from</a:t>
            </a:r>
            <a:r>
              <a:rPr sz="4000" spc="310" dirty="0"/>
              <a:t> </a:t>
            </a:r>
            <a:r>
              <a:rPr sz="4000" spc="290" dirty="0"/>
              <a:t>Lazy</a:t>
            </a:r>
            <a:r>
              <a:rPr sz="4000" spc="310" dirty="0"/>
              <a:t> Coders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39470" y="2649220"/>
            <a:ext cx="3790315" cy="11849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805180" marR="5080" indent="-792480">
              <a:lnSpc>
                <a:spcPts val="2950"/>
              </a:lnSpc>
              <a:spcBef>
                <a:spcPts val="340"/>
              </a:spcBef>
            </a:pP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while</a:t>
            </a:r>
            <a:r>
              <a:rPr sz="2600" spc="-4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(x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&lt;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y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+</a:t>
            </a:r>
            <a:r>
              <a:rPr sz="2600" spc="-4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z)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50" dirty="0">
                <a:solidFill>
                  <a:srgbClr val="191919"/>
                </a:solidFill>
                <a:latin typeface="Courier New"/>
                <a:cs typeface="Courier New"/>
              </a:rPr>
              <a:t>{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–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y;</a:t>
            </a:r>
            <a:endParaRPr sz="2600" dirty="0">
              <a:latin typeface="Courier New"/>
              <a:cs typeface="Courier New"/>
            </a:endParaRPr>
          </a:p>
          <a:p>
            <a:pPr marL="12700">
              <a:lnSpc>
                <a:spcPts val="2880"/>
              </a:lnSpc>
            </a:pPr>
            <a:r>
              <a:rPr sz="2600" spc="-50" dirty="0">
                <a:solidFill>
                  <a:srgbClr val="191919"/>
                </a:solidFill>
                <a:latin typeface="Courier New"/>
                <a:cs typeface="Courier New"/>
              </a:rPr>
              <a:t>}</a:t>
            </a:r>
            <a:endParaRPr sz="26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0" y="1601469"/>
            <a:ext cx="0" cy="5257800"/>
          </a:xfrm>
          <a:custGeom>
            <a:avLst/>
            <a:gdLst/>
            <a:ahLst/>
            <a:cxnLst/>
            <a:rect l="l" t="t" r="r" b="b"/>
            <a:pathLst>
              <a:path h="5257800">
                <a:moveTo>
                  <a:pt x="0" y="0"/>
                </a:moveTo>
                <a:lnTo>
                  <a:pt x="0" y="5257800"/>
                </a:lnTo>
              </a:path>
            </a:pathLst>
          </a:custGeom>
          <a:ln w="36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68670" y="2230121"/>
            <a:ext cx="4185920" cy="2705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35"/>
              </a:lnSpc>
              <a:spcBef>
                <a:spcPts val="100"/>
              </a:spcBef>
            </a:pP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_L0:</a:t>
            </a:r>
            <a:endParaRPr sz="2600" dirty="0">
              <a:latin typeface="Courier New"/>
              <a:cs typeface="Courier New"/>
            </a:endParaRPr>
          </a:p>
          <a:p>
            <a:pPr marL="804545">
              <a:lnSpc>
                <a:spcPts val="2950"/>
              </a:lnSpc>
            </a:pPr>
            <a:r>
              <a:rPr sz="2600" b="1" dirty="0">
                <a:solidFill>
                  <a:srgbClr val="FF0000"/>
                </a:solidFill>
                <a:latin typeface="Courier New"/>
                <a:cs typeface="Courier New"/>
              </a:rPr>
              <a:t>_t0</a:t>
            </a:r>
            <a:r>
              <a:rPr sz="2600" b="1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600" b="1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ourier New"/>
                <a:cs typeface="Courier New"/>
              </a:rPr>
              <a:t>y</a:t>
            </a:r>
            <a:r>
              <a:rPr sz="2600" b="1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600" b="1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spc="-25" dirty="0">
                <a:solidFill>
                  <a:srgbClr val="FF0000"/>
                </a:solidFill>
                <a:latin typeface="Courier New"/>
                <a:cs typeface="Courier New"/>
              </a:rPr>
              <a:t>z;</a:t>
            </a:r>
            <a:endParaRPr sz="2600" dirty="0">
              <a:latin typeface="Courier New"/>
              <a:cs typeface="Courier New"/>
            </a:endParaRPr>
          </a:p>
          <a:p>
            <a:pPr marL="804545" marR="5080">
              <a:lnSpc>
                <a:spcPts val="2950"/>
              </a:lnSpc>
              <a:spcBef>
                <a:spcPts val="155"/>
              </a:spcBef>
            </a:pP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_t1</a:t>
            </a:r>
            <a:r>
              <a:rPr sz="2600" b="1" spc="-3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&lt;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_t0;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IfZ</a:t>
            </a:r>
            <a:r>
              <a:rPr sz="2600" b="1" spc="-7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_t1</a:t>
            </a:r>
            <a:r>
              <a:rPr sz="2600" b="1" spc="-7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Goto</a:t>
            </a:r>
            <a:r>
              <a:rPr sz="2600" b="1" spc="-7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_L1;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b="1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–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5" dirty="0">
                <a:solidFill>
                  <a:srgbClr val="191919"/>
                </a:solidFill>
                <a:latin typeface="Courier New"/>
                <a:cs typeface="Courier New"/>
              </a:rPr>
              <a:t>y;</a:t>
            </a:r>
            <a:endParaRPr sz="2600" dirty="0">
              <a:latin typeface="Courier New"/>
              <a:cs typeface="Courier New"/>
            </a:endParaRPr>
          </a:p>
          <a:p>
            <a:pPr marL="804545">
              <a:lnSpc>
                <a:spcPts val="2795"/>
              </a:lnSpc>
            </a:pP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Goto</a:t>
            </a:r>
            <a:r>
              <a:rPr sz="2600" b="1" spc="-8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_L0;</a:t>
            </a:r>
            <a:endParaRPr sz="2600" dirty="0">
              <a:latin typeface="Courier New"/>
              <a:cs typeface="Courier New"/>
            </a:endParaRPr>
          </a:p>
          <a:p>
            <a:pPr marL="12700">
              <a:lnSpc>
                <a:spcPts val="3035"/>
              </a:lnSpc>
            </a:pP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_L1:</a:t>
            </a:r>
            <a:endParaRPr sz="26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34977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6609" y="554990"/>
            <a:ext cx="9529785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288925">
              <a:spcBef>
                <a:spcPts val="100"/>
              </a:spcBef>
            </a:pPr>
            <a:r>
              <a:rPr sz="4000" spc="220" dirty="0"/>
              <a:t>Optimizations</a:t>
            </a:r>
            <a:r>
              <a:rPr sz="4000" spc="305" dirty="0"/>
              <a:t> </a:t>
            </a:r>
            <a:r>
              <a:rPr sz="4000" spc="225" dirty="0"/>
              <a:t>from</a:t>
            </a:r>
            <a:r>
              <a:rPr sz="4000" spc="310" dirty="0"/>
              <a:t> </a:t>
            </a:r>
            <a:r>
              <a:rPr sz="4000" spc="290" dirty="0"/>
              <a:t>Lazy</a:t>
            </a:r>
            <a:r>
              <a:rPr sz="4000" spc="310" dirty="0"/>
              <a:t> Coders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39470" y="2649220"/>
            <a:ext cx="3790315" cy="11849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805180" marR="5080" indent="-792480">
              <a:lnSpc>
                <a:spcPts val="2950"/>
              </a:lnSpc>
              <a:spcBef>
                <a:spcPts val="340"/>
              </a:spcBef>
            </a:pP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while</a:t>
            </a:r>
            <a:r>
              <a:rPr sz="2600" spc="-4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(x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&lt;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y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+</a:t>
            </a:r>
            <a:r>
              <a:rPr sz="2600" spc="-4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z)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50" dirty="0">
                <a:solidFill>
                  <a:srgbClr val="191919"/>
                </a:solidFill>
                <a:latin typeface="Courier New"/>
                <a:cs typeface="Courier New"/>
              </a:rPr>
              <a:t>{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–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y;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2880"/>
              </a:lnSpc>
            </a:pPr>
            <a:r>
              <a:rPr sz="2600" spc="-50" dirty="0">
                <a:solidFill>
                  <a:srgbClr val="191919"/>
                </a:solidFill>
                <a:latin typeface="Courier New"/>
                <a:cs typeface="Courier New"/>
              </a:rPr>
              <a:t>}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0" y="1601469"/>
            <a:ext cx="0" cy="5257800"/>
          </a:xfrm>
          <a:custGeom>
            <a:avLst/>
            <a:gdLst/>
            <a:ahLst/>
            <a:cxnLst/>
            <a:rect l="l" t="t" r="r" b="b"/>
            <a:pathLst>
              <a:path h="5257800">
                <a:moveTo>
                  <a:pt x="0" y="0"/>
                </a:moveTo>
                <a:lnTo>
                  <a:pt x="0" y="5257800"/>
                </a:lnTo>
              </a:path>
            </a:pathLst>
          </a:custGeom>
          <a:ln w="36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68670" y="2230121"/>
            <a:ext cx="4185920" cy="2705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4545">
              <a:lnSpc>
                <a:spcPts val="3035"/>
              </a:lnSpc>
              <a:spcBef>
                <a:spcPts val="100"/>
              </a:spcBef>
            </a:pPr>
            <a:r>
              <a:rPr sz="2600" b="1" dirty="0">
                <a:solidFill>
                  <a:srgbClr val="FF0000"/>
                </a:solidFill>
                <a:latin typeface="Courier New"/>
                <a:cs typeface="Courier New"/>
              </a:rPr>
              <a:t>_t0</a:t>
            </a:r>
            <a:r>
              <a:rPr sz="2600" b="1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600" b="1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ourier New"/>
                <a:cs typeface="Courier New"/>
              </a:rPr>
              <a:t>y</a:t>
            </a:r>
            <a:r>
              <a:rPr sz="2600" b="1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600" b="1" spc="-3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spc="-25" dirty="0">
                <a:solidFill>
                  <a:srgbClr val="FF0000"/>
                </a:solidFill>
                <a:latin typeface="Courier New"/>
                <a:cs typeface="Courier New"/>
              </a:rPr>
              <a:t>z;</a:t>
            </a:r>
            <a:endParaRPr sz="2600" dirty="0">
              <a:latin typeface="Courier New"/>
              <a:cs typeface="Courier New"/>
            </a:endParaRPr>
          </a:p>
          <a:p>
            <a:pPr marL="12700">
              <a:lnSpc>
                <a:spcPts val="2950"/>
              </a:lnSpc>
            </a:pP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_L0:</a:t>
            </a:r>
            <a:endParaRPr sz="2600" dirty="0">
              <a:latin typeface="Courier New"/>
              <a:cs typeface="Courier New"/>
            </a:endParaRPr>
          </a:p>
          <a:p>
            <a:pPr marL="804545" marR="5080">
              <a:lnSpc>
                <a:spcPts val="2950"/>
              </a:lnSpc>
              <a:spcBef>
                <a:spcPts val="155"/>
              </a:spcBef>
            </a:pP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_t1</a:t>
            </a:r>
            <a:r>
              <a:rPr sz="2600" b="1" spc="-3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&lt;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_t0;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IfZ</a:t>
            </a:r>
            <a:r>
              <a:rPr sz="2600" b="1" spc="-7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_t1</a:t>
            </a:r>
            <a:r>
              <a:rPr sz="2600" b="1" spc="-7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Goto</a:t>
            </a:r>
            <a:r>
              <a:rPr sz="2600" b="1" spc="-7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_L1;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b="1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–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5" dirty="0">
                <a:solidFill>
                  <a:srgbClr val="191919"/>
                </a:solidFill>
                <a:latin typeface="Courier New"/>
                <a:cs typeface="Courier New"/>
              </a:rPr>
              <a:t>y;</a:t>
            </a:r>
            <a:endParaRPr sz="2600" dirty="0">
              <a:latin typeface="Courier New"/>
              <a:cs typeface="Courier New"/>
            </a:endParaRPr>
          </a:p>
          <a:p>
            <a:pPr marL="804545">
              <a:lnSpc>
                <a:spcPts val="2795"/>
              </a:lnSpc>
            </a:pP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Goto</a:t>
            </a:r>
            <a:r>
              <a:rPr sz="2600" b="1" spc="-8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_L0;</a:t>
            </a:r>
            <a:endParaRPr sz="2600" dirty="0">
              <a:latin typeface="Courier New"/>
              <a:cs typeface="Courier New"/>
            </a:endParaRPr>
          </a:p>
          <a:p>
            <a:pPr marL="12700">
              <a:lnSpc>
                <a:spcPts val="3035"/>
              </a:lnSpc>
            </a:pP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_L1:</a:t>
            </a:r>
            <a:endParaRPr sz="26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71887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6609" y="554990"/>
            <a:ext cx="9529785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288925">
              <a:spcBef>
                <a:spcPts val="100"/>
              </a:spcBef>
            </a:pPr>
            <a:r>
              <a:rPr sz="4000" spc="220" dirty="0"/>
              <a:t>Optimizations</a:t>
            </a:r>
            <a:r>
              <a:rPr sz="4000" spc="305" dirty="0"/>
              <a:t> </a:t>
            </a:r>
            <a:r>
              <a:rPr sz="4000" spc="225" dirty="0"/>
              <a:t>from</a:t>
            </a:r>
            <a:r>
              <a:rPr sz="4000" spc="310" dirty="0"/>
              <a:t> </a:t>
            </a:r>
            <a:r>
              <a:rPr sz="4000" spc="290" dirty="0"/>
              <a:t>Lazy</a:t>
            </a:r>
            <a:r>
              <a:rPr sz="4000" spc="310" dirty="0"/>
              <a:t> Coders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39470" y="2649220"/>
            <a:ext cx="3790315" cy="11849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805180" marR="5080" indent="-792480">
              <a:lnSpc>
                <a:spcPts val="2950"/>
              </a:lnSpc>
              <a:spcBef>
                <a:spcPts val="340"/>
              </a:spcBef>
            </a:pP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while</a:t>
            </a:r>
            <a:r>
              <a:rPr sz="2600" spc="-4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(x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&lt;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y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+</a:t>
            </a:r>
            <a:r>
              <a:rPr sz="2600" spc="-4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z)</a:t>
            </a:r>
            <a:r>
              <a:rPr sz="2600" spc="-4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50" dirty="0">
                <a:solidFill>
                  <a:srgbClr val="191919"/>
                </a:solidFill>
                <a:latin typeface="Courier New"/>
                <a:cs typeface="Courier New"/>
              </a:rPr>
              <a:t>{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dirty="0">
                <a:solidFill>
                  <a:srgbClr val="191919"/>
                </a:solidFill>
                <a:latin typeface="Courier New"/>
                <a:cs typeface="Courier New"/>
              </a:rPr>
              <a:t>–</a:t>
            </a:r>
            <a:r>
              <a:rPr sz="2600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spc="-25" dirty="0">
                <a:solidFill>
                  <a:srgbClr val="191919"/>
                </a:solidFill>
                <a:latin typeface="Courier New"/>
                <a:cs typeface="Courier New"/>
              </a:rPr>
              <a:t>y;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2880"/>
              </a:lnSpc>
            </a:pPr>
            <a:r>
              <a:rPr sz="2600" spc="-50" dirty="0">
                <a:solidFill>
                  <a:srgbClr val="191919"/>
                </a:solidFill>
                <a:latin typeface="Courier New"/>
                <a:cs typeface="Courier New"/>
              </a:rPr>
              <a:t>}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0" y="1601469"/>
            <a:ext cx="0" cy="5257800"/>
          </a:xfrm>
          <a:custGeom>
            <a:avLst/>
            <a:gdLst/>
            <a:ahLst/>
            <a:cxnLst/>
            <a:rect l="l" t="t" r="r" b="b"/>
            <a:pathLst>
              <a:path h="5257800">
                <a:moveTo>
                  <a:pt x="0" y="0"/>
                </a:moveTo>
                <a:lnTo>
                  <a:pt x="0" y="5257800"/>
                </a:lnTo>
              </a:path>
            </a:pathLst>
          </a:custGeom>
          <a:ln w="366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68670" y="2230121"/>
            <a:ext cx="4185920" cy="2705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4545">
              <a:lnSpc>
                <a:spcPts val="3035"/>
              </a:lnSpc>
              <a:spcBef>
                <a:spcPts val="100"/>
              </a:spcBef>
            </a:pP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_t0</a:t>
            </a:r>
            <a:r>
              <a:rPr sz="2600" b="1" spc="-3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y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+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5" dirty="0">
                <a:solidFill>
                  <a:srgbClr val="191919"/>
                </a:solidFill>
                <a:latin typeface="Courier New"/>
                <a:cs typeface="Courier New"/>
              </a:rPr>
              <a:t>z;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2950"/>
              </a:lnSpc>
            </a:pP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_L0:</a:t>
            </a:r>
            <a:endParaRPr sz="2600">
              <a:latin typeface="Courier New"/>
              <a:cs typeface="Courier New"/>
            </a:endParaRPr>
          </a:p>
          <a:p>
            <a:pPr marL="804545" marR="5080">
              <a:lnSpc>
                <a:spcPts val="2950"/>
              </a:lnSpc>
              <a:spcBef>
                <a:spcPts val="155"/>
              </a:spcBef>
            </a:pP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_t1</a:t>
            </a:r>
            <a:r>
              <a:rPr sz="2600" b="1" spc="-3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&lt;</a:t>
            </a:r>
            <a:r>
              <a:rPr sz="2600" b="1" spc="-3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_t0;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IfZ</a:t>
            </a:r>
            <a:r>
              <a:rPr sz="2600" b="1" spc="-7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_t1</a:t>
            </a:r>
            <a:r>
              <a:rPr sz="2600" b="1" spc="-7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Goto</a:t>
            </a:r>
            <a:r>
              <a:rPr sz="2600" b="1" spc="-7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_L1;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b="1" spc="-2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=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x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5" dirty="0">
                <a:solidFill>
                  <a:srgbClr val="191919"/>
                </a:solidFill>
                <a:latin typeface="Courier New"/>
                <a:cs typeface="Courier New"/>
              </a:rPr>
              <a:t>y;</a:t>
            </a:r>
            <a:endParaRPr sz="2600">
              <a:latin typeface="Courier New"/>
              <a:cs typeface="Courier New"/>
            </a:endParaRPr>
          </a:p>
          <a:p>
            <a:pPr marL="804545">
              <a:lnSpc>
                <a:spcPts val="2795"/>
              </a:lnSpc>
            </a:pPr>
            <a:r>
              <a:rPr sz="2600" b="1" dirty="0">
                <a:solidFill>
                  <a:srgbClr val="191919"/>
                </a:solidFill>
                <a:latin typeface="Courier New"/>
                <a:cs typeface="Courier New"/>
              </a:rPr>
              <a:t>Goto</a:t>
            </a:r>
            <a:r>
              <a:rPr sz="2600" b="1" spc="-8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_L0;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ts val="3035"/>
              </a:lnSpc>
            </a:pPr>
            <a:r>
              <a:rPr sz="2600" b="1" spc="-20" dirty="0">
                <a:solidFill>
                  <a:srgbClr val="191919"/>
                </a:solidFill>
                <a:latin typeface="Courier New"/>
                <a:cs typeface="Courier New"/>
              </a:rPr>
              <a:t>_L1:</a:t>
            </a:r>
            <a:endParaRPr sz="2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39559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5378" y="1361405"/>
            <a:ext cx="7799227" cy="605691"/>
          </a:xfrm>
          <a:prstGeom prst="rect">
            <a:avLst/>
          </a:prstGeom>
        </p:spPr>
        <p:txBody>
          <a:bodyPr vert="horz" wrap="square" lIns="0" tIns="11696" rIns="0" bIns="0" rtlCol="0">
            <a:spAutoFit/>
          </a:bodyPr>
          <a:lstStyle/>
          <a:p>
            <a:pPr marL="11139">
              <a:spcBef>
                <a:spcPts val="92"/>
              </a:spcBef>
            </a:pPr>
            <a:r>
              <a:rPr dirty="0"/>
              <a:t>Code</a:t>
            </a:r>
            <a:r>
              <a:rPr spc="-13" dirty="0"/>
              <a:t> </a:t>
            </a:r>
            <a:r>
              <a:rPr spc="-9" dirty="0"/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27123" y="3088637"/>
            <a:ext cx="1076023" cy="497278"/>
          </a:xfrm>
          <a:prstGeom prst="rect">
            <a:avLst/>
          </a:prstGeom>
        </p:spPr>
        <p:txBody>
          <a:bodyPr vert="horz" wrap="square" lIns="0" tIns="11139" rIns="0" bIns="0" rtlCol="0">
            <a:spAutoFit/>
          </a:bodyPr>
          <a:lstStyle/>
          <a:p>
            <a:pPr marL="11139" marR="4456" defTabSz="802020">
              <a:spcBef>
                <a:spcPts val="88"/>
              </a:spcBef>
            </a:pPr>
            <a:r>
              <a:rPr sz="1579" spc="-18" dirty="0">
                <a:latin typeface="Calibri"/>
                <a:cs typeface="Calibri"/>
              </a:rPr>
              <a:t>intermediate code</a:t>
            </a:r>
            <a:endParaRPr sz="1579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6716" y="3088637"/>
            <a:ext cx="1076023" cy="497278"/>
          </a:xfrm>
          <a:prstGeom prst="rect">
            <a:avLst/>
          </a:prstGeom>
        </p:spPr>
        <p:txBody>
          <a:bodyPr vert="horz" wrap="square" lIns="0" tIns="11139" rIns="0" bIns="0" rtlCol="0">
            <a:spAutoFit/>
          </a:bodyPr>
          <a:lstStyle/>
          <a:p>
            <a:pPr marL="11139" marR="4456" defTabSz="802020">
              <a:spcBef>
                <a:spcPts val="88"/>
              </a:spcBef>
            </a:pPr>
            <a:r>
              <a:rPr sz="1579" spc="-18" dirty="0">
                <a:latin typeface="Calibri"/>
                <a:cs typeface="Calibri"/>
              </a:rPr>
              <a:t>intermediate code</a:t>
            </a:r>
            <a:endParaRPr sz="1579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97744" y="3099888"/>
            <a:ext cx="717906" cy="497278"/>
          </a:xfrm>
          <a:prstGeom prst="rect">
            <a:avLst/>
          </a:prstGeom>
        </p:spPr>
        <p:txBody>
          <a:bodyPr vert="horz" wrap="square" lIns="0" tIns="11139" rIns="0" bIns="0" rtlCol="0">
            <a:spAutoFit/>
          </a:bodyPr>
          <a:lstStyle/>
          <a:p>
            <a:pPr marL="11139" marR="4456" defTabSz="802020">
              <a:spcBef>
                <a:spcPts val="88"/>
              </a:spcBef>
            </a:pPr>
            <a:r>
              <a:rPr sz="1579" spc="-9" dirty="0">
                <a:latin typeface="Calibri"/>
                <a:cs typeface="Calibri"/>
              </a:rPr>
              <a:t>target </a:t>
            </a:r>
            <a:r>
              <a:rPr sz="1579" spc="-18" dirty="0">
                <a:latin typeface="Calibri"/>
                <a:cs typeface="Calibri"/>
              </a:rPr>
              <a:t>program</a:t>
            </a:r>
            <a:endParaRPr sz="1579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8201" y="3099888"/>
            <a:ext cx="717906" cy="497278"/>
          </a:xfrm>
          <a:prstGeom prst="rect">
            <a:avLst/>
          </a:prstGeom>
        </p:spPr>
        <p:txBody>
          <a:bodyPr vert="horz" wrap="square" lIns="0" tIns="11139" rIns="0" bIns="0" rtlCol="0">
            <a:spAutoFit/>
          </a:bodyPr>
          <a:lstStyle/>
          <a:p>
            <a:pPr marL="11139" marR="4456" defTabSz="802020">
              <a:spcBef>
                <a:spcPts val="88"/>
              </a:spcBef>
            </a:pPr>
            <a:r>
              <a:rPr sz="1579" spc="-9" dirty="0">
                <a:latin typeface="Calibri"/>
                <a:cs typeface="Calibri"/>
              </a:rPr>
              <a:t>source </a:t>
            </a:r>
            <a:r>
              <a:rPr sz="1579" spc="-18" dirty="0">
                <a:latin typeface="Calibri"/>
                <a:cs typeface="Calibri"/>
              </a:rPr>
              <a:t>program</a:t>
            </a:r>
            <a:endParaRPr sz="1579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08605" y="4729963"/>
            <a:ext cx="1236424" cy="884433"/>
          </a:xfrm>
          <a:custGeom>
            <a:avLst/>
            <a:gdLst/>
            <a:ahLst/>
            <a:cxnLst/>
            <a:rect l="l" t="t" r="r" b="b"/>
            <a:pathLst>
              <a:path w="1409700" h="1008379">
                <a:moveTo>
                  <a:pt x="1213612" y="171957"/>
                </a:moveTo>
                <a:lnTo>
                  <a:pt x="0" y="171957"/>
                </a:lnTo>
                <a:lnTo>
                  <a:pt x="0" y="972185"/>
                </a:lnTo>
                <a:lnTo>
                  <a:pt x="60658" y="984181"/>
                </a:lnTo>
                <a:lnTo>
                  <a:pt x="117285" y="993574"/>
                </a:lnTo>
                <a:lnTo>
                  <a:pt x="170181" y="1000521"/>
                </a:lnTo>
                <a:lnTo>
                  <a:pt x="219643" y="1005182"/>
                </a:lnTo>
                <a:lnTo>
                  <a:pt x="265970" y="1007714"/>
                </a:lnTo>
                <a:lnTo>
                  <a:pt x="309461" y="1008278"/>
                </a:lnTo>
                <a:lnTo>
                  <a:pt x="350414" y="1007031"/>
                </a:lnTo>
                <a:lnTo>
                  <a:pt x="389128" y="1004132"/>
                </a:lnTo>
                <a:lnTo>
                  <a:pt x="461032" y="994017"/>
                </a:lnTo>
                <a:lnTo>
                  <a:pt x="527562" y="979201"/>
                </a:lnTo>
                <a:lnTo>
                  <a:pt x="591106" y="960955"/>
                </a:lnTo>
                <a:lnTo>
                  <a:pt x="718792" y="919256"/>
                </a:lnTo>
                <a:lnTo>
                  <a:pt x="752579" y="908673"/>
                </a:lnTo>
                <a:lnTo>
                  <a:pt x="824483" y="888427"/>
                </a:lnTo>
                <a:lnTo>
                  <a:pt x="863197" y="879083"/>
                </a:lnTo>
                <a:lnTo>
                  <a:pt x="904150" y="870470"/>
                </a:lnTo>
                <a:lnTo>
                  <a:pt x="947641" y="862746"/>
                </a:lnTo>
                <a:lnTo>
                  <a:pt x="993968" y="856070"/>
                </a:lnTo>
                <a:lnTo>
                  <a:pt x="1043430" y="850601"/>
                </a:lnTo>
                <a:lnTo>
                  <a:pt x="1096326" y="846498"/>
                </a:lnTo>
                <a:lnTo>
                  <a:pt x="1152953" y="843920"/>
                </a:lnTo>
                <a:lnTo>
                  <a:pt x="1213612" y="843026"/>
                </a:lnTo>
                <a:lnTo>
                  <a:pt x="1213612" y="171957"/>
                </a:lnTo>
                <a:close/>
              </a:path>
              <a:path w="1409700" h="1008379">
                <a:moveTo>
                  <a:pt x="1305306" y="84962"/>
                </a:moveTo>
                <a:lnTo>
                  <a:pt x="99949" y="84962"/>
                </a:lnTo>
                <a:lnTo>
                  <a:pt x="99949" y="171957"/>
                </a:lnTo>
                <a:lnTo>
                  <a:pt x="1213612" y="171957"/>
                </a:lnTo>
                <a:lnTo>
                  <a:pt x="1213612" y="764921"/>
                </a:lnTo>
                <a:lnTo>
                  <a:pt x="1221491" y="764186"/>
                </a:lnTo>
                <a:lnTo>
                  <a:pt x="1242266" y="762571"/>
                </a:lnTo>
                <a:lnTo>
                  <a:pt x="1271637" y="760956"/>
                </a:lnTo>
                <a:lnTo>
                  <a:pt x="1305306" y="760222"/>
                </a:lnTo>
                <a:lnTo>
                  <a:pt x="1305306" y="84962"/>
                </a:lnTo>
                <a:close/>
              </a:path>
              <a:path w="1409700" h="1008379">
                <a:moveTo>
                  <a:pt x="1409700" y="0"/>
                </a:moveTo>
                <a:lnTo>
                  <a:pt x="193928" y="0"/>
                </a:lnTo>
                <a:lnTo>
                  <a:pt x="193928" y="84962"/>
                </a:lnTo>
                <a:lnTo>
                  <a:pt x="1305306" y="84962"/>
                </a:lnTo>
                <a:lnTo>
                  <a:pt x="1305306" y="676782"/>
                </a:lnTo>
                <a:lnTo>
                  <a:pt x="1314277" y="676227"/>
                </a:lnTo>
                <a:lnTo>
                  <a:pt x="1337929" y="675004"/>
                </a:lnTo>
                <a:lnTo>
                  <a:pt x="1371367" y="673782"/>
                </a:lnTo>
                <a:lnTo>
                  <a:pt x="1409700" y="673226"/>
                </a:lnTo>
                <a:lnTo>
                  <a:pt x="1409700" y="0"/>
                </a:lnTo>
                <a:close/>
              </a:path>
            </a:pathLst>
          </a:custGeom>
          <a:solidFill>
            <a:srgbClr val="FAE4D5"/>
          </a:solidFill>
        </p:spPr>
        <p:txBody>
          <a:bodyPr wrap="square" lIns="0" tIns="0" rIns="0" bIns="0" rtlCol="0"/>
          <a:lstStyle/>
          <a:p>
            <a:pPr defTabSz="802020"/>
            <a:endParaRPr sz="1579"/>
          </a:p>
        </p:txBody>
      </p:sp>
      <p:sp>
        <p:nvSpPr>
          <p:cNvPr id="8" name="object 8"/>
          <p:cNvSpPr txBox="1"/>
          <p:nvPr/>
        </p:nvSpPr>
        <p:spPr>
          <a:xfrm>
            <a:off x="4630910" y="4892813"/>
            <a:ext cx="820941" cy="659117"/>
          </a:xfrm>
          <a:prstGeom prst="rect">
            <a:avLst/>
          </a:prstGeom>
        </p:spPr>
        <p:txBody>
          <a:bodyPr vert="horz" wrap="square" lIns="0" tIns="11139" rIns="0" bIns="0" rtlCol="0">
            <a:spAutoFit/>
          </a:bodyPr>
          <a:lstStyle/>
          <a:p>
            <a:pPr marL="135341" marR="4456" indent="-124759" defTabSz="802020">
              <a:spcBef>
                <a:spcPts val="88"/>
              </a:spcBef>
            </a:pPr>
            <a:r>
              <a:rPr sz="2105" spc="-9" dirty="0">
                <a:latin typeface="Calibri"/>
                <a:cs typeface="Calibri"/>
              </a:rPr>
              <a:t>Symbol table</a:t>
            </a:r>
            <a:endParaRPr sz="2105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79366" y="2982928"/>
            <a:ext cx="6252296" cy="2193261"/>
            <a:chOff x="2142744" y="2522220"/>
            <a:chExt cx="7128509" cy="2500630"/>
          </a:xfrm>
        </p:grpSpPr>
        <p:sp>
          <p:nvSpPr>
            <p:cNvPr id="10" name="object 10"/>
            <p:cNvSpPr/>
            <p:nvPr/>
          </p:nvSpPr>
          <p:spPr>
            <a:xfrm>
              <a:off x="3019044" y="3398520"/>
              <a:ext cx="6249035" cy="1621155"/>
            </a:xfrm>
            <a:custGeom>
              <a:avLst/>
              <a:gdLst/>
              <a:ahLst/>
              <a:cxnLst/>
              <a:rect l="l" t="t" r="r" b="b"/>
              <a:pathLst>
                <a:path w="6249034" h="1621154">
                  <a:moveTo>
                    <a:pt x="0" y="0"/>
                  </a:moveTo>
                  <a:lnTo>
                    <a:pt x="2120900" y="1620773"/>
                  </a:lnTo>
                </a:path>
                <a:path w="6249034" h="1621154">
                  <a:moveTo>
                    <a:pt x="3531107" y="1620773"/>
                  </a:moveTo>
                  <a:lnTo>
                    <a:pt x="6248908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  <p:sp>
          <p:nvSpPr>
            <p:cNvPr id="11" name="object 11"/>
            <p:cNvSpPr/>
            <p:nvPr/>
          </p:nvSpPr>
          <p:spPr>
            <a:xfrm>
              <a:off x="5942076" y="3398520"/>
              <a:ext cx="201930" cy="1115060"/>
            </a:xfrm>
            <a:custGeom>
              <a:avLst/>
              <a:gdLst/>
              <a:ahLst/>
              <a:cxnLst/>
              <a:rect l="l" t="t" r="r" b="b"/>
              <a:pathLst>
                <a:path w="201929" h="1115060">
                  <a:moveTo>
                    <a:pt x="201422" y="0"/>
                  </a:moveTo>
                  <a:lnTo>
                    <a:pt x="0" y="1115059"/>
                  </a:lnTo>
                </a:path>
              </a:pathLst>
            </a:custGeom>
            <a:ln w="6096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  <p:sp>
          <p:nvSpPr>
            <p:cNvPr id="12" name="object 12"/>
            <p:cNvSpPr/>
            <p:nvPr/>
          </p:nvSpPr>
          <p:spPr>
            <a:xfrm>
              <a:off x="3896106" y="2922269"/>
              <a:ext cx="4495800" cy="76200"/>
            </a:xfrm>
            <a:custGeom>
              <a:avLst/>
              <a:gdLst/>
              <a:ahLst/>
              <a:cxnLst/>
              <a:rect l="l" t="t" r="r" b="b"/>
              <a:pathLst>
                <a:path w="4495800" h="76200">
                  <a:moveTo>
                    <a:pt x="1371600" y="38100"/>
                  </a:moveTo>
                  <a:lnTo>
                    <a:pt x="1351775" y="28194"/>
                  </a:lnTo>
                  <a:lnTo>
                    <a:pt x="1295400" y="0"/>
                  </a:lnTo>
                  <a:lnTo>
                    <a:pt x="1295400" y="28194"/>
                  </a:lnTo>
                  <a:lnTo>
                    <a:pt x="0" y="28194"/>
                  </a:lnTo>
                  <a:lnTo>
                    <a:pt x="0" y="48006"/>
                  </a:lnTo>
                  <a:lnTo>
                    <a:pt x="1295400" y="48006"/>
                  </a:lnTo>
                  <a:lnTo>
                    <a:pt x="1295400" y="76200"/>
                  </a:lnTo>
                  <a:lnTo>
                    <a:pt x="1351788" y="48006"/>
                  </a:lnTo>
                  <a:lnTo>
                    <a:pt x="1371600" y="38100"/>
                  </a:lnTo>
                  <a:close/>
                </a:path>
                <a:path w="4495800" h="76200">
                  <a:moveTo>
                    <a:pt x="4495800" y="38100"/>
                  </a:moveTo>
                  <a:lnTo>
                    <a:pt x="4475975" y="28194"/>
                  </a:lnTo>
                  <a:lnTo>
                    <a:pt x="4419600" y="0"/>
                  </a:lnTo>
                  <a:lnTo>
                    <a:pt x="4419600" y="28194"/>
                  </a:lnTo>
                  <a:lnTo>
                    <a:pt x="3124200" y="28194"/>
                  </a:lnTo>
                  <a:lnTo>
                    <a:pt x="3124200" y="48006"/>
                  </a:lnTo>
                  <a:lnTo>
                    <a:pt x="4419600" y="48006"/>
                  </a:lnTo>
                  <a:lnTo>
                    <a:pt x="4419600" y="76200"/>
                  </a:lnTo>
                  <a:lnTo>
                    <a:pt x="4475988" y="48006"/>
                  </a:lnTo>
                  <a:lnTo>
                    <a:pt x="44958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  <p:sp>
          <p:nvSpPr>
            <p:cNvPr id="13" name="object 13"/>
            <p:cNvSpPr/>
            <p:nvPr/>
          </p:nvSpPr>
          <p:spPr>
            <a:xfrm>
              <a:off x="2142744" y="2522220"/>
              <a:ext cx="1752600" cy="876300"/>
            </a:xfrm>
            <a:custGeom>
              <a:avLst/>
              <a:gdLst/>
              <a:ahLst/>
              <a:cxnLst/>
              <a:rect l="l" t="t" r="r" b="b"/>
              <a:pathLst>
                <a:path w="1752600" h="876300">
                  <a:moveTo>
                    <a:pt x="1606550" y="0"/>
                  </a:moveTo>
                  <a:lnTo>
                    <a:pt x="146050" y="0"/>
                  </a:lnTo>
                  <a:lnTo>
                    <a:pt x="99893" y="7447"/>
                  </a:lnTo>
                  <a:lnTo>
                    <a:pt x="59801" y="28183"/>
                  </a:lnTo>
                  <a:lnTo>
                    <a:pt x="28183" y="59801"/>
                  </a:lnTo>
                  <a:lnTo>
                    <a:pt x="7447" y="99893"/>
                  </a:lnTo>
                  <a:lnTo>
                    <a:pt x="0" y="146050"/>
                  </a:lnTo>
                  <a:lnTo>
                    <a:pt x="0" y="730250"/>
                  </a:lnTo>
                  <a:lnTo>
                    <a:pt x="7447" y="776406"/>
                  </a:lnTo>
                  <a:lnTo>
                    <a:pt x="28183" y="816498"/>
                  </a:lnTo>
                  <a:lnTo>
                    <a:pt x="59801" y="848116"/>
                  </a:lnTo>
                  <a:lnTo>
                    <a:pt x="99893" y="868852"/>
                  </a:lnTo>
                  <a:lnTo>
                    <a:pt x="146050" y="876300"/>
                  </a:lnTo>
                  <a:lnTo>
                    <a:pt x="1606550" y="876300"/>
                  </a:lnTo>
                  <a:lnTo>
                    <a:pt x="1652706" y="868852"/>
                  </a:lnTo>
                  <a:lnTo>
                    <a:pt x="1692798" y="848116"/>
                  </a:lnTo>
                  <a:lnTo>
                    <a:pt x="1724416" y="816498"/>
                  </a:lnTo>
                  <a:lnTo>
                    <a:pt x="1745152" y="776406"/>
                  </a:lnTo>
                  <a:lnTo>
                    <a:pt x="1752600" y="730250"/>
                  </a:lnTo>
                  <a:lnTo>
                    <a:pt x="1752600" y="146050"/>
                  </a:lnTo>
                  <a:lnTo>
                    <a:pt x="1745152" y="99893"/>
                  </a:lnTo>
                  <a:lnTo>
                    <a:pt x="1724416" y="59801"/>
                  </a:lnTo>
                  <a:lnTo>
                    <a:pt x="1692798" y="28183"/>
                  </a:lnTo>
                  <a:lnTo>
                    <a:pt x="1652706" y="7447"/>
                  </a:lnTo>
                  <a:lnTo>
                    <a:pt x="1606550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22166" y="3149344"/>
            <a:ext cx="1253133" cy="388609"/>
          </a:xfrm>
          <a:prstGeom prst="rect">
            <a:avLst/>
          </a:prstGeom>
        </p:spPr>
        <p:txBody>
          <a:bodyPr vert="horz" wrap="square" lIns="0" tIns="10582" rIns="0" bIns="0" rtlCol="0">
            <a:spAutoFit/>
          </a:bodyPr>
          <a:lstStyle/>
          <a:p>
            <a:pPr marL="11139" defTabSz="802020">
              <a:spcBef>
                <a:spcPts val="83"/>
              </a:spcBef>
            </a:pPr>
            <a:r>
              <a:rPr sz="2456" dirty="0">
                <a:latin typeface="Calibri"/>
                <a:cs typeface="Calibri"/>
              </a:rPr>
              <a:t>Front</a:t>
            </a:r>
            <a:r>
              <a:rPr sz="2456" spc="-114" dirty="0">
                <a:latin typeface="Calibri"/>
                <a:cs typeface="Calibri"/>
              </a:rPr>
              <a:t> </a:t>
            </a:r>
            <a:r>
              <a:rPr sz="2456" spc="-22" dirty="0">
                <a:latin typeface="Calibri"/>
                <a:cs typeface="Calibri"/>
              </a:rPr>
              <a:t>end</a:t>
            </a:r>
            <a:endParaRPr sz="2456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07407" y="2970786"/>
            <a:ext cx="1562796" cy="794208"/>
            <a:chOff x="5253101" y="2508376"/>
            <a:chExt cx="1781810" cy="905510"/>
          </a:xfrm>
        </p:grpSpPr>
        <p:sp>
          <p:nvSpPr>
            <p:cNvPr id="16" name="object 16"/>
            <p:cNvSpPr/>
            <p:nvPr/>
          </p:nvSpPr>
          <p:spPr>
            <a:xfrm>
              <a:off x="5267706" y="2522981"/>
              <a:ext cx="1752600" cy="876300"/>
            </a:xfrm>
            <a:custGeom>
              <a:avLst/>
              <a:gdLst/>
              <a:ahLst/>
              <a:cxnLst/>
              <a:rect l="l" t="t" r="r" b="b"/>
              <a:pathLst>
                <a:path w="1752600" h="876300">
                  <a:moveTo>
                    <a:pt x="1606550" y="0"/>
                  </a:moveTo>
                  <a:lnTo>
                    <a:pt x="146050" y="0"/>
                  </a:lnTo>
                  <a:lnTo>
                    <a:pt x="99893" y="7447"/>
                  </a:lnTo>
                  <a:lnTo>
                    <a:pt x="59801" y="28183"/>
                  </a:lnTo>
                  <a:lnTo>
                    <a:pt x="28183" y="59801"/>
                  </a:lnTo>
                  <a:lnTo>
                    <a:pt x="7447" y="99893"/>
                  </a:lnTo>
                  <a:lnTo>
                    <a:pt x="0" y="146050"/>
                  </a:lnTo>
                  <a:lnTo>
                    <a:pt x="0" y="730250"/>
                  </a:lnTo>
                  <a:lnTo>
                    <a:pt x="7447" y="776406"/>
                  </a:lnTo>
                  <a:lnTo>
                    <a:pt x="28183" y="816498"/>
                  </a:lnTo>
                  <a:lnTo>
                    <a:pt x="59801" y="848116"/>
                  </a:lnTo>
                  <a:lnTo>
                    <a:pt x="99893" y="868852"/>
                  </a:lnTo>
                  <a:lnTo>
                    <a:pt x="146050" y="876300"/>
                  </a:lnTo>
                  <a:lnTo>
                    <a:pt x="1606550" y="876300"/>
                  </a:lnTo>
                  <a:lnTo>
                    <a:pt x="1652706" y="868852"/>
                  </a:lnTo>
                  <a:lnTo>
                    <a:pt x="1692798" y="848116"/>
                  </a:lnTo>
                  <a:lnTo>
                    <a:pt x="1724416" y="816498"/>
                  </a:lnTo>
                  <a:lnTo>
                    <a:pt x="1745152" y="776406"/>
                  </a:lnTo>
                  <a:lnTo>
                    <a:pt x="1752600" y="730250"/>
                  </a:lnTo>
                  <a:lnTo>
                    <a:pt x="1752600" y="146050"/>
                  </a:lnTo>
                  <a:lnTo>
                    <a:pt x="1745152" y="99893"/>
                  </a:lnTo>
                  <a:lnTo>
                    <a:pt x="1724416" y="59801"/>
                  </a:lnTo>
                  <a:lnTo>
                    <a:pt x="1692798" y="28183"/>
                  </a:lnTo>
                  <a:lnTo>
                    <a:pt x="1652706" y="7447"/>
                  </a:lnTo>
                  <a:lnTo>
                    <a:pt x="1606550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  <p:sp>
          <p:nvSpPr>
            <p:cNvPr id="17" name="object 17"/>
            <p:cNvSpPr/>
            <p:nvPr/>
          </p:nvSpPr>
          <p:spPr>
            <a:xfrm>
              <a:off x="5267706" y="2522981"/>
              <a:ext cx="1752600" cy="876300"/>
            </a:xfrm>
            <a:custGeom>
              <a:avLst/>
              <a:gdLst/>
              <a:ahLst/>
              <a:cxnLst/>
              <a:rect l="l" t="t" r="r" b="b"/>
              <a:pathLst>
                <a:path w="1752600" h="876300">
                  <a:moveTo>
                    <a:pt x="0" y="146050"/>
                  </a:moveTo>
                  <a:lnTo>
                    <a:pt x="7447" y="99893"/>
                  </a:lnTo>
                  <a:lnTo>
                    <a:pt x="28183" y="59801"/>
                  </a:lnTo>
                  <a:lnTo>
                    <a:pt x="59801" y="28183"/>
                  </a:lnTo>
                  <a:lnTo>
                    <a:pt x="99893" y="7447"/>
                  </a:lnTo>
                  <a:lnTo>
                    <a:pt x="146050" y="0"/>
                  </a:lnTo>
                  <a:lnTo>
                    <a:pt x="1606550" y="0"/>
                  </a:lnTo>
                  <a:lnTo>
                    <a:pt x="1652706" y="7447"/>
                  </a:lnTo>
                  <a:lnTo>
                    <a:pt x="1692798" y="28183"/>
                  </a:lnTo>
                  <a:lnTo>
                    <a:pt x="1724416" y="59801"/>
                  </a:lnTo>
                  <a:lnTo>
                    <a:pt x="1745152" y="99893"/>
                  </a:lnTo>
                  <a:lnTo>
                    <a:pt x="1752600" y="146050"/>
                  </a:lnTo>
                  <a:lnTo>
                    <a:pt x="1752600" y="730250"/>
                  </a:lnTo>
                  <a:lnTo>
                    <a:pt x="1745152" y="776406"/>
                  </a:lnTo>
                  <a:lnTo>
                    <a:pt x="1724416" y="816498"/>
                  </a:lnTo>
                  <a:lnTo>
                    <a:pt x="1692798" y="848116"/>
                  </a:lnTo>
                  <a:lnTo>
                    <a:pt x="1652706" y="868852"/>
                  </a:lnTo>
                  <a:lnTo>
                    <a:pt x="1606550" y="876300"/>
                  </a:lnTo>
                  <a:lnTo>
                    <a:pt x="146050" y="876300"/>
                  </a:lnTo>
                  <a:lnTo>
                    <a:pt x="99893" y="868852"/>
                  </a:lnTo>
                  <a:lnTo>
                    <a:pt x="59801" y="848116"/>
                  </a:lnTo>
                  <a:lnTo>
                    <a:pt x="28183" y="816498"/>
                  </a:lnTo>
                  <a:lnTo>
                    <a:pt x="7447" y="776406"/>
                  </a:lnTo>
                  <a:lnTo>
                    <a:pt x="0" y="730250"/>
                  </a:lnTo>
                  <a:lnTo>
                    <a:pt x="0" y="146050"/>
                  </a:lnTo>
                  <a:close/>
                </a:path>
              </a:pathLst>
            </a:custGeom>
            <a:ln w="28956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777388" y="2962210"/>
            <a:ext cx="1223058" cy="766533"/>
          </a:xfrm>
          <a:prstGeom prst="rect">
            <a:avLst/>
          </a:prstGeom>
        </p:spPr>
        <p:txBody>
          <a:bodyPr vert="horz" wrap="square" lIns="0" tIns="10582" rIns="0" bIns="0" rtlCol="0">
            <a:spAutoFit/>
          </a:bodyPr>
          <a:lstStyle/>
          <a:p>
            <a:pPr marL="11139" marR="4456" indent="276251" defTabSz="802020">
              <a:spcBef>
                <a:spcPts val="83"/>
              </a:spcBef>
            </a:pPr>
            <a:r>
              <a:rPr sz="2456" spc="-18" dirty="0">
                <a:latin typeface="Calibri"/>
                <a:cs typeface="Calibri"/>
              </a:rPr>
              <a:t>Code optimizer</a:t>
            </a:r>
            <a:endParaRPr sz="2456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359732" y="2982928"/>
            <a:ext cx="1537176" cy="768588"/>
          </a:xfrm>
          <a:custGeom>
            <a:avLst/>
            <a:gdLst/>
            <a:ahLst/>
            <a:cxnLst/>
            <a:rect l="l" t="t" r="r" b="b"/>
            <a:pathLst>
              <a:path w="1752600" h="876300">
                <a:moveTo>
                  <a:pt x="1606550" y="0"/>
                </a:moveTo>
                <a:lnTo>
                  <a:pt x="146050" y="0"/>
                </a:lnTo>
                <a:lnTo>
                  <a:pt x="99893" y="7447"/>
                </a:lnTo>
                <a:lnTo>
                  <a:pt x="59801" y="28183"/>
                </a:lnTo>
                <a:lnTo>
                  <a:pt x="28183" y="59801"/>
                </a:lnTo>
                <a:lnTo>
                  <a:pt x="7447" y="99893"/>
                </a:lnTo>
                <a:lnTo>
                  <a:pt x="0" y="146050"/>
                </a:lnTo>
                <a:lnTo>
                  <a:pt x="0" y="730250"/>
                </a:lnTo>
                <a:lnTo>
                  <a:pt x="7447" y="776406"/>
                </a:lnTo>
                <a:lnTo>
                  <a:pt x="28183" y="816498"/>
                </a:lnTo>
                <a:lnTo>
                  <a:pt x="59801" y="848116"/>
                </a:lnTo>
                <a:lnTo>
                  <a:pt x="99893" y="868852"/>
                </a:lnTo>
                <a:lnTo>
                  <a:pt x="146050" y="876300"/>
                </a:lnTo>
                <a:lnTo>
                  <a:pt x="1606550" y="876300"/>
                </a:lnTo>
                <a:lnTo>
                  <a:pt x="1652706" y="868852"/>
                </a:lnTo>
                <a:lnTo>
                  <a:pt x="1692798" y="848116"/>
                </a:lnTo>
                <a:lnTo>
                  <a:pt x="1724416" y="816498"/>
                </a:lnTo>
                <a:lnTo>
                  <a:pt x="1745152" y="776406"/>
                </a:lnTo>
                <a:lnTo>
                  <a:pt x="1752600" y="730250"/>
                </a:lnTo>
                <a:lnTo>
                  <a:pt x="1752600" y="146050"/>
                </a:lnTo>
                <a:lnTo>
                  <a:pt x="1745152" y="99893"/>
                </a:lnTo>
                <a:lnTo>
                  <a:pt x="1724416" y="59801"/>
                </a:lnTo>
                <a:lnTo>
                  <a:pt x="1692798" y="28183"/>
                </a:lnTo>
                <a:lnTo>
                  <a:pt x="1652706" y="7447"/>
                </a:lnTo>
                <a:lnTo>
                  <a:pt x="1606550" y="0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>
            <a:pPr defTabSz="802020"/>
            <a:endParaRPr sz="1579"/>
          </a:p>
        </p:txBody>
      </p:sp>
      <p:sp>
        <p:nvSpPr>
          <p:cNvPr id="20" name="object 20"/>
          <p:cNvSpPr txBox="1"/>
          <p:nvPr/>
        </p:nvSpPr>
        <p:spPr>
          <a:xfrm>
            <a:off x="7498079" y="2962210"/>
            <a:ext cx="1263715" cy="766533"/>
          </a:xfrm>
          <a:prstGeom prst="rect">
            <a:avLst/>
          </a:prstGeom>
        </p:spPr>
        <p:txBody>
          <a:bodyPr vert="horz" wrap="square" lIns="0" tIns="10582" rIns="0" bIns="0" rtlCol="0">
            <a:spAutoFit/>
          </a:bodyPr>
          <a:lstStyle/>
          <a:p>
            <a:pPr marL="11139" marR="4456" indent="296302" defTabSz="802020">
              <a:spcBef>
                <a:spcPts val="83"/>
              </a:spcBef>
            </a:pPr>
            <a:r>
              <a:rPr sz="2456" spc="-18" dirty="0">
                <a:latin typeface="Calibri"/>
                <a:cs typeface="Calibri"/>
              </a:rPr>
              <a:t>Code </a:t>
            </a:r>
            <a:r>
              <a:rPr sz="2456" spc="-22" dirty="0">
                <a:latin typeface="Calibri"/>
                <a:cs typeface="Calibri"/>
              </a:rPr>
              <a:t>generator</a:t>
            </a:r>
            <a:endParaRPr sz="2456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245113" y="3333805"/>
            <a:ext cx="8182679" cy="66834"/>
          </a:xfrm>
          <a:custGeom>
            <a:avLst/>
            <a:gdLst/>
            <a:ahLst/>
            <a:cxnLst/>
            <a:rect l="l" t="t" r="r" b="b"/>
            <a:pathLst>
              <a:path w="9329420" h="76200">
                <a:moveTo>
                  <a:pt x="725297" y="38100"/>
                </a:moveTo>
                <a:lnTo>
                  <a:pt x="705472" y="28194"/>
                </a:lnTo>
                <a:lnTo>
                  <a:pt x="649097" y="0"/>
                </a:lnTo>
                <a:lnTo>
                  <a:pt x="649097" y="28194"/>
                </a:lnTo>
                <a:lnTo>
                  <a:pt x="0" y="28194"/>
                </a:lnTo>
                <a:lnTo>
                  <a:pt x="0" y="48006"/>
                </a:lnTo>
                <a:lnTo>
                  <a:pt x="649097" y="48006"/>
                </a:lnTo>
                <a:lnTo>
                  <a:pt x="649097" y="76200"/>
                </a:lnTo>
                <a:lnTo>
                  <a:pt x="705485" y="48006"/>
                </a:lnTo>
                <a:lnTo>
                  <a:pt x="725297" y="38100"/>
                </a:lnTo>
                <a:close/>
              </a:path>
              <a:path w="9329420" h="76200">
                <a:moveTo>
                  <a:pt x="9328912" y="38100"/>
                </a:moveTo>
                <a:lnTo>
                  <a:pt x="9309100" y="28194"/>
                </a:lnTo>
                <a:lnTo>
                  <a:pt x="9252712" y="0"/>
                </a:lnTo>
                <a:lnTo>
                  <a:pt x="9252712" y="28194"/>
                </a:lnTo>
                <a:lnTo>
                  <a:pt x="8724900" y="28194"/>
                </a:lnTo>
                <a:lnTo>
                  <a:pt x="8724900" y="48006"/>
                </a:lnTo>
                <a:lnTo>
                  <a:pt x="9252712" y="48006"/>
                </a:lnTo>
                <a:lnTo>
                  <a:pt x="9252712" y="76200"/>
                </a:lnTo>
                <a:lnTo>
                  <a:pt x="9309100" y="48006"/>
                </a:lnTo>
                <a:lnTo>
                  <a:pt x="9328912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802020"/>
            <a:endParaRPr sz="1579"/>
          </a:p>
        </p:txBody>
      </p:sp>
      <p:sp>
        <p:nvSpPr>
          <p:cNvPr id="22" name="object 22"/>
          <p:cNvSpPr/>
          <p:nvPr/>
        </p:nvSpPr>
        <p:spPr>
          <a:xfrm>
            <a:off x="4699081" y="2593844"/>
            <a:ext cx="4124199" cy="98023"/>
          </a:xfrm>
          <a:custGeom>
            <a:avLst/>
            <a:gdLst/>
            <a:ahLst/>
            <a:cxnLst/>
            <a:rect l="l" t="t" r="r" b="b"/>
            <a:pathLst>
              <a:path w="4702175" h="111760">
                <a:moveTo>
                  <a:pt x="95503" y="0"/>
                </a:moveTo>
                <a:lnTo>
                  <a:pt x="90804" y="2793"/>
                </a:lnTo>
                <a:lnTo>
                  <a:pt x="0" y="55752"/>
                </a:lnTo>
                <a:lnTo>
                  <a:pt x="90804" y="108712"/>
                </a:lnTo>
                <a:lnTo>
                  <a:pt x="95503" y="111505"/>
                </a:lnTo>
                <a:lnTo>
                  <a:pt x="101600" y="109981"/>
                </a:lnTo>
                <a:lnTo>
                  <a:pt x="104393" y="105155"/>
                </a:lnTo>
                <a:lnTo>
                  <a:pt x="107187" y="100456"/>
                </a:lnTo>
                <a:lnTo>
                  <a:pt x="105537" y="94361"/>
                </a:lnTo>
                <a:lnTo>
                  <a:pt x="100837" y="91693"/>
                </a:lnTo>
                <a:lnTo>
                  <a:pt x="56206" y="65658"/>
                </a:lnTo>
                <a:lnTo>
                  <a:pt x="19685" y="65658"/>
                </a:lnTo>
                <a:lnTo>
                  <a:pt x="19685" y="45846"/>
                </a:lnTo>
                <a:lnTo>
                  <a:pt x="56206" y="45846"/>
                </a:lnTo>
                <a:lnTo>
                  <a:pt x="100837" y="19812"/>
                </a:lnTo>
                <a:lnTo>
                  <a:pt x="105537" y="17144"/>
                </a:lnTo>
                <a:lnTo>
                  <a:pt x="107187" y="11049"/>
                </a:lnTo>
                <a:lnTo>
                  <a:pt x="104393" y="6350"/>
                </a:lnTo>
                <a:lnTo>
                  <a:pt x="101600" y="1524"/>
                </a:lnTo>
                <a:lnTo>
                  <a:pt x="95503" y="0"/>
                </a:lnTo>
                <a:close/>
              </a:path>
              <a:path w="4702175" h="111760">
                <a:moveTo>
                  <a:pt x="56206" y="45846"/>
                </a:moveTo>
                <a:lnTo>
                  <a:pt x="19685" y="45846"/>
                </a:lnTo>
                <a:lnTo>
                  <a:pt x="19685" y="65658"/>
                </a:lnTo>
                <a:lnTo>
                  <a:pt x="56206" y="65658"/>
                </a:lnTo>
                <a:lnTo>
                  <a:pt x="53811" y="64262"/>
                </a:lnTo>
                <a:lnTo>
                  <a:pt x="24637" y="64262"/>
                </a:lnTo>
                <a:lnTo>
                  <a:pt x="24637" y="47243"/>
                </a:lnTo>
                <a:lnTo>
                  <a:pt x="53811" y="47243"/>
                </a:lnTo>
                <a:lnTo>
                  <a:pt x="56206" y="45846"/>
                </a:lnTo>
                <a:close/>
              </a:path>
              <a:path w="4702175" h="111760">
                <a:moveTo>
                  <a:pt x="98932" y="45846"/>
                </a:moveTo>
                <a:lnTo>
                  <a:pt x="56206" y="45846"/>
                </a:lnTo>
                <a:lnTo>
                  <a:pt x="39224" y="55752"/>
                </a:lnTo>
                <a:lnTo>
                  <a:pt x="56206" y="65658"/>
                </a:lnTo>
                <a:lnTo>
                  <a:pt x="98932" y="65658"/>
                </a:lnTo>
                <a:lnTo>
                  <a:pt x="98932" y="45846"/>
                </a:lnTo>
                <a:close/>
              </a:path>
              <a:path w="4702175" h="111760">
                <a:moveTo>
                  <a:pt x="24637" y="47243"/>
                </a:moveTo>
                <a:lnTo>
                  <a:pt x="24637" y="64262"/>
                </a:lnTo>
                <a:lnTo>
                  <a:pt x="39224" y="55752"/>
                </a:lnTo>
                <a:lnTo>
                  <a:pt x="24637" y="47243"/>
                </a:lnTo>
                <a:close/>
              </a:path>
              <a:path w="4702175" h="111760">
                <a:moveTo>
                  <a:pt x="39224" y="55752"/>
                </a:moveTo>
                <a:lnTo>
                  <a:pt x="24637" y="64262"/>
                </a:lnTo>
                <a:lnTo>
                  <a:pt x="53811" y="64262"/>
                </a:lnTo>
                <a:lnTo>
                  <a:pt x="39224" y="55752"/>
                </a:lnTo>
                <a:close/>
              </a:path>
              <a:path w="4702175" h="111760">
                <a:moveTo>
                  <a:pt x="53811" y="47243"/>
                </a:moveTo>
                <a:lnTo>
                  <a:pt x="24637" y="47243"/>
                </a:lnTo>
                <a:lnTo>
                  <a:pt x="39224" y="55752"/>
                </a:lnTo>
                <a:lnTo>
                  <a:pt x="53811" y="47243"/>
                </a:lnTo>
                <a:close/>
              </a:path>
              <a:path w="4702175" h="111760">
                <a:moveTo>
                  <a:pt x="237616" y="45846"/>
                </a:moveTo>
                <a:lnTo>
                  <a:pt x="158368" y="45846"/>
                </a:lnTo>
                <a:lnTo>
                  <a:pt x="158368" y="65658"/>
                </a:lnTo>
                <a:lnTo>
                  <a:pt x="237616" y="65658"/>
                </a:lnTo>
                <a:lnTo>
                  <a:pt x="237616" y="45846"/>
                </a:lnTo>
                <a:close/>
              </a:path>
              <a:path w="4702175" h="111760">
                <a:moveTo>
                  <a:pt x="376300" y="45846"/>
                </a:moveTo>
                <a:lnTo>
                  <a:pt x="297052" y="45846"/>
                </a:lnTo>
                <a:lnTo>
                  <a:pt x="297052" y="65658"/>
                </a:lnTo>
                <a:lnTo>
                  <a:pt x="376300" y="65658"/>
                </a:lnTo>
                <a:lnTo>
                  <a:pt x="376300" y="45846"/>
                </a:lnTo>
                <a:close/>
              </a:path>
              <a:path w="4702175" h="111760">
                <a:moveTo>
                  <a:pt x="514985" y="45846"/>
                </a:moveTo>
                <a:lnTo>
                  <a:pt x="435737" y="45846"/>
                </a:lnTo>
                <a:lnTo>
                  <a:pt x="435737" y="65658"/>
                </a:lnTo>
                <a:lnTo>
                  <a:pt x="514985" y="65658"/>
                </a:lnTo>
                <a:lnTo>
                  <a:pt x="514985" y="45846"/>
                </a:lnTo>
                <a:close/>
              </a:path>
              <a:path w="4702175" h="111760">
                <a:moveTo>
                  <a:pt x="653668" y="45846"/>
                </a:moveTo>
                <a:lnTo>
                  <a:pt x="574420" y="45846"/>
                </a:lnTo>
                <a:lnTo>
                  <a:pt x="574420" y="65658"/>
                </a:lnTo>
                <a:lnTo>
                  <a:pt x="653668" y="65658"/>
                </a:lnTo>
                <a:lnTo>
                  <a:pt x="653668" y="45846"/>
                </a:lnTo>
                <a:close/>
              </a:path>
              <a:path w="4702175" h="111760">
                <a:moveTo>
                  <a:pt x="792352" y="45846"/>
                </a:moveTo>
                <a:lnTo>
                  <a:pt x="713104" y="45846"/>
                </a:lnTo>
                <a:lnTo>
                  <a:pt x="713104" y="65658"/>
                </a:lnTo>
                <a:lnTo>
                  <a:pt x="792352" y="65658"/>
                </a:lnTo>
                <a:lnTo>
                  <a:pt x="792352" y="45846"/>
                </a:lnTo>
                <a:close/>
              </a:path>
              <a:path w="4702175" h="111760">
                <a:moveTo>
                  <a:pt x="931037" y="45846"/>
                </a:moveTo>
                <a:lnTo>
                  <a:pt x="851788" y="45846"/>
                </a:lnTo>
                <a:lnTo>
                  <a:pt x="851788" y="65658"/>
                </a:lnTo>
                <a:lnTo>
                  <a:pt x="931037" y="65658"/>
                </a:lnTo>
                <a:lnTo>
                  <a:pt x="931037" y="45846"/>
                </a:lnTo>
                <a:close/>
              </a:path>
              <a:path w="4702175" h="111760">
                <a:moveTo>
                  <a:pt x="1069720" y="45846"/>
                </a:moveTo>
                <a:lnTo>
                  <a:pt x="990473" y="45846"/>
                </a:lnTo>
                <a:lnTo>
                  <a:pt x="990473" y="65658"/>
                </a:lnTo>
                <a:lnTo>
                  <a:pt x="1069720" y="65658"/>
                </a:lnTo>
                <a:lnTo>
                  <a:pt x="1069720" y="45846"/>
                </a:lnTo>
                <a:close/>
              </a:path>
              <a:path w="4702175" h="111760">
                <a:moveTo>
                  <a:pt x="1208404" y="45846"/>
                </a:moveTo>
                <a:lnTo>
                  <a:pt x="1129156" y="45846"/>
                </a:lnTo>
                <a:lnTo>
                  <a:pt x="1129156" y="65658"/>
                </a:lnTo>
                <a:lnTo>
                  <a:pt x="1208404" y="65658"/>
                </a:lnTo>
                <a:lnTo>
                  <a:pt x="1208404" y="45846"/>
                </a:lnTo>
                <a:close/>
              </a:path>
              <a:path w="4702175" h="111760">
                <a:moveTo>
                  <a:pt x="1347088" y="45846"/>
                </a:moveTo>
                <a:lnTo>
                  <a:pt x="1267841" y="45846"/>
                </a:lnTo>
                <a:lnTo>
                  <a:pt x="1267841" y="65658"/>
                </a:lnTo>
                <a:lnTo>
                  <a:pt x="1347088" y="65658"/>
                </a:lnTo>
                <a:lnTo>
                  <a:pt x="1347088" y="45846"/>
                </a:lnTo>
                <a:close/>
              </a:path>
              <a:path w="4702175" h="111760">
                <a:moveTo>
                  <a:pt x="1485773" y="45846"/>
                </a:moveTo>
                <a:lnTo>
                  <a:pt x="1406525" y="45846"/>
                </a:lnTo>
                <a:lnTo>
                  <a:pt x="1406525" y="65658"/>
                </a:lnTo>
                <a:lnTo>
                  <a:pt x="1485773" y="65658"/>
                </a:lnTo>
                <a:lnTo>
                  <a:pt x="1485773" y="45846"/>
                </a:lnTo>
                <a:close/>
              </a:path>
              <a:path w="4702175" h="111760">
                <a:moveTo>
                  <a:pt x="1624456" y="45846"/>
                </a:moveTo>
                <a:lnTo>
                  <a:pt x="1545208" y="45846"/>
                </a:lnTo>
                <a:lnTo>
                  <a:pt x="1545208" y="65658"/>
                </a:lnTo>
                <a:lnTo>
                  <a:pt x="1624456" y="65658"/>
                </a:lnTo>
                <a:lnTo>
                  <a:pt x="1624456" y="45846"/>
                </a:lnTo>
                <a:close/>
              </a:path>
              <a:path w="4702175" h="111760">
                <a:moveTo>
                  <a:pt x="1763141" y="45846"/>
                </a:moveTo>
                <a:lnTo>
                  <a:pt x="1683893" y="45846"/>
                </a:lnTo>
                <a:lnTo>
                  <a:pt x="1683893" y="65658"/>
                </a:lnTo>
                <a:lnTo>
                  <a:pt x="1763141" y="65658"/>
                </a:lnTo>
                <a:lnTo>
                  <a:pt x="1763141" y="45846"/>
                </a:lnTo>
                <a:close/>
              </a:path>
              <a:path w="4702175" h="111760">
                <a:moveTo>
                  <a:pt x="1901825" y="45846"/>
                </a:moveTo>
                <a:lnTo>
                  <a:pt x="1822577" y="45846"/>
                </a:lnTo>
                <a:lnTo>
                  <a:pt x="1822577" y="65658"/>
                </a:lnTo>
                <a:lnTo>
                  <a:pt x="1901825" y="65658"/>
                </a:lnTo>
                <a:lnTo>
                  <a:pt x="1901825" y="45846"/>
                </a:lnTo>
                <a:close/>
              </a:path>
              <a:path w="4702175" h="111760">
                <a:moveTo>
                  <a:pt x="2040508" y="45846"/>
                </a:moveTo>
                <a:lnTo>
                  <a:pt x="1961260" y="45846"/>
                </a:lnTo>
                <a:lnTo>
                  <a:pt x="1961260" y="65658"/>
                </a:lnTo>
                <a:lnTo>
                  <a:pt x="2040508" y="65658"/>
                </a:lnTo>
                <a:lnTo>
                  <a:pt x="2040508" y="45846"/>
                </a:lnTo>
                <a:close/>
              </a:path>
              <a:path w="4702175" h="111760">
                <a:moveTo>
                  <a:pt x="2179193" y="45846"/>
                </a:moveTo>
                <a:lnTo>
                  <a:pt x="2099945" y="45846"/>
                </a:lnTo>
                <a:lnTo>
                  <a:pt x="2099945" y="65658"/>
                </a:lnTo>
                <a:lnTo>
                  <a:pt x="2179193" y="65658"/>
                </a:lnTo>
                <a:lnTo>
                  <a:pt x="2179193" y="45846"/>
                </a:lnTo>
                <a:close/>
              </a:path>
              <a:path w="4702175" h="111760">
                <a:moveTo>
                  <a:pt x="2317877" y="45846"/>
                </a:moveTo>
                <a:lnTo>
                  <a:pt x="2238629" y="45846"/>
                </a:lnTo>
                <a:lnTo>
                  <a:pt x="2238629" y="65658"/>
                </a:lnTo>
                <a:lnTo>
                  <a:pt x="2317877" y="65658"/>
                </a:lnTo>
                <a:lnTo>
                  <a:pt x="2317877" y="45846"/>
                </a:lnTo>
                <a:close/>
              </a:path>
              <a:path w="4702175" h="111760">
                <a:moveTo>
                  <a:pt x="2456560" y="45846"/>
                </a:moveTo>
                <a:lnTo>
                  <a:pt x="2377312" y="45846"/>
                </a:lnTo>
                <a:lnTo>
                  <a:pt x="2377312" y="65658"/>
                </a:lnTo>
                <a:lnTo>
                  <a:pt x="2456560" y="65658"/>
                </a:lnTo>
                <a:lnTo>
                  <a:pt x="2456560" y="45846"/>
                </a:lnTo>
                <a:close/>
              </a:path>
              <a:path w="4702175" h="111760">
                <a:moveTo>
                  <a:pt x="2595245" y="45846"/>
                </a:moveTo>
                <a:lnTo>
                  <a:pt x="2515997" y="45846"/>
                </a:lnTo>
                <a:lnTo>
                  <a:pt x="2515997" y="65658"/>
                </a:lnTo>
                <a:lnTo>
                  <a:pt x="2595245" y="65658"/>
                </a:lnTo>
                <a:lnTo>
                  <a:pt x="2595245" y="45846"/>
                </a:lnTo>
                <a:close/>
              </a:path>
              <a:path w="4702175" h="111760">
                <a:moveTo>
                  <a:pt x="2733929" y="45846"/>
                </a:moveTo>
                <a:lnTo>
                  <a:pt x="2654680" y="45846"/>
                </a:lnTo>
                <a:lnTo>
                  <a:pt x="2654680" y="65658"/>
                </a:lnTo>
                <a:lnTo>
                  <a:pt x="2733929" y="65658"/>
                </a:lnTo>
                <a:lnTo>
                  <a:pt x="2733929" y="45846"/>
                </a:lnTo>
                <a:close/>
              </a:path>
              <a:path w="4702175" h="111760">
                <a:moveTo>
                  <a:pt x="2872612" y="45846"/>
                </a:moveTo>
                <a:lnTo>
                  <a:pt x="2793364" y="45846"/>
                </a:lnTo>
                <a:lnTo>
                  <a:pt x="2793364" y="65658"/>
                </a:lnTo>
                <a:lnTo>
                  <a:pt x="2872612" y="65658"/>
                </a:lnTo>
                <a:lnTo>
                  <a:pt x="2872612" y="45846"/>
                </a:lnTo>
                <a:close/>
              </a:path>
              <a:path w="4702175" h="111760">
                <a:moveTo>
                  <a:pt x="3011297" y="45846"/>
                </a:moveTo>
                <a:lnTo>
                  <a:pt x="2932049" y="45846"/>
                </a:lnTo>
                <a:lnTo>
                  <a:pt x="2932049" y="65658"/>
                </a:lnTo>
                <a:lnTo>
                  <a:pt x="3011297" y="65658"/>
                </a:lnTo>
                <a:lnTo>
                  <a:pt x="3011297" y="45846"/>
                </a:lnTo>
                <a:close/>
              </a:path>
              <a:path w="4702175" h="111760">
                <a:moveTo>
                  <a:pt x="3149980" y="45846"/>
                </a:moveTo>
                <a:lnTo>
                  <a:pt x="3070732" y="45846"/>
                </a:lnTo>
                <a:lnTo>
                  <a:pt x="3070732" y="65658"/>
                </a:lnTo>
                <a:lnTo>
                  <a:pt x="3149980" y="65658"/>
                </a:lnTo>
                <a:lnTo>
                  <a:pt x="3149980" y="45846"/>
                </a:lnTo>
                <a:close/>
              </a:path>
              <a:path w="4702175" h="111760">
                <a:moveTo>
                  <a:pt x="3288664" y="45846"/>
                </a:moveTo>
                <a:lnTo>
                  <a:pt x="3209417" y="45846"/>
                </a:lnTo>
                <a:lnTo>
                  <a:pt x="3209417" y="65658"/>
                </a:lnTo>
                <a:lnTo>
                  <a:pt x="3288664" y="65658"/>
                </a:lnTo>
                <a:lnTo>
                  <a:pt x="3288664" y="45846"/>
                </a:lnTo>
                <a:close/>
              </a:path>
              <a:path w="4702175" h="111760">
                <a:moveTo>
                  <a:pt x="3427349" y="45846"/>
                </a:moveTo>
                <a:lnTo>
                  <a:pt x="3348101" y="45846"/>
                </a:lnTo>
                <a:lnTo>
                  <a:pt x="3348101" y="65658"/>
                </a:lnTo>
                <a:lnTo>
                  <a:pt x="3427349" y="65658"/>
                </a:lnTo>
                <a:lnTo>
                  <a:pt x="3427349" y="45846"/>
                </a:lnTo>
                <a:close/>
              </a:path>
              <a:path w="4702175" h="111760">
                <a:moveTo>
                  <a:pt x="3566032" y="45846"/>
                </a:moveTo>
                <a:lnTo>
                  <a:pt x="3486784" y="45846"/>
                </a:lnTo>
                <a:lnTo>
                  <a:pt x="3486784" y="65658"/>
                </a:lnTo>
                <a:lnTo>
                  <a:pt x="3566032" y="65658"/>
                </a:lnTo>
                <a:lnTo>
                  <a:pt x="3566032" y="45846"/>
                </a:lnTo>
                <a:close/>
              </a:path>
              <a:path w="4702175" h="111760">
                <a:moveTo>
                  <a:pt x="3704717" y="45846"/>
                </a:moveTo>
                <a:lnTo>
                  <a:pt x="3625469" y="45846"/>
                </a:lnTo>
                <a:lnTo>
                  <a:pt x="3625469" y="65658"/>
                </a:lnTo>
                <a:lnTo>
                  <a:pt x="3704717" y="65658"/>
                </a:lnTo>
                <a:lnTo>
                  <a:pt x="3704717" y="45846"/>
                </a:lnTo>
                <a:close/>
              </a:path>
              <a:path w="4702175" h="111760">
                <a:moveTo>
                  <a:pt x="3843401" y="45846"/>
                </a:moveTo>
                <a:lnTo>
                  <a:pt x="3764153" y="45846"/>
                </a:lnTo>
                <a:lnTo>
                  <a:pt x="3764153" y="65658"/>
                </a:lnTo>
                <a:lnTo>
                  <a:pt x="3843401" y="65658"/>
                </a:lnTo>
                <a:lnTo>
                  <a:pt x="3843401" y="45846"/>
                </a:lnTo>
                <a:close/>
              </a:path>
              <a:path w="4702175" h="111760">
                <a:moveTo>
                  <a:pt x="3982084" y="45846"/>
                </a:moveTo>
                <a:lnTo>
                  <a:pt x="3902836" y="45846"/>
                </a:lnTo>
                <a:lnTo>
                  <a:pt x="3902836" y="65658"/>
                </a:lnTo>
                <a:lnTo>
                  <a:pt x="3982084" y="65658"/>
                </a:lnTo>
                <a:lnTo>
                  <a:pt x="3982084" y="45846"/>
                </a:lnTo>
                <a:close/>
              </a:path>
              <a:path w="4702175" h="111760">
                <a:moveTo>
                  <a:pt x="4120769" y="45846"/>
                </a:moveTo>
                <a:lnTo>
                  <a:pt x="4041521" y="45846"/>
                </a:lnTo>
                <a:lnTo>
                  <a:pt x="4041521" y="65658"/>
                </a:lnTo>
                <a:lnTo>
                  <a:pt x="4120769" y="65658"/>
                </a:lnTo>
                <a:lnTo>
                  <a:pt x="4120769" y="45846"/>
                </a:lnTo>
                <a:close/>
              </a:path>
              <a:path w="4702175" h="111760">
                <a:moveTo>
                  <a:pt x="4259453" y="45846"/>
                </a:moveTo>
                <a:lnTo>
                  <a:pt x="4180204" y="45846"/>
                </a:lnTo>
                <a:lnTo>
                  <a:pt x="4180204" y="65658"/>
                </a:lnTo>
                <a:lnTo>
                  <a:pt x="4259453" y="65658"/>
                </a:lnTo>
                <a:lnTo>
                  <a:pt x="4259453" y="45846"/>
                </a:lnTo>
                <a:close/>
              </a:path>
              <a:path w="4702175" h="111760">
                <a:moveTo>
                  <a:pt x="4398136" y="45846"/>
                </a:moveTo>
                <a:lnTo>
                  <a:pt x="4318888" y="45846"/>
                </a:lnTo>
                <a:lnTo>
                  <a:pt x="4318888" y="65658"/>
                </a:lnTo>
                <a:lnTo>
                  <a:pt x="4398136" y="65658"/>
                </a:lnTo>
                <a:lnTo>
                  <a:pt x="4398136" y="45846"/>
                </a:lnTo>
                <a:close/>
              </a:path>
              <a:path w="4702175" h="111760">
                <a:moveTo>
                  <a:pt x="4536821" y="45846"/>
                </a:moveTo>
                <a:lnTo>
                  <a:pt x="4457573" y="45846"/>
                </a:lnTo>
                <a:lnTo>
                  <a:pt x="4457573" y="65658"/>
                </a:lnTo>
                <a:lnTo>
                  <a:pt x="4536821" y="65658"/>
                </a:lnTo>
                <a:lnTo>
                  <a:pt x="4536821" y="45846"/>
                </a:lnTo>
                <a:close/>
              </a:path>
              <a:path w="4702175" h="111760">
                <a:moveTo>
                  <a:pt x="4662696" y="55752"/>
                </a:moveTo>
                <a:lnTo>
                  <a:pt x="4601083" y="91693"/>
                </a:lnTo>
                <a:lnTo>
                  <a:pt x="4596257" y="94361"/>
                </a:lnTo>
                <a:lnTo>
                  <a:pt x="4594733" y="100456"/>
                </a:lnTo>
                <a:lnTo>
                  <a:pt x="4597527" y="105155"/>
                </a:lnTo>
                <a:lnTo>
                  <a:pt x="4600194" y="109981"/>
                </a:lnTo>
                <a:lnTo>
                  <a:pt x="4606289" y="111505"/>
                </a:lnTo>
                <a:lnTo>
                  <a:pt x="4610988" y="108712"/>
                </a:lnTo>
                <a:lnTo>
                  <a:pt x="4684912" y="65658"/>
                </a:lnTo>
                <a:lnTo>
                  <a:pt x="4675505" y="65658"/>
                </a:lnTo>
                <a:lnTo>
                  <a:pt x="4675505" y="63224"/>
                </a:lnTo>
                <a:lnTo>
                  <a:pt x="4662696" y="55752"/>
                </a:lnTo>
                <a:close/>
              </a:path>
              <a:path w="4702175" h="111760">
                <a:moveTo>
                  <a:pt x="4645714" y="45846"/>
                </a:moveTo>
                <a:lnTo>
                  <a:pt x="4596257" y="45846"/>
                </a:lnTo>
                <a:lnTo>
                  <a:pt x="4596257" y="65658"/>
                </a:lnTo>
                <a:lnTo>
                  <a:pt x="4645714" y="65658"/>
                </a:lnTo>
                <a:lnTo>
                  <a:pt x="4662696" y="55752"/>
                </a:lnTo>
                <a:lnTo>
                  <a:pt x="4645714" y="45846"/>
                </a:lnTo>
                <a:close/>
              </a:path>
              <a:path w="4702175" h="111760">
                <a:moveTo>
                  <a:pt x="4675505" y="63224"/>
                </a:moveTo>
                <a:lnTo>
                  <a:pt x="4675505" y="65658"/>
                </a:lnTo>
                <a:lnTo>
                  <a:pt x="4684912" y="65658"/>
                </a:lnTo>
                <a:lnTo>
                  <a:pt x="4687310" y="64262"/>
                </a:lnTo>
                <a:lnTo>
                  <a:pt x="4677283" y="64262"/>
                </a:lnTo>
                <a:lnTo>
                  <a:pt x="4675505" y="63224"/>
                </a:lnTo>
                <a:close/>
              </a:path>
              <a:path w="4702175" h="111760">
                <a:moveTo>
                  <a:pt x="4677283" y="47243"/>
                </a:moveTo>
                <a:lnTo>
                  <a:pt x="4675505" y="48281"/>
                </a:lnTo>
                <a:lnTo>
                  <a:pt x="4675505" y="63224"/>
                </a:lnTo>
                <a:lnTo>
                  <a:pt x="4677283" y="64262"/>
                </a:lnTo>
                <a:lnTo>
                  <a:pt x="4677283" y="47243"/>
                </a:lnTo>
                <a:close/>
              </a:path>
              <a:path w="4702175" h="111760">
                <a:moveTo>
                  <a:pt x="4687310" y="47243"/>
                </a:moveTo>
                <a:lnTo>
                  <a:pt x="4677283" y="47243"/>
                </a:lnTo>
                <a:lnTo>
                  <a:pt x="4677283" y="64262"/>
                </a:lnTo>
                <a:lnTo>
                  <a:pt x="4687310" y="64262"/>
                </a:lnTo>
                <a:lnTo>
                  <a:pt x="4701921" y="55752"/>
                </a:lnTo>
                <a:lnTo>
                  <a:pt x="4687310" y="47243"/>
                </a:lnTo>
                <a:close/>
              </a:path>
              <a:path w="4702175" h="111760">
                <a:moveTo>
                  <a:pt x="4675505" y="48281"/>
                </a:moveTo>
                <a:lnTo>
                  <a:pt x="4662696" y="55752"/>
                </a:lnTo>
                <a:lnTo>
                  <a:pt x="4675505" y="63224"/>
                </a:lnTo>
                <a:lnTo>
                  <a:pt x="4675505" y="48281"/>
                </a:lnTo>
                <a:close/>
              </a:path>
              <a:path w="4702175" h="111760">
                <a:moveTo>
                  <a:pt x="4606289" y="0"/>
                </a:moveTo>
                <a:lnTo>
                  <a:pt x="4600194" y="1524"/>
                </a:lnTo>
                <a:lnTo>
                  <a:pt x="4597527" y="6350"/>
                </a:lnTo>
                <a:lnTo>
                  <a:pt x="4594733" y="11049"/>
                </a:lnTo>
                <a:lnTo>
                  <a:pt x="4596257" y="17144"/>
                </a:lnTo>
                <a:lnTo>
                  <a:pt x="4601083" y="19812"/>
                </a:lnTo>
                <a:lnTo>
                  <a:pt x="4662696" y="55752"/>
                </a:lnTo>
                <a:lnTo>
                  <a:pt x="4675505" y="48281"/>
                </a:lnTo>
                <a:lnTo>
                  <a:pt x="4675505" y="45846"/>
                </a:lnTo>
                <a:lnTo>
                  <a:pt x="4684912" y="45846"/>
                </a:lnTo>
                <a:lnTo>
                  <a:pt x="4610988" y="2793"/>
                </a:lnTo>
                <a:lnTo>
                  <a:pt x="4606289" y="0"/>
                </a:lnTo>
                <a:close/>
              </a:path>
              <a:path w="4702175" h="111760">
                <a:moveTo>
                  <a:pt x="4684912" y="45846"/>
                </a:moveTo>
                <a:lnTo>
                  <a:pt x="4675505" y="45846"/>
                </a:lnTo>
                <a:lnTo>
                  <a:pt x="4675505" y="48281"/>
                </a:lnTo>
                <a:lnTo>
                  <a:pt x="4677283" y="47243"/>
                </a:lnTo>
                <a:lnTo>
                  <a:pt x="4687310" y="47243"/>
                </a:lnTo>
                <a:lnTo>
                  <a:pt x="4684912" y="458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802020"/>
            <a:endParaRPr sz="1579"/>
          </a:p>
        </p:txBody>
      </p:sp>
      <p:sp>
        <p:nvSpPr>
          <p:cNvPr id="23" name="object 23"/>
          <p:cNvSpPr txBox="1"/>
          <p:nvPr/>
        </p:nvSpPr>
        <p:spPr>
          <a:xfrm>
            <a:off x="6381063" y="2340100"/>
            <a:ext cx="759120" cy="254263"/>
          </a:xfrm>
          <a:prstGeom prst="rect">
            <a:avLst/>
          </a:prstGeom>
        </p:spPr>
        <p:txBody>
          <a:bodyPr vert="horz" wrap="square" lIns="0" tIns="11139" rIns="0" bIns="0" rtlCol="0">
            <a:spAutoFit/>
          </a:bodyPr>
          <a:lstStyle/>
          <a:p>
            <a:pPr marL="11139" defTabSz="802020">
              <a:spcBef>
                <a:spcPts val="88"/>
              </a:spcBef>
            </a:pPr>
            <a:r>
              <a:rPr sz="1579" dirty="0">
                <a:latin typeface="Calibri"/>
                <a:cs typeface="Calibri"/>
              </a:rPr>
              <a:t>Back</a:t>
            </a:r>
            <a:r>
              <a:rPr sz="1579" spc="-13" dirty="0">
                <a:latin typeface="Calibri"/>
                <a:cs typeface="Calibri"/>
              </a:rPr>
              <a:t> </a:t>
            </a:r>
            <a:r>
              <a:rPr sz="1579" spc="-22" dirty="0">
                <a:latin typeface="Calibri"/>
                <a:cs typeface="Calibri"/>
              </a:rPr>
              <a:t>end</a:t>
            </a:r>
            <a:endParaRPr sz="1579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0658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33644"/>
          </a:xfrm>
          <a:prstGeom prst="rect">
            <a:avLst/>
          </a:prstGeom>
        </p:spPr>
        <p:txBody>
          <a:bodyPr vert="horz" wrap="square" lIns="0" tIns="452120" rIns="0" bIns="0" rtlCol="0">
            <a:spAutoFit/>
          </a:bodyPr>
          <a:lstStyle/>
          <a:p>
            <a:pPr marL="873760">
              <a:spcBef>
                <a:spcPts val="100"/>
              </a:spcBef>
            </a:pPr>
            <a:r>
              <a:rPr spc="390" dirty="0"/>
              <a:t>Code</a:t>
            </a:r>
            <a:r>
              <a:rPr spc="345" dirty="0"/>
              <a:t> </a:t>
            </a:r>
            <a:r>
              <a:rPr spc="290" dirty="0"/>
              <a:t>Generation</a:t>
            </a:r>
            <a:r>
              <a:rPr spc="340" dirty="0"/>
              <a:t> </a:t>
            </a:r>
            <a:r>
              <a:rPr spc="310" dirty="0"/>
              <a:t>at</a:t>
            </a:r>
            <a:r>
              <a:rPr spc="345" dirty="0"/>
              <a:t> </a:t>
            </a:r>
            <a:r>
              <a:rPr spc="395" dirty="0"/>
              <a:t>a</a:t>
            </a:r>
            <a:r>
              <a:rPr spc="350" dirty="0"/>
              <a:t> </a:t>
            </a:r>
            <a:r>
              <a:rPr spc="315" dirty="0"/>
              <a:t>Glance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2651" y="1842770"/>
            <a:ext cx="14160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50" spc="16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1731" y="1732279"/>
            <a:ext cx="8514715" cy="1694814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ts val="2980"/>
              </a:lnSpc>
              <a:spcBef>
                <a:spcPts val="275"/>
              </a:spcBef>
            </a:pPr>
            <a:r>
              <a:rPr sz="2550" spc="105" dirty="0">
                <a:solidFill>
                  <a:srgbClr val="191919"/>
                </a:solidFill>
                <a:latin typeface="Georgia"/>
                <a:cs typeface="Georgia"/>
              </a:rPr>
              <a:t>At</a:t>
            </a:r>
            <a:r>
              <a:rPr sz="2550" spc="20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40" dirty="0">
                <a:solidFill>
                  <a:srgbClr val="191919"/>
                </a:solidFill>
                <a:latin typeface="Georgia"/>
                <a:cs typeface="Georgia"/>
              </a:rPr>
              <a:t>this</a:t>
            </a:r>
            <a:r>
              <a:rPr sz="2550" spc="20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25" dirty="0">
                <a:solidFill>
                  <a:srgbClr val="191919"/>
                </a:solidFill>
                <a:latin typeface="Georgia"/>
                <a:cs typeface="Georgia"/>
              </a:rPr>
              <a:t>point,</a:t>
            </a:r>
            <a:r>
              <a:rPr sz="2550" spc="20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b="1" spc="290" dirty="0">
                <a:solidFill>
                  <a:srgbClr val="FF0000"/>
                </a:solidFill>
                <a:latin typeface="Georgia"/>
                <a:cs typeface="Georgia"/>
              </a:rPr>
              <a:t>we</a:t>
            </a:r>
            <a:r>
              <a:rPr sz="2550" b="1" spc="2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200" dirty="0">
                <a:solidFill>
                  <a:srgbClr val="FF0000"/>
                </a:solidFill>
                <a:latin typeface="Georgia"/>
                <a:cs typeface="Georgia"/>
              </a:rPr>
              <a:t>have </a:t>
            </a:r>
            <a:r>
              <a:rPr sz="2550" b="1" spc="150" dirty="0">
                <a:solidFill>
                  <a:srgbClr val="FF0000"/>
                </a:solidFill>
                <a:latin typeface="Georgia"/>
                <a:cs typeface="Georgia"/>
              </a:rPr>
              <a:t>optimized</a:t>
            </a:r>
            <a:r>
              <a:rPr sz="2550" b="1" spc="20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65" dirty="0">
                <a:solidFill>
                  <a:srgbClr val="FF0000"/>
                </a:solidFill>
                <a:latin typeface="Georgia"/>
                <a:cs typeface="Georgia"/>
              </a:rPr>
              <a:t>IR</a:t>
            </a:r>
            <a:r>
              <a:rPr sz="2550" b="1" spc="20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210" dirty="0">
                <a:solidFill>
                  <a:srgbClr val="FF0000"/>
                </a:solidFill>
                <a:latin typeface="Georgia"/>
                <a:cs typeface="Georgia"/>
              </a:rPr>
              <a:t>code </a:t>
            </a:r>
            <a:r>
              <a:rPr sz="2550" b="1" spc="165" dirty="0">
                <a:solidFill>
                  <a:srgbClr val="FF0000"/>
                </a:solidFill>
                <a:latin typeface="Georgia"/>
                <a:cs typeface="Georgia"/>
              </a:rPr>
              <a:t>that</a:t>
            </a:r>
            <a:r>
              <a:rPr sz="2550" b="1" spc="2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185" dirty="0">
                <a:solidFill>
                  <a:srgbClr val="FF0000"/>
                </a:solidFill>
                <a:latin typeface="Georgia"/>
                <a:cs typeface="Georgia"/>
              </a:rPr>
              <a:t>needs </a:t>
            </a:r>
            <a:r>
              <a:rPr sz="2550" b="1" spc="155" dirty="0">
                <a:solidFill>
                  <a:srgbClr val="FF0000"/>
                </a:solidFill>
                <a:latin typeface="Georgia"/>
                <a:cs typeface="Georgia"/>
              </a:rPr>
              <a:t>to</a:t>
            </a:r>
            <a:r>
              <a:rPr sz="2550" b="1" spc="20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235" dirty="0">
                <a:solidFill>
                  <a:srgbClr val="FF0000"/>
                </a:solidFill>
                <a:latin typeface="Georgia"/>
                <a:cs typeface="Georgia"/>
              </a:rPr>
              <a:t>be</a:t>
            </a:r>
            <a:r>
              <a:rPr sz="2550" b="1" spc="19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190" dirty="0">
                <a:solidFill>
                  <a:srgbClr val="FF0000"/>
                </a:solidFill>
                <a:latin typeface="Georgia"/>
                <a:cs typeface="Georgia"/>
              </a:rPr>
              <a:t>converted</a:t>
            </a:r>
            <a:r>
              <a:rPr sz="2550" b="1" spc="2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120" dirty="0">
                <a:solidFill>
                  <a:srgbClr val="FF0000"/>
                </a:solidFill>
                <a:latin typeface="Georgia"/>
                <a:cs typeface="Georgia"/>
              </a:rPr>
              <a:t>into</a:t>
            </a:r>
            <a:r>
              <a:rPr sz="2550" b="1" spc="20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185" dirty="0">
                <a:solidFill>
                  <a:srgbClr val="FF0000"/>
                </a:solidFill>
                <a:latin typeface="Georgia"/>
                <a:cs typeface="Georgia"/>
              </a:rPr>
              <a:t>the</a:t>
            </a:r>
            <a:r>
              <a:rPr sz="2550" b="1" spc="2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210" dirty="0">
                <a:solidFill>
                  <a:srgbClr val="FF0000"/>
                </a:solidFill>
                <a:latin typeface="Georgia"/>
                <a:cs typeface="Georgia"/>
              </a:rPr>
              <a:t>target</a:t>
            </a:r>
            <a:r>
              <a:rPr sz="2550" b="1" spc="2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220" dirty="0">
                <a:solidFill>
                  <a:srgbClr val="FF0000"/>
                </a:solidFill>
                <a:latin typeface="Georgia"/>
                <a:cs typeface="Georgia"/>
              </a:rPr>
              <a:t>language</a:t>
            </a:r>
            <a:r>
              <a:rPr sz="2550" b="1" spc="19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160" dirty="0">
                <a:solidFill>
                  <a:srgbClr val="FF0000"/>
                </a:solidFill>
                <a:latin typeface="Georgia"/>
                <a:cs typeface="Georgia"/>
              </a:rPr>
              <a:t>(e.g. </a:t>
            </a:r>
            <a:r>
              <a:rPr sz="2550" b="1" spc="140" dirty="0">
                <a:solidFill>
                  <a:srgbClr val="FF0000"/>
                </a:solidFill>
                <a:latin typeface="Georgia"/>
                <a:cs typeface="Georgia"/>
              </a:rPr>
              <a:t>assembly,</a:t>
            </a:r>
            <a:r>
              <a:rPr sz="2550" b="1" spc="22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170" dirty="0">
                <a:solidFill>
                  <a:srgbClr val="FF0000"/>
                </a:solidFill>
                <a:latin typeface="Georgia"/>
                <a:cs typeface="Georgia"/>
              </a:rPr>
              <a:t>machine</a:t>
            </a:r>
            <a:r>
              <a:rPr sz="2550" b="1" spc="229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155" dirty="0">
                <a:solidFill>
                  <a:srgbClr val="FF0000"/>
                </a:solidFill>
                <a:latin typeface="Georgia"/>
                <a:cs typeface="Georgia"/>
              </a:rPr>
              <a:t>code).</a:t>
            </a:r>
            <a:endParaRPr sz="2550" b="1" dirty="0">
              <a:solidFill>
                <a:srgbClr val="FF0000"/>
              </a:solidFill>
              <a:latin typeface="Georgia"/>
              <a:cs typeface="Georgia"/>
            </a:endParaRPr>
          </a:p>
          <a:p>
            <a:pPr marL="12700">
              <a:spcBef>
                <a:spcPts val="965"/>
              </a:spcBef>
            </a:pPr>
            <a:r>
              <a:rPr sz="2550" spc="160" dirty="0">
                <a:solidFill>
                  <a:srgbClr val="191919"/>
                </a:solidFill>
                <a:latin typeface="Georgia"/>
                <a:cs typeface="Georgia"/>
              </a:rPr>
              <a:t>Goal</a:t>
            </a:r>
            <a:r>
              <a:rPr sz="25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40" dirty="0">
                <a:solidFill>
                  <a:srgbClr val="191919"/>
                </a:solidFill>
                <a:latin typeface="Georgia"/>
                <a:cs typeface="Georgia"/>
              </a:rPr>
              <a:t>of</a:t>
            </a:r>
            <a:r>
              <a:rPr sz="2550" spc="19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40" dirty="0">
                <a:solidFill>
                  <a:srgbClr val="191919"/>
                </a:solidFill>
                <a:latin typeface="Georgia"/>
                <a:cs typeface="Georgia"/>
              </a:rPr>
              <a:t>this</a:t>
            </a:r>
            <a:r>
              <a:rPr sz="2550" spc="20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95" dirty="0">
                <a:solidFill>
                  <a:srgbClr val="191919"/>
                </a:solidFill>
                <a:latin typeface="Georgia"/>
                <a:cs typeface="Georgia"/>
              </a:rPr>
              <a:t>stage:</a:t>
            </a:r>
            <a:endParaRPr sz="2550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2651" y="3120390"/>
            <a:ext cx="14160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50" spc="16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8090" y="3630930"/>
            <a:ext cx="127635" cy="16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000" spc="145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5725" y="3529699"/>
            <a:ext cx="9337675" cy="1930016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ts val="2610"/>
              </a:lnSpc>
              <a:spcBef>
                <a:spcPts val="250"/>
              </a:spcBef>
            </a:pPr>
            <a:r>
              <a:rPr sz="2250" b="1" spc="170" dirty="0">
                <a:solidFill>
                  <a:srgbClr val="00B0F0"/>
                </a:solidFill>
                <a:latin typeface="Georgia"/>
                <a:cs typeface="Georgia"/>
              </a:rPr>
              <a:t>Choose</a:t>
            </a:r>
            <a:r>
              <a:rPr sz="2250" b="1" spc="18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55" dirty="0">
                <a:solidFill>
                  <a:srgbClr val="00B0F0"/>
                </a:solidFill>
                <a:latin typeface="Georgia"/>
                <a:cs typeface="Georgia"/>
              </a:rPr>
              <a:t>the</a:t>
            </a:r>
            <a:r>
              <a:rPr sz="2250" b="1" spc="18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45" dirty="0">
                <a:solidFill>
                  <a:srgbClr val="00B0F0"/>
                </a:solidFill>
                <a:latin typeface="Georgia"/>
                <a:cs typeface="Georgia"/>
              </a:rPr>
              <a:t>appropriate</a:t>
            </a:r>
            <a:r>
              <a:rPr sz="2250" b="1" spc="18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45" dirty="0">
                <a:solidFill>
                  <a:srgbClr val="00B0F0"/>
                </a:solidFill>
                <a:latin typeface="Georgia"/>
                <a:cs typeface="Georgia"/>
              </a:rPr>
              <a:t>machine</a:t>
            </a:r>
            <a:r>
              <a:rPr sz="2250" b="1" spc="18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20" dirty="0">
                <a:solidFill>
                  <a:srgbClr val="00B0F0"/>
                </a:solidFill>
                <a:latin typeface="Georgia"/>
                <a:cs typeface="Georgia"/>
              </a:rPr>
              <a:t>instructions</a:t>
            </a:r>
            <a:r>
              <a:rPr sz="2250" b="1" spc="180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10" dirty="0">
                <a:solidFill>
                  <a:srgbClr val="00B0F0"/>
                </a:solidFill>
                <a:latin typeface="Georgia"/>
                <a:cs typeface="Georgia"/>
              </a:rPr>
              <a:t>for</a:t>
            </a:r>
            <a:r>
              <a:rPr sz="2250" b="1" spc="17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90" dirty="0">
                <a:solidFill>
                  <a:srgbClr val="00B0F0"/>
                </a:solidFill>
                <a:latin typeface="Georgia"/>
                <a:cs typeface="Georgia"/>
              </a:rPr>
              <a:t>each</a:t>
            </a:r>
            <a:r>
              <a:rPr sz="2250" b="1" spc="18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30" dirty="0">
                <a:solidFill>
                  <a:srgbClr val="00B0F0"/>
                </a:solidFill>
                <a:latin typeface="Georgia"/>
                <a:cs typeface="Georgia"/>
              </a:rPr>
              <a:t>IR </a:t>
            </a:r>
            <a:r>
              <a:rPr sz="2250" b="1" spc="105" dirty="0">
                <a:solidFill>
                  <a:srgbClr val="00B0F0"/>
                </a:solidFill>
                <a:latin typeface="Georgia"/>
                <a:cs typeface="Georgia"/>
              </a:rPr>
              <a:t>instruction.</a:t>
            </a:r>
            <a:endParaRPr sz="2250" b="1" dirty="0">
              <a:solidFill>
                <a:srgbClr val="00B0F0"/>
              </a:solidFill>
              <a:latin typeface="Georgia"/>
              <a:cs typeface="Georgia"/>
            </a:endParaRPr>
          </a:p>
          <a:p>
            <a:pPr marL="12700" marR="558800">
              <a:lnSpc>
                <a:spcPts val="2610"/>
              </a:lnSpc>
              <a:spcBef>
                <a:spcPts val="919"/>
              </a:spcBef>
            </a:pPr>
            <a:r>
              <a:rPr sz="2250" b="1" spc="114" dirty="0">
                <a:solidFill>
                  <a:srgbClr val="00B0F0"/>
                </a:solidFill>
                <a:latin typeface="Georgia"/>
                <a:cs typeface="Georgia"/>
              </a:rPr>
              <a:t>Divvy</a:t>
            </a:r>
            <a:r>
              <a:rPr sz="2250" b="1" spc="190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30" dirty="0">
                <a:solidFill>
                  <a:srgbClr val="00B0F0"/>
                </a:solidFill>
                <a:latin typeface="Georgia"/>
                <a:cs typeface="Georgia"/>
              </a:rPr>
              <a:t>up</a:t>
            </a:r>
            <a:r>
              <a:rPr sz="2250" b="1" spc="17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05" dirty="0">
                <a:solidFill>
                  <a:srgbClr val="00B0F0"/>
                </a:solidFill>
                <a:latin typeface="Georgia"/>
                <a:cs typeface="Georgia"/>
              </a:rPr>
              <a:t>finite</a:t>
            </a:r>
            <a:r>
              <a:rPr sz="2250" b="1" spc="18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45" dirty="0">
                <a:solidFill>
                  <a:srgbClr val="00B0F0"/>
                </a:solidFill>
                <a:latin typeface="Georgia"/>
                <a:cs typeface="Georgia"/>
              </a:rPr>
              <a:t>machine</a:t>
            </a:r>
            <a:r>
              <a:rPr sz="2250" b="1" spc="18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70" dirty="0">
                <a:solidFill>
                  <a:srgbClr val="00B0F0"/>
                </a:solidFill>
                <a:latin typeface="Georgia"/>
                <a:cs typeface="Georgia"/>
              </a:rPr>
              <a:t>resources </a:t>
            </a:r>
            <a:r>
              <a:rPr sz="2250" b="1" spc="145" dirty="0">
                <a:solidFill>
                  <a:srgbClr val="00B0F0"/>
                </a:solidFill>
                <a:latin typeface="Georgia"/>
                <a:cs typeface="Georgia"/>
              </a:rPr>
              <a:t>(registers,</a:t>
            </a:r>
            <a:r>
              <a:rPr sz="2250" b="1" spc="160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65" dirty="0">
                <a:solidFill>
                  <a:srgbClr val="00B0F0"/>
                </a:solidFill>
                <a:latin typeface="Georgia"/>
                <a:cs typeface="Georgia"/>
              </a:rPr>
              <a:t>caches, </a:t>
            </a:r>
            <a:r>
              <a:rPr sz="2250" b="1" spc="120" dirty="0">
                <a:solidFill>
                  <a:srgbClr val="00B0F0"/>
                </a:solidFill>
                <a:latin typeface="Georgia"/>
                <a:cs typeface="Georgia"/>
              </a:rPr>
              <a:t>etc.)</a:t>
            </a:r>
            <a:endParaRPr sz="2250" b="1" dirty="0">
              <a:solidFill>
                <a:srgbClr val="00B0F0"/>
              </a:solidFill>
              <a:latin typeface="Georgia"/>
              <a:cs typeface="Georgia"/>
            </a:endParaRPr>
          </a:p>
          <a:p>
            <a:pPr marL="12700">
              <a:spcBef>
                <a:spcPts val="760"/>
              </a:spcBef>
            </a:pPr>
            <a:r>
              <a:rPr sz="2250" b="1" spc="125" dirty="0">
                <a:solidFill>
                  <a:srgbClr val="00B0F0"/>
                </a:solidFill>
                <a:latin typeface="Georgia"/>
                <a:cs typeface="Georgia"/>
              </a:rPr>
              <a:t>Implement</a:t>
            </a:r>
            <a:r>
              <a:rPr sz="2250" b="1" spc="170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85" dirty="0">
                <a:solidFill>
                  <a:srgbClr val="00B0F0"/>
                </a:solidFill>
                <a:latin typeface="Georgia"/>
                <a:cs typeface="Georgia"/>
              </a:rPr>
              <a:t>low-</a:t>
            </a:r>
            <a:r>
              <a:rPr sz="2250" b="1" spc="145" dirty="0">
                <a:solidFill>
                  <a:srgbClr val="00B0F0"/>
                </a:solidFill>
                <a:latin typeface="Georgia"/>
                <a:cs typeface="Georgia"/>
              </a:rPr>
              <a:t>level</a:t>
            </a:r>
            <a:r>
              <a:rPr sz="2250" b="1" spc="17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35" dirty="0">
                <a:solidFill>
                  <a:srgbClr val="00B0F0"/>
                </a:solidFill>
                <a:latin typeface="Georgia"/>
                <a:cs typeface="Georgia"/>
              </a:rPr>
              <a:t>details</a:t>
            </a:r>
            <a:r>
              <a:rPr sz="2250" b="1" spc="180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00" dirty="0">
                <a:solidFill>
                  <a:srgbClr val="00B0F0"/>
                </a:solidFill>
                <a:latin typeface="Georgia"/>
                <a:cs typeface="Georgia"/>
              </a:rPr>
              <a:t>of</a:t>
            </a:r>
            <a:r>
              <a:rPr sz="2250" b="1" spc="17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55" dirty="0">
                <a:solidFill>
                  <a:srgbClr val="00B0F0"/>
                </a:solidFill>
                <a:latin typeface="Georgia"/>
                <a:cs typeface="Georgia"/>
              </a:rPr>
              <a:t>the</a:t>
            </a:r>
            <a:r>
              <a:rPr sz="2250" b="1" spc="18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20" dirty="0">
                <a:solidFill>
                  <a:srgbClr val="00B0F0"/>
                </a:solidFill>
                <a:latin typeface="Georgia"/>
                <a:cs typeface="Georgia"/>
              </a:rPr>
              <a:t>runtime</a:t>
            </a:r>
            <a:r>
              <a:rPr sz="2250" b="1" spc="180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20" dirty="0">
                <a:solidFill>
                  <a:srgbClr val="00B0F0"/>
                </a:solidFill>
                <a:latin typeface="Georgia"/>
                <a:cs typeface="Georgia"/>
              </a:rPr>
              <a:t>environment.</a:t>
            </a:r>
            <a:endParaRPr sz="2250" b="1" dirty="0">
              <a:solidFill>
                <a:srgbClr val="00B0F0"/>
              </a:solidFill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8090" y="4410710"/>
            <a:ext cx="127635" cy="16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000" spc="145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8090" y="5190491"/>
            <a:ext cx="127635" cy="16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000" spc="145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2651" y="5648959"/>
            <a:ext cx="14160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50" spc="16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1731" y="5539741"/>
            <a:ext cx="8585835" cy="117157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ct val="97200"/>
              </a:lnSpc>
              <a:spcBef>
                <a:spcPts val="195"/>
              </a:spcBef>
            </a:pPr>
            <a:r>
              <a:rPr sz="2550" spc="150" dirty="0">
                <a:solidFill>
                  <a:srgbClr val="191919"/>
                </a:solidFill>
                <a:latin typeface="Georgia"/>
                <a:cs typeface="Georgia"/>
              </a:rPr>
              <a:t>Machine-</a:t>
            </a:r>
            <a:r>
              <a:rPr sz="2550" spc="170" dirty="0">
                <a:solidFill>
                  <a:srgbClr val="191919"/>
                </a:solidFill>
                <a:latin typeface="Georgia"/>
                <a:cs typeface="Georgia"/>
              </a:rPr>
              <a:t>specific</a:t>
            </a:r>
            <a:r>
              <a:rPr sz="2550" spc="20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40" dirty="0">
                <a:solidFill>
                  <a:srgbClr val="191919"/>
                </a:solidFill>
                <a:latin typeface="Georgia"/>
                <a:cs typeface="Georgia"/>
              </a:rPr>
              <a:t>optimizations</a:t>
            </a:r>
            <a:r>
              <a:rPr sz="2550" spc="21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220" dirty="0">
                <a:solidFill>
                  <a:srgbClr val="191919"/>
                </a:solidFill>
                <a:latin typeface="Georgia"/>
                <a:cs typeface="Georgia"/>
              </a:rPr>
              <a:t>are</a:t>
            </a:r>
            <a:r>
              <a:rPr sz="2550" spc="20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60" dirty="0">
                <a:solidFill>
                  <a:srgbClr val="191919"/>
                </a:solidFill>
                <a:latin typeface="Georgia"/>
                <a:cs typeface="Georgia"/>
              </a:rPr>
              <a:t>often</a:t>
            </a:r>
            <a:r>
              <a:rPr sz="2550" spc="21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75" dirty="0">
                <a:solidFill>
                  <a:srgbClr val="191919"/>
                </a:solidFill>
                <a:latin typeface="Georgia"/>
                <a:cs typeface="Georgia"/>
              </a:rPr>
              <a:t>done</a:t>
            </a:r>
            <a:r>
              <a:rPr sz="2550" spc="22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85" dirty="0">
                <a:solidFill>
                  <a:srgbClr val="191919"/>
                </a:solidFill>
                <a:latin typeface="Georgia"/>
                <a:cs typeface="Georgia"/>
              </a:rPr>
              <a:t>here, </a:t>
            </a:r>
            <a:r>
              <a:rPr sz="2550" spc="180" dirty="0">
                <a:solidFill>
                  <a:srgbClr val="191919"/>
                </a:solidFill>
                <a:latin typeface="Georgia"/>
                <a:cs typeface="Georgia"/>
              </a:rPr>
              <a:t>though</a:t>
            </a:r>
            <a:r>
              <a:rPr sz="25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200" dirty="0">
                <a:solidFill>
                  <a:srgbClr val="191919"/>
                </a:solidFill>
                <a:latin typeface="Georgia"/>
                <a:cs typeface="Georgia"/>
              </a:rPr>
              <a:t>some</a:t>
            </a:r>
            <a:r>
              <a:rPr sz="25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220" dirty="0">
                <a:solidFill>
                  <a:srgbClr val="191919"/>
                </a:solidFill>
                <a:latin typeface="Georgia"/>
                <a:cs typeface="Georgia"/>
              </a:rPr>
              <a:t>are</a:t>
            </a:r>
            <a:r>
              <a:rPr sz="2550" spc="200" dirty="0">
                <a:solidFill>
                  <a:srgbClr val="191919"/>
                </a:solidFill>
                <a:latin typeface="Georgia"/>
                <a:cs typeface="Georgia"/>
              </a:rPr>
              <a:t> treated</a:t>
            </a:r>
            <a:r>
              <a:rPr sz="25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220" dirty="0">
                <a:solidFill>
                  <a:srgbClr val="191919"/>
                </a:solidFill>
                <a:latin typeface="Georgia"/>
                <a:cs typeface="Georgia"/>
              </a:rPr>
              <a:t>as</a:t>
            </a:r>
            <a:r>
              <a:rPr sz="2550" spc="19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75" dirty="0">
                <a:solidFill>
                  <a:srgbClr val="191919"/>
                </a:solidFill>
                <a:latin typeface="Georgia"/>
                <a:cs typeface="Georgia"/>
              </a:rPr>
              <a:t>part</a:t>
            </a:r>
            <a:r>
              <a:rPr sz="2550" spc="20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40" dirty="0">
                <a:solidFill>
                  <a:srgbClr val="191919"/>
                </a:solidFill>
                <a:latin typeface="Georgia"/>
                <a:cs typeface="Georgia"/>
              </a:rPr>
              <a:t>of</a:t>
            </a:r>
            <a:r>
              <a:rPr sz="25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229" dirty="0">
                <a:solidFill>
                  <a:srgbClr val="191919"/>
                </a:solidFill>
                <a:latin typeface="Georgia"/>
                <a:cs typeface="Georgia"/>
              </a:rPr>
              <a:t>a</a:t>
            </a:r>
            <a:r>
              <a:rPr sz="2550" spc="20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10" dirty="0">
                <a:solidFill>
                  <a:srgbClr val="191919"/>
                </a:solidFill>
                <a:latin typeface="Georgia"/>
                <a:cs typeface="Georgia"/>
              </a:rPr>
              <a:t>final </a:t>
            </a:r>
            <a:r>
              <a:rPr sz="2550" spc="135" dirty="0">
                <a:solidFill>
                  <a:srgbClr val="191919"/>
                </a:solidFill>
                <a:latin typeface="Georgia"/>
                <a:cs typeface="Georgia"/>
              </a:rPr>
              <a:t>optimization</a:t>
            </a:r>
            <a:r>
              <a:rPr sz="2550" spc="21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75" dirty="0">
                <a:solidFill>
                  <a:srgbClr val="191919"/>
                </a:solidFill>
                <a:latin typeface="Georgia"/>
                <a:cs typeface="Georgia"/>
              </a:rPr>
              <a:t>phase.</a:t>
            </a:r>
            <a:endParaRPr sz="255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97810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900" y="196850"/>
            <a:ext cx="7799227" cy="605691"/>
          </a:xfrm>
          <a:prstGeom prst="rect">
            <a:avLst/>
          </a:prstGeom>
        </p:spPr>
        <p:txBody>
          <a:bodyPr vert="horz" wrap="square" lIns="0" tIns="11696" rIns="0" bIns="0" rtlCol="0">
            <a:spAutoFit/>
          </a:bodyPr>
          <a:lstStyle/>
          <a:p>
            <a:pPr marL="11139">
              <a:spcBef>
                <a:spcPts val="92"/>
              </a:spcBef>
            </a:pPr>
            <a:r>
              <a:rPr dirty="0"/>
              <a:t>Code</a:t>
            </a:r>
            <a:r>
              <a:rPr spc="-13" dirty="0"/>
              <a:t> </a:t>
            </a:r>
            <a:r>
              <a:rPr spc="-9" dirty="0"/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21936" y="1492250"/>
            <a:ext cx="10693400" cy="4867139"/>
          </a:xfrm>
          <a:prstGeom prst="rect">
            <a:avLst/>
          </a:prstGeom>
        </p:spPr>
        <p:txBody>
          <a:bodyPr vert="horz" wrap="square" lIns="0" tIns="42328" rIns="0" bIns="0" rtlCol="0">
            <a:spAutoFit/>
          </a:bodyPr>
          <a:lstStyle/>
          <a:p>
            <a:pPr marL="211087" indent="-199948" defTabSz="802020">
              <a:spcBef>
                <a:spcPts val="333"/>
              </a:spcBef>
              <a:buFont typeface="Arial MT"/>
              <a:buChar char="•"/>
              <a:tabLst>
                <a:tab pos="211087" algn="l"/>
              </a:tabLst>
            </a:pPr>
            <a:r>
              <a:rPr sz="3200" b="1" spc="-9" dirty="0">
                <a:latin typeface="Calibri"/>
                <a:cs typeface="Calibri"/>
              </a:rPr>
              <a:t>Input</a:t>
            </a:r>
            <a:endParaRPr sz="3200" dirty="0">
              <a:latin typeface="Calibri"/>
              <a:cs typeface="Calibri"/>
            </a:endParaRPr>
          </a:p>
          <a:p>
            <a:pPr marL="611540" lvl="1" indent="-199390" defTabSz="802020">
              <a:spcBef>
                <a:spcPts val="215"/>
              </a:spcBef>
              <a:buFont typeface="Arial MT"/>
              <a:buChar char="•"/>
              <a:tabLst>
                <a:tab pos="611540" algn="l"/>
              </a:tabLst>
            </a:pPr>
            <a:r>
              <a:rPr sz="3200" spc="-9" dirty="0">
                <a:latin typeface="Calibri"/>
                <a:cs typeface="Calibri"/>
              </a:rPr>
              <a:t>Intermediate</a:t>
            </a:r>
            <a:r>
              <a:rPr sz="3200" spc="-79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representation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(IR)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generated</a:t>
            </a:r>
            <a:r>
              <a:rPr sz="3200" spc="-61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front</a:t>
            </a:r>
            <a:r>
              <a:rPr sz="3200" spc="-61" dirty="0">
                <a:latin typeface="Calibri"/>
                <a:cs typeface="Calibri"/>
              </a:rPr>
              <a:t> </a:t>
            </a:r>
            <a:r>
              <a:rPr sz="3200" spc="-22" dirty="0">
                <a:latin typeface="Calibri"/>
                <a:cs typeface="Calibri"/>
              </a:rPr>
              <a:t>end</a:t>
            </a:r>
            <a:endParaRPr sz="3200" dirty="0">
              <a:latin typeface="Calibri"/>
              <a:cs typeface="Calibri"/>
            </a:endParaRPr>
          </a:p>
          <a:p>
            <a:pPr marL="1013664" lvl="2" indent="-200505" defTabSz="802020">
              <a:spcBef>
                <a:spcPts val="246"/>
              </a:spcBef>
              <a:buFont typeface="Arial MT"/>
              <a:buChar char="•"/>
              <a:tabLst>
                <a:tab pos="1013664" algn="l"/>
              </a:tabLst>
            </a:pPr>
            <a:r>
              <a:rPr sz="3200" dirty="0">
                <a:latin typeface="Calibri"/>
                <a:cs typeface="Calibri"/>
              </a:rPr>
              <a:t>Linear</a:t>
            </a:r>
            <a:r>
              <a:rPr sz="3200" spc="-31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IRs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like</a:t>
            </a:r>
            <a:r>
              <a:rPr sz="3200" spc="-2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3AC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2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stack</a:t>
            </a:r>
            <a:r>
              <a:rPr sz="3200" spc="-31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machine</a:t>
            </a:r>
            <a:r>
              <a:rPr sz="3200" spc="-31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representations</a:t>
            </a:r>
            <a:endParaRPr sz="3200" dirty="0">
              <a:latin typeface="Calibri"/>
              <a:cs typeface="Calibri"/>
            </a:endParaRPr>
          </a:p>
          <a:p>
            <a:pPr marL="1013664" lvl="2" indent="-200505" defTabSz="802020">
              <a:spcBef>
                <a:spcPts val="232"/>
              </a:spcBef>
              <a:buFont typeface="Arial MT"/>
              <a:buChar char="•"/>
              <a:tabLst>
                <a:tab pos="1013664" algn="l"/>
              </a:tabLst>
            </a:pPr>
            <a:r>
              <a:rPr sz="3200" dirty="0">
                <a:latin typeface="Calibri"/>
                <a:cs typeface="Calibri"/>
              </a:rPr>
              <a:t>Graphical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IRs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also</a:t>
            </a:r>
            <a:r>
              <a:rPr sz="3200" spc="-39" dirty="0">
                <a:latin typeface="Calibri"/>
                <a:cs typeface="Calibri"/>
              </a:rPr>
              <a:t> </a:t>
            </a:r>
            <a:r>
              <a:rPr sz="3200" spc="-18" dirty="0">
                <a:latin typeface="Calibri"/>
                <a:cs typeface="Calibri"/>
              </a:rPr>
              <a:t>work</a:t>
            </a:r>
            <a:endParaRPr sz="3200" dirty="0">
              <a:latin typeface="Calibri"/>
              <a:cs typeface="Calibri"/>
            </a:endParaRPr>
          </a:p>
          <a:p>
            <a:pPr marL="611540" indent="-199390" defTabSz="802020">
              <a:spcBef>
                <a:spcPts val="167"/>
              </a:spcBef>
              <a:buFont typeface="Arial MT"/>
              <a:buChar char="•"/>
              <a:tabLst>
                <a:tab pos="611540" algn="l"/>
              </a:tabLst>
            </a:pPr>
            <a:r>
              <a:rPr sz="3200" dirty="0">
                <a:latin typeface="Calibri"/>
                <a:cs typeface="Calibri"/>
              </a:rPr>
              <a:t>Symbol</a:t>
            </a:r>
            <a:r>
              <a:rPr sz="3200" spc="-66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table</a:t>
            </a:r>
            <a:r>
              <a:rPr sz="3200" spc="-48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information</a:t>
            </a:r>
            <a:endParaRPr sz="3200" dirty="0">
              <a:latin typeface="Calibri"/>
              <a:cs typeface="Calibri"/>
            </a:endParaRPr>
          </a:p>
          <a:p>
            <a:pPr marL="211087" indent="-199948" defTabSz="802020">
              <a:spcBef>
                <a:spcPts val="553"/>
              </a:spcBef>
              <a:buFont typeface="Arial MT"/>
              <a:buChar char="•"/>
              <a:tabLst>
                <a:tab pos="211087" algn="l"/>
              </a:tabLst>
            </a:pPr>
            <a:r>
              <a:rPr sz="3200" b="1" spc="-9" dirty="0">
                <a:latin typeface="Calibri"/>
                <a:cs typeface="Calibri"/>
              </a:rPr>
              <a:t>Assumptions</a:t>
            </a:r>
            <a:endParaRPr sz="3200" dirty="0">
              <a:latin typeface="Calibri"/>
              <a:cs typeface="Calibri"/>
            </a:endParaRPr>
          </a:p>
          <a:p>
            <a:pPr marL="611540" lvl="1" indent="-199390" defTabSz="802020">
              <a:spcBef>
                <a:spcPts val="215"/>
              </a:spcBef>
              <a:buFont typeface="Arial MT"/>
              <a:buChar char="•"/>
              <a:tabLst>
                <a:tab pos="611540" algn="l"/>
              </a:tabLst>
            </a:pPr>
            <a:r>
              <a:rPr sz="3200" dirty="0">
                <a:latin typeface="Calibri"/>
                <a:cs typeface="Calibri"/>
              </a:rPr>
              <a:t>Code</a:t>
            </a:r>
            <a:r>
              <a:rPr sz="3200" spc="-48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generation</a:t>
            </a:r>
            <a:r>
              <a:rPr sz="3200" spc="-48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does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not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bother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any</a:t>
            </a:r>
            <a:r>
              <a:rPr sz="3200" spc="-3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error</a:t>
            </a:r>
            <a:r>
              <a:rPr sz="3200" spc="-57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checking</a:t>
            </a:r>
            <a:endParaRPr sz="3200" dirty="0">
              <a:latin typeface="Calibri"/>
              <a:cs typeface="Calibri"/>
            </a:endParaRPr>
          </a:p>
          <a:p>
            <a:pPr marL="611540" marR="4456" lvl="1" indent="-199390" defTabSz="802020">
              <a:lnSpc>
                <a:spcPts val="2272"/>
              </a:lnSpc>
              <a:spcBef>
                <a:spcPts val="478"/>
              </a:spcBef>
              <a:buFont typeface="Arial MT"/>
              <a:buChar char="•"/>
              <a:tabLst>
                <a:tab pos="612654" algn="l"/>
              </a:tabLst>
            </a:pPr>
            <a:r>
              <a:rPr sz="3200" dirty="0">
                <a:latin typeface="Calibri"/>
                <a:cs typeface="Calibri"/>
              </a:rPr>
              <a:t>Code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generation</a:t>
            </a:r>
            <a:r>
              <a:rPr sz="3200" spc="-3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assumes</a:t>
            </a:r>
            <a:r>
              <a:rPr sz="3200" spc="-3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names</a:t>
            </a:r>
            <a:r>
              <a:rPr sz="3200" spc="-48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IR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39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31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operated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target 	</a:t>
            </a:r>
            <a:r>
              <a:rPr sz="3200" dirty="0">
                <a:latin typeface="Calibri"/>
                <a:cs typeface="Calibri"/>
              </a:rPr>
              <a:t>machine</a:t>
            </a:r>
            <a:r>
              <a:rPr sz="3200" spc="-44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instructions</a:t>
            </a:r>
            <a:endParaRPr sz="3200" dirty="0">
              <a:latin typeface="Calibri"/>
              <a:cs typeface="Calibri"/>
            </a:endParaRPr>
          </a:p>
          <a:p>
            <a:pPr marL="1013664" lvl="2" indent="-200505" defTabSz="802020">
              <a:spcBef>
                <a:spcPts val="215"/>
              </a:spcBef>
              <a:buFont typeface="Arial MT"/>
              <a:buChar char="•"/>
              <a:tabLst>
                <a:tab pos="1013664" algn="l"/>
              </a:tabLst>
            </a:pPr>
            <a:r>
              <a:rPr sz="3200" dirty="0">
                <a:latin typeface="Calibri"/>
                <a:cs typeface="Calibri"/>
              </a:rPr>
              <a:t>For</a:t>
            </a:r>
            <a:r>
              <a:rPr sz="3200" spc="-53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example,</a:t>
            </a:r>
            <a:r>
              <a:rPr sz="3200" spc="-22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bits,</a:t>
            </a:r>
            <a:r>
              <a:rPr sz="3200" spc="-39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integers,</a:t>
            </a:r>
            <a:r>
              <a:rPr sz="3200" spc="-31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48" dirty="0">
                <a:latin typeface="Calibri"/>
                <a:cs typeface="Calibri"/>
              </a:rPr>
              <a:t> </a:t>
            </a:r>
            <a:r>
              <a:rPr sz="3200" spc="-9" dirty="0">
                <a:latin typeface="Calibri"/>
                <a:cs typeface="Calibri"/>
              </a:rPr>
              <a:t>floats</a:t>
            </a:r>
            <a:endParaRPr sz="3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5401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300" y="196850"/>
            <a:ext cx="7799227" cy="605691"/>
          </a:xfrm>
          <a:prstGeom prst="rect">
            <a:avLst/>
          </a:prstGeom>
        </p:spPr>
        <p:txBody>
          <a:bodyPr vert="horz" wrap="square" lIns="0" tIns="11696" rIns="0" bIns="0" rtlCol="0">
            <a:spAutoFit/>
          </a:bodyPr>
          <a:lstStyle/>
          <a:p>
            <a:pPr marL="11139">
              <a:spcBef>
                <a:spcPts val="92"/>
              </a:spcBef>
            </a:pPr>
            <a:r>
              <a:rPr dirty="0"/>
              <a:t>Code</a:t>
            </a:r>
            <a:r>
              <a:rPr spc="-13" dirty="0"/>
              <a:t> </a:t>
            </a:r>
            <a:r>
              <a:rPr spc="-9" dirty="0"/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901" y="1111250"/>
            <a:ext cx="10604500" cy="5513470"/>
          </a:xfrm>
          <a:prstGeom prst="rect">
            <a:avLst/>
          </a:prstGeom>
        </p:spPr>
        <p:txBody>
          <a:bodyPr vert="horz" wrap="square" lIns="0" tIns="42328" rIns="0" bIns="0" rtlCol="0">
            <a:spAutoFit/>
          </a:bodyPr>
          <a:lstStyle/>
          <a:p>
            <a:pPr marL="211087" indent="-199948" defTabSz="802020">
              <a:spcBef>
                <a:spcPts val="333"/>
              </a:spcBef>
              <a:buFont typeface="Arial MT"/>
              <a:buChar char="•"/>
              <a:tabLst>
                <a:tab pos="211087" algn="l"/>
              </a:tabLst>
            </a:pPr>
            <a:r>
              <a:rPr sz="2800" b="1" spc="-9" dirty="0">
                <a:latin typeface="Calibri"/>
                <a:cs typeface="Calibri"/>
              </a:rPr>
              <a:t>Output</a:t>
            </a:r>
            <a:endParaRPr sz="2800" dirty="0">
              <a:latin typeface="Calibri"/>
              <a:cs typeface="Calibri"/>
            </a:endParaRPr>
          </a:p>
          <a:p>
            <a:pPr marL="611540" lvl="1" indent="-199390" defTabSz="802020">
              <a:spcBef>
                <a:spcPts val="215"/>
              </a:spcBef>
              <a:buFont typeface="Arial MT"/>
              <a:buChar char="•"/>
              <a:tabLst>
                <a:tab pos="611540" algn="l"/>
              </a:tabLst>
            </a:pPr>
            <a:r>
              <a:rPr sz="2800" b="1" dirty="0">
                <a:latin typeface="Calibri"/>
                <a:cs typeface="Calibri"/>
              </a:rPr>
              <a:t>Absolute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machine</a:t>
            </a:r>
            <a:r>
              <a:rPr sz="2800" b="1" spc="-83" dirty="0">
                <a:latin typeface="Calibri"/>
                <a:cs typeface="Calibri"/>
              </a:rPr>
              <a:t> </a:t>
            </a:r>
            <a:r>
              <a:rPr sz="2800" b="1" spc="-18" dirty="0">
                <a:latin typeface="Calibri"/>
                <a:cs typeface="Calibri"/>
              </a:rPr>
              <a:t>code</a:t>
            </a:r>
            <a:endParaRPr sz="2800" b="1" dirty="0">
              <a:latin typeface="Calibri"/>
              <a:cs typeface="Calibri"/>
            </a:endParaRPr>
          </a:p>
          <a:p>
            <a:pPr marL="1013664" lvl="2" indent="-200505" defTabSz="802020">
              <a:spcBef>
                <a:spcPts val="246"/>
              </a:spcBef>
              <a:buFont typeface="Arial MT"/>
              <a:buChar char="•"/>
              <a:tabLst>
                <a:tab pos="1013664" algn="l"/>
              </a:tabLst>
            </a:pPr>
            <a:r>
              <a:rPr sz="2800" spc="-9" dirty="0">
                <a:latin typeface="Calibri"/>
                <a:cs typeface="Calibri"/>
              </a:rPr>
              <a:t>Generated</a:t>
            </a:r>
            <a:r>
              <a:rPr sz="2800" spc="-3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addresses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fixed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works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when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loaded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fixed</a:t>
            </a:r>
            <a:r>
              <a:rPr sz="2800" spc="-3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locations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memory</a:t>
            </a:r>
            <a:endParaRPr sz="2800" dirty="0">
              <a:latin typeface="Calibri"/>
              <a:cs typeface="Calibri"/>
            </a:endParaRPr>
          </a:p>
          <a:p>
            <a:pPr marL="1013664" lvl="2" indent="-200505" defTabSz="802020">
              <a:spcBef>
                <a:spcPts val="232"/>
              </a:spcBef>
              <a:buFont typeface="Arial MT"/>
              <a:buChar char="•"/>
              <a:tabLst>
                <a:tab pos="1013664" algn="l"/>
              </a:tabLst>
            </a:pPr>
            <a:r>
              <a:rPr sz="2800" spc="-9" dirty="0">
                <a:latin typeface="Calibri"/>
                <a:cs typeface="Calibri"/>
              </a:rPr>
              <a:t>Efficient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spc="-18" dirty="0">
                <a:latin typeface="Calibri"/>
                <a:cs typeface="Calibri"/>
              </a:rPr>
              <a:t>execute,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now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primarily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embedded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systems</a:t>
            </a:r>
            <a:endParaRPr sz="2800" dirty="0">
              <a:latin typeface="Calibri"/>
              <a:cs typeface="Calibri"/>
            </a:endParaRPr>
          </a:p>
          <a:p>
            <a:pPr marL="611540" lvl="1" indent="-199390" defTabSz="802020">
              <a:spcBef>
                <a:spcPts val="167"/>
              </a:spcBef>
              <a:buFont typeface="Arial MT"/>
              <a:buChar char="•"/>
              <a:tabLst>
                <a:tab pos="611540" algn="l"/>
              </a:tabLst>
            </a:pPr>
            <a:r>
              <a:rPr sz="2800" b="1" spc="-9" dirty="0">
                <a:latin typeface="Calibri"/>
                <a:cs typeface="Calibri"/>
              </a:rPr>
              <a:t>Relocatable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machine</a:t>
            </a:r>
            <a:r>
              <a:rPr sz="2800" b="1" spc="-48" dirty="0">
                <a:latin typeface="Calibri"/>
                <a:cs typeface="Calibri"/>
              </a:rPr>
              <a:t> </a:t>
            </a:r>
            <a:r>
              <a:rPr sz="2800" b="1" spc="-18" dirty="0">
                <a:latin typeface="Calibri"/>
                <a:cs typeface="Calibri"/>
              </a:rPr>
              <a:t>code</a:t>
            </a:r>
            <a:endParaRPr sz="2800" b="1" dirty="0">
              <a:latin typeface="Calibri"/>
              <a:cs typeface="Calibri"/>
            </a:endParaRPr>
          </a:p>
          <a:p>
            <a:pPr marL="1013664" marR="4456" lvl="2" indent="-200505" defTabSz="802020">
              <a:lnSpc>
                <a:spcPts val="1895"/>
              </a:lnSpc>
              <a:spcBef>
                <a:spcPts val="482"/>
              </a:spcBef>
              <a:buFont typeface="Arial MT"/>
              <a:buChar char="•"/>
              <a:tabLst>
                <a:tab pos="1013664" algn="l"/>
              </a:tabLst>
            </a:pPr>
            <a:r>
              <a:rPr sz="2800" dirty="0">
                <a:latin typeface="Calibri"/>
                <a:cs typeface="Calibri"/>
              </a:rPr>
              <a:t>Code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48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broken</a:t>
            </a:r>
            <a:r>
              <a:rPr sz="2800" spc="-3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down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separate</a:t>
            </a:r>
            <a:r>
              <a:rPr sz="2800" spc="-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sections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loaded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anywhere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memory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8" dirty="0">
                <a:latin typeface="Calibri"/>
                <a:cs typeface="Calibri"/>
              </a:rPr>
              <a:t>that </a:t>
            </a:r>
            <a:r>
              <a:rPr sz="2800" dirty="0">
                <a:latin typeface="Calibri"/>
                <a:cs typeface="Calibri"/>
              </a:rPr>
              <a:t>meets</a:t>
            </a:r>
            <a:r>
              <a:rPr sz="2800" spc="-6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size</a:t>
            </a:r>
            <a:r>
              <a:rPr sz="2800" spc="-61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requirements</a:t>
            </a:r>
            <a:endParaRPr sz="2800" dirty="0">
              <a:latin typeface="Calibri"/>
              <a:cs typeface="Calibri"/>
            </a:endParaRPr>
          </a:p>
          <a:p>
            <a:pPr marL="1013664" lvl="2" indent="-200505" defTabSz="802020">
              <a:spcBef>
                <a:spcPts val="206"/>
              </a:spcBef>
              <a:buFont typeface="Arial MT"/>
              <a:buChar char="•"/>
              <a:tabLst>
                <a:tab pos="1013664" algn="l"/>
              </a:tabLst>
            </a:pPr>
            <a:r>
              <a:rPr sz="2800" dirty="0">
                <a:latin typeface="Calibri"/>
                <a:cs typeface="Calibri"/>
              </a:rPr>
              <a:t>Allows</a:t>
            </a:r>
            <a:r>
              <a:rPr sz="2800" spc="-3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separate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compilation,</a:t>
            </a:r>
            <a:r>
              <a:rPr sz="2800" spc="-3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requires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separate</a:t>
            </a:r>
            <a:r>
              <a:rPr sz="2800" spc="-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linking</a:t>
            </a:r>
            <a:r>
              <a:rPr sz="2800" spc="-3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loading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phase</a:t>
            </a:r>
            <a:endParaRPr sz="2800" dirty="0">
              <a:latin typeface="Calibri"/>
              <a:cs typeface="Calibri"/>
            </a:endParaRPr>
          </a:p>
          <a:p>
            <a:pPr marL="611540" lvl="1" indent="-199390" defTabSz="802020">
              <a:spcBef>
                <a:spcPts val="167"/>
              </a:spcBef>
              <a:buFont typeface="Arial MT"/>
              <a:buChar char="•"/>
              <a:tabLst>
                <a:tab pos="611540" algn="l"/>
              </a:tabLst>
            </a:pPr>
            <a:r>
              <a:rPr sz="2800" b="1" dirty="0">
                <a:latin typeface="Calibri"/>
                <a:cs typeface="Calibri"/>
              </a:rPr>
              <a:t>Assembly</a:t>
            </a:r>
            <a:r>
              <a:rPr sz="2800" b="1" spc="-9" dirty="0">
                <a:latin typeface="Calibri"/>
                <a:cs typeface="Calibri"/>
              </a:rPr>
              <a:t> language</a:t>
            </a:r>
            <a:endParaRPr sz="2800" b="1" dirty="0">
              <a:latin typeface="Calibri"/>
              <a:cs typeface="Calibri"/>
            </a:endParaRPr>
          </a:p>
          <a:p>
            <a:pPr marL="1013664" lvl="2" indent="-200505" defTabSz="802020">
              <a:spcBef>
                <a:spcPts val="246"/>
              </a:spcBef>
              <a:buFont typeface="Arial MT"/>
              <a:buChar char="•"/>
              <a:tabLst>
                <a:tab pos="1013664" algn="l"/>
              </a:tabLst>
            </a:pPr>
            <a:r>
              <a:rPr sz="2800" dirty="0">
                <a:latin typeface="Calibri"/>
                <a:cs typeface="Calibri"/>
              </a:rPr>
              <a:t>Simplifies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code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generation,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-48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requires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assembling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generated</a:t>
            </a:r>
            <a:r>
              <a:rPr sz="2800" spc="-48" dirty="0">
                <a:latin typeface="Calibri"/>
                <a:cs typeface="Calibri"/>
              </a:rPr>
              <a:t> </a:t>
            </a:r>
            <a:r>
              <a:rPr sz="2800" spc="-18" dirty="0">
                <a:latin typeface="Calibri"/>
                <a:cs typeface="Calibri"/>
              </a:rPr>
              <a:t>code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497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1900" y="501650"/>
            <a:ext cx="7799227" cy="605691"/>
          </a:xfrm>
          <a:prstGeom prst="rect">
            <a:avLst/>
          </a:prstGeom>
        </p:spPr>
        <p:txBody>
          <a:bodyPr vert="horz" wrap="square" lIns="0" tIns="11696" rIns="0" bIns="0" rtlCol="0">
            <a:spAutoFit/>
          </a:bodyPr>
          <a:lstStyle/>
          <a:p>
            <a:pPr marL="11139">
              <a:spcBef>
                <a:spcPts val="92"/>
              </a:spcBef>
            </a:pPr>
            <a:r>
              <a:rPr dirty="0"/>
              <a:t>Steps</a:t>
            </a:r>
            <a:r>
              <a:rPr spc="-39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Code</a:t>
            </a:r>
            <a:r>
              <a:rPr spc="-35" dirty="0"/>
              <a:t> </a:t>
            </a:r>
            <a:r>
              <a:rPr spc="-9" dirty="0"/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1568450"/>
            <a:ext cx="10693400" cy="5383653"/>
          </a:xfrm>
          <a:prstGeom prst="rect">
            <a:avLst/>
          </a:prstGeom>
        </p:spPr>
        <p:txBody>
          <a:bodyPr vert="horz" wrap="square" lIns="0" tIns="53467" rIns="0" bIns="0" rtlCol="0">
            <a:spAutoFit/>
          </a:bodyPr>
          <a:lstStyle/>
          <a:p>
            <a:pPr marL="210529" marR="4456" indent="-199948" defTabSz="802020">
              <a:lnSpc>
                <a:spcPts val="2649"/>
              </a:lnSpc>
              <a:spcBef>
                <a:spcPts val="421"/>
              </a:spcBef>
              <a:buFont typeface="Arial MT"/>
              <a:buChar char="•"/>
              <a:tabLst>
                <a:tab pos="211644" algn="l"/>
              </a:tabLst>
            </a:pPr>
            <a:r>
              <a:rPr sz="3600" dirty="0">
                <a:latin typeface="Calibri"/>
                <a:cs typeface="Calibri"/>
              </a:rPr>
              <a:t>Compiler</a:t>
            </a:r>
            <a:r>
              <a:rPr sz="3600" spc="-83" dirty="0">
                <a:latin typeface="Calibri"/>
                <a:cs typeface="Calibri"/>
              </a:rPr>
              <a:t> </a:t>
            </a:r>
            <a:r>
              <a:rPr sz="3600" spc="-9" dirty="0">
                <a:latin typeface="Calibri"/>
                <a:cs typeface="Calibri"/>
              </a:rPr>
              <a:t>backend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performs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three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steps</a:t>
            </a:r>
            <a:r>
              <a:rPr sz="3600" spc="-66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88" dirty="0">
                <a:latin typeface="Calibri"/>
                <a:cs typeface="Calibri"/>
              </a:rPr>
              <a:t> </a:t>
            </a:r>
            <a:r>
              <a:rPr sz="3600" spc="-9" dirty="0">
                <a:latin typeface="Calibri"/>
                <a:cs typeface="Calibri"/>
              </a:rPr>
              <a:t>translate</a:t>
            </a:r>
            <a:r>
              <a:rPr sz="3600" spc="-79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IR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83" dirty="0">
                <a:latin typeface="Calibri"/>
                <a:cs typeface="Calibri"/>
              </a:rPr>
              <a:t> </a:t>
            </a:r>
            <a:r>
              <a:rPr sz="3600" spc="-9" dirty="0">
                <a:latin typeface="Calibri"/>
                <a:cs typeface="Calibri"/>
              </a:rPr>
              <a:t>executable 	</a:t>
            </a:r>
            <a:r>
              <a:rPr sz="3600" spc="-18" dirty="0">
                <a:latin typeface="Calibri"/>
                <a:cs typeface="Calibri"/>
              </a:rPr>
              <a:t>code</a:t>
            </a:r>
            <a:endParaRPr sz="3600" dirty="0">
              <a:latin typeface="Calibri"/>
              <a:cs typeface="Calibri"/>
            </a:endParaRPr>
          </a:p>
          <a:p>
            <a:pPr marL="611540" lvl="1" indent="-199390" defTabSz="802020">
              <a:spcBef>
                <a:spcPts val="179"/>
              </a:spcBef>
              <a:buFont typeface="Arial MT"/>
              <a:buChar char="•"/>
              <a:tabLst>
                <a:tab pos="611540" algn="l"/>
              </a:tabLst>
            </a:pPr>
            <a:r>
              <a:rPr sz="3600" dirty="0">
                <a:solidFill>
                  <a:srgbClr val="FF0000"/>
                </a:solidFill>
                <a:latin typeface="Calibri"/>
                <a:cs typeface="Calibri"/>
              </a:rPr>
              <a:t>Instruction</a:t>
            </a:r>
            <a:r>
              <a:rPr sz="3600" spc="-7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spc="-9" dirty="0">
                <a:solidFill>
                  <a:srgbClr val="FF0000"/>
                </a:solidFill>
                <a:latin typeface="Calibri"/>
                <a:cs typeface="Calibri"/>
              </a:rPr>
              <a:t>selection</a:t>
            </a:r>
            <a:endParaRPr sz="36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1013664" lvl="2" indent="-200505" defTabSz="802020">
              <a:spcBef>
                <a:spcPts val="246"/>
              </a:spcBef>
              <a:buFont typeface="Arial MT"/>
              <a:buChar char="•"/>
              <a:tabLst>
                <a:tab pos="1013664" algn="l"/>
              </a:tabLst>
            </a:pPr>
            <a:r>
              <a:rPr sz="3600" dirty="0">
                <a:latin typeface="Calibri"/>
                <a:cs typeface="Calibri"/>
              </a:rPr>
              <a:t>Choose</a:t>
            </a:r>
            <a:r>
              <a:rPr sz="3600" spc="-57" dirty="0">
                <a:latin typeface="Calibri"/>
                <a:cs typeface="Calibri"/>
              </a:rPr>
              <a:t> </a:t>
            </a:r>
            <a:r>
              <a:rPr sz="3600" spc="-9" dirty="0">
                <a:latin typeface="Calibri"/>
                <a:cs typeface="Calibri"/>
              </a:rPr>
              <a:t>appropriate</a:t>
            </a:r>
            <a:r>
              <a:rPr sz="3600" spc="-26" dirty="0">
                <a:latin typeface="Calibri"/>
                <a:cs typeface="Calibri"/>
              </a:rPr>
              <a:t> </a:t>
            </a:r>
            <a:r>
              <a:rPr sz="3600" spc="-9" dirty="0">
                <a:latin typeface="Calibri"/>
                <a:cs typeface="Calibri"/>
              </a:rPr>
              <a:t>target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machine</a:t>
            </a:r>
            <a:r>
              <a:rPr sz="3600" spc="-48" dirty="0">
                <a:latin typeface="Calibri"/>
                <a:cs typeface="Calibri"/>
              </a:rPr>
              <a:t> </a:t>
            </a:r>
            <a:r>
              <a:rPr sz="3600" spc="-9" dirty="0">
                <a:latin typeface="Calibri"/>
                <a:cs typeface="Calibri"/>
              </a:rPr>
              <a:t>instructions</a:t>
            </a:r>
            <a:endParaRPr sz="3600" dirty="0">
              <a:latin typeface="Calibri"/>
              <a:cs typeface="Calibri"/>
            </a:endParaRPr>
          </a:p>
          <a:p>
            <a:pPr marL="611540" lvl="1" indent="-199390" defTabSz="802020">
              <a:spcBef>
                <a:spcPts val="167"/>
              </a:spcBef>
              <a:buFont typeface="Arial MT"/>
              <a:buChar char="•"/>
              <a:tabLst>
                <a:tab pos="611540" algn="l"/>
              </a:tabLst>
            </a:pPr>
            <a:r>
              <a:rPr sz="3600" spc="-9" dirty="0">
                <a:solidFill>
                  <a:srgbClr val="FF0000"/>
                </a:solidFill>
                <a:latin typeface="Calibri"/>
                <a:cs typeface="Calibri"/>
              </a:rPr>
              <a:t>Register</a:t>
            </a:r>
            <a:r>
              <a:rPr sz="36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spc="-9" dirty="0">
                <a:solidFill>
                  <a:srgbClr val="FF0000"/>
                </a:solidFill>
                <a:latin typeface="Calibri"/>
                <a:cs typeface="Calibri"/>
              </a:rPr>
              <a:t>allocation</a:t>
            </a:r>
            <a:endParaRPr sz="36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1013664" lvl="2" indent="-200505" defTabSz="802020">
              <a:spcBef>
                <a:spcPts val="254"/>
              </a:spcBef>
              <a:buFont typeface="Arial MT"/>
              <a:buChar char="•"/>
              <a:tabLst>
                <a:tab pos="1013664" algn="l"/>
              </a:tabLst>
            </a:pPr>
            <a:r>
              <a:rPr sz="3600" dirty="0">
                <a:latin typeface="Calibri"/>
                <a:cs typeface="Calibri"/>
              </a:rPr>
              <a:t>Decide</a:t>
            </a:r>
            <a:r>
              <a:rPr sz="3600" spc="-39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what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values</a:t>
            </a:r>
            <a:r>
              <a:rPr sz="3600" spc="-39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31" dirty="0">
                <a:latin typeface="Calibri"/>
                <a:cs typeface="Calibri"/>
              </a:rPr>
              <a:t> </a:t>
            </a:r>
            <a:r>
              <a:rPr sz="3600" spc="-9" dirty="0">
                <a:latin typeface="Calibri"/>
                <a:cs typeface="Calibri"/>
              </a:rPr>
              <a:t>keep</a:t>
            </a:r>
            <a:r>
              <a:rPr sz="3600" spc="-39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31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which</a:t>
            </a:r>
            <a:r>
              <a:rPr sz="3600" spc="-48" dirty="0">
                <a:latin typeface="Calibri"/>
                <a:cs typeface="Calibri"/>
              </a:rPr>
              <a:t> </a:t>
            </a:r>
            <a:r>
              <a:rPr sz="3600" spc="-9" dirty="0">
                <a:latin typeface="Calibri"/>
                <a:cs typeface="Calibri"/>
              </a:rPr>
              <a:t>registers</a:t>
            </a:r>
            <a:endParaRPr sz="3600" dirty="0">
              <a:latin typeface="Calibri"/>
              <a:cs typeface="Calibri"/>
            </a:endParaRPr>
          </a:p>
          <a:p>
            <a:pPr marL="611540" lvl="1" indent="-199390" defTabSz="802020">
              <a:spcBef>
                <a:spcPts val="167"/>
              </a:spcBef>
              <a:buFont typeface="Arial MT"/>
              <a:buChar char="•"/>
              <a:tabLst>
                <a:tab pos="611540" algn="l"/>
              </a:tabLst>
            </a:pPr>
            <a:r>
              <a:rPr sz="3600" dirty="0">
                <a:solidFill>
                  <a:srgbClr val="FF0000"/>
                </a:solidFill>
                <a:latin typeface="Calibri"/>
                <a:cs typeface="Calibri"/>
              </a:rPr>
              <a:t>Instruction</a:t>
            </a:r>
            <a:r>
              <a:rPr sz="3600" spc="-8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spc="-9" dirty="0">
                <a:solidFill>
                  <a:srgbClr val="FF0000"/>
                </a:solidFill>
                <a:latin typeface="Calibri"/>
                <a:cs typeface="Calibri"/>
              </a:rPr>
              <a:t>scheduling</a:t>
            </a:r>
            <a:endParaRPr sz="36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1013664" lvl="2" indent="-200505" defTabSz="802020">
              <a:spcBef>
                <a:spcPts val="246"/>
              </a:spcBef>
              <a:buFont typeface="Arial MT"/>
              <a:buChar char="•"/>
              <a:tabLst>
                <a:tab pos="1013664" algn="l"/>
              </a:tabLst>
            </a:pPr>
            <a:r>
              <a:rPr sz="3600" dirty="0">
                <a:latin typeface="Calibri"/>
                <a:cs typeface="Calibri"/>
              </a:rPr>
              <a:t>Decide</a:t>
            </a:r>
            <a:r>
              <a:rPr sz="3600" spc="-39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what</a:t>
            </a:r>
            <a:r>
              <a:rPr sz="3600" spc="-39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order</a:t>
            </a:r>
            <a:r>
              <a:rPr sz="3600" spc="-31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39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schedule</a:t>
            </a:r>
            <a:r>
              <a:rPr sz="3600" spc="-26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spc="-9" dirty="0">
                <a:latin typeface="Calibri"/>
                <a:cs typeface="Calibri"/>
              </a:rPr>
              <a:t>execution</a:t>
            </a:r>
            <a:r>
              <a:rPr sz="3600" spc="-22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39" dirty="0">
                <a:latin typeface="Calibri"/>
                <a:cs typeface="Calibri"/>
              </a:rPr>
              <a:t> </a:t>
            </a:r>
            <a:r>
              <a:rPr sz="3600" spc="-9" dirty="0">
                <a:latin typeface="Calibri"/>
                <a:cs typeface="Calibri"/>
              </a:rPr>
              <a:t>instructions</a:t>
            </a:r>
            <a:endParaRPr sz="3600" dirty="0">
              <a:latin typeface="Calibri"/>
              <a:cs typeface="Calibri"/>
            </a:endParaRPr>
          </a:p>
          <a:p>
            <a:pPr marL="211087" indent="-199948" defTabSz="802020">
              <a:spcBef>
                <a:spcPts val="539"/>
              </a:spcBef>
              <a:buFont typeface="Arial MT"/>
              <a:buChar char="•"/>
              <a:tabLst>
                <a:tab pos="211087" algn="l"/>
              </a:tabLst>
            </a:pPr>
            <a:r>
              <a:rPr sz="3600" dirty="0">
                <a:latin typeface="Calibri"/>
                <a:cs typeface="Calibri"/>
              </a:rPr>
              <a:t>Memory</a:t>
            </a:r>
            <a:r>
              <a:rPr sz="3600" spc="-66" dirty="0">
                <a:latin typeface="Calibri"/>
                <a:cs typeface="Calibri"/>
              </a:rPr>
              <a:t> </a:t>
            </a:r>
            <a:r>
              <a:rPr sz="3600" spc="-9" dirty="0">
                <a:latin typeface="Calibri"/>
                <a:cs typeface="Calibri"/>
              </a:rPr>
              <a:t>management</a:t>
            </a:r>
            <a:endParaRPr sz="3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61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958850"/>
            <a:ext cx="10539868" cy="6771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>
              <a:lnSpc>
                <a:spcPct val="100000"/>
              </a:lnSpc>
              <a:spcBef>
                <a:spcPts val="100"/>
              </a:spcBef>
            </a:pPr>
            <a:r>
              <a:rPr dirty="0"/>
              <a:t>Register</a:t>
            </a:r>
            <a:r>
              <a:rPr spc="-155" dirty="0"/>
              <a:t> </a:t>
            </a:r>
            <a:r>
              <a:rPr spc="-10" dirty="0"/>
              <a:t>Allocation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2196984"/>
            <a:ext cx="10693400" cy="3105209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55600" marR="317500" indent="-342900">
              <a:lnSpc>
                <a:spcPct val="77400"/>
              </a:lnSpc>
              <a:spcBef>
                <a:spcPts val="860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Using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registers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yields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shorter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and</a:t>
            </a:r>
            <a:r>
              <a:rPr sz="2800" spc="-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a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faster </a:t>
            </a:r>
            <a:r>
              <a:rPr sz="2800" dirty="0">
                <a:latin typeface="Tahoma"/>
                <a:cs typeface="Tahoma"/>
              </a:rPr>
              <a:t>instructions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than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using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memory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locations.</a:t>
            </a:r>
            <a:endParaRPr sz="2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ahoma"/>
              <a:buChar char="•"/>
            </a:pPr>
            <a:endParaRPr sz="28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800" dirty="0">
                <a:latin typeface="Tahoma"/>
                <a:cs typeface="Tahoma"/>
              </a:rPr>
              <a:t>The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use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registers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is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divided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into:</a:t>
            </a:r>
            <a:endParaRPr sz="2800" dirty="0">
              <a:latin typeface="Tahoma"/>
              <a:cs typeface="Tahoma"/>
            </a:endParaRPr>
          </a:p>
          <a:p>
            <a:pPr marL="1234440" marR="5080" lvl="1" indent="-307975">
              <a:lnSpc>
                <a:spcPct val="100000"/>
              </a:lnSpc>
              <a:spcBef>
                <a:spcPts val="3309"/>
              </a:spcBef>
              <a:buClr>
                <a:srgbClr val="000000"/>
              </a:buClr>
              <a:buChar char="•"/>
              <a:tabLst>
                <a:tab pos="1243965" algn="l"/>
              </a:tabLst>
            </a:pPr>
            <a:r>
              <a:rPr sz="2400" dirty="0">
                <a:solidFill>
                  <a:srgbClr val="0000FF"/>
                </a:solidFill>
                <a:latin typeface="Tahoma"/>
                <a:cs typeface="Tahoma"/>
              </a:rPr>
              <a:t>Register</a:t>
            </a:r>
            <a:r>
              <a:rPr sz="24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000FF"/>
                </a:solidFill>
                <a:latin typeface="Tahoma"/>
                <a:cs typeface="Tahoma"/>
              </a:rPr>
              <a:t>allocation:</a:t>
            </a:r>
            <a:r>
              <a:rPr sz="2400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selecting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variables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that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will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reside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in </a:t>
            </a:r>
            <a:r>
              <a:rPr sz="2400" spc="-10" dirty="0" smtClean="0">
                <a:latin typeface="Tahoma"/>
                <a:cs typeface="Tahoma"/>
              </a:rPr>
              <a:t>registers</a:t>
            </a:r>
            <a:endParaRPr sz="2400" dirty="0">
              <a:latin typeface="Tahoma"/>
              <a:cs typeface="Tahoma"/>
            </a:endParaRPr>
          </a:p>
          <a:p>
            <a:pPr marL="1154430" lvl="1" indent="-227965">
              <a:lnSpc>
                <a:spcPct val="100000"/>
              </a:lnSpc>
              <a:spcBef>
                <a:spcPts val="2400"/>
              </a:spcBef>
              <a:buChar char="•"/>
              <a:tabLst>
                <a:tab pos="1154430" algn="l"/>
              </a:tabLst>
            </a:pPr>
            <a:r>
              <a:rPr sz="2400" dirty="0">
                <a:solidFill>
                  <a:srgbClr val="0000FF"/>
                </a:solidFill>
                <a:latin typeface="Tahoma"/>
                <a:cs typeface="Tahoma"/>
              </a:rPr>
              <a:t>Register</a:t>
            </a:r>
            <a:r>
              <a:rPr sz="2400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000FF"/>
                </a:solidFill>
                <a:latin typeface="Tahoma"/>
                <a:cs typeface="Tahoma"/>
              </a:rPr>
              <a:t>assignment:</a:t>
            </a:r>
            <a:r>
              <a:rPr sz="2400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picking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up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specific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register</a:t>
            </a:r>
            <a:endParaRPr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93107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855" y="654050"/>
            <a:ext cx="48069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Target</a:t>
            </a:r>
            <a:r>
              <a:rPr spc="-90" dirty="0"/>
              <a:t> </a:t>
            </a:r>
            <a:r>
              <a:rPr spc="-10" dirty="0"/>
              <a:t>Machine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51855" y="1844198"/>
            <a:ext cx="8051165" cy="432943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82550" marR="17780">
              <a:lnSpc>
                <a:spcPts val="2800"/>
              </a:lnSpc>
              <a:spcBef>
                <a:spcPts val="260"/>
              </a:spcBef>
            </a:pPr>
            <a:r>
              <a:rPr sz="2400" dirty="0">
                <a:latin typeface="Tahoma"/>
                <a:cs typeface="Tahoma"/>
              </a:rPr>
              <a:t>In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this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course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will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consider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following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(virtual)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target machine.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24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General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Characteristics</a:t>
            </a:r>
            <a:endParaRPr sz="2400">
              <a:latin typeface="Tahoma"/>
              <a:cs typeface="Tahoma"/>
            </a:endParaRPr>
          </a:p>
          <a:p>
            <a:pPr marL="393065" indent="-342265">
              <a:lnSpc>
                <a:spcPct val="100000"/>
              </a:lnSpc>
              <a:spcBef>
                <a:spcPts val="200"/>
              </a:spcBef>
              <a:buChar char="•"/>
              <a:tabLst>
                <a:tab pos="393065" algn="l"/>
              </a:tabLst>
            </a:pPr>
            <a:r>
              <a:rPr sz="2400" spc="-10" dirty="0">
                <a:latin typeface="Tahoma"/>
                <a:cs typeface="Tahoma"/>
              </a:rPr>
              <a:t>Byte-</a:t>
            </a:r>
            <a:r>
              <a:rPr sz="2400" dirty="0">
                <a:latin typeface="Tahoma"/>
                <a:cs typeface="Tahoma"/>
              </a:rPr>
              <a:t>addressable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with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4-</a:t>
            </a:r>
            <a:r>
              <a:rPr sz="2400" dirty="0">
                <a:latin typeface="Tahoma"/>
                <a:cs typeface="Tahoma"/>
              </a:rPr>
              <a:t>byte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words</a:t>
            </a:r>
            <a:endParaRPr sz="2400">
              <a:latin typeface="Tahoma"/>
              <a:cs typeface="Tahoma"/>
            </a:endParaRPr>
          </a:p>
          <a:p>
            <a:pPr marL="393065" indent="-342265">
              <a:lnSpc>
                <a:spcPct val="100000"/>
              </a:lnSpc>
              <a:spcBef>
                <a:spcPts val="320"/>
              </a:spcBef>
              <a:buChar char="•"/>
              <a:tabLst>
                <a:tab pos="393065" algn="l"/>
              </a:tabLst>
            </a:pPr>
            <a:r>
              <a:rPr sz="2400" dirty="0">
                <a:latin typeface="Tahoma"/>
                <a:cs typeface="Tahoma"/>
              </a:rPr>
              <a:t>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general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-</a:t>
            </a:r>
            <a:r>
              <a:rPr sz="2400" dirty="0">
                <a:latin typeface="Tahoma"/>
                <a:cs typeface="Tahoma"/>
              </a:rPr>
              <a:t>purpose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registers: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R0,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R1,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…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,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</a:t>
            </a:r>
            <a:r>
              <a:rPr sz="2400" spc="-15" baseline="-20833" dirty="0">
                <a:latin typeface="Tahoma"/>
                <a:cs typeface="Tahoma"/>
              </a:rPr>
              <a:t>n-</a:t>
            </a:r>
            <a:r>
              <a:rPr sz="2400" spc="-37" baseline="-20833" dirty="0">
                <a:latin typeface="Tahoma"/>
                <a:cs typeface="Tahoma"/>
              </a:rPr>
              <a:t>1</a:t>
            </a:r>
            <a:r>
              <a:rPr sz="2400" spc="-25" dirty="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  <a:p>
            <a:pPr marL="393065" indent="-342265">
              <a:lnSpc>
                <a:spcPct val="100000"/>
              </a:lnSpc>
              <a:spcBef>
                <a:spcPts val="320"/>
              </a:spcBef>
              <a:buChar char="•"/>
              <a:tabLst>
                <a:tab pos="393065" algn="l"/>
              </a:tabLst>
            </a:pPr>
            <a:r>
              <a:rPr sz="2400" spc="-20" dirty="0">
                <a:latin typeface="Tahoma"/>
                <a:cs typeface="Tahoma"/>
              </a:rPr>
              <a:t>Two-</a:t>
            </a:r>
            <a:r>
              <a:rPr sz="2400" dirty="0">
                <a:latin typeface="Tahoma"/>
                <a:cs typeface="Tahoma"/>
              </a:rPr>
              <a:t>address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instructions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form:</a:t>
            </a:r>
            <a:endParaRPr sz="2400">
              <a:latin typeface="Tahoma"/>
              <a:cs typeface="Tahoma"/>
            </a:endParaRPr>
          </a:p>
          <a:p>
            <a:pPr marL="1574165">
              <a:lnSpc>
                <a:spcPct val="100000"/>
              </a:lnSpc>
              <a:spcBef>
                <a:spcPts val="219"/>
              </a:spcBef>
            </a:pP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op</a:t>
            </a:r>
            <a:r>
              <a:rPr sz="2400" b="1" spc="-5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source,</a:t>
            </a:r>
            <a:r>
              <a:rPr sz="2400" b="1" spc="-4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Tahoma"/>
                <a:cs typeface="Tahoma"/>
              </a:rPr>
              <a:t>destination</a:t>
            </a:r>
            <a:endParaRPr sz="2400">
              <a:latin typeface="Tahoma"/>
              <a:cs typeface="Tahoma"/>
            </a:endParaRPr>
          </a:p>
          <a:p>
            <a:pPr marL="50800" marR="168275">
              <a:lnSpc>
                <a:spcPct val="111100"/>
              </a:lnSpc>
            </a:pPr>
            <a:r>
              <a:rPr sz="2400" dirty="0">
                <a:latin typeface="Tahoma"/>
                <a:cs typeface="Tahoma"/>
              </a:rPr>
              <a:t>Where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000FF"/>
                </a:solidFill>
                <a:latin typeface="Tahoma"/>
                <a:cs typeface="Tahoma"/>
              </a:rPr>
              <a:t>op</a:t>
            </a:r>
            <a:r>
              <a:rPr sz="24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operator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code,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000FF"/>
                </a:solidFill>
                <a:latin typeface="Tahoma"/>
                <a:cs typeface="Tahoma"/>
              </a:rPr>
              <a:t>source</a:t>
            </a:r>
            <a:r>
              <a:rPr sz="2400" spc="-2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Tahoma"/>
                <a:cs typeface="Tahoma"/>
              </a:rPr>
              <a:t>destination </a:t>
            </a:r>
            <a:r>
              <a:rPr sz="2400" dirty="0">
                <a:latin typeface="Tahoma"/>
                <a:cs typeface="Tahoma"/>
              </a:rPr>
              <a:t>are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data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fields.</a:t>
            </a:r>
            <a:endParaRPr sz="24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2400" dirty="0">
                <a:latin typeface="Tahoma"/>
                <a:cs typeface="Tahoma"/>
              </a:rPr>
              <a:t>Examples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op</a:t>
            </a:r>
            <a:r>
              <a:rPr sz="2400" b="1" spc="1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are: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MOV</a:t>
            </a:r>
            <a:r>
              <a:rPr sz="2400" dirty="0">
                <a:latin typeface="Tahoma"/>
                <a:cs typeface="Tahoma"/>
              </a:rPr>
              <a:t>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ADD</a:t>
            </a:r>
            <a:r>
              <a:rPr sz="2400" dirty="0">
                <a:latin typeface="Tahoma"/>
                <a:cs typeface="Tahoma"/>
              </a:rPr>
              <a:t>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SUB</a:t>
            </a:r>
            <a:r>
              <a:rPr sz="2400" dirty="0">
                <a:latin typeface="Tahoma"/>
                <a:cs typeface="Tahoma"/>
              </a:rPr>
              <a:t>,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MUL</a:t>
            </a:r>
            <a:r>
              <a:rPr sz="2400" dirty="0">
                <a:latin typeface="Tahoma"/>
                <a:cs typeface="Tahoma"/>
              </a:rPr>
              <a:t>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DIV</a:t>
            </a:r>
            <a:r>
              <a:rPr sz="2400" dirty="0">
                <a:latin typeface="Tahoma"/>
                <a:cs typeface="Tahoma"/>
              </a:rPr>
              <a:t>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….</a:t>
            </a:r>
            <a:endParaRPr sz="24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793593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9023" y="654050"/>
            <a:ext cx="48069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Target</a:t>
            </a:r>
            <a:r>
              <a:rPr spc="-90" dirty="0"/>
              <a:t> </a:t>
            </a:r>
            <a:r>
              <a:rPr spc="-10" dirty="0"/>
              <a:t>Machine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9023" y="1909564"/>
            <a:ext cx="1651635" cy="3916679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algn="just">
              <a:lnSpc>
                <a:spcPct val="159900"/>
              </a:lnSpc>
              <a:spcBef>
                <a:spcPts val="25"/>
              </a:spcBef>
            </a:pP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MOV</a:t>
            </a:r>
            <a:r>
              <a:rPr sz="32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s,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0" dirty="0">
                <a:latin typeface="Tahoma"/>
                <a:cs typeface="Tahoma"/>
              </a:rPr>
              <a:t>d </a:t>
            </a: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ADD</a:t>
            </a:r>
            <a:r>
              <a:rPr sz="32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s,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50" dirty="0">
                <a:latin typeface="Tahoma"/>
                <a:cs typeface="Tahoma"/>
              </a:rPr>
              <a:t>d </a:t>
            </a: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SUB</a:t>
            </a:r>
            <a:r>
              <a:rPr sz="32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s,</a:t>
            </a:r>
            <a:r>
              <a:rPr sz="3200" spc="-45" dirty="0">
                <a:latin typeface="Tahoma"/>
                <a:cs typeface="Tahoma"/>
              </a:rPr>
              <a:t> </a:t>
            </a:r>
            <a:r>
              <a:rPr sz="3200" spc="-50" dirty="0">
                <a:latin typeface="Tahoma"/>
                <a:cs typeface="Tahoma"/>
              </a:rPr>
              <a:t>d </a:t>
            </a: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MUL</a:t>
            </a:r>
            <a:r>
              <a:rPr sz="32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s,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0" dirty="0">
                <a:latin typeface="Tahoma"/>
                <a:cs typeface="Tahoma"/>
              </a:rPr>
              <a:t>d </a:t>
            </a: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DIV</a:t>
            </a:r>
            <a:r>
              <a:rPr sz="32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s,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50" dirty="0">
                <a:latin typeface="Tahoma"/>
                <a:cs typeface="Tahoma"/>
              </a:rPr>
              <a:t>d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127500" y="2025650"/>
            <a:ext cx="5093506" cy="399199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173355">
              <a:lnSpc>
                <a:spcPct val="159900"/>
              </a:lnSpc>
              <a:spcBef>
                <a:spcPts val="25"/>
              </a:spcBef>
            </a:pPr>
            <a:r>
              <a:rPr b="1" dirty="0"/>
              <a:t>(move</a:t>
            </a:r>
            <a:r>
              <a:rPr b="1" spc="-50" dirty="0"/>
              <a:t> </a:t>
            </a:r>
            <a:r>
              <a:rPr b="1" dirty="0"/>
              <a:t>source</a:t>
            </a:r>
            <a:r>
              <a:rPr b="1" spc="-45" dirty="0"/>
              <a:t> </a:t>
            </a:r>
            <a:r>
              <a:rPr b="1" dirty="0"/>
              <a:t>to</a:t>
            </a:r>
            <a:r>
              <a:rPr b="1" spc="-45" dirty="0"/>
              <a:t> </a:t>
            </a:r>
            <a:r>
              <a:rPr b="1" spc="-10" dirty="0"/>
              <a:t>destination) </a:t>
            </a:r>
            <a:endParaRPr lang="en-US" b="1" spc="-10" dirty="0" smtClean="0"/>
          </a:p>
          <a:p>
            <a:pPr marL="12700" marR="5080" indent="173355">
              <a:lnSpc>
                <a:spcPct val="159900"/>
              </a:lnSpc>
              <a:spcBef>
                <a:spcPts val="25"/>
              </a:spcBef>
            </a:pPr>
            <a:endParaRPr lang="en-US" b="1" dirty="0" smtClean="0"/>
          </a:p>
          <a:p>
            <a:pPr marL="12700" marR="5080" indent="173355">
              <a:lnSpc>
                <a:spcPct val="159900"/>
              </a:lnSpc>
              <a:spcBef>
                <a:spcPts val="25"/>
              </a:spcBef>
            </a:pPr>
            <a:r>
              <a:rPr b="1" dirty="0" smtClean="0"/>
              <a:t>(</a:t>
            </a:r>
            <a:r>
              <a:rPr b="1" dirty="0"/>
              <a:t>add</a:t>
            </a:r>
            <a:r>
              <a:rPr b="1" spc="-45" dirty="0"/>
              <a:t> </a:t>
            </a:r>
            <a:r>
              <a:rPr b="1" dirty="0"/>
              <a:t>source</a:t>
            </a:r>
            <a:r>
              <a:rPr b="1" spc="-40" dirty="0"/>
              <a:t> </a:t>
            </a:r>
            <a:r>
              <a:rPr b="1" dirty="0"/>
              <a:t>to</a:t>
            </a:r>
            <a:r>
              <a:rPr b="1" spc="-35" dirty="0"/>
              <a:t> </a:t>
            </a:r>
            <a:r>
              <a:rPr b="1" spc="-10" dirty="0"/>
              <a:t>destination</a:t>
            </a:r>
            <a:r>
              <a:rPr b="1" spc="-10" dirty="0" smtClean="0"/>
              <a:t>)</a:t>
            </a:r>
            <a:endParaRPr lang="en-US" b="1" spc="-10" dirty="0" smtClean="0"/>
          </a:p>
          <a:p>
            <a:pPr marL="12700" marR="5080" indent="173355">
              <a:lnSpc>
                <a:spcPct val="159900"/>
              </a:lnSpc>
              <a:spcBef>
                <a:spcPts val="25"/>
              </a:spcBef>
            </a:pPr>
            <a:endParaRPr lang="en-US" b="1" spc="-10" dirty="0"/>
          </a:p>
          <a:p>
            <a:pPr marL="12700" marR="5080" indent="173355">
              <a:lnSpc>
                <a:spcPct val="159900"/>
              </a:lnSpc>
              <a:spcBef>
                <a:spcPts val="25"/>
              </a:spcBef>
            </a:pPr>
            <a:r>
              <a:rPr b="1" spc="-10" dirty="0" smtClean="0"/>
              <a:t> </a:t>
            </a:r>
            <a:r>
              <a:rPr b="1" dirty="0"/>
              <a:t>(subtract</a:t>
            </a:r>
            <a:r>
              <a:rPr b="1" spc="-50" dirty="0"/>
              <a:t> </a:t>
            </a:r>
            <a:r>
              <a:rPr b="1" dirty="0"/>
              <a:t>source</a:t>
            </a:r>
            <a:r>
              <a:rPr b="1" spc="-50" dirty="0"/>
              <a:t> </a:t>
            </a:r>
            <a:r>
              <a:rPr b="1" dirty="0"/>
              <a:t>from</a:t>
            </a:r>
            <a:r>
              <a:rPr b="1" spc="-50" dirty="0"/>
              <a:t> </a:t>
            </a:r>
            <a:r>
              <a:rPr b="1" spc="-10" dirty="0"/>
              <a:t>destination) </a:t>
            </a:r>
            <a:endParaRPr lang="en-US" b="1" spc="-10" dirty="0" smtClean="0"/>
          </a:p>
          <a:p>
            <a:pPr marL="12700" marR="5080" indent="173355">
              <a:lnSpc>
                <a:spcPct val="159900"/>
              </a:lnSpc>
              <a:spcBef>
                <a:spcPts val="25"/>
              </a:spcBef>
            </a:pPr>
            <a:endParaRPr lang="en-US" b="1" dirty="0" smtClean="0"/>
          </a:p>
          <a:p>
            <a:pPr marL="12700" marR="5080" indent="173355">
              <a:lnSpc>
                <a:spcPct val="159900"/>
              </a:lnSpc>
              <a:spcBef>
                <a:spcPts val="25"/>
              </a:spcBef>
            </a:pPr>
            <a:r>
              <a:rPr b="1" dirty="0" smtClean="0"/>
              <a:t>(</a:t>
            </a:r>
            <a:r>
              <a:rPr b="1" dirty="0"/>
              <a:t>multiply</a:t>
            </a:r>
            <a:r>
              <a:rPr b="1" spc="-70" dirty="0"/>
              <a:t> </a:t>
            </a:r>
            <a:r>
              <a:rPr b="1" dirty="0"/>
              <a:t>source</a:t>
            </a:r>
            <a:r>
              <a:rPr b="1" spc="-60" dirty="0"/>
              <a:t> </a:t>
            </a:r>
            <a:r>
              <a:rPr b="1" dirty="0"/>
              <a:t>to</a:t>
            </a:r>
            <a:r>
              <a:rPr b="1" spc="-65" dirty="0"/>
              <a:t> </a:t>
            </a:r>
            <a:r>
              <a:rPr b="1" spc="-10" dirty="0"/>
              <a:t>destination) </a:t>
            </a:r>
            <a:endParaRPr lang="en-US" b="1" spc="-10" dirty="0" smtClean="0"/>
          </a:p>
          <a:p>
            <a:pPr marL="12700" marR="5080" indent="173355">
              <a:lnSpc>
                <a:spcPct val="159900"/>
              </a:lnSpc>
              <a:spcBef>
                <a:spcPts val="25"/>
              </a:spcBef>
            </a:pPr>
            <a:endParaRPr lang="en-US" b="1" spc="-10" dirty="0" smtClean="0"/>
          </a:p>
          <a:p>
            <a:pPr marL="12700" marR="5080" indent="173355">
              <a:lnSpc>
                <a:spcPct val="159900"/>
              </a:lnSpc>
              <a:spcBef>
                <a:spcPts val="25"/>
              </a:spcBef>
            </a:pPr>
            <a:r>
              <a:rPr b="1" dirty="0" smtClean="0"/>
              <a:t>(</a:t>
            </a:r>
            <a:r>
              <a:rPr b="1" dirty="0"/>
              <a:t>divide</a:t>
            </a:r>
            <a:r>
              <a:rPr b="1" spc="-70" dirty="0"/>
              <a:t> </a:t>
            </a:r>
            <a:r>
              <a:rPr b="1" dirty="0"/>
              <a:t>source</a:t>
            </a:r>
            <a:r>
              <a:rPr b="1" spc="-70" dirty="0"/>
              <a:t> </a:t>
            </a:r>
            <a:r>
              <a:rPr b="1" dirty="0"/>
              <a:t>by</a:t>
            </a:r>
            <a:r>
              <a:rPr b="1" spc="-70" dirty="0"/>
              <a:t> </a:t>
            </a:r>
            <a:r>
              <a:rPr b="1" spc="-10" dirty="0"/>
              <a:t>destination)</a:t>
            </a:r>
          </a:p>
        </p:txBody>
      </p:sp>
    </p:spTree>
    <p:extLst>
      <p:ext uri="{BB962C8B-B14F-4D97-AF65-F5344CB8AC3E}">
        <p14:creationId xmlns:p14="http://schemas.microsoft.com/office/powerpoint/2010/main" val="302608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8534" y="620279"/>
            <a:ext cx="48069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Target</a:t>
            </a:r>
            <a:r>
              <a:rPr spc="-90" dirty="0"/>
              <a:t> </a:t>
            </a:r>
            <a:r>
              <a:rPr spc="-10" dirty="0"/>
              <a:t>Machine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4596" y="1674940"/>
            <a:ext cx="15538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0000FF"/>
                </a:solidFill>
                <a:latin typeface="Tahoma"/>
                <a:cs typeface="Tahoma"/>
              </a:rPr>
              <a:t>Example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25679" y="3165487"/>
            <a:ext cx="1954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Will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cause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=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89076" y="3132469"/>
            <a:ext cx="325755" cy="462280"/>
          </a:xfrm>
          <a:custGeom>
            <a:avLst/>
            <a:gdLst/>
            <a:ahLst/>
            <a:cxnLst/>
            <a:rect l="l" t="t" r="r" b="b"/>
            <a:pathLst>
              <a:path w="325754" h="462279">
                <a:moveTo>
                  <a:pt x="0" y="0"/>
                </a:moveTo>
                <a:lnTo>
                  <a:pt x="325729" y="0"/>
                </a:lnTo>
                <a:lnTo>
                  <a:pt x="325729" y="461664"/>
                </a:lnTo>
                <a:lnTo>
                  <a:pt x="0" y="46166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67816" y="3165488"/>
            <a:ext cx="161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66738" y="3888243"/>
            <a:ext cx="1209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ADD</a:t>
            </a:r>
            <a:r>
              <a:rPr sz="24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s,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30665" y="3896239"/>
            <a:ext cx="1954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Will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cause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=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94062" y="3863219"/>
            <a:ext cx="929005" cy="462280"/>
          </a:xfrm>
          <a:custGeom>
            <a:avLst/>
            <a:gdLst/>
            <a:ahLst/>
            <a:cxnLst/>
            <a:rect l="l" t="t" r="r" b="b"/>
            <a:pathLst>
              <a:path w="929004" h="462279">
                <a:moveTo>
                  <a:pt x="0" y="0"/>
                </a:moveTo>
                <a:lnTo>
                  <a:pt x="928458" y="0"/>
                </a:lnTo>
                <a:lnTo>
                  <a:pt x="928458" y="461664"/>
                </a:lnTo>
                <a:lnTo>
                  <a:pt x="0" y="46166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472803" y="3896239"/>
            <a:ext cx="734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60382" y="4653013"/>
            <a:ext cx="1162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SUB</a:t>
            </a:r>
            <a:r>
              <a:rPr sz="24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s,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4309" y="4661009"/>
            <a:ext cx="1954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Will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cause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=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87707" y="4627989"/>
            <a:ext cx="788035" cy="462280"/>
          </a:xfrm>
          <a:custGeom>
            <a:avLst/>
            <a:gdLst/>
            <a:ahLst/>
            <a:cxnLst/>
            <a:rect l="l" t="t" r="r" b="b"/>
            <a:pathLst>
              <a:path w="788034" h="462279">
                <a:moveTo>
                  <a:pt x="0" y="0"/>
                </a:moveTo>
                <a:lnTo>
                  <a:pt x="787745" y="0"/>
                </a:lnTo>
                <a:lnTo>
                  <a:pt x="787745" y="461664"/>
                </a:lnTo>
                <a:lnTo>
                  <a:pt x="0" y="46166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466446" y="4661010"/>
            <a:ext cx="622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60382" y="5458170"/>
            <a:ext cx="1199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MUL</a:t>
            </a:r>
            <a:r>
              <a:rPr sz="24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s,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24309" y="5466164"/>
            <a:ext cx="1954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Will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cause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=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387707" y="5433146"/>
            <a:ext cx="851535" cy="462280"/>
          </a:xfrm>
          <a:custGeom>
            <a:avLst/>
            <a:gdLst/>
            <a:ahLst/>
            <a:cxnLst/>
            <a:rect l="l" t="t" r="r" b="b"/>
            <a:pathLst>
              <a:path w="851534" h="462279">
                <a:moveTo>
                  <a:pt x="0" y="0"/>
                </a:moveTo>
                <a:lnTo>
                  <a:pt x="851514" y="0"/>
                </a:lnTo>
                <a:lnTo>
                  <a:pt x="851514" y="461664"/>
                </a:lnTo>
                <a:lnTo>
                  <a:pt x="0" y="46166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466446" y="5466166"/>
            <a:ext cx="678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60382" y="6229305"/>
            <a:ext cx="1115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DIV</a:t>
            </a:r>
            <a:r>
              <a:rPr sz="2400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s,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24309" y="6237300"/>
            <a:ext cx="1954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Will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cause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=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387707" y="6204281"/>
            <a:ext cx="800735" cy="462280"/>
          </a:xfrm>
          <a:custGeom>
            <a:avLst/>
            <a:gdLst/>
            <a:ahLst/>
            <a:cxnLst/>
            <a:rect l="l" t="t" r="r" b="b"/>
            <a:pathLst>
              <a:path w="800734" h="462279">
                <a:moveTo>
                  <a:pt x="0" y="0"/>
                </a:moveTo>
                <a:lnTo>
                  <a:pt x="800218" y="0"/>
                </a:lnTo>
                <a:lnTo>
                  <a:pt x="800218" y="461664"/>
                </a:lnTo>
                <a:lnTo>
                  <a:pt x="0" y="46166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466446" y="6237301"/>
            <a:ext cx="628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a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/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583201" y="2254294"/>
            <a:ext cx="346710" cy="462280"/>
          </a:xfrm>
          <a:custGeom>
            <a:avLst/>
            <a:gdLst/>
            <a:ahLst/>
            <a:cxnLst/>
            <a:rect l="l" t="t" r="r" b="b"/>
            <a:pathLst>
              <a:path w="346710" h="462280">
                <a:moveTo>
                  <a:pt x="0" y="0"/>
                </a:moveTo>
                <a:lnTo>
                  <a:pt x="346218" y="0"/>
                </a:lnTo>
                <a:lnTo>
                  <a:pt x="346218" y="461664"/>
                </a:lnTo>
                <a:lnTo>
                  <a:pt x="0" y="461664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019805" y="2287313"/>
            <a:ext cx="2827655" cy="1261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54300" algn="l"/>
              </a:tabLst>
            </a:pPr>
            <a:r>
              <a:rPr sz="2400" dirty="0">
                <a:latin typeface="Tahoma"/>
                <a:cs typeface="Tahoma"/>
              </a:rPr>
              <a:t>If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destination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=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5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2400">
              <a:latin typeface="Tahoma"/>
              <a:cs typeface="Tahoma"/>
            </a:endParaRPr>
          </a:p>
          <a:p>
            <a:pPr marL="55435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MOV</a:t>
            </a:r>
            <a:r>
              <a:rPr sz="24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s,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73225" y="2321333"/>
            <a:ext cx="6807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ahoma"/>
                <a:cs typeface="Tahoma"/>
              </a:rPr>
              <a:t>Then:</a:t>
            </a:r>
            <a:endParaRPr sz="20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2524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8534" y="620279"/>
            <a:ext cx="48069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Target</a:t>
            </a:r>
            <a:r>
              <a:rPr spc="-90" dirty="0"/>
              <a:t> </a:t>
            </a:r>
            <a:r>
              <a:rPr spc="-10" dirty="0"/>
              <a:t>Machine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1823" y="2806268"/>
            <a:ext cx="2061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MOV</a:t>
            </a:r>
            <a:r>
              <a:rPr sz="3200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R0,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50" dirty="0">
                <a:latin typeface="Tahoma"/>
                <a:cs typeface="Tahoma"/>
              </a:rPr>
              <a:t>m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68394" y="2872308"/>
            <a:ext cx="5380990" cy="80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 marR="5080" indent="-44450">
              <a:lnSpc>
                <a:spcPct val="128299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(stores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the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contents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or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register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R0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into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memory </a:t>
            </a:r>
            <a:r>
              <a:rPr sz="2000" dirty="0">
                <a:latin typeface="Tahoma"/>
                <a:cs typeface="Tahoma"/>
              </a:rPr>
              <a:t>location</a:t>
            </a:r>
            <a:r>
              <a:rPr sz="2000" spc="-7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m)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1823" y="3754704"/>
            <a:ext cx="25939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MOV</a:t>
            </a:r>
            <a:r>
              <a:rPr sz="3200" spc="-6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4(R0),</a:t>
            </a:r>
            <a:r>
              <a:rPr sz="3200" spc="-65" dirty="0">
                <a:latin typeface="Tahoma"/>
                <a:cs typeface="Tahoma"/>
              </a:rPr>
              <a:t> </a:t>
            </a:r>
            <a:r>
              <a:rPr sz="3200" spc="-50" dirty="0">
                <a:latin typeface="Tahoma"/>
                <a:cs typeface="Tahoma"/>
              </a:rPr>
              <a:t>m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01398" y="3816680"/>
            <a:ext cx="5410835" cy="815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marR="5080" indent="-66675">
              <a:lnSpc>
                <a:spcPct val="129700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(stores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the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value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contents(4+contents(R0))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into </a:t>
            </a:r>
            <a:r>
              <a:rPr sz="2000" dirty="0">
                <a:latin typeface="Tahoma"/>
                <a:cs typeface="Tahoma"/>
              </a:rPr>
              <a:t>memory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location</a:t>
            </a:r>
            <a:r>
              <a:rPr sz="2000" spc="-5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m)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1823" y="4611296"/>
            <a:ext cx="8976360" cy="97409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MOV</a:t>
            </a:r>
            <a:r>
              <a:rPr sz="32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*4(R0),</a:t>
            </a:r>
            <a:r>
              <a:rPr sz="3200" spc="-5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(stores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the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value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contents(contents(4+contents(R0)))</a:t>
            </a:r>
            <a:endParaRPr sz="2000" dirty="0">
              <a:latin typeface="Tahoma"/>
              <a:cs typeface="Tahoma"/>
            </a:endParaRPr>
          </a:p>
          <a:p>
            <a:pPr marR="153670" algn="ctr">
              <a:lnSpc>
                <a:spcPct val="100000"/>
              </a:lnSpc>
              <a:spcBef>
                <a:spcPts val="470"/>
              </a:spcBef>
            </a:pPr>
            <a:r>
              <a:rPr sz="2000" dirty="0">
                <a:latin typeface="Tahoma"/>
                <a:cs typeface="Tahoma"/>
              </a:rPr>
              <a:t>into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memory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location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m)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1823" y="6015304"/>
            <a:ext cx="22415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MOV</a:t>
            </a:r>
            <a:r>
              <a:rPr sz="3200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#n,</a:t>
            </a:r>
            <a:r>
              <a:rPr sz="3200" spc="-4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R0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49369" y="6167704"/>
            <a:ext cx="53124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(Loads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the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constant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number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n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into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register</a:t>
            </a:r>
            <a:r>
              <a:rPr sz="2000" spc="-25" dirty="0">
                <a:latin typeface="Tahoma"/>
                <a:cs typeface="Tahoma"/>
              </a:rPr>
              <a:t> R0)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1823" y="2080779"/>
            <a:ext cx="19443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00FF"/>
                </a:solidFill>
                <a:latin typeface="Tahoma"/>
                <a:cs typeface="Tahoma"/>
              </a:rPr>
              <a:t>Storing</a:t>
            </a:r>
            <a:r>
              <a:rPr sz="2000" b="1" spc="-3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Tahoma"/>
                <a:cs typeface="Tahoma"/>
              </a:rPr>
              <a:t>values: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74348" y="1991879"/>
            <a:ext cx="554418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Examples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of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storing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the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contents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of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registers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into </a:t>
            </a:r>
            <a:r>
              <a:rPr sz="2000" dirty="0">
                <a:latin typeface="Tahoma"/>
                <a:cs typeface="Tahoma"/>
              </a:rPr>
              <a:t>memory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locations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can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be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as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follows.</a:t>
            </a:r>
            <a:endParaRPr sz="20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8319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5378" y="1361405"/>
            <a:ext cx="7799227" cy="605691"/>
          </a:xfrm>
          <a:prstGeom prst="rect">
            <a:avLst/>
          </a:prstGeom>
        </p:spPr>
        <p:txBody>
          <a:bodyPr vert="horz" wrap="square" lIns="0" tIns="11696" rIns="0" bIns="0" rtlCol="0">
            <a:spAutoFit/>
          </a:bodyPr>
          <a:lstStyle/>
          <a:p>
            <a:pPr marL="11139">
              <a:spcBef>
                <a:spcPts val="92"/>
              </a:spcBef>
            </a:pPr>
            <a:r>
              <a:rPr dirty="0"/>
              <a:t>Addressing</a:t>
            </a:r>
            <a:r>
              <a:rPr spc="-75" dirty="0"/>
              <a:t> </a:t>
            </a:r>
            <a:r>
              <a:rPr spc="-9" dirty="0"/>
              <a:t>Modes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4232" y="2343775"/>
            <a:ext cx="7381788" cy="388609"/>
          </a:xfrm>
          <a:prstGeom prst="rect">
            <a:avLst/>
          </a:prstGeom>
        </p:spPr>
        <p:txBody>
          <a:bodyPr vert="horz" wrap="square" lIns="0" tIns="10582" rIns="0" bIns="0" rtlCol="0">
            <a:spAutoFit/>
          </a:bodyPr>
          <a:lstStyle/>
          <a:p>
            <a:pPr marL="211087" indent="-199948" defTabSz="802020">
              <a:spcBef>
                <a:spcPts val="83"/>
              </a:spcBef>
              <a:buFont typeface="Arial MT"/>
              <a:buChar char="•"/>
              <a:tabLst>
                <a:tab pos="211087" algn="l"/>
              </a:tabLst>
            </a:pPr>
            <a:r>
              <a:rPr sz="2456" dirty="0">
                <a:latin typeface="Calibri"/>
                <a:cs typeface="Calibri"/>
              </a:rPr>
              <a:t>Specifies</a:t>
            </a:r>
            <a:r>
              <a:rPr sz="2456" spc="-57" dirty="0">
                <a:latin typeface="Calibri"/>
                <a:cs typeface="Calibri"/>
              </a:rPr>
              <a:t> </a:t>
            </a:r>
            <a:r>
              <a:rPr sz="2456" dirty="0">
                <a:latin typeface="Calibri"/>
                <a:cs typeface="Calibri"/>
              </a:rPr>
              <a:t>how</a:t>
            </a:r>
            <a:r>
              <a:rPr sz="2456" spc="-44" dirty="0">
                <a:latin typeface="Calibri"/>
                <a:cs typeface="Calibri"/>
              </a:rPr>
              <a:t> </a:t>
            </a:r>
            <a:r>
              <a:rPr sz="2456" dirty="0">
                <a:latin typeface="Calibri"/>
                <a:cs typeface="Calibri"/>
              </a:rPr>
              <a:t>to</a:t>
            </a:r>
            <a:r>
              <a:rPr sz="2456" spc="-61" dirty="0">
                <a:latin typeface="Calibri"/>
                <a:cs typeface="Calibri"/>
              </a:rPr>
              <a:t> </a:t>
            </a:r>
            <a:r>
              <a:rPr sz="2456" spc="-9" dirty="0">
                <a:latin typeface="Calibri"/>
                <a:cs typeface="Calibri"/>
              </a:rPr>
              <a:t>interpret</a:t>
            </a:r>
            <a:r>
              <a:rPr sz="2456" spc="-53" dirty="0">
                <a:latin typeface="Calibri"/>
                <a:cs typeface="Calibri"/>
              </a:rPr>
              <a:t> </a:t>
            </a:r>
            <a:r>
              <a:rPr sz="2456" dirty="0">
                <a:latin typeface="Calibri"/>
                <a:cs typeface="Calibri"/>
              </a:rPr>
              <a:t>the</a:t>
            </a:r>
            <a:r>
              <a:rPr sz="2456" spc="-53" dirty="0">
                <a:latin typeface="Calibri"/>
                <a:cs typeface="Calibri"/>
              </a:rPr>
              <a:t> </a:t>
            </a:r>
            <a:r>
              <a:rPr sz="2456" dirty="0">
                <a:latin typeface="Calibri"/>
                <a:cs typeface="Calibri"/>
              </a:rPr>
              <a:t>operands</a:t>
            </a:r>
            <a:r>
              <a:rPr sz="2456" spc="-35" dirty="0">
                <a:latin typeface="Calibri"/>
                <a:cs typeface="Calibri"/>
              </a:rPr>
              <a:t> </a:t>
            </a:r>
            <a:r>
              <a:rPr sz="2456" dirty="0">
                <a:latin typeface="Calibri"/>
                <a:cs typeface="Calibri"/>
              </a:rPr>
              <a:t>of</a:t>
            </a:r>
            <a:r>
              <a:rPr sz="2456" spc="-61" dirty="0">
                <a:latin typeface="Calibri"/>
                <a:cs typeface="Calibri"/>
              </a:rPr>
              <a:t> </a:t>
            </a:r>
            <a:r>
              <a:rPr sz="2456" dirty="0">
                <a:latin typeface="Calibri"/>
                <a:cs typeface="Calibri"/>
              </a:rPr>
              <a:t>an</a:t>
            </a:r>
            <a:r>
              <a:rPr sz="2456" spc="-61" dirty="0">
                <a:latin typeface="Calibri"/>
                <a:cs typeface="Calibri"/>
              </a:rPr>
              <a:t> </a:t>
            </a:r>
            <a:r>
              <a:rPr sz="2456" spc="-9" dirty="0">
                <a:latin typeface="Calibri"/>
                <a:cs typeface="Calibri"/>
              </a:rPr>
              <a:t>instruction</a:t>
            </a:r>
            <a:endParaRPr sz="2456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64021" y="3136200"/>
          <a:ext cx="8354219" cy="24305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0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3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2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97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17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5359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17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Address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17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470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Example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17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97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absolute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17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spc="-50" dirty="0">
                          <a:latin typeface="Courier New"/>
                          <a:cs typeface="Courier New"/>
                        </a:rPr>
                        <a:t>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67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17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LD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R0,</a:t>
                      </a:r>
                      <a:r>
                        <a:rPr sz="1600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M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67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53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register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17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50" dirty="0">
                          <a:latin typeface="Courier New"/>
                          <a:cs typeface="Courier New"/>
                        </a:rPr>
                        <a:t>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7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17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ADD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R0,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R1,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R2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7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97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indexed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7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0" dirty="0">
                          <a:latin typeface="Courier New"/>
                          <a:cs typeface="Courier New"/>
                        </a:rPr>
                        <a:t>c(R)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7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contents(R)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7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LD</a:t>
                      </a:r>
                      <a:r>
                        <a:rPr sz="16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R1,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20" dirty="0">
                          <a:latin typeface="Courier New"/>
                          <a:cs typeface="Courier New"/>
                        </a:rPr>
                        <a:t>4(R0)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7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53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indirect</a:t>
                      </a:r>
                      <a:r>
                        <a:rPr sz="18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register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7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*R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7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contents(R)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7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LD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R1,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*R0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7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97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indirect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indexed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17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*c(R)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7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contents(c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contents(R))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17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LD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R1,</a:t>
                      </a:r>
                      <a:r>
                        <a:rPr sz="16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*100(R0)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7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53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literal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7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25" dirty="0">
                          <a:latin typeface="Courier New"/>
                          <a:cs typeface="Courier New"/>
                        </a:rPr>
                        <a:t>#c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2784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7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LD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R1,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#1</a:t>
                      </a:r>
                      <a:endParaRPr sz="1600" dirty="0">
                        <a:latin typeface="Courier New"/>
                        <a:cs typeface="Courier New"/>
                      </a:endParaRPr>
                    </a:p>
                  </a:txBody>
                  <a:tcPr marL="0" marR="0" marT="2784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0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5378" y="1361405"/>
            <a:ext cx="7799227" cy="605691"/>
          </a:xfrm>
          <a:prstGeom prst="rect">
            <a:avLst/>
          </a:prstGeom>
        </p:spPr>
        <p:txBody>
          <a:bodyPr vert="horz" wrap="square" lIns="0" tIns="11696" rIns="0" bIns="0" rtlCol="0">
            <a:spAutoFit/>
          </a:bodyPr>
          <a:lstStyle/>
          <a:p>
            <a:pPr marL="11139">
              <a:spcBef>
                <a:spcPts val="92"/>
              </a:spcBef>
            </a:pPr>
            <a:r>
              <a:rPr dirty="0"/>
              <a:t>Few</a:t>
            </a:r>
            <a:r>
              <a:rPr spc="-79" dirty="0"/>
              <a:t> </a:t>
            </a:r>
            <a:r>
              <a:rPr spc="-9" dirty="0"/>
              <a:t>Examples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29602" y="2248091"/>
          <a:ext cx="4120300" cy="10426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7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6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6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26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1683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600" spc="75" dirty="0">
                          <a:latin typeface="Cambria Math"/>
                          <a:cs typeface="Cambria Math"/>
                        </a:rPr>
                        <a:t> 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600" spc="484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00" spc="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1600" spc="-1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50" dirty="0">
                          <a:latin typeface="Cambria Math"/>
                          <a:cs typeface="Cambria Math"/>
                        </a:rPr>
                        <a:t>𝑧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15817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LD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𝑅1,</a:t>
                      </a:r>
                      <a:r>
                        <a:rPr sz="1600" spc="-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60" dirty="0">
                          <a:latin typeface="Cambria Math"/>
                          <a:cs typeface="Cambria Math"/>
                        </a:rPr>
                        <a:t>𝑦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LD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𝑅2,</a:t>
                      </a:r>
                      <a:r>
                        <a:rPr sz="1600" spc="-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50" dirty="0">
                          <a:latin typeface="Cambria Math"/>
                          <a:cs typeface="Cambria Math"/>
                        </a:rPr>
                        <a:t>𝑧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SUB 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𝑅1,</a:t>
                      </a:r>
                      <a:r>
                        <a:rPr sz="1600" spc="-9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𝑅1,</a:t>
                      </a:r>
                      <a:r>
                        <a:rPr sz="1600" spc="-8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25" dirty="0">
                          <a:latin typeface="Cambria Math"/>
                          <a:cs typeface="Cambria Math"/>
                        </a:rPr>
                        <a:t>𝑅2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ST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𝑥,</a:t>
                      </a:r>
                      <a:r>
                        <a:rPr sz="1600" spc="-7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25" dirty="0">
                          <a:latin typeface="Cambria Math"/>
                          <a:cs typeface="Cambria Math"/>
                        </a:rPr>
                        <a:t>𝑅1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284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 R1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y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 R2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z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 R1 =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R1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–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R2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</a:t>
                      </a:r>
                      <a:r>
                        <a:rPr sz="1600" spc="4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R1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67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9602" y="3664297"/>
          <a:ext cx="4119743" cy="12476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2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5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26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3652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 Math"/>
                          <a:cs typeface="Cambria Math"/>
                        </a:rPr>
                        <a:t>𝑏</a:t>
                      </a:r>
                      <a:r>
                        <a:rPr sz="1600" spc="13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=</a:t>
                      </a:r>
                      <a:r>
                        <a:rPr sz="1600" spc="9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𝑎[𝑖]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1587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LD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𝑅1,</a:t>
                      </a:r>
                      <a:r>
                        <a:rPr sz="1600" spc="-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50" dirty="0">
                          <a:latin typeface="Cambria Math"/>
                          <a:cs typeface="Cambria Math"/>
                        </a:rPr>
                        <a:t>𝑖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 marL="91440" marR="26860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MUL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𝑅1,</a:t>
                      </a:r>
                      <a:r>
                        <a:rPr sz="1600" spc="-9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𝑅1,</a:t>
                      </a:r>
                      <a:r>
                        <a:rPr sz="1600" spc="-8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50" dirty="0">
                          <a:latin typeface="Cambria Math"/>
                          <a:cs typeface="Cambria Math"/>
                        </a:rPr>
                        <a:t>8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LD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𝑅2,</a:t>
                      </a:r>
                      <a:r>
                        <a:rPr sz="1600" spc="-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𝑎(𝑅1)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𝑏,</a:t>
                      </a:r>
                      <a:r>
                        <a:rPr sz="1600" spc="-8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25" dirty="0">
                          <a:latin typeface="Cambria Math"/>
                          <a:cs typeface="Cambria Math"/>
                        </a:rPr>
                        <a:t>𝑅2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284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 R1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i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 R1 =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R1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*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8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R2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c(a +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c(R1))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7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6448676" y="3669867"/>
            <a:ext cx="1875801" cy="1042607"/>
            <a:chOff x="7352410" y="3305428"/>
            <a:chExt cx="2138680" cy="1188720"/>
          </a:xfrm>
        </p:grpSpPr>
        <p:sp>
          <p:nvSpPr>
            <p:cNvPr id="6" name="object 6"/>
            <p:cNvSpPr/>
            <p:nvPr/>
          </p:nvSpPr>
          <p:spPr>
            <a:xfrm>
              <a:off x="7352410" y="3305428"/>
              <a:ext cx="2138680" cy="1188720"/>
            </a:xfrm>
            <a:custGeom>
              <a:avLst/>
              <a:gdLst/>
              <a:ahLst/>
              <a:cxnLst/>
              <a:rect l="l" t="t" r="r" b="b"/>
              <a:pathLst>
                <a:path w="2138679" h="1188720">
                  <a:moveTo>
                    <a:pt x="2138553" y="0"/>
                  </a:moveTo>
                  <a:lnTo>
                    <a:pt x="0" y="0"/>
                  </a:lnTo>
                  <a:lnTo>
                    <a:pt x="0" y="1188720"/>
                  </a:lnTo>
                  <a:lnTo>
                    <a:pt x="2138553" y="1188720"/>
                  </a:lnTo>
                  <a:lnTo>
                    <a:pt x="2138553" y="0"/>
                  </a:lnTo>
                  <a:close/>
                </a:path>
              </a:pathLst>
            </a:custGeom>
            <a:solidFill>
              <a:srgbClr val="FFE8CA"/>
            </a:solidFill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  <p:sp>
          <p:nvSpPr>
            <p:cNvPr id="7" name="object 7"/>
            <p:cNvSpPr/>
            <p:nvPr/>
          </p:nvSpPr>
          <p:spPr>
            <a:xfrm>
              <a:off x="7863204" y="4218558"/>
              <a:ext cx="422275" cy="212090"/>
            </a:xfrm>
            <a:custGeom>
              <a:avLst/>
              <a:gdLst/>
              <a:ahLst/>
              <a:cxnLst/>
              <a:rect l="l" t="t" r="r" b="b"/>
              <a:pathLst>
                <a:path w="422275" h="212089">
                  <a:moveTo>
                    <a:pt x="354456" y="0"/>
                  </a:moveTo>
                  <a:lnTo>
                    <a:pt x="351409" y="8636"/>
                  </a:lnTo>
                  <a:lnTo>
                    <a:pt x="363694" y="13946"/>
                  </a:lnTo>
                  <a:lnTo>
                    <a:pt x="374253" y="21304"/>
                  </a:lnTo>
                  <a:lnTo>
                    <a:pt x="395644" y="55449"/>
                  </a:lnTo>
                  <a:lnTo>
                    <a:pt x="402717" y="104902"/>
                  </a:lnTo>
                  <a:lnTo>
                    <a:pt x="401931" y="123571"/>
                  </a:lnTo>
                  <a:lnTo>
                    <a:pt x="390144" y="169291"/>
                  </a:lnTo>
                  <a:lnTo>
                    <a:pt x="363837" y="197866"/>
                  </a:lnTo>
                  <a:lnTo>
                    <a:pt x="351790" y="203200"/>
                  </a:lnTo>
                  <a:lnTo>
                    <a:pt x="354456" y="211836"/>
                  </a:lnTo>
                  <a:lnTo>
                    <a:pt x="394926" y="187779"/>
                  </a:lnTo>
                  <a:lnTo>
                    <a:pt x="417655" y="143398"/>
                  </a:lnTo>
                  <a:lnTo>
                    <a:pt x="422021" y="106045"/>
                  </a:lnTo>
                  <a:lnTo>
                    <a:pt x="420939" y="86830"/>
                  </a:lnTo>
                  <a:lnTo>
                    <a:pt x="404495" y="37211"/>
                  </a:lnTo>
                  <a:lnTo>
                    <a:pt x="369812" y="5599"/>
                  </a:lnTo>
                  <a:lnTo>
                    <a:pt x="354456" y="0"/>
                  </a:lnTo>
                  <a:close/>
                </a:path>
                <a:path w="422275" h="212089">
                  <a:moveTo>
                    <a:pt x="67564" y="0"/>
                  </a:moveTo>
                  <a:lnTo>
                    <a:pt x="27219" y="24181"/>
                  </a:lnTo>
                  <a:lnTo>
                    <a:pt x="4381" y="68627"/>
                  </a:lnTo>
                  <a:lnTo>
                    <a:pt x="0" y="106045"/>
                  </a:lnTo>
                  <a:lnTo>
                    <a:pt x="986" y="123571"/>
                  </a:lnTo>
                  <a:lnTo>
                    <a:pt x="1093" y="125477"/>
                  </a:lnTo>
                  <a:lnTo>
                    <a:pt x="17399" y="174752"/>
                  </a:lnTo>
                  <a:lnTo>
                    <a:pt x="52153" y="206309"/>
                  </a:lnTo>
                  <a:lnTo>
                    <a:pt x="67564" y="211836"/>
                  </a:lnTo>
                  <a:lnTo>
                    <a:pt x="70230" y="203200"/>
                  </a:lnTo>
                  <a:lnTo>
                    <a:pt x="58183" y="197866"/>
                  </a:lnTo>
                  <a:lnTo>
                    <a:pt x="47767" y="190436"/>
                  </a:lnTo>
                  <a:lnTo>
                    <a:pt x="26376" y="155765"/>
                  </a:lnTo>
                  <a:lnTo>
                    <a:pt x="19352" y="106045"/>
                  </a:lnTo>
                  <a:lnTo>
                    <a:pt x="19303" y="104902"/>
                  </a:lnTo>
                  <a:lnTo>
                    <a:pt x="20089" y="86830"/>
                  </a:lnTo>
                  <a:lnTo>
                    <a:pt x="31876" y="42164"/>
                  </a:lnTo>
                  <a:lnTo>
                    <a:pt x="58398" y="13946"/>
                  </a:lnTo>
                  <a:lnTo>
                    <a:pt x="70612" y="8636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802020"/>
              <a:endParaRPr sz="1579"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270063" y="3664297"/>
          <a:ext cx="4682816" cy="10426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2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4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26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74955">
                        <a:lnSpc>
                          <a:spcPct val="100000"/>
                        </a:lnSpc>
                        <a:tabLst>
                          <a:tab pos="716915" algn="l"/>
                        </a:tabLst>
                      </a:pPr>
                      <a:r>
                        <a:rPr sz="1600" dirty="0">
                          <a:latin typeface="Cambria Math"/>
                          <a:cs typeface="Cambria Math"/>
                        </a:rPr>
                        <a:t>𝑎</a:t>
                      </a:r>
                      <a:r>
                        <a:rPr sz="1600" spc="28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60" dirty="0">
                          <a:latin typeface="Cambria Math"/>
                          <a:cs typeface="Cambria Math"/>
                        </a:rPr>
                        <a:t>𝑗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	=</a:t>
                      </a:r>
                      <a:r>
                        <a:rPr sz="1600" spc="9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50" dirty="0">
                          <a:latin typeface="Cambria Math"/>
                          <a:cs typeface="Cambria Math"/>
                        </a:rPr>
                        <a:t>𝑐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1587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LD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𝑅1,</a:t>
                      </a:r>
                      <a:r>
                        <a:rPr sz="1600" spc="-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50" dirty="0">
                          <a:latin typeface="Cambria Math"/>
                          <a:cs typeface="Cambria Math"/>
                        </a:rPr>
                        <a:t>𝑐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 Math"/>
                          <a:cs typeface="Cambria Math"/>
                        </a:rPr>
                        <a:t>𝐿𝐷</a:t>
                      </a:r>
                      <a:r>
                        <a:rPr sz="1600" spc="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𝑅2,</a:t>
                      </a:r>
                      <a:r>
                        <a:rPr sz="1600" spc="-9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50" dirty="0">
                          <a:latin typeface="Cambria Math"/>
                          <a:cs typeface="Cambria Math"/>
                        </a:rPr>
                        <a:t>𝑗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MUL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𝑅2,</a:t>
                      </a:r>
                      <a:r>
                        <a:rPr sz="1600" spc="-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𝑅2,</a:t>
                      </a:r>
                      <a:r>
                        <a:rPr sz="1600" spc="-8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50" dirty="0">
                          <a:latin typeface="Cambria Math"/>
                          <a:cs typeface="Cambria Math"/>
                        </a:rPr>
                        <a:t>8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ST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𝑎</a:t>
                      </a:r>
                      <a:r>
                        <a:rPr sz="1600" spc="38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𝑅2</a:t>
                      </a:r>
                      <a:r>
                        <a:rPr sz="1600" spc="35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sz="1600" spc="-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25" dirty="0">
                          <a:latin typeface="Cambria Math"/>
                          <a:cs typeface="Cambria Math"/>
                        </a:rPr>
                        <a:t>𝑅1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284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 R1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c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 R2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j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 R2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R2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*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7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5783793" y="4107962"/>
            <a:ext cx="43999" cy="187135"/>
          </a:xfrm>
          <a:custGeom>
            <a:avLst/>
            <a:gdLst/>
            <a:ahLst/>
            <a:cxnLst/>
            <a:rect l="l" t="t" r="r" b="b"/>
            <a:pathLst>
              <a:path w="50165" h="213360">
                <a:moveTo>
                  <a:pt x="49771" y="0"/>
                </a:moveTo>
                <a:lnTo>
                  <a:pt x="0" y="0"/>
                </a:lnTo>
                <a:lnTo>
                  <a:pt x="0" y="8890"/>
                </a:lnTo>
                <a:lnTo>
                  <a:pt x="31242" y="8890"/>
                </a:lnTo>
                <a:lnTo>
                  <a:pt x="31242" y="204470"/>
                </a:lnTo>
                <a:lnTo>
                  <a:pt x="0" y="204470"/>
                </a:lnTo>
                <a:lnTo>
                  <a:pt x="0" y="213360"/>
                </a:lnTo>
                <a:lnTo>
                  <a:pt x="49771" y="213360"/>
                </a:lnTo>
                <a:lnTo>
                  <a:pt x="49771" y="204470"/>
                </a:lnTo>
                <a:lnTo>
                  <a:pt x="49771" y="8890"/>
                </a:lnTo>
                <a:lnTo>
                  <a:pt x="497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802020"/>
            <a:endParaRPr sz="1579"/>
          </a:p>
        </p:txBody>
      </p:sp>
      <p:sp>
        <p:nvSpPr>
          <p:cNvPr id="10" name="object 10"/>
          <p:cNvSpPr/>
          <p:nvPr/>
        </p:nvSpPr>
        <p:spPr>
          <a:xfrm>
            <a:off x="5654804" y="4107962"/>
            <a:ext cx="43999" cy="187135"/>
          </a:xfrm>
          <a:custGeom>
            <a:avLst/>
            <a:gdLst/>
            <a:ahLst/>
            <a:cxnLst/>
            <a:rect l="l" t="t" r="r" b="b"/>
            <a:pathLst>
              <a:path w="50164" h="213360">
                <a:moveTo>
                  <a:pt x="49784" y="0"/>
                </a:moveTo>
                <a:lnTo>
                  <a:pt x="0" y="0"/>
                </a:lnTo>
                <a:lnTo>
                  <a:pt x="0" y="8890"/>
                </a:lnTo>
                <a:lnTo>
                  <a:pt x="0" y="204470"/>
                </a:lnTo>
                <a:lnTo>
                  <a:pt x="0" y="213360"/>
                </a:lnTo>
                <a:lnTo>
                  <a:pt x="49784" y="213360"/>
                </a:lnTo>
                <a:lnTo>
                  <a:pt x="49784" y="204470"/>
                </a:lnTo>
                <a:lnTo>
                  <a:pt x="18542" y="204470"/>
                </a:lnTo>
                <a:lnTo>
                  <a:pt x="18542" y="8890"/>
                </a:lnTo>
                <a:lnTo>
                  <a:pt x="49784" y="8890"/>
                </a:lnTo>
                <a:lnTo>
                  <a:pt x="497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802020"/>
            <a:endParaRPr sz="1579"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29602" y="5080617"/>
          <a:ext cx="4119187" cy="10426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26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600" spc="14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=∗ </a:t>
                      </a:r>
                      <a:r>
                        <a:rPr sz="1600" spc="-50" dirty="0">
                          <a:latin typeface="Cambria Math"/>
                          <a:cs typeface="Cambria Math"/>
                        </a:rPr>
                        <a:t>𝑝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15928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LD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𝑅1,</a:t>
                      </a:r>
                      <a:r>
                        <a:rPr sz="1600" spc="-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60" dirty="0">
                          <a:latin typeface="Cambria Math"/>
                          <a:cs typeface="Cambria Math"/>
                        </a:rPr>
                        <a:t>𝑝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 Math"/>
                          <a:cs typeface="Cambria Math"/>
                        </a:rPr>
                        <a:t>𝐿𝐷</a:t>
                      </a:r>
                      <a:r>
                        <a:rPr sz="1600" spc="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𝑅2,</a:t>
                      </a:r>
                      <a:r>
                        <a:rPr sz="1600" spc="-9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0(𝑅1)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ST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𝑥,</a:t>
                      </a:r>
                      <a:r>
                        <a:rPr sz="1600" spc="-7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25" dirty="0">
                          <a:latin typeface="Cambria Math"/>
                          <a:cs typeface="Cambria Math"/>
                        </a:rPr>
                        <a:t>𝑅2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2896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 R1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p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 R2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c(0+c(R1)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 x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R2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7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5270063" y="5080617"/>
          <a:ext cx="4682817" cy="10426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3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5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26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8608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600" spc="14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=∗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50" dirty="0">
                          <a:latin typeface="Cambria Math"/>
                          <a:cs typeface="Cambria Math"/>
                        </a:rPr>
                        <a:t>𝑝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15928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LD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𝑅1,</a:t>
                      </a:r>
                      <a:r>
                        <a:rPr sz="1600" spc="-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60" dirty="0">
                          <a:latin typeface="Cambria Math"/>
                          <a:cs typeface="Cambria Math"/>
                        </a:rPr>
                        <a:t>𝑝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 Math"/>
                          <a:cs typeface="Cambria Math"/>
                        </a:rPr>
                        <a:t>𝐿𝐷</a:t>
                      </a:r>
                      <a:r>
                        <a:rPr sz="1600" spc="3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𝑅2,</a:t>
                      </a:r>
                      <a:r>
                        <a:rPr sz="1600" spc="-9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0(𝑅1)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ST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𝑥,</a:t>
                      </a:r>
                      <a:r>
                        <a:rPr sz="1600" spc="-7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25" dirty="0">
                          <a:latin typeface="Cambria Math"/>
                          <a:cs typeface="Cambria Math"/>
                        </a:rPr>
                        <a:t>𝑅2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2896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 R1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p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 R2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y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c(0+c(R1)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R2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7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270064" y="2248091"/>
          <a:ext cx="4682818" cy="10426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7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9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26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  <a:p>
                      <a:pPr marL="1803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𝑥</a:t>
                      </a:r>
                      <a:r>
                        <a:rPr sz="1600" spc="15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&lt;</a:t>
                      </a:r>
                      <a:r>
                        <a:rPr sz="1600" spc="50" dirty="0">
                          <a:latin typeface="Cambria Math"/>
                          <a:cs typeface="Cambria Math"/>
                        </a:rPr>
                        <a:t> 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𝑦</a:t>
                      </a:r>
                      <a:r>
                        <a:rPr sz="1600" spc="3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goto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mbria Math"/>
                          <a:cs typeface="Cambria Math"/>
                        </a:rPr>
                        <a:t>𝐿</a:t>
                      </a:r>
                      <a:endParaRPr sz="1600" dirty="0">
                        <a:latin typeface="Cambria Math"/>
                        <a:cs typeface="Cambria Math"/>
                      </a:endParaRPr>
                    </a:p>
                  </a:txBody>
                  <a:tcPr marL="0" marR="0" marT="15817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LD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𝑅1,</a:t>
                      </a:r>
                      <a:r>
                        <a:rPr sz="1600" spc="-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50" dirty="0">
                          <a:latin typeface="Cambria Math"/>
                          <a:cs typeface="Cambria Math"/>
                        </a:rPr>
                        <a:t>𝑥</a:t>
                      </a:r>
                      <a:endParaRPr sz="1600" dirty="0">
                        <a:latin typeface="Cambria Math"/>
                        <a:cs typeface="Cambria Math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LD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𝑅2,</a:t>
                      </a:r>
                      <a:r>
                        <a:rPr sz="1600" spc="-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60" dirty="0">
                          <a:latin typeface="Cambria Math"/>
                          <a:cs typeface="Cambria Math"/>
                        </a:rPr>
                        <a:t>𝑦</a:t>
                      </a:r>
                      <a:endParaRPr sz="1600" dirty="0">
                        <a:latin typeface="Cambria Math"/>
                        <a:cs typeface="Cambria Math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SUB</a:t>
                      </a:r>
                      <a:r>
                        <a:rPr sz="16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𝑅1,</a:t>
                      </a:r>
                      <a:r>
                        <a:rPr sz="1600" spc="-8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𝑅1,</a:t>
                      </a:r>
                      <a:r>
                        <a:rPr sz="1600" spc="-8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25" dirty="0">
                          <a:latin typeface="Cambria Math"/>
                          <a:cs typeface="Cambria Math"/>
                        </a:rPr>
                        <a:t>𝑅2</a:t>
                      </a:r>
                      <a:endParaRPr sz="1600" dirty="0">
                        <a:latin typeface="Cambria Math"/>
                        <a:cs typeface="Cambria Math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BLTZ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mbria Math"/>
                          <a:cs typeface="Cambria Math"/>
                        </a:rPr>
                        <a:t>𝑅1,</a:t>
                      </a:r>
                      <a:r>
                        <a:rPr sz="1600" spc="-9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50" dirty="0">
                          <a:latin typeface="Cambria Math"/>
                          <a:cs typeface="Cambria Math"/>
                        </a:rPr>
                        <a:t>𝑀</a:t>
                      </a:r>
                      <a:endParaRPr sz="1600" dirty="0">
                        <a:latin typeface="Cambria Math"/>
                        <a:cs typeface="Cambria Math"/>
                      </a:endParaRPr>
                    </a:p>
                  </a:txBody>
                  <a:tcPr marL="0" marR="0" marT="284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 R1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x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 R2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y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 R1 =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R1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–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R2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 if R1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&lt;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JMP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M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267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692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2" y="891842"/>
            <a:ext cx="4578044" cy="688919"/>
          </a:xfrm>
          <a:prstGeom prst="rect">
            <a:avLst/>
          </a:prstGeom>
        </p:spPr>
        <p:txBody>
          <a:bodyPr vert="horz" wrap="square" lIns="0" tIns="11696" rIns="0" bIns="0" rtlCol="0">
            <a:spAutoFit/>
          </a:bodyPr>
          <a:lstStyle/>
          <a:p>
            <a:pPr marL="11139">
              <a:spcBef>
                <a:spcPts val="92"/>
              </a:spcBef>
            </a:pPr>
            <a:r>
              <a:rPr dirty="0"/>
              <a:t>Stack</a:t>
            </a:r>
            <a:r>
              <a:rPr spc="-53" dirty="0"/>
              <a:t> </a:t>
            </a:r>
            <a:r>
              <a:rPr spc="-9" dirty="0"/>
              <a:t>Allocation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189974" y="1186436"/>
          <a:ext cx="2282930" cy="518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2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490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3AC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2278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4341">
                <a:tc>
                  <a:txBody>
                    <a:bodyPr/>
                    <a:lstStyle/>
                    <a:p>
                      <a:pPr marL="847090" marR="403860" indent="-43180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code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for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s 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action</a:t>
                      </a:r>
                      <a:r>
                        <a:rPr sz="1600" spc="-15" baseline="-20833" dirty="0">
                          <a:latin typeface="Courier New"/>
                          <a:cs typeface="Courier New"/>
                        </a:rPr>
                        <a:t>1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call</a:t>
                      </a:r>
                      <a:r>
                        <a:rPr sz="16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q 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action</a:t>
                      </a:r>
                      <a:r>
                        <a:rPr sz="1600" spc="-15" baseline="-20833" dirty="0">
                          <a:latin typeface="Courier New"/>
                          <a:cs typeface="Courier New"/>
                        </a:rPr>
                        <a:t>2</a:t>
                      </a:r>
                      <a:endParaRPr sz="1600" baseline="-20833">
                        <a:latin typeface="Courier New"/>
                        <a:cs typeface="Courier New"/>
                      </a:endParaRPr>
                    </a:p>
                    <a:p>
                      <a:pPr marL="1029969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Courier New"/>
                          <a:cs typeface="Courier New"/>
                        </a:rPr>
                        <a:t>halt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14202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838">
                <a:tc>
                  <a:txBody>
                    <a:bodyPr/>
                    <a:lstStyle/>
                    <a:p>
                      <a:pPr marL="414020" marR="40513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code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for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p 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action</a:t>
                      </a:r>
                      <a:r>
                        <a:rPr sz="1600" spc="-15" baseline="-20833" dirty="0">
                          <a:latin typeface="Courier New"/>
                          <a:cs typeface="Courier New"/>
                        </a:rPr>
                        <a:t>3 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return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2428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3010">
                <a:tc>
                  <a:txBody>
                    <a:bodyPr/>
                    <a:lstStyle/>
                    <a:p>
                      <a:pPr marL="847090" marR="403860" indent="-43180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code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for</a:t>
                      </a:r>
                      <a:r>
                        <a:rPr sz="16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q 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action</a:t>
                      </a:r>
                      <a:r>
                        <a:rPr sz="1600" spc="-15" baseline="-20833" dirty="0">
                          <a:latin typeface="Courier New"/>
                          <a:cs typeface="Courier New"/>
                        </a:rPr>
                        <a:t>4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call</a:t>
                      </a:r>
                      <a:r>
                        <a:rPr sz="1600" spc="-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p 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action</a:t>
                      </a:r>
                      <a:r>
                        <a:rPr sz="1600" spc="-15" baseline="-20833" dirty="0">
                          <a:latin typeface="Courier New"/>
                          <a:cs typeface="Courier New"/>
                        </a:rPr>
                        <a:t>5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call</a:t>
                      </a:r>
                      <a:r>
                        <a:rPr sz="16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q 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action</a:t>
                      </a:r>
                      <a:r>
                        <a:rPr sz="1600" spc="-15" baseline="-20833" dirty="0">
                          <a:latin typeface="Courier New"/>
                          <a:cs typeface="Courier New"/>
                        </a:rPr>
                        <a:t>6 </a:t>
                      </a:r>
                      <a:r>
                        <a:rPr sz="1600" dirty="0">
                          <a:latin typeface="Courier New"/>
                          <a:cs typeface="Courier New"/>
                        </a:rPr>
                        <a:t>call</a:t>
                      </a:r>
                      <a:r>
                        <a:rPr sz="16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spc="-50" dirty="0">
                          <a:latin typeface="Courier New"/>
                          <a:cs typeface="Courier New"/>
                        </a:rPr>
                        <a:t>q 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return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7128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56910"/>
              </p:ext>
            </p:extLst>
          </p:nvPr>
        </p:nvGraphicFramePr>
        <p:xfrm>
          <a:off x="8661" y="2208222"/>
          <a:ext cx="6121068" cy="11841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7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3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r>
                        <a:rPr sz="16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first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procedure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896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005">
                <a:tc>
                  <a:txBody>
                    <a:bodyPr/>
                    <a:lstStyle/>
                    <a:p>
                      <a:pPr marL="91440">
                        <a:lnSpc>
                          <a:spcPts val="2155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LD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SP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sz="1600" spc="-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#𝑠𝑡𝑎𝑐𝑘𝑆𝑡𝑎𝑟𝑡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  <a:p>
                      <a:pPr marL="91440" marR="2734310">
                        <a:lnSpc>
                          <a:spcPts val="2170"/>
                        </a:lnSpc>
                        <a:spcBef>
                          <a:spcPts val="55"/>
                        </a:spcBef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code HALT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84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initialize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stack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terminate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execution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267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030073"/>
              </p:ext>
            </p:extLst>
          </p:nvPr>
        </p:nvGraphicFramePr>
        <p:xfrm>
          <a:off x="0" y="3421023"/>
          <a:ext cx="6209968" cy="11267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18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701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r>
                        <a:rPr sz="16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procedure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call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951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0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16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SP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sz="1600" spc="-8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SP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sz="1600" spc="-8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#𝑐𝑎𝑙𝑙𝑒𝑟.</a:t>
                      </a:r>
                      <a:r>
                        <a:rPr sz="1600" spc="-8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𝑟𝑒𝑐𝑜𝑟𝑑𝑆𝑖𝑧𝑒</a:t>
                      </a:r>
                      <a:endParaRPr sz="1600" dirty="0">
                        <a:latin typeface="Cambria Math"/>
                        <a:cs typeface="Cambria Math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ST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∗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SP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,</a:t>
                      </a:r>
                      <a:r>
                        <a:rPr sz="1600" spc="-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#ℎ𝑒𝑟𝑒</a:t>
                      </a:r>
                      <a:r>
                        <a:rPr sz="1600" spc="2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+</a:t>
                      </a:r>
                      <a:r>
                        <a:rPr sz="1600" spc="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25" dirty="0">
                          <a:latin typeface="Cambria Math"/>
                          <a:cs typeface="Cambria Math"/>
                        </a:rPr>
                        <a:t>16</a:t>
                      </a:r>
                      <a:endParaRPr sz="1600" dirty="0">
                        <a:latin typeface="Cambria Math"/>
                        <a:cs typeface="Cambria Math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BR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𝑐𝑎𝑙𝑙𝑒𝑒.</a:t>
                      </a:r>
                      <a:r>
                        <a:rPr sz="1600" spc="-95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𝑐𝑜𝑑𝑒𝐴𝑟𝑒𝑎</a:t>
                      </a:r>
                      <a:endParaRPr sz="1600" dirty="0">
                        <a:latin typeface="Cambria Math"/>
                        <a:cs typeface="Cambria Math"/>
                      </a:endParaRPr>
                    </a:p>
                  </a:txBody>
                  <a:tcPr marL="0" marR="0" marT="2840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increment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stack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pointer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save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pointer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return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caller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27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475151"/>
              </p:ext>
            </p:extLst>
          </p:nvPr>
        </p:nvGraphicFramePr>
        <p:xfrm>
          <a:off x="-1155" y="4547729"/>
          <a:ext cx="6121067" cy="6499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0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701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return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sequence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callee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2951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25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BR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∗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0(SP)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28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return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caller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27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823011"/>
              </p:ext>
            </p:extLst>
          </p:nvPr>
        </p:nvGraphicFramePr>
        <p:xfrm>
          <a:off x="44452" y="5197688"/>
          <a:ext cx="6209968" cy="20831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18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0666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return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sequence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caller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2951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45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SUB SP,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SP, </a:t>
                      </a:r>
                      <a:r>
                        <a:rPr sz="1600" dirty="0">
                          <a:latin typeface="Cambria Math"/>
                          <a:cs typeface="Cambria Math"/>
                        </a:rPr>
                        <a:t>#𝑐𝑎𝑙𝑙𝑒𝑟.</a:t>
                      </a:r>
                      <a:r>
                        <a:rPr sz="1600" spc="-90" dirty="0">
                          <a:latin typeface="Cambria Math"/>
                          <a:cs typeface="Cambria Math"/>
                        </a:rPr>
                        <a:t> </a:t>
                      </a:r>
                      <a:r>
                        <a:rPr sz="1600" spc="-10" dirty="0">
                          <a:latin typeface="Cambria Math"/>
                          <a:cs typeface="Cambria Math"/>
                        </a:rPr>
                        <a:t>𝑟𝑒𝑐𝑜𝑟𝑑𝑆𝑖𝑧𝑒</a:t>
                      </a:r>
                      <a:endParaRPr sz="1600">
                        <a:latin typeface="Cambria Math"/>
                        <a:cs typeface="Cambria Math"/>
                      </a:endParaRPr>
                    </a:p>
                  </a:txBody>
                  <a:tcPr marL="0" marR="0" marT="28961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//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decrement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stack</a:t>
                      </a:r>
                      <a:r>
                        <a:rPr sz="1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pointer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2784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536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075936"/>
          </a:xfrm>
          <a:prstGeom prst="rect">
            <a:avLst/>
          </a:prstGeom>
        </p:spPr>
        <p:txBody>
          <a:bodyPr vert="horz" wrap="square" lIns="0" tIns="516890" rIns="0" bIns="0" rtlCol="0">
            <a:spAutoFit/>
          </a:bodyPr>
          <a:lstStyle/>
          <a:p>
            <a:pPr marL="840740">
              <a:spcBef>
                <a:spcPts val="100"/>
              </a:spcBef>
            </a:pPr>
            <a:r>
              <a:rPr sz="3600" spc="245" dirty="0"/>
              <a:t>The</a:t>
            </a:r>
            <a:r>
              <a:rPr sz="3600" spc="290" dirty="0"/>
              <a:t> </a:t>
            </a:r>
            <a:r>
              <a:rPr sz="3600" spc="285" dirty="0"/>
              <a:t>Challenges</a:t>
            </a:r>
            <a:r>
              <a:rPr sz="3600" spc="290" dirty="0"/>
              <a:t> </a:t>
            </a:r>
            <a:r>
              <a:rPr sz="3600" spc="180" dirty="0"/>
              <a:t>of</a:t>
            </a:r>
            <a:r>
              <a:rPr sz="3600" spc="285" dirty="0"/>
              <a:t> </a:t>
            </a:r>
            <a:r>
              <a:rPr sz="3600" spc="310" dirty="0"/>
              <a:t>Code</a:t>
            </a:r>
            <a:r>
              <a:rPr sz="3600" spc="285" dirty="0"/>
              <a:t> </a:t>
            </a:r>
            <a:r>
              <a:rPr sz="3600" spc="229" dirty="0"/>
              <a:t>Generation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95351" y="1856740"/>
            <a:ext cx="158115" cy="2141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300" spc="20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3800" y="1728470"/>
            <a:ext cx="8439150" cy="90805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3420"/>
              </a:lnSpc>
              <a:spcBef>
                <a:spcPts val="300"/>
              </a:spcBef>
            </a:pPr>
            <a:r>
              <a:rPr sz="2950" spc="155" dirty="0">
                <a:solidFill>
                  <a:srgbClr val="191919"/>
                </a:solidFill>
                <a:latin typeface="Georgia"/>
                <a:cs typeface="Georgia"/>
              </a:rPr>
              <a:t>Almost</a:t>
            </a:r>
            <a:r>
              <a:rPr sz="2950" spc="22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950" spc="135" dirty="0">
                <a:solidFill>
                  <a:srgbClr val="191919"/>
                </a:solidFill>
                <a:latin typeface="Georgia"/>
                <a:cs typeface="Georgia"/>
              </a:rPr>
              <a:t>all</a:t>
            </a:r>
            <a:r>
              <a:rPr sz="2950" spc="229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950" spc="204" dirty="0">
                <a:solidFill>
                  <a:srgbClr val="191919"/>
                </a:solidFill>
                <a:latin typeface="Georgia"/>
                <a:cs typeface="Georgia"/>
              </a:rPr>
              <a:t>programming</a:t>
            </a:r>
            <a:r>
              <a:rPr sz="2950" spc="23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950" spc="240" dirty="0">
                <a:solidFill>
                  <a:srgbClr val="191919"/>
                </a:solidFill>
                <a:latin typeface="Georgia"/>
                <a:cs typeface="Georgia"/>
              </a:rPr>
              <a:t>languages</a:t>
            </a:r>
            <a:r>
              <a:rPr sz="2950" spc="229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950" spc="225" dirty="0">
                <a:solidFill>
                  <a:srgbClr val="191919"/>
                </a:solidFill>
                <a:latin typeface="Georgia"/>
                <a:cs typeface="Georgia"/>
              </a:rPr>
              <a:t>expose</a:t>
            </a:r>
            <a:r>
              <a:rPr sz="2950" spc="24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950" spc="200" dirty="0">
                <a:solidFill>
                  <a:srgbClr val="191919"/>
                </a:solidFill>
                <a:latin typeface="Georgia"/>
                <a:cs typeface="Georgia"/>
              </a:rPr>
              <a:t>a </a:t>
            </a:r>
            <a:r>
              <a:rPr sz="2950" spc="240" dirty="0">
                <a:solidFill>
                  <a:srgbClr val="191919"/>
                </a:solidFill>
                <a:latin typeface="Georgia"/>
                <a:cs typeface="Georgia"/>
              </a:rPr>
              <a:t>coarse</a:t>
            </a:r>
            <a:r>
              <a:rPr sz="2950" spc="20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950" spc="220" dirty="0">
                <a:solidFill>
                  <a:srgbClr val="191919"/>
                </a:solidFill>
                <a:latin typeface="Georgia"/>
                <a:cs typeface="Georgia"/>
              </a:rPr>
              <a:t>view </a:t>
            </a:r>
            <a:r>
              <a:rPr sz="2950" spc="150" dirty="0">
                <a:solidFill>
                  <a:srgbClr val="191919"/>
                </a:solidFill>
                <a:latin typeface="Georgia"/>
                <a:cs typeface="Georgia"/>
              </a:rPr>
              <a:t>of</a:t>
            </a:r>
            <a:r>
              <a:rPr sz="2950" spc="22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950" spc="210" dirty="0">
                <a:solidFill>
                  <a:srgbClr val="191919"/>
                </a:solidFill>
                <a:latin typeface="Georgia"/>
                <a:cs typeface="Georgia"/>
              </a:rPr>
              <a:t>the</a:t>
            </a:r>
            <a:r>
              <a:rPr sz="2950" spc="22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950" spc="195" dirty="0">
                <a:solidFill>
                  <a:srgbClr val="191919"/>
                </a:solidFill>
                <a:latin typeface="Georgia"/>
                <a:cs typeface="Georgia"/>
              </a:rPr>
              <a:t>memory</a:t>
            </a:r>
            <a:r>
              <a:rPr sz="2950" spc="21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950" spc="175" dirty="0">
                <a:solidFill>
                  <a:srgbClr val="191919"/>
                </a:solidFill>
                <a:latin typeface="Georgia"/>
                <a:cs typeface="Georgia"/>
              </a:rPr>
              <a:t>hierarchy:</a:t>
            </a:r>
            <a:endParaRPr sz="295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2861" y="2877820"/>
            <a:ext cx="14160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50" spc="16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4800" y="2510983"/>
            <a:ext cx="7865109" cy="1442061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2700">
              <a:spcBef>
                <a:spcPts val="1065"/>
              </a:spcBef>
            </a:pPr>
            <a:r>
              <a:rPr sz="2550" b="1" spc="100" dirty="0">
                <a:solidFill>
                  <a:srgbClr val="FF0000"/>
                </a:solidFill>
                <a:latin typeface="Georgia"/>
                <a:cs typeface="Georgia"/>
              </a:rPr>
              <a:t>All</a:t>
            </a:r>
            <a:r>
              <a:rPr sz="2550" b="1" spc="21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180" dirty="0">
                <a:solidFill>
                  <a:srgbClr val="FF0000"/>
                </a:solidFill>
                <a:latin typeface="Georgia"/>
                <a:cs typeface="Georgia"/>
              </a:rPr>
              <a:t>variables</a:t>
            </a:r>
            <a:r>
              <a:rPr sz="2550" b="1" spc="22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145" dirty="0">
                <a:solidFill>
                  <a:srgbClr val="FF0000"/>
                </a:solidFill>
                <a:latin typeface="Georgia"/>
                <a:cs typeface="Georgia"/>
              </a:rPr>
              <a:t>live</a:t>
            </a:r>
            <a:r>
              <a:rPr sz="2550" b="1" spc="21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95" dirty="0">
                <a:solidFill>
                  <a:srgbClr val="FF0000"/>
                </a:solidFill>
                <a:latin typeface="Georgia"/>
                <a:cs typeface="Georgia"/>
              </a:rPr>
              <a:t>in</a:t>
            </a:r>
            <a:r>
              <a:rPr sz="2550" b="1" spc="2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145" dirty="0">
                <a:solidFill>
                  <a:srgbClr val="FF0000"/>
                </a:solidFill>
                <a:latin typeface="Georgia"/>
                <a:cs typeface="Georgia"/>
              </a:rPr>
              <a:t>“memory.”</a:t>
            </a:r>
            <a:endParaRPr sz="2550" b="1" dirty="0">
              <a:solidFill>
                <a:srgbClr val="FF0000"/>
              </a:solidFill>
              <a:latin typeface="Georgia"/>
              <a:cs typeface="Georgia"/>
            </a:endParaRPr>
          </a:p>
          <a:p>
            <a:pPr marL="12700">
              <a:spcBef>
                <a:spcPts val="969"/>
              </a:spcBef>
            </a:pPr>
            <a:r>
              <a:rPr sz="2550" b="1" spc="150" dirty="0">
                <a:solidFill>
                  <a:srgbClr val="FF0000"/>
                </a:solidFill>
                <a:latin typeface="Georgia"/>
                <a:cs typeface="Georgia"/>
              </a:rPr>
              <a:t>Disk</a:t>
            </a:r>
            <a:r>
              <a:rPr sz="2550" b="1" spc="19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185" dirty="0">
                <a:solidFill>
                  <a:srgbClr val="FF0000"/>
                </a:solidFill>
                <a:latin typeface="Georgia"/>
                <a:cs typeface="Georgia"/>
              </a:rPr>
              <a:t>and</a:t>
            </a:r>
            <a:r>
              <a:rPr sz="2550" b="1" spc="2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195" dirty="0">
                <a:solidFill>
                  <a:srgbClr val="FF0000"/>
                </a:solidFill>
                <a:latin typeface="Georgia"/>
                <a:cs typeface="Georgia"/>
              </a:rPr>
              <a:t>network</a:t>
            </a:r>
            <a:r>
              <a:rPr sz="2550" b="1" spc="2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145" dirty="0">
                <a:solidFill>
                  <a:srgbClr val="FF0000"/>
                </a:solidFill>
                <a:latin typeface="Georgia"/>
                <a:cs typeface="Georgia"/>
              </a:rPr>
              <a:t>explicitly</a:t>
            </a:r>
            <a:r>
              <a:rPr sz="2550" b="1" spc="2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175" dirty="0">
                <a:solidFill>
                  <a:srgbClr val="FF0000"/>
                </a:solidFill>
                <a:latin typeface="Georgia"/>
                <a:cs typeface="Georgia"/>
              </a:rPr>
              <a:t>handled</a:t>
            </a:r>
            <a:r>
              <a:rPr sz="2550" b="1" spc="20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550" b="1" spc="155" dirty="0">
                <a:solidFill>
                  <a:srgbClr val="FF0000"/>
                </a:solidFill>
                <a:latin typeface="Georgia"/>
                <a:cs typeface="Georgia"/>
              </a:rPr>
              <a:t>separately</a:t>
            </a:r>
            <a:r>
              <a:rPr sz="2550" spc="155" dirty="0">
                <a:solidFill>
                  <a:srgbClr val="191919"/>
                </a:solidFill>
                <a:latin typeface="Georgia"/>
                <a:cs typeface="Georgia"/>
              </a:rPr>
              <a:t>.</a:t>
            </a:r>
            <a:endParaRPr sz="2550" dirty="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2861" y="3389629"/>
            <a:ext cx="14160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50" spc="16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5351" y="3917951"/>
            <a:ext cx="158115" cy="2141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300" spc="20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3801" y="3792220"/>
            <a:ext cx="8203565" cy="10682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3479"/>
              </a:lnSpc>
              <a:spcBef>
                <a:spcPts val="90"/>
              </a:spcBef>
            </a:pPr>
            <a:endParaRPr sz="2950" dirty="0">
              <a:latin typeface="Georgia"/>
              <a:cs typeface="Georgia"/>
            </a:endParaRPr>
          </a:p>
          <a:p>
            <a:pPr marL="12700">
              <a:spcBef>
                <a:spcPts val="1180"/>
              </a:spcBef>
            </a:pPr>
            <a:r>
              <a:rPr sz="2950" spc="220" dirty="0">
                <a:solidFill>
                  <a:srgbClr val="191919"/>
                </a:solidFill>
                <a:latin typeface="Georgia"/>
                <a:cs typeface="Georgia"/>
              </a:rPr>
              <a:t>Challenges</a:t>
            </a:r>
            <a:r>
              <a:rPr sz="2950" spc="23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950" spc="100" dirty="0">
                <a:solidFill>
                  <a:srgbClr val="191919"/>
                </a:solidFill>
                <a:latin typeface="Georgia"/>
                <a:cs typeface="Georgia"/>
              </a:rPr>
              <a:t>in</a:t>
            </a:r>
            <a:r>
              <a:rPr sz="2950" spc="24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950" spc="235" dirty="0">
                <a:solidFill>
                  <a:srgbClr val="191919"/>
                </a:solidFill>
                <a:latin typeface="Georgia"/>
                <a:cs typeface="Georgia"/>
              </a:rPr>
              <a:t>code</a:t>
            </a:r>
            <a:r>
              <a:rPr sz="2950" spc="24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950" spc="185" dirty="0">
                <a:solidFill>
                  <a:srgbClr val="191919"/>
                </a:solidFill>
                <a:latin typeface="Georgia"/>
                <a:cs typeface="Georgia"/>
              </a:rPr>
              <a:t>generation:</a:t>
            </a:r>
            <a:endParaRPr sz="2950" dirty="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5351" y="4954271"/>
            <a:ext cx="158115" cy="2141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300" spc="20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2861" y="5541009"/>
            <a:ext cx="14160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endParaRPr sz="115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03680" y="4887276"/>
            <a:ext cx="7583805" cy="130746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2980"/>
              </a:lnSpc>
              <a:spcBef>
                <a:spcPts val="285"/>
              </a:spcBef>
            </a:pPr>
            <a:r>
              <a:rPr sz="2550" spc="120" dirty="0">
                <a:solidFill>
                  <a:srgbClr val="191919"/>
                </a:solidFill>
                <a:latin typeface="Georgia"/>
                <a:cs typeface="Georgia"/>
              </a:rPr>
              <a:t>Position</a:t>
            </a:r>
            <a:r>
              <a:rPr sz="2550" spc="20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85" dirty="0">
                <a:solidFill>
                  <a:srgbClr val="191919"/>
                </a:solidFill>
                <a:latin typeface="Georgia"/>
                <a:cs typeface="Georgia"/>
              </a:rPr>
              <a:t>objects</a:t>
            </a:r>
            <a:r>
              <a:rPr sz="2550" spc="21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90" dirty="0">
                <a:solidFill>
                  <a:srgbClr val="191919"/>
                </a:solidFill>
                <a:latin typeface="Georgia"/>
                <a:cs typeface="Georgia"/>
              </a:rPr>
              <a:t>in</a:t>
            </a:r>
            <a:r>
              <a:rPr sz="2550" spc="20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240" dirty="0">
                <a:solidFill>
                  <a:srgbClr val="191919"/>
                </a:solidFill>
                <a:latin typeface="Georgia"/>
                <a:cs typeface="Georgia"/>
              </a:rPr>
              <a:t>a</a:t>
            </a:r>
            <a:r>
              <a:rPr sz="2550" spc="21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245" dirty="0">
                <a:solidFill>
                  <a:srgbClr val="191919"/>
                </a:solidFill>
                <a:latin typeface="Georgia"/>
                <a:cs typeface="Georgia"/>
              </a:rPr>
              <a:t>way</a:t>
            </a:r>
            <a:r>
              <a:rPr sz="2550" spc="20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75" dirty="0">
                <a:solidFill>
                  <a:srgbClr val="191919"/>
                </a:solidFill>
                <a:latin typeface="Georgia"/>
                <a:cs typeface="Georgia"/>
              </a:rPr>
              <a:t>that</a:t>
            </a:r>
            <a:r>
              <a:rPr sz="2550" spc="21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210" dirty="0">
                <a:solidFill>
                  <a:srgbClr val="191919"/>
                </a:solidFill>
                <a:latin typeface="Georgia"/>
                <a:cs typeface="Georgia"/>
              </a:rPr>
              <a:t>takes </a:t>
            </a:r>
            <a:r>
              <a:rPr sz="2550" spc="150" dirty="0">
                <a:solidFill>
                  <a:srgbClr val="191919"/>
                </a:solidFill>
                <a:latin typeface="Georgia"/>
                <a:cs typeface="Georgia"/>
              </a:rPr>
              <a:t>maximum </a:t>
            </a:r>
            <a:r>
              <a:rPr sz="2550" spc="215" dirty="0">
                <a:solidFill>
                  <a:srgbClr val="191919"/>
                </a:solidFill>
                <a:latin typeface="Georgia"/>
                <a:cs typeface="Georgia"/>
              </a:rPr>
              <a:t>advantage</a:t>
            </a:r>
            <a:r>
              <a:rPr sz="2550" spc="19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40" dirty="0">
                <a:solidFill>
                  <a:srgbClr val="191919"/>
                </a:solidFill>
                <a:latin typeface="Georgia"/>
                <a:cs typeface="Georgia"/>
              </a:rPr>
              <a:t>of</a:t>
            </a:r>
            <a:r>
              <a:rPr sz="2550" spc="21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85" dirty="0">
                <a:solidFill>
                  <a:srgbClr val="191919"/>
                </a:solidFill>
                <a:latin typeface="Georgia"/>
                <a:cs typeface="Georgia"/>
              </a:rPr>
              <a:t>the</a:t>
            </a:r>
            <a:r>
              <a:rPr sz="2550" spc="21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90" dirty="0">
                <a:solidFill>
                  <a:srgbClr val="191919"/>
                </a:solidFill>
                <a:latin typeface="Georgia"/>
                <a:cs typeface="Georgia"/>
              </a:rPr>
              <a:t>memory</a:t>
            </a:r>
            <a:r>
              <a:rPr sz="2550" spc="20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35" dirty="0">
                <a:solidFill>
                  <a:srgbClr val="191919"/>
                </a:solidFill>
                <a:latin typeface="Georgia"/>
                <a:cs typeface="Georgia"/>
              </a:rPr>
              <a:t>hierarchy.</a:t>
            </a:r>
            <a:endParaRPr sz="2550" dirty="0">
              <a:latin typeface="Georgia"/>
              <a:cs typeface="Georgia"/>
            </a:endParaRPr>
          </a:p>
          <a:p>
            <a:pPr marL="12700">
              <a:spcBef>
                <a:spcPts val="885"/>
              </a:spcBef>
            </a:pPr>
            <a:r>
              <a:rPr sz="2550" spc="145" dirty="0">
                <a:solidFill>
                  <a:srgbClr val="191919"/>
                </a:solidFill>
                <a:latin typeface="Georgia"/>
                <a:cs typeface="Georgia"/>
              </a:rPr>
              <a:t>Do</a:t>
            </a:r>
            <a:r>
              <a:rPr sz="2550" spc="21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80" dirty="0">
                <a:solidFill>
                  <a:srgbClr val="191919"/>
                </a:solidFill>
                <a:latin typeface="Georgia"/>
                <a:cs typeface="Georgia"/>
              </a:rPr>
              <a:t>so</a:t>
            </a:r>
            <a:r>
              <a:rPr sz="2550" spc="20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60" dirty="0">
                <a:solidFill>
                  <a:srgbClr val="191919"/>
                </a:solidFill>
                <a:latin typeface="Georgia"/>
                <a:cs typeface="Georgia"/>
              </a:rPr>
              <a:t>without</a:t>
            </a:r>
            <a:r>
              <a:rPr sz="2550" spc="21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40" dirty="0">
                <a:solidFill>
                  <a:srgbClr val="191919"/>
                </a:solidFill>
                <a:latin typeface="Georgia"/>
                <a:cs typeface="Georgia"/>
              </a:rPr>
              <a:t>hints</a:t>
            </a:r>
            <a:r>
              <a:rPr sz="2550" spc="21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50" dirty="0">
                <a:solidFill>
                  <a:srgbClr val="191919"/>
                </a:solidFill>
                <a:latin typeface="Georgia"/>
                <a:cs typeface="Georgia"/>
              </a:rPr>
              <a:t>from</a:t>
            </a:r>
            <a:r>
              <a:rPr sz="2550" spc="21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90" dirty="0">
                <a:solidFill>
                  <a:srgbClr val="191919"/>
                </a:solidFill>
                <a:latin typeface="Georgia"/>
                <a:cs typeface="Georgia"/>
              </a:rPr>
              <a:t>the</a:t>
            </a:r>
            <a:r>
              <a:rPr sz="2550" spc="21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550" spc="155" dirty="0">
                <a:solidFill>
                  <a:srgbClr val="191919"/>
                </a:solidFill>
                <a:latin typeface="Georgia"/>
                <a:cs typeface="Georgia"/>
              </a:rPr>
              <a:t>programmer.</a:t>
            </a:r>
            <a:endParaRPr sz="2550" dirty="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5351" y="5895693"/>
            <a:ext cx="14160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50" spc="16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15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05067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33644"/>
          </a:xfrm>
          <a:prstGeom prst="rect">
            <a:avLst/>
          </a:prstGeom>
        </p:spPr>
        <p:txBody>
          <a:bodyPr vert="horz" wrap="square" lIns="0" tIns="452120" rIns="0" bIns="0" rtlCol="0">
            <a:spAutoFit/>
          </a:bodyPr>
          <a:lstStyle/>
          <a:p>
            <a:pPr marL="2258060">
              <a:spcBef>
                <a:spcPts val="100"/>
              </a:spcBef>
            </a:pPr>
            <a:r>
              <a:rPr spc="330" dirty="0"/>
              <a:t>Register </a:t>
            </a:r>
            <a:r>
              <a:rPr spc="225" dirty="0"/>
              <a:t>Allocation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3920" y="1845309"/>
            <a:ext cx="14160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50" spc="16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3170" y="1303988"/>
            <a:ext cx="8663305" cy="1869743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spcBef>
                <a:spcPts val="1140"/>
              </a:spcBef>
            </a:pPr>
            <a:r>
              <a:rPr sz="2600" b="1" spc="60" dirty="0">
                <a:solidFill>
                  <a:srgbClr val="FF0000"/>
                </a:solidFill>
                <a:latin typeface="Georgia"/>
                <a:cs typeface="Georgia"/>
              </a:rPr>
              <a:t>In</a:t>
            </a:r>
            <a:r>
              <a:rPr sz="2600" b="1" spc="2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600" b="1" spc="95" dirty="0">
                <a:solidFill>
                  <a:srgbClr val="FF0000"/>
                </a:solidFill>
                <a:latin typeface="Georgia"/>
                <a:cs typeface="Georgia"/>
              </a:rPr>
              <a:t>TAC,</a:t>
            </a:r>
            <a:r>
              <a:rPr sz="2600" b="1" spc="2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600" b="1" spc="195" dirty="0">
                <a:solidFill>
                  <a:srgbClr val="FF0000"/>
                </a:solidFill>
                <a:latin typeface="Georgia"/>
                <a:cs typeface="Georgia"/>
              </a:rPr>
              <a:t>there</a:t>
            </a:r>
            <a:r>
              <a:rPr sz="2600" b="1" spc="2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600" b="1" spc="220" dirty="0">
                <a:solidFill>
                  <a:srgbClr val="FF0000"/>
                </a:solidFill>
                <a:latin typeface="Georgia"/>
                <a:cs typeface="Georgia"/>
              </a:rPr>
              <a:t>are</a:t>
            </a:r>
            <a:r>
              <a:rPr sz="2600" b="1" spc="2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600" b="1" spc="170" dirty="0">
                <a:solidFill>
                  <a:srgbClr val="FF0000"/>
                </a:solidFill>
                <a:latin typeface="Georgia"/>
                <a:cs typeface="Georgia"/>
              </a:rPr>
              <a:t>an</a:t>
            </a:r>
            <a:r>
              <a:rPr sz="2600" b="1" spc="2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600" b="1" spc="130" dirty="0">
                <a:solidFill>
                  <a:srgbClr val="FF0000"/>
                </a:solidFill>
                <a:latin typeface="Georgia"/>
                <a:cs typeface="Georgia"/>
              </a:rPr>
              <a:t>unlimited</a:t>
            </a:r>
            <a:r>
              <a:rPr sz="2600" b="1" spc="2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600" b="1" spc="170" dirty="0">
                <a:solidFill>
                  <a:srgbClr val="FF0000"/>
                </a:solidFill>
                <a:latin typeface="Georgia"/>
                <a:cs typeface="Georgia"/>
              </a:rPr>
              <a:t>number</a:t>
            </a:r>
            <a:r>
              <a:rPr sz="2600" b="1" spc="20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600" b="1" spc="120" dirty="0">
                <a:solidFill>
                  <a:srgbClr val="FF0000"/>
                </a:solidFill>
                <a:latin typeface="Georgia"/>
                <a:cs typeface="Georgia"/>
              </a:rPr>
              <a:t>of</a:t>
            </a:r>
            <a:r>
              <a:rPr sz="2600" b="1" spc="2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600" b="1" spc="155" dirty="0">
                <a:solidFill>
                  <a:srgbClr val="FF0000"/>
                </a:solidFill>
                <a:latin typeface="Georgia"/>
                <a:cs typeface="Georgia"/>
              </a:rPr>
              <a:t>variables.</a:t>
            </a:r>
            <a:endParaRPr sz="2600" b="1" dirty="0">
              <a:solidFill>
                <a:srgbClr val="FF0000"/>
              </a:solidFill>
              <a:latin typeface="Georgia"/>
              <a:cs typeface="Georgia"/>
            </a:endParaRPr>
          </a:p>
          <a:p>
            <a:pPr marL="12700" marR="99060">
              <a:lnSpc>
                <a:spcPts val="3010"/>
              </a:lnSpc>
              <a:spcBef>
                <a:spcPts val="1235"/>
              </a:spcBef>
            </a:pPr>
            <a:r>
              <a:rPr sz="2600" b="1" spc="145" dirty="0">
                <a:solidFill>
                  <a:srgbClr val="FF0000"/>
                </a:solidFill>
                <a:latin typeface="Georgia"/>
                <a:cs typeface="Georgia"/>
              </a:rPr>
              <a:t>On</a:t>
            </a:r>
            <a:r>
              <a:rPr sz="2600" b="1" spc="20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600" b="1" spc="220" dirty="0">
                <a:solidFill>
                  <a:srgbClr val="FF0000"/>
                </a:solidFill>
                <a:latin typeface="Georgia"/>
                <a:cs typeface="Georgia"/>
              </a:rPr>
              <a:t>a</a:t>
            </a:r>
            <a:r>
              <a:rPr sz="2600" b="1" spc="2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600" b="1" spc="155" dirty="0">
                <a:solidFill>
                  <a:srgbClr val="FF0000"/>
                </a:solidFill>
                <a:latin typeface="Georgia"/>
                <a:cs typeface="Georgia"/>
              </a:rPr>
              <a:t>physical</a:t>
            </a:r>
            <a:r>
              <a:rPr sz="2600" b="1" spc="20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600" b="1" spc="175" dirty="0">
                <a:solidFill>
                  <a:srgbClr val="FF0000"/>
                </a:solidFill>
                <a:latin typeface="Georgia"/>
                <a:cs typeface="Georgia"/>
              </a:rPr>
              <a:t>machine</a:t>
            </a:r>
            <a:r>
              <a:rPr sz="2600" b="1" spc="2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600" b="1" spc="190" dirty="0">
                <a:solidFill>
                  <a:srgbClr val="FF0000"/>
                </a:solidFill>
                <a:latin typeface="Georgia"/>
                <a:cs typeface="Georgia"/>
              </a:rPr>
              <a:t>there</a:t>
            </a:r>
            <a:r>
              <a:rPr sz="2600" b="1" spc="21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600" b="1" spc="220" dirty="0">
                <a:solidFill>
                  <a:srgbClr val="FF0000"/>
                </a:solidFill>
                <a:latin typeface="Georgia"/>
                <a:cs typeface="Georgia"/>
              </a:rPr>
              <a:t>are</a:t>
            </a:r>
            <a:r>
              <a:rPr sz="2600" b="1" spc="2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600" b="1" spc="220" dirty="0">
                <a:solidFill>
                  <a:srgbClr val="FF0000"/>
                </a:solidFill>
                <a:latin typeface="Georgia"/>
                <a:cs typeface="Georgia"/>
              </a:rPr>
              <a:t>a</a:t>
            </a:r>
            <a:r>
              <a:rPr sz="2600" b="1" spc="2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600" b="1" spc="145" dirty="0">
                <a:solidFill>
                  <a:srgbClr val="FF0000"/>
                </a:solidFill>
                <a:latin typeface="Georgia"/>
                <a:cs typeface="Georgia"/>
              </a:rPr>
              <a:t>small</a:t>
            </a:r>
            <a:r>
              <a:rPr sz="2600" b="1" spc="204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600" b="1" spc="175" dirty="0">
                <a:solidFill>
                  <a:srgbClr val="FF0000"/>
                </a:solidFill>
                <a:latin typeface="Georgia"/>
                <a:cs typeface="Georgia"/>
              </a:rPr>
              <a:t>number</a:t>
            </a:r>
            <a:r>
              <a:rPr sz="2600" b="1" spc="20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600" b="1" spc="90" dirty="0">
                <a:solidFill>
                  <a:srgbClr val="FF0000"/>
                </a:solidFill>
                <a:latin typeface="Georgia"/>
                <a:cs typeface="Georgia"/>
              </a:rPr>
              <a:t>of </a:t>
            </a:r>
            <a:r>
              <a:rPr sz="2600" b="1" spc="170" dirty="0">
                <a:solidFill>
                  <a:srgbClr val="FF0000"/>
                </a:solidFill>
                <a:latin typeface="Georgia"/>
                <a:cs typeface="Georgia"/>
              </a:rPr>
              <a:t>registers:</a:t>
            </a:r>
            <a:endParaRPr sz="2600" b="1" dirty="0">
              <a:solidFill>
                <a:srgbClr val="FF0000"/>
              </a:solidFill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3920" y="2373629"/>
            <a:ext cx="14160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50" spc="16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3170" y="3272790"/>
            <a:ext cx="127635" cy="16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000" spc="145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6061" y="3173731"/>
            <a:ext cx="8220709" cy="149415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2640"/>
              </a:lnSpc>
              <a:spcBef>
                <a:spcPts val="254"/>
              </a:spcBef>
            </a:pPr>
            <a:r>
              <a:rPr sz="2250" b="1" spc="130" dirty="0">
                <a:solidFill>
                  <a:srgbClr val="00B0F0"/>
                </a:solidFill>
                <a:latin typeface="Georgia"/>
                <a:cs typeface="Georgia"/>
              </a:rPr>
              <a:t>x86</a:t>
            </a:r>
            <a:r>
              <a:rPr sz="2250" b="1" spc="180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75" dirty="0">
                <a:solidFill>
                  <a:srgbClr val="00B0F0"/>
                </a:solidFill>
                <a:latin typeface="Georgia"/>
                <a:cs typeface="Georgia"/>
              </a:rPr>
              <a:t>has</a:t>
            </a:r>
            <a:r>
              <a:rPr sz="2250" b="1" spc="190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35" dirty="0">
                <a:solidFill>
                  <a:srgbClr val="00B0F0"/>
                </a:solidFill>
                <a:latin typeface="Georgia"/>
                <a:cs typeface="Georgia"/>
              </a:rPr>
              <a:t>four</a:t>
            </a:r>
            <a:r>
              <a:rPr sz="2250" b="1" spc="190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55" dirty="0">
                <a:solidFill>
                  <a:srgbClr val="00B0F0"/>
                </a:solidFill>
                <a:latin typeface="Georgia"/>
                <a:cs typeface="Georgia"/>
              </a:rPr>
              <a:t>general-</a:t>
            </a:r>
            <a:r>
              <a:rPr sz="2250" b="1" spc="165" dirty="0">
                <a:solidFill>
                  <a:srgbClr val="00B0F0"/>
                </a:solidFill>
                <a:latin typeface="Georgia"/>
                <a:cs typeface="Georgia"/>
              </a:rPr>
              <a:t>purpose</a:t>
            </a:r>
            <a:r>
              <a:rPr sz="2250" b="1" spc="18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80" dirty="0">
                <a:solidFill>
                  <a:srgbClr val="00B0F0"/>
                </a:solidFill>
                <a:latin typeface="Georgia"/>
                <a:cs typeface="Georgia"/>
              </a:rPr>
              <a:t>registers</a:t>
            </a:r>
            <a:r>
              <a:rPr sz="2250" b="1" spc="190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60" dirty="0">
                <a:solidFill>
                  <a:srgbClr val="00B0F0"/>
                </a:solidFill>
                <a:latin typeface="Georgia"/>
                <a:cs typeface="Georgia"/>
              </a:rPr>
              <a:t>and</a:t>
            </a:r>
            <a:r>
              <a:rPr sz="2250" b="1" spc="18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200" dirty="0">
                <a:solidFill>
                  <a:srgbClr val="00B0F0"/>
                </a:solidFill>
                <a:latin typeface="Georgia"/>
                <a:cs typeface="Georgia"/>
              </a:rPr>
              <a:t>a </a:t>
            </a:r>
            <a:r>
              <a:rPr sz="2250" b="1" spc="170" dirty="0">
                <a:solidFill>
                  <a:srgbClr val="00B0F0"/>
                </a:solidFill>
                <a:latin typeface="Georgia"/>
                <a:cs typeface="Georgia"/>
              </a:rPr>
              <a:t>number</a:t>
            </a:r>
            <a:r>
              <a:rPr sz="2250" b="1" spc="190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95" dirty="0">
                <a:solidFill>
                  <a:srgbClr val="00B0F0"/>
                </a:solidFill>
                <a:latin typeface="Georgia"/>
                <a:cs typeface="Georgia"/>
              </a:rPr>
              <a:t>of </a:t>
            </a:r>
            <a:r>
              <a:rPr sz="2250" b="1" spc="160" dirty="0">
                <a:solidFill>
                  <a:srgbClr val="00B0F0"/>
                </a:solidFill>
                <a:latin typeface="Georgia"/>
                <a:cs typeface="Georgia"/>
              </a:rPr>
              <a:t>specialized</a:t>
            </a:r>
            <a:r>
              <a:rPr sz="2250" b="1" spc="18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60" dirty="0">
                <a:solidFill>
                  <a:srgbClr val="00B0F0"/>
                </a:solidFill>
                <a:latin typeface="Georgia"/>
                <a:cs typeface="Georgia"/>
              </a:rPr>
              <a:t>registers.</a:t>
            </a:r>
            <a:endParaRPr sz="2250" b="1" dirty="0">
              <a:solidFill>
                <a:srgbClr val="00B0F0"/>
              </a:solidFill>
              <a:latin typeface="Georgia"/>
              <a:cs typeface="Georgia"/>
            </a:endParaRPr>
          </a:p>
          <a:p>
            <a:pPr marL="12700" marR="502284">
              <a:lnSpc>
                <a:spcPts val="2640"/>
              </a:lnSpc>
              <a:spcBef>
                <a:spcPts val="919"/>
              </a:spcBef>
            </a:pPr>
            <a:r>
              <a:rPr sz="2250" b="1" spc="165" dirty="0">
                <a:solidFill>
                  <a:srgbClr val="00B0F0"/>
                </a:solidFill>
                <a:latin typeface="Georgia"/>
                <a:cs typeface="Georgia"/>
              </a:rPr>
              <a:t>MIPS</a:t>
            </a:r>
            <a:r>
              <a:rPr sz="2250" b="1" spc="19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75" dirty="0">
                <a:solidFill>
                  <a:srgbClr val="00B0F0"/>
                </a:solidFill>
                <a:latin typeface="Georgia"/>
                <a:cs typeface="Georgia"/>
              </a:rPr>
              <a:t>has</a:t>
            </a:r>
            <a:r>
              <a:rPr sz="2250" b="1" spc="19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40" dirty="0">
                <a:solidFill>
                  <a:srgbClr val="00B0F0"/>
                </a:solidFill>
                <a:latin typeface="Georgia"/>
                <a:cs typeface="Georgia"/>
              </a:rPr>
              <a:t>twenty-</a:t>
            </a:r>
            <a:r>
              <a:rPr sz="2250" b="1" spc="135" dirty="0">
                <a:solidFill>
                  <a:srgbClr val="00B0F0"/>
                </a:solidFill>
                <a:latin typeface="Georgia"/>
                <a:cs typeface="Georgia"/>
              </a:rPr>
              <a:t>four</a:t>
            </a:r>
            <a:r>
              <a:rPr sz="2250" b="1" spc="19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55" dirty="0">
                <a:solidFill>
                  <a:srgbClr val="00B0F0"/>
                </a:solidFill>
                <a:latin typeface="Georgia"/>
                <a:cs typeface="Georgia"/>
              </a:rPr>
              <a:t>general-</a:t>
            </a:r>
            <a:r>
              <a:rPr sz="2250" b="1" spc="165" dirty="0">
                <a:solidFill>
                  <a:srgbClr val="00B0F0"/>
                </a:solidFill>
                <a:latin typeface="Georgia"/>
                <a:cs typeface="Georgia"/>
              </a:rPr>
              <a:t>purpose</a:t>
            </a:r>
            <a:r>
              <a:rPr sz="2250" b="1" spc="200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80" dirty="0">
                <a:solidFill>
                  <a:srgbClr val="00B0F0"/>
                </a:solidFill>
                <a:latin typeface="Georgia"/>
                <a:cs typeface="Georgia"/>
              </a:rPr>
              <a:t>registers</a:t>
            </a:r>
            <a:r>
              <a:rPr sz="2250" b="1" spc="195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35" dirty="0">
                <a:solidFill>
                  <a:srgbClr val="00B0F0"/>
                </a:solidFill>
                <a:latin typeface="Georgia"/>
                <a:cs typeface="Georgia"/>
              </a:rPr>
              <a:t>and </a:t>
            </a:r>
            <a:r>
              <a:rPr sz="2250" b="1" spc="170" dirty="0">
                <a:solidFill>
                  <a:srgbClr val="00B0F0"/>
                </a:solidFill>
                <a:latin typeface="Georgia"/>
                <a:cs typeface="Georgia"/>
              </a:rPr>
              <a:t>eight</a:t>
            </a:r>
            <a:r>
              <a:rPr sz="2250" b="1" spc="190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30" dirty="0">
                <a:solidFill>
                  <a:srgbClr val="00B0F0"/>
                </a:solidFill>
                <a:latin typeface="Georgia"/>
                <a:cs typeface="Georgia"/>
              </a:rPr>
              <a:t>special-</a:t>
            </a:r>
            <a:r>
              <a:rPr sz="2250" b="1" spc="165" dirty="0">
                <a:solidFill>
                  <a:srgbClr val="00B0F0"/>
                </a:solidFill>
                <a:latin typeface="Georgia"/>
                <a:cs typeface="Georgia"/>
              </a:rPr>
              <a:t>purpose</a:t>
            </a:r>
            <a:r>
              <a:rPr sz="2250" b="1" spc="204" dirty="0">
                <a:solidFill>
                  <a:srgbClr val="00B0F0"/>
                </a:solidFill>
                <a:latin typeface="Georgia"/>
                <a:cs typeface="Georgia"/>
              </a:rPr>
              <a:t> </a:t>
            </a:r>
            <a:r>
              <a:rPr sz="2250" b="1" spc="165" dirty="0">
                <a:solidFill>
                  <a:srgbClr val="00B0F0"/>
                </a:solidFill>
                <a:latin typeface="Georgia"/>
                <a:cs typeface="Georgia"/>
              </a:rPr>
              <a:t>registers.</a:t>
            </a:r>
            <a:endParaRPr sz="2250" b="1" dirty="0">
              <a:solidFill>
                <a:srgbClr val="00B0F0"/>
              </a:solidFill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3170" y="4060190"/>
            <a:ext cx="127635" cy="167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000" spc="145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3920" y="4861559"/>
            <a:ext cx="141605" cy="1897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50" spc="16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5539" y="4751070"/>
            <a:ext cx="8338820" cy="11861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ct val="96600"/>
              </a:lnSpc>
              <a:spcBef>
                <a:spcPts val="195"/>
              </a:spcBef>
            </a:pPr>
            <a:r>
              <a:rPr sz="2600" b="1" spc="275" dirty="0">
                <a:solidFill>
                  <a:srgbClr val="0000FF"/>
                </a:solidFill>
                <a:latin typeface="Cambria"/>
                <a:cs typeface="Cambria"/>
              </a:rPr>
              <a:t>Register</a:t>
            </a:r>
            <a:r>
              <a:rPr sz="2600" b="1" spc="34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600" b="1" spc="240" dirty="0">
                <a:solidFill>
                  <a:srgbClr val="0000FF"/>
                </a:solidFill>
                <a:latin typeface="Cambria"/>
                <a:cs typeface="Cambria"/>
              </a:rPr>
              <a:t>allocation</a:t>
            </a:r>
            <a:r>
              <a:rPr sz="2600" b="1" spc="31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600" spc="125" dirty="0">
                <a:solidFill>
                  <a:srgbClr val="191919"/>
                </a:solidFill>
                <a:latin typeface="Georgia"/>
                <a:cs typeface="Georgia"/>
              </a:rPr>
              <a:t>is</a:t>
            </a:r>
            <a:r>
              <a:rPr sz="2600" spc="21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600" spc="180" dirty="0">
                <a:solidFill>
                  <a:srgbClr val="191919"/>
                </a:solidFill>
                <a:latin typeface="Georgia"/>
                <a:cs typeface="Georgia"/>
              </a:rPr>
              <a:t>the</a:t>
            </a:r>
            <a:r>
              <a:rPr sz="2600" spc="21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600" spc="195" dirty="0">
                <a:solidFill>
                  <a:srgbClr val="191919"/>
                </a:solidFill>
                <a:latin typeface="Georgia"/>
                <a:cs typeface="Georgia"/>
              </a:rPr>
              <a:t>process</a:t>
            </a:r>
            <a:r>
              <a:rPr sz="2600" spc="20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600" spc="120" dirty="0">
                <a:solidFill>
                  <a:srgbClr val="191919"/>
                </a:solidFill>
                <a:latin typeface="Georgia"/>
                <a:cs typeface="Georgia"/>
              </a:rPr>
              <a:t>of</a:t>
            </a:r>
            <a:r>
              <a:rPr sz="2600" spc="21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600" spc="165" dirty="0">
                <a:solidFill>
                  <a:srgbClr val="191919"/>
                </a:solidFill>
                <a:latin typeface="Georgia"/>
                <a:cs typeface="Georgia"/>
              </a:rPr>
              <a:t>assigning </a:t>
            </a:r>
            <a:r>
              <a:rPr sz="2600" spc="175" dirty="0">
                <a:solidFill>
                  <a:srgbClr val="191919"/>
                </a:solidFill>
                <a:latin typeface="Georgia"/>
                <a:cs typeface="Georgia"/>
              </a:rPr>
              <a:t>variables</a:t>
            </a:r>
            <a:r>
              <a:rPr sz="2600" spc="20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600" spc="145" dirty="0">
                <a:solidFill>
                  <a:srgbClr val="191919"/>
                </a:solidFill>
                <a:latin typeface="Georgia"/>
                <a:cs typeface="Georgia"/>
              </a:rPr>
              <a:t>to</a:t>
            </a:r>
            <a:r>
              <a:rPr sz="2600" spc="21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600" spc="190" dirty="0">
                <a:solidFill>
                  <a:srgbClr val="191919"/>
                </a:solidFill>
                <a:latin typeface="Georgia"/>
                <a:cs typeface="Georgia"/>
              </a:rPr>
              <a:t>registers</a:t>
            </a:r>
            <a:r>
              <a:rPr sz="2600" spc="21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600" spc="160" dirty="0">
                <a:solidFill>
                  <a:srgbClr val="191919"/>
                </a:solidFill>
                <a:latin typeface="Georgia"/>
                <a:cs typeface="Georgia"/>
              </a:rPr>
              <a:t>and</a:t>
            </a:r>
            <a:r>
              <a:rPr sz="2600" spc="20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600" spc="190" dirty="0">
                <a:solidFill>
                  <a:srgbClr val="191919"/>
                </a:solidFill>
                <a:latin typeface="Georgia"/>
                <a:cs typeface="Georgia"/>
              </a:rPr>
              <a:t>managing</a:t>
            </a:r>
            <a:r>
              <a:rPr sz="2600" spc="20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600" spc="180" dirty="0">
                <a:solidFill>
                  <a:srgbClr val="191919"/>
                </a:solidFill>
                <a:latin typeface="Georgia"/>
                <a:cs typeface="Georgia"/>
              </a:rPr>
              <a:t>data</a:t>
            </a:r>
            <a:r>
              <a:rPr sz="2600" spc="21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600" spc="155" dirty="0">
                <a:solidFill>
                  <a:srgbClr val="191919"/>
                </a:solidFill>
                <a:latin typeface="Georgia"/>
                <a:cs typeface="Georgia"/>
              </a:rPr>
              <a:t>transfer </a:t>
            </a:r>
            <a:r>
              <a:rPr sz="2600" spc="85" dirty="0">
                <a:solidFill>
                  <a:srgbClr val="191919"/>
                </a:solidFill>
                <a:latin typeface="Georgia"/>
                <a:cs typeface="Georgia"/>
              </a:rPr>
              <a:t>in</a:t>
            </a:r>
            <a:r>
              <a:rPr sz="2600" spc="20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600" spc="165" dirty="0">
                <a:solidFill>
                  <a:srgbClr val="191919"/>
                </a:solidFill>
                <a:latin typeface="Georgia"/>
                <a:cs typeface="Georgia"/>
              </a:rPr>
              <a:t>and</a:t>
            </a:r>
            <a:r>
              <a:rPr sz="2600" spc="20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600" spc="145" dirty="0">
                <a:solidFill>
                  <a:srgbClr val="191919"/>
                </a:solidFill>
                <a:latin typeface="Georgia"/>
                <a:cs typeface="Georgia"/>
              </a:rPr>
              <a:t>out</a:t>
            </a:r>
            <a:r>
              <a:rPr sz="2600" spc="20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600" spc="120" dirty="0">
                <a:solidFill>
                  <a:srgbClr val="191919"/>
                </a:solidFill>
                <a:latin typeface="Georgia"/>
                <a:cs typeface="Georgia"/>
              </a:rPr>
              <a:t>of</a:t>
            </a:r>
            <a:r>
              <a:rPr sz="2600" spc="20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600" spc="175" dirty="0">
                <a:solidFill>
                  <a:srgbClr val="191919"/>
                </a:solidFill>
                <a:latin typeface="Georgia"/>
                <a:cs typeface="Georgia"/>
              </a:rPr>
              <a:t>registers.</a:t>
            </a:r>
            <a:endParaRPr sz="260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99767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671195">
              <a:spcBef>
                <a:spcPts val="100"/>
              </a:spcBef>
            </a:pPr>
            <a:r>
              <a:rPr sz="4000" spc="315" dirty="0"/>
              <a:t>Challenges </a:t>
            </a:r>
            <a:r>
              <a:rPr sz="4000" spc="155" dirty="0"/>
              <a:t>in</a:t>
            </a:r>
            <a:r>
              <a:rPr sz="4000" spc="320" dirty="0"/>
              <a:t> </a:t>
            </a:r>
            <a:r>
              <a:rPr sz="4000" spc="300" dirty="0"/>
              <a:t>Register</a:t>
            </a:r>
            <a:r>
              <a:rPr sz="4000" spc="315" dirty="0"/>
              <a:t> </a:t>
            </a:r>
            <a:r>
              <a:rPr sz="4000" spc="204" dirty="0"/>
              <a:t>Allocation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80110" y="1841500"/>
            <a:ext cx="139065" cy="1846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100" spc="175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840" y="1737360"/>
            <a:ext cx="3738245" cy="405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500" b="1" spc="260" dirty="0">
                <a:solidFill>
                  <a:srgbClr val="0000FF"/>
                </a:solidFill>
                <a:latin typeface="Cambria"/>
                <a:cs typeface="Cambria"/>
              </a:rPr>
              <a:t>Registers</a:t>
            </a:r>
            <a:r>
              <a:rPr sz="2500" b="1" spc="32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500" b="1" spc="229" dirty="0">
                <a:solidFill>
                  <a:srgbClr val="0000FF"/>
                </a:solidFill>
                <a:latin typeface="Cambria"/>
                <a:cs typeface="Cambria"/>
              </a:rPr>
              <a:t>are</a:t>
            </a:r>
            <a:r>
              <a:rPr sz="2500" b="1" spc="31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500" b="1" spc="240" dirty="0">
                <a:solidFill>
                  <a:srgbClr val="0000FF"/>
                </a:solidFill>
                <a:latin typeface="Cambria"/>
                <a:cs typeface="Cambria"/>
              </a:rPr>
              <a:t>scarce</a:t>
            </a:r>
            <a:r>
              <a:rPr sz="2500" spc="240" dirty="0">
                <a:solidFill>
                  <a:srgbClr val="191919"/>
                </a:solidFill>
                <a:latin typeface="Georgia"/>
                <a:cs typeface="Georgia"/>
              </a:rPr>
              <a:t>.</a:t>
            </a:r>
            <a:endParaRPr sz="2500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7930" y="2341881"/>
            <a:ext cx="124460" cy="162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950" spc="15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9389" y="2147061"/>
            <a:ext cx="8044180" cy="8940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2600"/>
              </a:lnSpc>
              <a:spcBef>
                <a:spcPts val="90"/>
              </a:spcBef>
            </a:pPr>
            <a:r>
              <a:rPr sz="2150" spc="155" dirty="0">
                <a:solidFill>
                  <a:srgbClr val="191919"/>
                </a:solidFill>
                <a:latin typeface="Georgia"/>
                <a:cs typeface="Georgia"/>
              </a:rPr>
              <a:t>Often</a:t>
            </a:r>
            <a:r>
              <a:rPr sz="2150" spc="18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40" dirty="0">
                <a:solidFill>
                  <a:srgbClr val="191919"/>
                </a:solidFill>
                <a:latin typeface="Georgia"/>
                <a:cs typeface="Georgia"/>
              </a:rPr>
              <a:t>substantially</a:t>
            </a:r>
            <a:r>
              <a:rPr sz="2150" spc="19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75" dirty="0">
                <a:solidFill>
                  <a:srgbClr val="191919"/>
                </a:solidFill>
                <a:latin typeface="Georgia"/>
                <a:cs typeface="Georgia"/>
              </a:rPr>
              <a:t>more</a:t>
            </a:r>
            <a:r>
              <a:rPr sz="2150" spc="19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70" dirty="0">
                <a:solidFill>
                  <a:srgbClr val="191919"/>
                </a:solidFill>
                <a:latin typeface="Georgia"/>
                <a:cs typeface="Georgia"/>
              </a:rPr>
              <a:t>IR</a:t>
            </a:r>
            <a:r>
              <a:rPr sz="2150" spc="20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65" dirty="0">
                <a:solidFill>
                  <a:srgbClr val="191919"/>
                </a:solidFill>
                <a:latin typeface="Georgia"/>
                <a:cs typeface="Georgia"/>
              </a:rPr>
              <a:t>variables</a:t>
            </a:r>
            <a:r>
              <a:rPr sz="2150" spc="19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45" dirty="0">
                <a:solidFill>
                  <a:srgbClr val="191919"/>
                </a:solidFill>
                <a:latin typeface="Georgia"/>
                <a:cs typeface="Georgia"/>
              </a:rPr>
              <a:t>than</a:t>
            </a:r>
            <a:r>
              <a:rPr sz="2150" spc="20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65" dirty="0">
                <a:solidFill>
                  <a:srgbClr val="191919"/>
                </a:solidFill>
                <a:latin typeface="Georgia"/>
                <a:cs typeface="Georgia"/>
              </a:rPr>
              <a:t>registers. </a:t>
            </a:r>
            <a:r>
              <a:rPr sz="2150" spc="220" dirty="0">
                <a:solidFill>
                  <a:srgbClr val="191919"/>
                </a:solidFill>
                <a:latin typeface="Georgia"/>
                <a:cs typeface="Georgia"/>
              </a:rPr>
              <a:t>Need</a:t>
            </a:r>
            <a:r>
              <a:rPr sz="2150" spc="18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35" dirty="0">
                <a:solidFill>
                  <a:srgbClr val="191919"/>
                </a:solidFill>
                <a:latin typeface="Georgia"/>
                <a:cs typeface="Georgia"/>
              </a:rPr>
              <a:t>to</a:t>
            </a:r>
            <a:r>
              <a:rPr sz="2150" spc="19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05" dirty="0">
                <a:solidFill>
                  <a:srgbClr val="191919"/>
                </a:solidFill>
                <a:latin typeface="Georgia"/>
                <a:cs typeface="Georgia"/>
              </a:rPr>
              <a:t>find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204" dirty="0">
                <a:solidFill>
                  <a:srgbClr val="191919"/>
                </a:solidFill>
                <a:latin typeface="Georgia"/>
                <a:cs typeface="Georgia"/>
              </a:rPr>
              <a:t>a</a:t>
            </a:r>
            <a:r>
              <a:rPr sz="2150" spc="19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210" dirty="0">
                <a:solidFill>
                  <a:srgbClr val="191919"/>
                </a:solidFill>
                <a:latin typeface="Georgia"/>
                <a:cs typeface="Georgia"/>
              </a:rPr>
              <a:t>way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30" dirty="0">
                <a:solidFill>
                  <a:srgbClr val="191919"/>
                </a:solidFill>
                <a:latin typeface="Georgia"/>
                <a:cs typeface="Georgia"/>
              </a:rPr>
              <a:t>to</a:t>
            </a:r>
            <a:r>
              <a:rPr sz="2150" spc="20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95" dirty="0">
                <a:solidFill>
                  <a:srgbClr val="191919"/>
                </a:solidFill>
                <a:latin typeface="Georgia"/>
                <a:cs typeface="Georgia"/>
              </a:rPr>
              <a:t>reuse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registers </a:t>
            </a:r>
            <a:r>
              <a:rPr sz="2150" spc="200" dirty="0">
                <a:solidFill>
                  <a:srgbClr val="191919"/>
                </a:solidFill>
                <a:latin typeface="Georgia"/>
                <a:cs typeface="Georgia"/>
              </a:rPr>
              <a:t>whenever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40" dirty="0">
                <a:solidFill>
                  <a:srgbClr val="191919"/>
                </a:solidFill>
                <a:latin typeface="Georgia"/>
                <a:cs typeface="Georgia"/>
              </a:rPr>
              <a:t>possible.</a:t>
            </a:r>
            <a:endParaRPr sz="215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7930" y="2777490"/>
            <a:ext cx="124460" cy="162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950" spc="15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110" y="3224530"/>
            <a:ext cx="139065" cy="1846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100" spc="175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2840" y="3120390"/>
            <a:ext cx="4768215" cy="405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500" b="1" spc="260" dirty="0">
                <a:solidFill>
                  <a:srgbClr val="0000FF"/>
                </a:solidFill>
                <a:latin typeface="Cambria"/>
                <a:cs typeface="Cambria"/>
              </a:rPr>
              <a:t>Registers</a:t>
            </a:r>
            <a:r>
              <a:rPr sz="2500" b="1" spc="32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500" b="1" spc="229" dirty="0">
                <a:solidFill>
                  <a:srgbClr val="0000FF"/>
                </a:solidFill>
                <a:latin typeface="Cambria"/>
                <a:cs typeface="Cambria"/>
              </a:rPr>
              <a:t>are</a:t>
            </a:r>
            <a:r>
              <a:rPr sz="2500" b="1" spc="31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500" b="1" spc="240" dirty="0">
                <a:solidFill>
                  <a:srgbClr val="0000FF"/>
                </a:solidFill>
                <a:latin typeface="Cambria"/>
                <a:cs typeface="Cambria"/>
              </a:rPr>
              <a:t>complicated</a:t>
            </a:r>
            <a:r>
              <a:rPr sz="2500" spc="240" dirty="0">
                <a:solidFill>
                  <a:srgbClr val="191919"/>
                </a:solidFill>
                <a:latin typeface="Georgia"/>
                <a:cs typeface="Georgia"/>
              </a:rPr>
              <a:t>.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7930" y="3723641"/>
            <a:ext cx="124460" cy="162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950" spc="15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69389" y="3630930"/>
            <a:ext cx="8282940" cy="360172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>
              <a:lnSpc>
                <a:spcPct val="98600"/>
              </a:lnSpc>
              <a:spcBef>
                <a:spcPts val="165"/>
              </a:spcBef>
            </a:pPr>
            <a:r>
              <a:rPr sz="2150" b="1" spc="114" dirty="0">
                <a:solidFill>
                  <a:srgbClr val="FF0000"/>
                </a:solidFill>
                <a:latin typeface="Georgia"/>
                <a:cs typeface="Georgia"/>
              </a:rPr>
              <a:t>x86:</a:t>
            </a:r>
            <a:r>
              <a:rPr sz="2150" b="1" spc="18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Each 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register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 made </a:t>
            </a:r>
            <a:r>
              <a:rPr sz="2150" spc="120" dirty="0">
                <a:solidFill>
                  <a:srgbClr val="191919"/>
                </a:solidFill>
                <a:latin typeface="Georgia"/>
                <a:cs typeface="Georgia"/>
              </a:rPr>
              <a:t>of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80" dirty="0">
                <a:solidFill>
                  <a:srgbClr val="191919"/>
                </a:solidFill>
                <a:latin typeface="Georgia"/>
                <a:cs typeface="Georgia"/>
              </a:rPr>
              <a:t>several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55" dirty="0">
                <a:solidFill>
                  <a:srgbClr val="191919"/>
                </a:solidFill>
                <a:latin typeface="Georgia"/>
                <a:cs typeface="Georgia"/>
              </a:rPr>
              <a:t>smaller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70" dirty="0">
                <a:solidFill>
                  <a:srgbClr val="191919"/>
                </a:solidFill>
                <a:latin typeface="Georgia"/>
                <a:cs typeface="Georgia"/>
              </a:rPr>
              <a:t>registers;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55" dirty="0">
                <a:solidFill>
                  <a:srgbClr val="191919"/>
                </a:solidFill>
                <a:latin typeface="Georgia"/>
                <a:cs typeface="Georgia"/>
              </a:rPr>
              <a:t>can't </a:t>
            </a:r>
            <a:r>
              <a:rPr sz="2150" spc="195" dirty="0">
                <a:solidFill>
                  <a:srgbClr val="191919"/>
                </a:solidFill>
                <a:latin typeface="Georgia"/>
                <a:cs typeface="Georgia"/>
              </a:rPr>
              <a:t>use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204" dirty="0">
                <a:solidFill>
                  <a:srgbClr val="191919"/>
                </a:solidFill>
                <a:latin typeface="Georgia"/>
                <a:cs typeface="Georgia"/>
              </a:rPr>
              <a:t>a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register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60" dirty="0">
                <a:solidFill>
                  <a:srgbClr val="191919"/>
                </a:solidFill>
                <a:latin typeface="Georgia"/>
                <a:cs typeface="Georgia"/>
              </a:rPr>
              <a:t>and</a:t>
            </a:r>
            <a:r>
              <a:rPr sz="2150" spc="19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25" dirty="0">
                <a:solidFill>
                  <a:srgbClr val="191919"/>
                </a:solidFill>
                <a:latin typeface="Georgia"/>
                <a:cs typeface="Georgia"/>
              </a:rPr>
              <a:t>its</a:t>
            </a:r>
            <a:r>
              <a:rPr sz="2150" spc="18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50" dirty="0">
                <a:solidFill>
                  <a:srgbClr val="191919"/>
                </a:solidFill>
                <a:latin typeface="Georgia"/>
                <a:cs typeface="Georgia"/>
              </a:rPr>
              <a:t>constituent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80" dirty="0">
                <a:solidFill>
                  <a:srgbClr val="191919"/>
                </a:solidFill>
                <a:latin typeface="Georgia"/>
                <a:cs typeface="Georgia"/>
              </a:rPr>
              <a:t>registers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70" dirty="0">
                <a:solidFill>
                  <a:srgbClr val="191919"/>
                </a:solidFill>
                <a:latin typeface="Georgia"/>
                <a:cs typeface="Georgia"/>
              </a:rPr>
              <a:t>at</a:t>
            </a:r>
            <a:r>
              <a:rPr sz="2150" spc="18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70" dirty="0">
                <a:solidFill>
                  <a:srgbClr val="191919"/>
                </a:solidFill>
                <a:latin typeface="Georgia"/>
                <a:cs typeface="Georgia"/>
              </a:rPr>
              <a:t>the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75" dirty="0">
                <a:solidFill>
                  <a:srgbClr val="191919"/>
                </a:solidFill>
                <a:latin typeface="Georgia"/>
                <a:cs typeface="Georgia"/>
              </a:rPr>
              <a:t>same </a:t>
            </a:r>
            <a:r>
              <a:rPr sz="2150" spc="130" dirty="0">
                <a:solidFill>
                  <a:srgbClr val="191919"/>
                </a:solidFill>
                <a:latin typeface="Georgia"/>
                <a:cs typeface="Georgia"/>
              </a:rPr>
              <a:t>time.</a:t>
            </a:r>
            <a:endParaRPr sz="2150" dirty="0">
              <a:latin typeface="Georgia"/>
              <a:cs typeface="Georgia"/>
            </a:endParaRPr>
          </a:p>
          <a:p>
            <a:pPr marL="12700" marR="334645">
              <a:lnSpc>
                <a:spcPct val="98600"/>
              </a:lnSpc>
              <a:spcBef>
                <a:spcPts val="875"/>
              </a:spcBef>
            </a:pPr>
            <a:r>
              <a:rPr sz="2150" b="1" spc="114" dirty="0">
                <a:solidFill>
                  <a:srgbClr val="FF0000"/>
                </a:solidFill>
                <a:latin typeface="Georgia"/>
                <a:cs typeface="Georgia"/>
              </a:rPr>
              <a:t>x86:</a:t>
            </a:r>
            <a:r>
              <a:rPr sz="2150" b="1" spc="18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150" spc="170" dirty="0">
                <a:solidFill>
                  <a:srgbClr val="191919"/>
                </a:solidFill>
                <a:latin typeface="Georgia"/>
                <a:cs typeface="Georgia"/>
              </a:rPr>
              <a:t>Certain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40" dirty="0">
                <a:solidFill>
                  <a:srgbClr val="191919"/>
                </a:solidFill>
                <a:latin typeface="Georgia"/>
                <a:cs typeface="Georgia"/>
              </a:rPr>
              <a:t>instructions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55" dirty="0">
                <a:solidFill>
                  <a:srgbClr val="191919"/>
                </a:solidFill>
                <a:latin typeface="Georgia"/>
                <a:cs typeface="Georgia"/>
              </a:rPr>
              <a:t>must</a:t>
            </a:r>
            <a:r>
              <a:rPr sz="2150" spc="19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70" dirty="0">
                <a:solidFill>
                  <a:srgbClr val="191919"/>
                </a:solidFill>
                <a:latin typeface="Georgia"/>
                <a:cs typeface="Georgia"/>
              </a:rPr>
              <a:t>store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50" dirty="0">
                <a:solidFill>
                  <a:srgbClr val="191919"/>
                </a:solidFill>
                <a:latin typeface="Georgia"/>
                <a:cs typeface="Georgia"/>
              </a:rPr>
              <a:t>their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60" dirty="0">
                <a:solidFill>
                  <a:srgbClr val="191919"/>
                </a:solidFill>
                <a:latin typeface="Georgia"/>
                <a:cs typeface="Georgia"/>
              </a:rPr>
              <a:t>results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70" dirty="0">
                <a:solidFill>
                  <a:srgbClr val="191919"/>
                </a:solidFill>
                <a:latin typeface="Georgia"/>
                <a:cs typeface="Georgia"/>
              </a:rPr>
              <a:t>in </a:t>
            </a:r>
            <a:r>
              <a:rPr sz="2150" spc="160" dirty="0">
                <a:solidFill>
                  <a:srgbClr val="191919"/>
                </a:solidFill>
                <a:latin typeface="Georgia"/>
                <a:cs typeface="Georgia"/>
              </a:rPr>
              <a:t>specific</a:t>
            </a:r>
            <a:r>
              <a:rPr sz="2150" spc="17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70" dirty="0">
                <a:solidFill>
                  <a:srgbClr val="191919"/>
                </a:solidFill>
                <a:latin typeface="Georgia"/>
                <a:cs typeface="Georgia"/>
              </a:rPr>
              <a:t>registers;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65" dirty="0">
                <a:solidFill>
                  <a:srgbClr val="191919"/>
                </a:solidFill>
                <a:latin typeface="Georgia"/>
                <a:cs typeface="Georgia"/>
              </a:rPr>
              <a:t>can't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70" dirty="0">
                <a:solidFill>
                  <a:srgbClr val="191919"/>
                </a:solidFill>
                <a:latin typeface="Georgia"/>
                <a:cs typeface="Georgia"/>
              </a:rPr>
              <a:t>store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70" dirty="0">
                <a:solidFill>
                  <a:srgbClr val="191919"/>
                </a:solidFill>
                <a:latin typeface="Georgia"/>
                <a:cs typeface="Georgia"/>
              </a:rPr>
              <a:t>values</a:t>
            </a:r>
            <a:r>
              <a:rPr sz="2150" spc="18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there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80" dirty="0">
                <a:solidFill>
                  <a:srgbClr val="191919"/>
                </a:solidFill>
                <a:latin typeface="Georgia"/>
                <a:cs typeface="Georgia"/>
              </a:rPr>
              <a:t>if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55" dirty="0">
                <a:solidFill>
                  <a:srgbClr val="191919"/>
                </a:solidFill>
                <a:latin typeface="Georgia"/>
                <a:cs typeface="Georgia"/>
              </a:rPr>
              <a:t>you</a:t>
            </a:r>
            <a:r>
              <a:rPr sz="2150" spc="180" dirty="0">
                <a:solidFill>
                  <a:srgbClr val="191919"/>
                </a:solidFill>
                <a:latin typeface="Georgia"/>
                <a:cs typeface="Georgia"/>
              </a:rPr>
              <a:t> want</a:t>
            </a:r>
            <a:r>
              <a:rPr sz="2150" spc="19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05" dirty="0">
                <a:solidFill>
                  <a:srgbClr val="191919"/>
                </a:solidFill>
                <a:latin typeface="Georgia"/>
                <a:cs typeface="Georgia"/>
              </a:rPr>
              <a:t>to </a:t>
            </a:r>
            <a:r>
              <a:rPr sz="2150" spc="195" dirty="0">
                <a:solidFill>
                  <a:srgbClr val="191919"/>
                </a:solidFill>
                <a:latin typeface="Georgia"/>
                <a:cs typeface="Georgia"/>
              </a:rPr>
              <a:t>use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65" dirty="0">
                <a:solidFill>
                  <a:srgbClr val="191919"/>
                </a:solidFill>
                <a:latin typeface="Georgia"/>
                <a:cs typeface="Georgia"/>
              </a:rPr>
              <a:t>those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30" dirty="0">
                <a:solidFill>
                  <a:srgbClr val="191919"/>
                </a:solidFill>
                <a:latin typeface="Georgia"/>
                <a:cs typeface="Georgia"/>
              </a:rPr>
              <a:t>instructions.</a:t>
            </a:r>
            <a:endParaRPr sz="2150" dirty="0">
              <a:latin typeface="Georgia"/>
              <a:cs typeface="Georgia"/>
            </a:endParaRPr>
          </a:p>
          <a:p>
            <a:pPr marL="12700" marR="912494">
              <a:lnSpc>
                <a:spcPts val="2540"/>
              </a:lnSpc>
              <a:spcBef>
                <a:spcPts val="969"/>
              </a:spcBef>
            </a:pPr>
            <a:r>
              <a:rPr sz="2150" spc="145" dirty="0">
                <a:solidFill>
                  <a:srgbClr val="FF0000"/>
                </a:solidFill>
                <a:latin typeface="Georgia"/>
                <a:cs typeface="Georgia"/>
              </a:rPr>
              <a:t>MIPS:</a:t>
            </a:r>
            <a:r>
              <a:rPr sz="2150" spc="18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2150" spc="210" dirty="0">
                <a:solidFill>
                  <a:srgbClr val="191919"/>
                </a:solidFill>
                <a:latin typeface="Georgia"/>
                <a:cs typeface="Georgia"/>
              </a:rPr>
              <a:t>Some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registers </a:t>
            </a:r>
            <a:r>
              <a:rPr sz="2150" spc="195" dirty="0">
                <a:solidFill>
                  <a:srgbClr val="191919"/>
                </a:solidFill>
                <a:latin typeface="Georgia"/>
                <a:cs typeface="Georgia"/>
              </a:rPr>
              <a:t>reserved</a:t>
            </a:r>
            <a:r>
              <a:rPr sz="2150" spc="20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35" dirty="0">
                <a:solidFill>
                  <a:srgbClr val="191919"/>
                </a:solidFill>
                <a:latin typeface="Georgia"/>
                <a:cs typeface="Georgia"/>
              </a:rPr>
              <a:t>for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70" dirty="0">
                <a:solidFill>
                  <a:srgbClr val="191919"/>
                </a:solidFill>
                <a:latin typeface="Georgia"/>
                <a:cs typeface="Georgia"/>
              </a:rPr>
              <a:t>the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80" dirty="0">
                <a:solidFill>
                  <a:srgbClr val="191919"/>
                </a:solidFill>
                <a:latin typeface="Georgia"/>
                <a:cs typeface="Georgia"/>
              </a:rPr>
              <a:t>assembler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30" dirty="0">
                <a:solidFill>
                  <a:srgbClr val="191919"/>
                </a:solidFill>
                <a:latin typeface="Georgia"/>
                <a:cs typeface="Georgia"/>
              </a:rPr>
              <a:t>or </a:t>
            </a:r>
            <a:r>
              <a:rPr sz="2150" spc="165" dirty="0">
                <a:solidFill>
                  <a:srgbClr val="191919"/>
                </a:solidFill>
                <a:latin typeface="Georgia"/>
                <a:cs typeface="Georgia"/>
              </a:rPr>
              <a:t>operating</a:t>
            </a:r>
            <a:r>
              <a:rPr sz="2150" spc="22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60" dirty="0">
                <a:solidFill>
                  <a:srgbClr val="191919"/>
                </a:solidFill>
                <a:latin typeface="Georgia"/>
                <a:cs typeface="Georgia"/>
              </a:rPr>
              <a:t>system.</a:t>
            </a:r>
            <a:endParaRPr sz="2150" dirty="0">
              <a:latin typeface="Georgia"/>
              <a:cs typeface="Georgia"/>
            </a:endParaRPr>
          </a:p>
          <a:p>
            <a:pPr marL="12700" marR="568960">
              <a:lnSpc>
                <a:spcPts val="2540"/>
              </a:lnSpc>
              <a:spcBef>
                <a:spcPts val="890"/>
              </a:spcBef>
            </a:pPr>
            <a:r>
              <a:rPr sz="2150" spc="170" dirty="0">
                <a:solidFill>
                  <a:srgbClr val="191919"/>
                </a:solidFill>
                <a:latin typeface="Georgia"/>
                <a:cs typeface="Georgia"/>
              </a:rPr>
              <a:t>Most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65" dirty="0">
                <a:solidFill>
                  <a:srgbClr val="191919"/>
                </a:solidFill>
                <a:latin typeface="Georgia"/>
                <a:cs typeface="Georgia"/>
              </a:rPr>
              <a:t>architectures: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210" dirty="0">
                <a:solidFill>
                  <a:srgbClr val="191919"/>
                </a:solidFill>
                <a:latin typeface="Georgia"/>
                <a:cs typeface="Georgia"/>
              </a:rPr>
              <a:t>Some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registers</a:t>
            </a:r>
            <a:r>
              <a:rPr sz="21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55" dirty="0">
                <a:solidFill>
                  <a:srgbClr val="191919"/>
                </a:solidFill>
                <a:latin typeface="Georgia"/>
                <a:cs typeface="Georgia"/>
              </a:rPr>
              <a:t>must</a:t>
            </a:r>
            <a:r>
              <a:rPr sz="2150" spc="18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220" dirty="0">
                <a:solidFill>
                  <a:srgbClr val="191919"/>
                </a:solidFill>
                <a:latin typeface="Georgia"/>
                <a:cs typeface="Georgia"/>
              </a:rPr>
              <a:t>be</a:t>
            </a:r>
            <a:r>
              <a:rPr sz="2150" spc="204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80" dirty="0">
                <a:solidFill>
                  <a:srgbClr val="191919"/>
                </a:solidFill>
                <a:latin typeface="Georgia"/>
                <a:cs typeface="Georgia"/>
              </a:rPr>
              <a:t>preserved 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across</a:t>
            </a:r>
            <a:r>
              <a:rPr sz="2150" spc="18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35" dirty="0">
                <a:solidFill>
                  <a:srgbClr val="191919"/>
                </a:solidFill>
                <a:latin typeface="Georgia"/>
                <a:cs typeface="Georgia"/>
              </a:rPr>
              <a:t>function</a:t>
            </a:r>
            <a:r>
              <a:rPr sz="2150" spc="18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150" spc="135" dirty="0">
                <a:solidFill>
                  <a:srgbClr val="191919"/>
                </a:solidFill>
                <a:latin typeface="Georgia"/>
                <a:cs typeface="Georgia"/>
              </a:rPr>
              <a:t>calls.</a:t>
            </a:r>
            <a:endParaRPr sz="2150" dirty="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17930" y="4805680"/>
            <a:ext cx="124460" cy="162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950" spc="15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7930" y="5886451"/>
            <a:ext cx="124460" cy="162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950" spc="15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7930" y="6644641"/>
            <a:ext cx="124460" cy="162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950" spc="15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95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3898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807720">
              <a:spcBef>
                <a:spcPts val="100"/>
              </a:spcBef>
            </a:pPr>
            <a:r>
              <a:rPr sz="4000" spc="270" dirty="0"/>
              <a:t>Our</a:t>
            </a:r>
            <a:r>
              <a:rPr sz="4000" spc="300" dirty="0"/>
              <a:t> Register </a:t>
            </a:r>
            <a:r>
              <a:rPr sz="4000" spc="235" dirty="0"/>
              <a:t>Allocator</a:t>
            </a:r>
            <a:r>
              <a:rPr sz="4000" spc="300" dirty="0"/>
              <a:t> </a:t>
            </a:r>
            <a:r>
              <a:rPr sz="4000" spc="95" dirty="0"/>
              <a:t>In</a:t>
            </a:r>
            <a:r>
              <a:rPr sz="4000" spc="305" dirty="0"/>
              <a:t> </a:t>
            </a:r>
            <a:r>
              <a:rPr sz="4000" spc="215" dirty="0"/>
              <a:t>Action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9020" y="1548885"/>
          <a:ext cx="2501899" cy="138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2862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807720">
              <a:spcBef>
                <a:spcPts val="100"/>
              </a:spcBef>
            </a:pPr>
            <a:r>
              <a:rPr sz="4000" spc="270" dirty="0"/>
              <a:t>Our</a:t>
            </a:r>
            <a:r>
              <a:rPr sz="4000" spc="300" dirty="0"/>
              <a:t> Register </a:t>
            </a:r>
            <a:r>
              <a:rPr sz="4000" spc="235" dirty="0"/>
              <a:t>Allocator</a:t>
            </a:r>
            <a:r>
              <a:rPr sz="4000" spc="300" dirty="0"/>
              <a:t> </a:t>
            </a:r>
            <a:r>
              <a:rPr sz="4000" spc="95" dirty="0"/>
              <a:t>In</a:t>
            </a:r>
            <a:r>
              <a:rPr sz="4000" spc="305" dirty="0"/>
              <a:t> </a:t>
            </a:r>
            <a:r>
              <a:rPr sz="4000" spc="215" dirty="0"/>
              <a:t>Action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9020" y="1548885"/>
          <a:ext cx="2501899" cy="138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32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a;</a:t>
                      </a:r>
                      <a:endParaRPr sz="32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d;</a:t>
                      </a:r>
                      <a:endParaRPr sz="32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62000" y="3200400"/>
            <a:ext cx="2286000" cy="4114800"/>
            <a:chOff x="457200" y="3200400"/>
            <a:chExt cx="2286000" cy="4114800"/>
          </a:xfrm>
        </p:grpSpPr>
        <p:sp>
          <p:nvSpPr>
            <p:cNvPr id="5" name="object 5"/>
            <p:cNvSpPr/>
            <p:nvPr/>
          </p:nvSpPr>
          <p:spPr>
            <a:xfrm>
              <a:off x="457200" y="3200399"/>
              <a:ext cx="2286000" cy="1371600"/>
            </a:xfrm>
            <a:custGeom>
              <a:avLst/>
              <a:gdLst/>
              <a:ahLst/>
              <a:cxnLst/>
              <a:rect l="l" t="t" r="r" b="b"/>
              <a:pathLst>
                <a:path w="2286000" h="13716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1143000" y="13716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D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4571999"/>
              <a:ext cx="2286000" cy="914400"/>
            </a:xfrm>
            <a:custGeom>
              <a:avLst/>
              <a:gdLst/>
              <a:ahLst/>
              <a:cxnLst/>
              <a:rect l="l" t="t" r="r" b="b"/>
              <a:pathLst>
                <a:path w="2286000" h="9144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66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5486399"/>
              <a:ext cx="2286000" cy="1828800"/>
            </a:xfrm>
            <a:custGeom>
              <a:avLst/>
              <a:gdLst/>
              <a:ahLst/>
              <a:cxnLst/>
              <a:rect l="l" t="t" r="r" b="b"/>
              <a:pathLst>
                <a:path w="2286000" h="18288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0" y="1828800"/>
                  </a:lnTo>
                  <a:lnTo>
                    <a:pt x="1143000" y="1828800"/>
                  </a:lnTo>
                  <a:lnTo>
                    <a:pt x="2286000" y="18288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2000" y="3200400"/>
          <a:ext cx="22860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4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35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55" dirty="0">
                          <a:solidFill>
                            <a:srgbClr val="191919"/>
                          </a:solidFill>
                          <a:latin typeface="Georgia"/>
                          <a:cs typeface="Georgia"/>
                        </a:rPr>
                        <a:t>...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787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6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55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fp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5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ra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149601" y="6483333"/>
            <a:ext cx="854075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16</a:t>
            </a:r>
            <a:endParaRPr>
              <a:latin typeface="Cambria"/>
              <a:cs typeface="Cambria"/>
            </a:endParaRPr>
          </a:p>
          <a:p>
            <a:pPr marL="12700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20</a:t>
            </a:r>
            <a:endParaRPr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5939" y="3268979"/>
            <a:ext cx="100203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4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270" dirty="0">
                <a:solidFill>
                  <a:srgbClr val="191919"/>
                </a:solidFill>
                <a:latin typeface="Cambria"/>
                <a:cs typeface="Cambria"/>
              </a:rPr>
              <a:t>4N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...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0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8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12</a:t>
            </a:r>
            <a:endParaRPr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565837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807720">
              <a:spcBef>
                <a:spcPts val="100"/>
              </a:spcBef>
            </a:pPr>
            <a:r>
              <a:rPr sz="4000" spc="270" dirty="0"/>
              <a:t>Our</a:t>
            </a:r>
            <a:r>
              <a:rPr sz="4000" spc="300" dirty="0"/>
              <a:t> Register </a:t>
            </a:r>
            <a:r>
              <a:rPr sz="4000" spc="235" dirty="0"/>
              <a:t>Allocator</a:t>
            </a:r>
            <a:r>
              <a:rPr sz="4000" spc="300" dirty="0"/>
              <a:t> </a:t>
            </a:r>
            <a:r>
              <a:rPr sz="4000" spc="95" dirty="0"/>
              <a:t>In</a:t>
            </a:r>
            <a:r>
              <a:rPr sz="4000" spc="305" dirty="0"/>
              <a:t> </a:t>
            </a:r>
            <a:r>
              <a:rPr sz="4000" spc="215" dirty="0"/>
              <a:t>Action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9020" y="1548885"/>
          <a:ext cx="2501899" cy="138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62000" y="3200400"/>
            <a:ext cx="2286000" cy="4114800"/>
            <a:chOff x="457200" y="3200400"/>
            <a:chExt cx="2286000" cy="4114800"/>
          </a:xfrm>
        </p:grpSpPr>
        <p:sp>
          <p:nvSpPr>
            <p:cNvPr id="5" name="object 5"/>
            <p:cNvSpPr/>
            <p:nvPr/>
          </p:nvSpPr>
          <p:spPr>
            <a:xfrm>
              <a:off x="457200" y="3200399"/>
              <a:ext cx="2286000" cy="1371600"/>
            </a:xfrm>
            <a:custGeom>
              <a:avLst/>
              <a:gdLst/>
              <a:ahLst/>
              <a:cxnLst/>
              <a:rect l="l" t="t" r="r" b="b"/>
              <a:pathLst>
                <a:path w="2286000" h="13716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1143000" y="13716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D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4571999"/>
              <a:ext cx="2286000" cy="914400"/>
            </a:xfrm>
            <a:custGeom>
              <a:avLst/>
              <a:gdLst/>
              <a:ahLst/>
              <a:cxnLst/>
              <a:rect l="l" t="t" r="r" b="b"/>
              <a:pathLst>
                <a:path w="2286000" h="9144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66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5486399"/>
              <a:ext cx="2286000" cy="1828800"/>
            </a:xfrm>
            <a:custGeom>
              <a:avLst/>
              <a:gdLst/>
              <a:ahLst/>
              <a:cxnLst/>
              <a:rect l="l" t="t" r="r" b="b"/>
              <a:pathLst>
                <a:path w="2286000" h="18288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0" y="1828800"/>
                  </a:lnTo>
                  <a:lnTo>
                    <a:pt x="1143000" y="1828800"/>
                  </a:lnTo>
                  <a:lnTo>
                    <a:pt x="2286000" y="18288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2000" y="3200400"/>
          <a:ext cx="22860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4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35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55" dirty="0">
                          <a:solidFill>
                            <a:srgbClr val="191919"/>
                          </a:solidFill>
                          <a:latin typeface="Georgia"/>
                          <a:cs typeface="Georgia"/>
                        </a:rPr>
                        <a:t>...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787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6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55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fp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5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ra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149601" y="6483333"/>
            <a:ext cx="854075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16</a:t>
            </a:r>
            <a:endParaRPr>
              <a:latin typeface="Cambria"/>
              <a:cs typeface="Cambria"/>
            </a:endParaRPr>
          </a:p>
          <a:p>
            <a:pPr marL="12700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20</a:t>
            </a:r>
            <a:endParaRPr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5939" y="3268979"/>
            <a:ext cx="100203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4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270" dirty="0">
                <a:solidFill>
                  <a:srgbClr val="191919"/>
                </a:solidFill>
                <a:latin typeface="Cambria"/>
                <a:cs typeface="Cambria"/>
              </a:rPr>
              <a:t>4N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...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0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8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12</a:t>
            </a:r>
            <a:endParaRPr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816950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807720">
              <a:spcBef>
                <a:spcPts val="100"/>
              </a:spcBef>
            </a:pPr>
            <a:r>
              <a:rPr sz="4000" spc="270" dirty="0"/>
              <a:t>Our</a:t>
            </a:r>
            <a:r>
              <a:rPr sz="4000" spc="300" dirty="0"/>
              <a:t> Register </a:t>
            </a:r>
            <a:r>
              <a:rPr sz="4000" spc="235" dirty="0"/>
              <a:t>Allocator</a:t>
            </a:r>
            <a:r>
              <a:rPr sz="4000" spc="300" dirty="0"/>
              <a:t> </a:t>
            </a:r>
            <a:r>
              <a:rPr sz="4000" spc="95" dirty="0"/>
              <a:t>In</a:t>
            </a:r>
            <a:r>
              <a:rPr sz="4000" spc="305" dirty="0"/>
              <a:t> </a:t>
            </a:r>
            <a:r>
              <a:rPr sz="4000" spc="215" dirty="0"/>
              <a:t>Action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9020" y="1548885"/>
          <a:ext cx="2501899" cy="138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62000" y="3200400"/>
            <a:ext cx="2286000" cy="4114800"/>
            <a:chOff x="457200" y="3200400"/>
            <a:chExt cx="2286000" cy="4114800"/>
          </a:xfrm>
        </p:grpSpPr>
        <p:sp>
          <p:nvSpPr>
            <p:cNvPr id="5" name="object 5"/>
            <p:cNvSpPr/>
            <p:nvPr/>
          </p:nvSpPr>
          <p:spPr>
            <a:xfrm>
              <a:off x="457200" y="3200399"/>
              <a:ext cx="2286000" cy="1371600"/>
            </a:xfrm>
            <a:custGeom>
              <a:avLst/>
              <a:gdLst/>
              <a:ahLst/>
              <a:cxnLst/>
              <a:rect l="l" t="t" r="r" b="b"/>
              <a:pathLst>
                <a:path w="2286000" h="13716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1143000" y="13716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D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4571999"/>
              <a:ext cx="2286000" cy="914400"/>
            </a:xfrm>
            <a:custGeom>
              <a:avLst/>
              <a:gdLst/>
              <a:ahLst/>
              <a:cxnLst/>
              <a:rect l="l" t="t" r="r" b="b"/>
              <a:pathLst>
                <a:path w="2286000" h="9144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66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5486399"/>
              <a:ext cx="2286000" cy="1828800"/>
            </a:xfrm>
            <a:custGeom>
              <a:avLst/>
              <a:gdLst/>
              <a:ahLst/>
              <a:cxnLst/>
              <a:rect l="l" t="t" r="r" b="b"/>
              <a:pathLst>
                <a:path w="2286000" h="18288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0" y="1828800"/>
                  </a:lnTo>
                  <a:lnTo>
                    <a:pt x="1143000" y="1828800"/>
                  </a:lnTo>
                  <a:lnTo>
                    <a:pt x="2286000" y="18288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2000" y="3200400"/>
          <a:ext cx="22860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4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35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55" dirty="0">
                          <a:solidFill>
                            <a:srgbClr val="191919"/>
                          </a:solidFill>
                          <a:latin typeface="Georgia"/>
                          <a:cs typeface="Georgia"/>
                        </a:rPr>
                        <a:t>...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787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6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55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fp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5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ra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3149601" y="6483333"/>
            <a:ext cx="854075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16</a:t>
            </a:r>
            <a:endParaRPr>
              <a:latin typeface="Cambria"/>
              <a:cs typeface="Cambria"/>
            </a:endParaRPr>
          </a:p>
          <a:p>
            <a:pPr marL="12700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20</a:t>
            </a:r>
            <a:endParaRPr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5939" y="3268979"/>
            <a:ext cx="100203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4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270" dirty="0">
                <a:solidFill>
                  <a:srgbClr val="191919"/>
                </a:solidFill>
                <a:latin typeface="Cambria"/>
                <a:cs typeface="Cambria"/>
              </a:rPr>
              <a:t>4N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...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0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8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12</a:t>
            </a:r>
            <a:endParaRPr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4270" y="1494790"/>
            <a:ext cx="44145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$t0,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12(fp)</a:t>
            </a:r>
            <a:endParaRPr sz="3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32699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807720">
              <a:spcBef>
                <a:spcPts val="100"/>
              </a:spcBef>
            </a:pPr>
            <a:r>
              <a:rPr sz="4000" spc="270" dirty="0"/>
              <a:t>Our</a:t>
            </a:r>
            <a:r>
              <a:rPr sz="4000" spc="300" dirty="0"/>
              <a:t> Register </a:t>
            </a:r>
            <a:r>
              <a:rPr sz="4000" spc="235" dirty="0"/>
              <a:t>Allocator</a:t>
            </a:r>
            <a:r>
              <a:rPr sz="4000" spc="300" dirty="0"/>
              <a:t> </a:t>
            </a:r>
            <a:r>
              <a:rPr sz="4000" spc="95" dirty="0"/>
              <a:t>In</a:t>
            </a:r>
            <a:r>
              <a:rPr sz="4000" spc="305" dirty="0"/>
              <a:t> </a:t>
            </a:r>
            <a:r>
              <a:rPr sz="4000" spc="215" dirty="0"/>
              <a:t>Action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9020" y="1548885"/>
          <a:ext cx="2501899" cy="138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62000" y="3200400"/>
            <a:ext cx="2286000" cy="4114800"/>
            <a:chOff x="457200" y="3200400"/>
            <a:chExt cx="2286000" cy="4114800"/>
          </a:xfrm>
        </p:grpSpPr>
        <p:sp>
          <p:nvSpPr>
            <p:cNvPr id="5" name="object 5"/>
            <p:cNvSpPr/>
            <p:nvPr/>
          </p:nvSpPr>
          <p:spPr>
            <a:xfrm>
              <a:off x="457200" y="3200399"/>
              <a:ext cx="2286000" cy="1371600"/>
            </a:xfrm>
            <a:custGeom>
              <a:avLst/>
              <a:gdLst/>
              <a:ahLst/>
              <a:cxnLst/>
              <a:rect l="l" t="t" r="r" b="b"/>
              <a:pathLst>
                <a:path w="2286000" h="13716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1143000" y="13716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D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4571999"/>
              <a:ext cx="2286000" cy="914400"/>
            </a:xfrm>
            <a:custGeom>
              <a:avLst/>
              <a:gdLst/>
              <a:ahLst/>
              <a:cxnLst/>
              <a:rect l="l" t="t" r="r" b="b"/>
              <a:pathLst>
                <a:path w="2286000" h="9144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66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5486399"/>
              <a:ext cx="2286000" cy="1828800"/>
            </a:xfrm>
            <a:custGeom>
              <a:avLst/>
              <a:gdLst/>
              <a:ahLst/>
              <a:cxnLst/>
              <a:rect l="l" t="t" r="r" b="b"/>
              <a:pathLst>
                <a:path w="2286000" h="18288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0" y="1828800"/>
                  </a:lnTo>
                  <a:lnTo>
                    <a:pt x="1143000" y="1828800"/>
                  </a:lnTo>
                  <a:lnTo>
                    <a:pt x="2286000" y="18288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2000" y="3200400"/>
          <a:ext cx="22860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4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35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55" dirty="0">
                          <a:solidFill>
                            <a:srgbClr val="191919"/>
                          </a:solidFill>
                          <a:latin typeface="Georgia"/>
                          <a:cs typeface="Georgia"/>
                        </a:rPr>
                        <a:t>...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787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6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55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fp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5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ra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3149601" y="6483333"/>
            <a:ext cx="854075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16</a:t>
            </a:r>
            <a:endParaRPr>
              <a:latin typeface="Cambria"/>
              <a:cs typeface="Cambria"/>
            </a:endParaRPr>
          </a:p>
          <a:p>
            <a:pPr marL="12700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20</a:t>
            </a:r>
            <a:endParaRPr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5939" y="3268979"/>
            <a:ext cx="100203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4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270" dirty="0">
                <a:solidFill>
                  <a:srgbClr val="191919"/>
                </a:solidFill>
                <a:latin typeface="Cambria"/>
                <a:cs typeface="Cambria"/>
              </a:rPr>
              <a:t>4N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...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0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8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12</a:t>
            </a:r>
            <a:endParaRPr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4270" y="1494790"/>
            <a:ext cx="441452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00"/>
              </a:lnSpc>
              <a:spcBef>
                <a:spcPts val="100"/>
              </a:spcBef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$t0,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12(fp)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ts val="4200"/>
              </a:lnSpc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$t1,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16(fp)</a:t>
            </a:r>
            <a:endParaRPr sz="3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236301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807720">
              <a:spcBef>
                <a:spcPts val="100"/>
              </a:spcBef>
            </a:pPr>
            <a:r>
              <a:rPr sz="4000" spc="270" dirty="0"/>
              <a:t>Our</a:t>
            </a:r>
            <a:r>
              <a:rPr sz="4000" spc="300" dirty="0"/>
              <a:t> Register </a:t>
            </a:r>
            <a:r>
              <a:rPr sz="4000" spc="235" dirty="0"/>
              <a:t>Allocator</a:t>
            </a:r>
            <a:r>
              <a:rPr sz="4000" spc="300" dirty="0"/>
              <a:t> </a:t>
            </a:r>
            <a:r>
              <a:rPr sz="4000" spc="95" dirty="0"/>
              <a:t>In</a:t>
            </a:r>
            <a:r>
              <a:rPr sz="4000" spc="305" dirty="0"/>
              <a:t> </a:t>
            </a:r>
            <a:r>
              <a:rPr sz="4000" spc="215" dirty="0"/>
              <a:t>Action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9020" y="1548885"/>
          <a:ext cx="2501899" cy="138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62000" y="3200400"/>
            <a:ext cx="2286000" cy="4114800"/>
            <a:chOff x="457200" y="3200400"/>
            <a:chExt cx="2286000" cy="4114800"/>
          </a:xfrm>
        </p:grpSpPr>
        <p:sp>
          <p:nvSpPr>
            <p:cNvPr id="5" name="object 5"/>
            <p:cNvSpPr/>
            <p:nvPr/>
          </p:nvSpPr>
          <p:spPr>
            <a:xfrm>
              <a:off x="457200" y="3200399"/>
              <a:ext cx="2286000" cy="1371600"/>
            </a:xfrm>
            <a:custGeom>
              <a:avLst/>
              <a:gdLst/>
              <a:ahLst/>
              <a:cxnLst/>
              <a:rect l="l" t="t" r="r" b="b"/>
              <a:pathLst>
                <a:path w="2286000" h="13716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1143000" y="13716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D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4571999"/>
              <a:ext cx="2286000" cy="914400"/>
            </a:xfrm>
            <a:custGeom>
              <a:avLst/>
              <a:gdLst/>
              <a:ahLst/>
              <a:cxnLst/>
              <a:rect l="l" t="t" r="r" b="b"/>
              <a:pathLst>
                <a:path w="2286000" h="9144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66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5486399"/>
              <a:ext cx="2286000" cy="1828800"/>
            </a:xfrm>
            <a:custGeom>
              <a:avLst/>
              <a:gdLst/>
              <a:ahLst/>
              <a:cxnLst/>
              <a:rect l="l" t="t" r="r" b="b"/>
              <a:pathLst>
                <a:path w="2286000" h="18288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0" y="1828800"/>
                  </a:lnTo>
                  <a:lnTo>
                    <a:pt x="1143000" y="1828800"/>
                  </a:lnTo>
                  <a:lnTo>
                    <a:pt x="2286000" y="18288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2000" y="3200400"/>
          <a:ext cx="22860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4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35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55" dirty="0">
                          <a:solidFill>
                            <a:srgbClr val="191919"/>
                          </a:solidFill>
                          <a:latin typeface="Georgia"/>
                          <a:cs typeface="Georgia"/>
                        </a:rPr>
                        <a:t>...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787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6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55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fp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5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ra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3149601" y="6483333"/>
            <a:ext cx="854075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16</a:t>
            </a:r>
            <a:endParaRPr>
              <a:latin typeface="Cambria"/>
              <a:cs typeface="Cambria"/>
            </a:endParaRPr>
          </a:p>
          <a:p>
            <a:pPr marL="12700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20</a:t>
            </a:r>
            <a:endParaRPr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5939" y="3268979"/>
            <a:ext cx="100203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4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270" dirty="0">
                <a:solidFill>
                  <a:srgbClr val="191919"/>
                </a:solidFill>
                <a:latin typeface="Cambria"/>
                <a:cs typeface="Cambria"/>
              </a:rPr>
              <a:t>4N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...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0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8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12</a:t>
            </a:r>
            <a:endParaRPr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4270" y="1494791"/>
            <a:ext cx="4688840" cy="16286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00"/>
              </a:lnSpc>
              <a:spcBef>
                <a:spcPts val="100"/>
              </a:spcBef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$t0,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12(fp)</a:t>
            </a:r>
            <a:endParaRPr sz="3600">
              <a:latin typeface="Courier New"/>
              <a:cs typeface="Courier New"/>
            </a:endParaRPr>
          </a:p>
          <a:p>
            <a:pPr marL="12700" marR="5080">
              <a:lnSpc>
                <a:spcPts val="4079"/>
              </a:lnSpc>
              <a:spcBef>
                <a:spcPts val="215"/>
              </a:spcBef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$t1,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16(fp) 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add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$t2,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$t0,</a:t>
            </a:r>
            <a:r>
              <a:rPr sz="3600" spc="-9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$t1</a:t>
            </a:r>
            <a:endParaRPr sz="3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501626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807720">
              <a:spcBef>
                <a:spcPts val="100"/>
              </a:spcBef>
            </a:pPr>
            <a:r>
              <a:rPr sz="4000" spc="270" dirty="0"/>
              <a:t>Our</a:t>
            </a:r>
            <a:r>
              <a:rPr sz="4000" spc="300" dirty="0"/>
              <a:t> Register </a:t>
            </a:r>
            <a:r>
              <a:rPr sz="4000" spc="235" dirty="0"/>
              <a:t>Allocator</a:t>
            </a:r>
            <a:r>
              <a:rPr sz="4000" spc="300" dirty="0"/>
              <a:t> </a:t>
            </a:r>
            <a:r>
              <a:rPr sz="4000" spc="95" dirty="0"/>
              <a:t>In</a:t>
            </a:r>
            <a:r>
              <a:rPr sz="4000" spc="305" dirty="0"/>
              <a:t> </a:t>
            </a:r>
            <a:r>
              <a:rPr sz="4000" spc="215" dirty="0"/>
              <a:t>Action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9020" y="1548885"/>
          <a:ext cx="2501899" cy="138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62000" y="3200400"/>
            <a:ext cx="2286000" cy="4114800"/>
            <a:chOff x="457200" y="3200400"/>
            <a:chExt cx="2286000" cy="4114800"/>
          </a:xfrm>
        </p:grpSpPr>
        <p:sp>
          <p:nvSpPr>
            <p:cNvPr id="5" name="object 5"/>
            <p:cNvSpPr/>
            <p:nvPr/>
          </p:nvSpPr>
          <p:spPr>
            <a:xfrm>
              <a:off x="457200" y="3200399"/>
              <a:ext cx="2286000" cy="1371600"/>
            </a:xfrm>
            <a:custGeom>
              <a:avLst/>
              <a:gdLst/>
              <a:ahLst/>
              <a:cxnLst/>
              <a:rect l="l" t="t" r="r" b="b"/>
              <a:pathLst>
                <a:path w="2286000" h="13716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1143000" y="13716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D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4571999"/>
              <a:ext cx="2286000" cy="914400"/>
            </a:xfrm>
            <a:custGeom>
              <a:avLst/>
              <a:gdLst/>
              <a:ahLst/>
              <a:cxnLst/>
              <a:rect l="l" t="t" r="r" b="b"/>
              <a:pathLst>
                <a:path w="2286000" h="9144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66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5486399"/>
              <a:ext cx="2286000" cy="1828800"/>
            </a:xfrm>
            <a:custGeom>
              <a:avLst/>
              <a:gdLst/>
              <a:ahLst/>
              <a:cxnLst/>
              <a:rect l="l" t="t" r="r" b="b"/>
              <a:pathLst>
                <a:path w="2286000" h="18288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0" y="1828800"/>
                  </a:lnTo>
                  <a:lnTo>
                    <a:pt x="1143000" y="1828800"/>
                  </a:lnTo>
                  <a:lnTo>
                    <a:pt x="2286000" y="18288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2000" y="3200400"/>
          <a:ext cx="22860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4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35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55" dirty="0">
                          <a:solidFill>
                            <a:srgbClr val="191919"/>
                          </a:solidFill>
                          <a:latin typeface="Georgia"/>
                          <a:cs typeface="Georgia"/>
                        </a:rPr>
                        <a:t>...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787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6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55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fp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5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ra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3149601" y="6483333"/>
            <a:ext cx="854075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16</a:t>
            </a:r>
            <a:endParaRPr>
              <a:latin typeface="Cambria"/>
              <a:cs typeface="Cambria"/>
            </a:endParaRPr>
          </a:p>
          <a:p>
            <a:pPr marL="12700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20</a:t>
            </a:r>
            <a:endParaRPr>
              <a:latin typeface="Cambria"/>
              <a:cs typeface="Cambri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056889" y="3138543"/>
          <a:ext cx="6332220" cy="3168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9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8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b="1" spc="18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fp</a:t>
                      </a:r>
                      <a:r>
                        <a:rPr sz="1800" b="1" spc="22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434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+</a:t>
                      </a:r>
                      <a:r>
                        <a:rPr sz="1800" b="1" spc="24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27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4N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42875" marB="0"/>
                </a:tc>
                <a:tc>
                  <a:txBody>
                    <a:bodyPr/>
                    <a:lstStyle/>
                    <a:p>
                      <a:pPr marL="45085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sw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ts val="3715"/>
                        </a:lnSpc>
                        <a:tabLst>
                          <a:tab pos="1919605" algn="l"/>
                        </a:tabLst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$t2,</a:t>
                      </a:r>
                      <a:r>
                        <a:rPr sz="360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4013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18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...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spc="18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fp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434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+</a:t>
                      </a:r>
                      <a:r>
                        <a:rPr sz="1800" b="1" spc="229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spc="18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fp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434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+</a:t>
                      </a:r>
                      <a:r>
                        <a:rPr sz="1800" b="1" spc="229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spc="18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fp</a:t>
                      </a:r>
                      <a:r>
                        <a:rPr sz="1800" b="1" spc="22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2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1800" b="1" spc="229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spc="18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fp</a:t>
                      </a:r>
                      <a:r>
                        <a:rPr sz="1800" b="1" spc="22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2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1800" b="1" spc="229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8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585">
                <a:tc>
                  <a:txBody>
                    <a:bodyPr/>
                    <a:lstStyle/>
                    <a:p>
                      <a:pPr marL="105410">
                        <a:lnSpc>
                          <a:spcPts val="2125"/>
                        </a:lnSpc>
                        <a:spcBef>
                          <a:spcPts val="630"/>
                        </a:spcBef>
                      </a:pPr>
                      <a:r>
                        <a:rPr sz="1800" b="1" spc="18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fp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2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1800" b="1" spc="22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5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12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4954270" y="1494791"/>
            <a:ext cx="4688840" cy="16286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00"/>
              </a:lnSpc>
              <a:spcBef>
                <a:spcPts val="100"/>
              </a:spcBef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$t0,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12(fp)</a:t>
            </a:r>
            <a:endParaRPr sz="3600">
              <a:latin typeface="Courier New"/>
              <a:cs typeface="Courier New"/>
            </a:endParaRPr>
          </a:p>
          <a:p>
            <a:pPr marL="12700" marR="5080">
              <a:lnSpc>
                <a:spcPts val="4079"/>
              </a:lnSpc>
              <a:spcBef>
                <a:spcPts val="215"/>
              </a:spcBef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$t1,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16(fp) 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add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$t2,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$t0,</a:t>
            </a:r>
            <a:r>
              <a:rPr sz="3600" spc="-9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$t1</a:t>
            </a:r>
            <a:endParaRPr sz="3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9324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807720">
              <a:spcBef>
                <a:spcPts val="100"/>
              </a:spcBef>
            </a:pPr>
            <a:r>
              <a:rPr sz="4000" spc="270" dirty="0"/>
              <a:t>Our</a:t>
            </a:r>
            <a:r>
              <a:rPr sz="4000" spc="300" dirty="0"/>
              <a:t> Register </a:t>
            </a:r>
            <a:r>
              <a:rPr sz="4000" spc="235" dirty="0"/>
              <a:t>Allocator</a:t>
            </a:r>
            <a:r>
              <a:rPr sz="4000" spc="300" dirty="0"/>
              <a:t> </a:t>
            </a:r>
            <a:r>
              <a:rPr sz="4000" spc="95" dirty="0"/>
              <a:t>In</a:t>
            </a:r>
            <a:r>
              <a:rPr sz="4000" spc="305" dirty="0"/>
              <a:t> </a:t>
            </a:r>
            <a:r>
              <a:rPr sz="4000" spc="215" dirty="0"/>
              <a:t>Action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9020" y="1548885"/>
          <a:ext cx="2501899" cy="138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b="1" spc="-3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62000" y="3200400"/>
            <a:ext cx="2286000" cy="4114800"/>
            <a:chOff x="457200" y="3200400"/>
            <a:chExt cx="2286000" cy="4114800"/>
          </a:xfrm>
        </p:grpSpPr>
        <p:sp>
          <p:nvSpPr>
            <p:cNvPr id="5" name="object 5"/>
            <p:cNvSpPr/>
            <p:nvPr/>
          </p:nvSpPr>
          <p:spPr>
            <a:xfrm>
              <a:off x="457200" y="3200399"/>
              <a:ext cx="2286000" cy="1371600"/>
            </a:xfrm>
            <a:custGeom>
              <a:avLst/>
              <a:gdLst/>
              <a:ahLst/>
              <a:cxnLst/>
              <a:rect l="l" t="t" r="r" b="b"/>
              <a:pathLst>
                <a:path w="2286000" h="13716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1143000" y="13716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D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4571999"/>
              <a:ext cx="2286000" cy="914400"/>
            </a:xfrm>
            <a:custGeom>
              <a:avLst/>
              <a:gdLst/>
              <a:ahLst/>
              <a:cxnLst/>
              <a:rect l="l" t="t" r="r" b="b"/>
              <a:pathLst>
                <a:path w="2286000" h="9144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66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5486399"/>
              <a:ext cx="2286000" cy="1828800"/>
            </a:xfrm>
            <a:custGeom>
              <a:avLst/>
              <a:gdLst/>
              <a:ahLst/>
              <a:cxnLst/>
              <a:rect l="l" t="t" r="r" b="b"/>
              <a:pathLst>
                <a:path w="2286000" h="18288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0" y="1828800"/>
                  </a:lnTo>
                  <a:lnTo>
                    <a:pt x="1143000" y="1828800"/>
                  </a:lnTo>
                  <a:lnTo>
                    <a:pt x="2286000" y="18288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2000" y="3200400"/>
          <a:ext cx="22860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4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35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55" dirty="0">
                          <a:solidFill>
                            <a:srgbClr val="191919"/>
                          </a:solidFill>
                          <a:latin typeface="Georgia"/>
                          <a:cs typeface="Georgia"/>
                        </a:rPr>
                        <a:t>...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787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6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55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fp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5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ra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3149601" y="6483333"/>
            <a:ext cx="854075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16</a:t>
            </a:r>
            <a:endParaRPr>
              <a:latin typeface="Cambria"/>
              <a:cs typeface="Cambria"/>
            </a:endParaRPr>
          </a:p>
          <a:p>
            <a:pPr marL="12700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20</a:t>
            </a:r>
            <a:endParaRPr>
              <a:latin typeface="Cambria"/>
              <a:cs typeface="Cambri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056889" y="3138543"/>
          <a:ext cx="6332220" cy="3168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9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8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b="1" spc="18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fp</a:t>
                      </a:r>
                      <a:r>
                        <a:rPr sz="1800" b="1" spc="22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434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+</a:t>
                      </a:r>
                      <a:r>
                        <a:rPr sz="1800" b="1" spc="24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27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4N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142875" marB="0"/>
                </a:tc>
                <a:tc>
                  <a:txBody>
                    <a:bodyPr/>
                    <a:lstStyle/>
                    <a:p>
                      <a:pPr marL="45085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sw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4320">
                        <a:lnSpc>
                          <a:spcPts val="3715"/>
                        </a:lnSpc>
                        <a:tabLst>
                          <a:tab pos="1919605" algn="l"/>
                        </a:tabLst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$t2,</a:t>
                      </a:r>
                      <a:r>
                        <a:rPr sz="360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	</a:t>
                      </a: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4013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18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...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spc="18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fp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434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+</a:t>
                      </a:r>
                      <a:r>
                        <a:rPr sz="1800" b="1" spc="229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spc="18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fp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434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+</a:t>
                      </a:r>
                      <a:r>
                        <a:rPr sz="1800" b="1" spc="229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spc="18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fp</a:t>
                      </a:r>
                      <a:r>
                        <a:rPr sz="1800" b="1" spc="22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2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1800" b="1" spc="229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spc="18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fp</a:t>
                      </a:r>
                      <a:r>
                        <a:rPr sz="1800" b="1" spc="22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2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1800" b="1" spc="229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8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585">
                <a:tc>
                  <a:txBody>
                    <a:bodyPr/>
                    <a:lstStyle/>
                    <a:p>
                      <a:pPr marL="105410">
                        <a:lnSpc>
                          <a:spcPts val="2125"/>
                        </a:lnSpc>
                        <a:spcBef>
                          <a:spcPts val="630"/>
                        </a:spcBef>
                      </a:pPr>
                      <a:r>
                        <a:rPr sz="1800" b="1" spc="18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fp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2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1800" b="1" spc="22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5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12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00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4954270" y="1494791"/>
            <a:ext cx="4688840" cy="16286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00"/>
              </a:lnSpc>
              <a:spcBef>
                <a:spcPts val="100"/>
              </a:spcBef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$t0,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12(fp)</a:t>
            </a:r>
            <a:endParaRPr sz="3600">
              <a:latin typeface="Courier New"/>
              <a:cs typeface="Courier New"/>
            </a:endParaRPr>
          </a:p>
          <a:p>
            <a:pPr marL="12700" marR="5080">
              <a:lnSpc>
                <a:spcPts val="4079"/>
              </a:lnSpc>
              <a:spcBef>
                <a:spcPts val="215"/>
              </a:spcBef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$t1,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16(fp) 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add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$t2,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$t0,</a:t>
            </a:r>
            <a:r>
              <a:rPr sz="3600" spc="-9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$t1</a:t>
            </a:r>
            <a:endParaRPr sz="3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34781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807720">
              <a:spcBef>
                <a:spcPts val="100"/>
              </a:spcBef>
            </a:pPr>
            <a:r>
              <a:rPr sz="4000" spc="270" dirty="0"/>
              <a:t>Our</a:t>
            </a:r>
            <a:r>
              <a:rPr sz="4000" spc="300" dirty="0"/>
              <a:t> Register </a:t>
            </a:r>
            <a:r>
              <a:rPr sz="4000" spc="235" dirty="0"/>
              <a:t>Allocator</a:t>
            </a:r>
            <a:r>
              <a:rPr sz="4000" spc="300" dirty="0"/>
              <a:t> </a:t>
            </a:r>
            <a:r>
              <a:rPr sz="4000" spc="95" dirty="0"/>
              <a:t>In</a:t>
            </a:r>
            <a:r>
              <a:rPr sz="4000" spc="305" dirty="0"/>
              <a:t> </a:t>
            </a:r>
            <a:r>
              <a:rPr sz="4000" spc="215" dirty="0"/>
              <a:t>Action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9020" y="1548885"/>
          <a:ext cx="2501899" cy="138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b="1" spc="-3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62000" y="3200400"/>
            <a:ext cx="2286000" cy="4114800"/>
            <a:chOff x="457200" y="3200400"/>
            <a:chExt cx="2286000" cy="4114800"/>
          </a:xfrm>
        </p:grpSpPr>
        <p:sp>
          <p:nvSpPr>
            <p:cNvPr id="5" name="object 5"/>
            <p:cNvSpPr/>
            <p:nvPr/>
          </p:nvSpPr>
          <p:spPr>
            <a:xfrm>
              <a:off x="457200" y="3200399"/>
              <a:ext cx="2286000" cy="1371600"/>
            </a:xfrm>
            <a:custGeom>
              <a:avLst/>
              <a:gdLst/>
              <a:ahLst/>
              <a:cxnLst/>
              <a:rect l="l" t="t" r="r" b="b"/>
              <a:pathLst>
                <a:path w="2286000" h="13716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1143000" y="13716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D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4571999"/>
              <a:ext cx="2286000" cy="914400"/>
            </a:xfrm>
            <a:custGeom>
              <a:avLst/>
              <a:gdLst/>
              <a:ahLst/>
              <a:cxnLst/>
              <a:rect l="l" t="t" r="r" b="b"/>
              <a:pathLst>
                <a:path w="2286000" h="9144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66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5486399"/>
              <a:ext cx="2286000" cy="1828800"/>
            </a:xfrm>
            <a:custGeom>
              <a:avLst/>
              <a:gdLst/>
              <a:ahLst/>
              <a:cxnLst/>
              <a:rect l="l" t="t" r="r" b="b"/>
              <a:pathLst>
                <a:path w="2286000" h="18288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0" y="1828800"/>
                  </a:lnTo>
                  <a:lnTo>
                    <a:pt x="1143000" y="1828800"/>
                  </a:lnTo>
                  <a:lnTo>
                    <a:pt x="2286000" y="18288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2000" y="3200400"/>
          <a:ext cx="22860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4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35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55" dirty="0">
                          <a:solidFill>
                            <a:srgbClr val="191919"/>
                          </a:solidFill>
                          <a:latin typeface="Georgia"/>
                          <a:cs typeface="Georgia"/>
                        </a:rPr>
                        <a:t>...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787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6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55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fp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5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ra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3149601" y="6483333"/>
            <a:ext cx="854075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16</a:t>
            </a:r>
            <a:endParaRPr>
              <a:latin typeface="Cambria"/>
              <a:cs typeface="Cambria"/>
            </a:endParaRPr>
          </a:p>
          <a:p>
            <a:pPr marL="12700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20</a:t>
            </a:r>
            <a:endParaRPr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5939" y="3268979"/>
            <a:ext cx="100203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4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270" dirty="0">
                <a:solidFill>
                  <a:srgbClr val="191919"/>
                </a:solidFill>
                <a:latin typeface="Cambria"/>
                <a:cs typeface="Cambria"/>
              </a:rPr>
              <a:t>4N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...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0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8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12</a:t>
            </a:r>
            <a:endParaRPr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4270" y="1494790"/>
            <a:ext cx="441452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00"/>
              </a:lnSpc>
              <a:spcBef>
                <a:spcPts val="100"/>
              </a:spcBef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$t0,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12(fp)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ts val="4200"/>
              </a:lnSpc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$t1,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16(fp)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54270" y="2531109"/>
            <a:ext cx="46888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add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$t2,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$t0,</a:t>
            </a:r>
            <a:r>
              <a:rPr sz="3600" spc="-95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$t1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54270" y="2820670"/>
            <a:ext cx="4414520" cy="157988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spcBef>
                <a:spcPts val="1900"/>
              </a:spcBef>
              <a:tabLst>
                <a:tab pos="1109345" algn="l"/>
                <a:tab pos="275526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sw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</a:t>
            </a:r>
            <a:r>
              <a:rPr sz="3600" spc="-20" dirty="0">
                <a:solidFill>
                  <a:srgbClr val="191919"/>
                </a:solidFill>
                <a:latin typeface="Courier New"/>
                <a:cs typeface="Courier New"/>
              </a:rPr>
              <a:t>$t2,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20" dirty="0">
                <a:solidFill>
                  <a:srgbClr val="191919"/>
                </a:solidFill>
                <a:latin typeface="Courier New"/>
                <a:cs typeface="Courier New"/>
              </a:rPr>
              <a:t>8(fp)</a:t>
            </a:r>
            <a:endParaRPr sz="3600">
              <a:latin typeface="Courier New"/>
              <a:cs typeface="Courier New"/>
            </a:endParaRPr>
          </a:p>
          <a:p>
            <a:pPr marL="12700">
              <a:spcBef>
                <a:spcPts val="1800"/>
              </a:spcBef>
              <a:tabLst>
                <a:tab pos="1109345" algn="l"/>
                <a:tab pos="275526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</a:t>
            </a:r>
            <a:r>
              <a:rPr sz="3600" spc="-20" dirty="0">
                <a:solidFill>
                  <a:srgbClr val="191919"/>
                </a:solidFill>
                <a:latin typeface="Courier New"/>
                <a:cs typeface="Courier New"/>
              </a:rPr>
              <a:t>$t0,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20" dirty="0">
                <a:solidFill>
                  <a:srgbClr val="191919"/>
                </a:solidFill>
                <a:latin typeface="Courier New"/>
                <a:cs typeface="Courier New"/>
              </a:rPr>
              <a:t>8(fp)</a:t>
            </a:r>
            <a:endParaRPr sz="3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2769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807720">
              <a:spcBef>
                <a:spcPts val="100"/>
              </a:spcBef>
            </a:pPr>
            <a:r>
              <a:rPr sz="4000" spc="270" dirty="0"/>
              <a:t>Our</a:t>
            </a:r>
            <a:r>
              <a:rPr sz="4000" spc="300" dirty="0"/>
              <a:t> Register </a:t>
            </a:r>
            <a:r>
              <a:rPr sz="4000" spc="235" dirty="0"/>
              <a:t>Allocator</a:t>
            </a:r>
            <a:r>
              <a:rPr sz="4000" spc="300" dirty="0"/>
              <a:t> </a:t>
            </a:r>
            <a:r>
              <a:rPr sz="4000" spc="95" dirty="0"/>
              <a:t>In</a:t>
            </a:r>
            <a:r>
              <a:rPr sz="4000" spc="305" dirty="0"/>
              <a:t> </a:t>
            </a:r>
            <a:r>
              <a:rPr sz="4000" spc="215" dirty="0"/>
              <a:t>Action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9020" y="1548885"/>
          <a:ext cx="2501899" cy="138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b="1" spc="-3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62000" y="3200400"/>
            <a:ext cx="2286000" cy="4114800"/>
            <a:chOff x="457200" y="3200400"/>
            <a:chExt cx="2286000" cy="4114800"/>
          </a:xfrm>
        </p:grpSpPr>
        <p:sp>
          <p:nvSpPr>
            <p:cNvPr id="5" name="object 5"/>
            <p:cNvSpPr/>
            <p:nvPr/>
          </p:nvSpPr>
          <p:spPr>
            <a:xfrm>
              <a:off x="457200" y="3200399"/>
              <a:ext cx="2286000" cy="1371600"/>
            </a:xfrm>
            <a:custGeom>
              <a:avLst/>
              <a:gdLst/>
              <a:ahLst/>
              <a:cxnLst/>
              <a:rect l="l" t="t" r="r" b="b"/>
              <a:pathLst>
                <a:path w="2286000" h="13716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1143000" y="13716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D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4571999"/>
              <a:ext cx="2286000" cy="914400"/>
            </a:xfrm>
            <a:custGeom>
              <a:avLst/>
              <a:gdLst/>
              <a:ahLst/>
              <a:cxnLst/>
              <a:rect l="l" t="t" r="r" b="b"/>
              <a:pathLst>
                <a:path w="2286000" h="9144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66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5486399"/>
              <a:ext cx="2286000" cy="1828800"/>
            </a:xfrm>
            <a:custGeom>
              <a:avLst/>
              <a:gdLst/>
              <a:ahLst/>
              <a:cxnLst/>
              <a:rect l="l" t="t" r="r" b="b"/>
              <a:pathLst>
                <a:path w="2286000" h="18288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0" y="1828800"/>
                  </a:lnTo>
                  <a:lnTo>
                    <a:pt x="1143000" y="1828800"/>
                  </a:lnTo>
                  <a:lnTo>
                    <a:pt x="2286000" y="18288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2000" y="3200400"/>
          <a:ext cx="22860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4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35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55" dirty="0">
                          <a:solidFill>
                            <a:srgbClr val="191919"/>
                          </a:solidFill>
                          <a:latin typeface="Georgia"/>
                          <a:cs typeface="Georgia"/>
                        </a:rPr>
                        <a:t>...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787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6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55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fp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5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ra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149601" y="6483333"/>
            <a:ext cx="854075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16</a:t>
            </a:r>
            <a:endParaRPr>
              <a:latin typeface="Cambria"/>
              <a:cs typeface="Cambria"/>
            </a:endParaRPr>
          </a:p>
          <a:p>
            <a:pPr marL="12700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20</a:t>
            </a:r>
            <a:endParaRPr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5939" y="3268979"/>
            <a:ext cx="100203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4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270" dirty="0">
                <a:solidFill>
                  <a:srgbClr val="191919"/>
                </a:solidFill>
                <a:latin typeface="Cambria"/>
                <a:cs typeface="Cambria"/>
              </a:rPr>
              <a:t>4N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...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0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8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12</a:t>
            </a:r>
            <a:endParaRPr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4270" y="1494790"/>
            <a:ext cx="441452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00"/>
              </a:lnSpc>
              <a:spcBef>
                <a:spcPts val="100"/>
              </a:spcBef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$t0,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12(fp)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ts val="4200"/>
              </a:lnSpc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$t1,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16(fp)</a:t>
            </a:r>
            <a:endParaRPr sz="3600">
              <a:latin typeface="Courier New"/>
              <a:cs typeface="Courier New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4935221" y="2620383"/>
          <a:ext cx="4726939" cy="2329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1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3175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$t2,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$t1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3175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sw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$t2,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11480">
                        <a:lnSpc>
                          <a:spcPts val="3715"/>
                        </a:lnSpc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lw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gridSpan="2"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31750">
                        <a:lnSpc>
                          <a:spcPts val="3720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sw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20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7160">
                        <a:lnSpc>
                          <a:spcPts val="3720"/>
                        </a:lnSpc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1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20(fp)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42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807720">
              <a:spcBef>
                <a:spcPts val="100"/>
              </a:spcBef>
            </a:pPr>
            <a:r>
              <a:rPr sz="4000" spc="270" dirty="0"/>
              <a:t>Our</a:t>
            </a:r>
            <a:r>
              <a:rPr sz="4000" spc="300" dirty="0"/>
              <a:t> Register </a:t>
            </a:r>
            <a:r>
              <a:rPr sz="4000" spc="235" dirty="0"/>
              <a:t>Allocator</a:t>
            </a:r>
            <a:r>
              <a:rPr sz="4000" spc="300" dirty="0"/>
              <a:t> </a:t>
            </a:r>
            <a:r>
              <a:rPr sz="4000" spc="95" dirty="0"/>
              <a:t>In</a:t>
            </a:r>
            <a:r>
              <a:rPr sz="4000" spc="305" dirty="0"/>
              <a:t> </a:t>
            </a:r>
            <a:r>
              <a:rPr sz="4000" spc="215" dirty="0"/>
              <a:t>Action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9020" y="1548885"/>
          <a:ext cx="2501899" cy="138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d;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62000" y="3200400"/>
            <a:ext cx="2286000" cy="4114800"/>
            <a:chOff x="457200" y="3200400"/>
            <a:chExt cx="2286000" cy="4114800"/>
          </a:xfrm>
        </p:grpSpPr>
        <p:sp>
          <p:nvSpPr>
            <p:cNvPr id="5" name="object 5"/>
            <p:cNvSpPr/>
            <p:nvPr/>
          </p:nvSpPr>
          <p:spPr>
            <a:xfrm>
              <a:off x="457200" y="3200399"/>
              <a:ext cx="2286000" cy="1371600"/>
            </a:xfrm>
            <a:custGeom>
              <a:avLst/>
              <a:gdLst/>
              <a:ahLst/>
              <a:cxnLst/>
              <a:rect l="l" t="t" r="r" b="b"/>
              <a:pathLst>
                <a:path w="2286000" h="13716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1143000" y="13716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D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4571999"/>
              <a:ext cx="2286000" cy="914400"/>
            </a:xfrm>
            <a:custGeom>
              <a:avLst/>
              <a:gdLst/>
              <a:ahLst/>
              <a:cxnLst/>
              <a:rect l="l" t="t" r="r" b="b"/>
              <a:pathLst>
                <a:path w="2286000" h="9144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66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5486399"/>
              <a:ext cx="2286000" cy="1828800"/>
            </a:xfrm>
            <a:custGeom>
              <a:avLst/>
              <a:gdLst/>
              <a:ahLst/>
              <a:cxnLst/>
              <a:rect l="l" t="t" r="r" b="b"/>
              <a:pathLst>
                <a:path w="2286000" h="18288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0" y="1828800"/>
                  </a:lnTo>
                  <a:lnTo>
                    <a:pt x="1143000" y="1828800"/>
                  </a:lnTo>
                  <a:lnTo>
                    <a:pt x="2286000" y="18288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2000" y="3200400"/>
          <a:ext cx="22860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4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35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55" dirty="0">
                          <a:solidFill>
                            <a:srgbClr val="191919"/>
                          </a:solidFill>
                          <a:latin typeface="Georgia"/>
                          <a:cs typeface="Georgia"/>
                        </a:rPr>
                        <a:t>...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787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6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55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fp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5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ra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149601" y="6483333"/>
            <a:ext cx="854075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16</a:t>
            </a:r>
            <a:endParaRPr>
              <a:latin typeface="Cambria"/>
              <a:cs typeface="Cambria"/>
            </a:endParaRPr>
          </a:p>
          <a:p>
            <a:pPr marL="12700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20</a:t>
            </a:r>
            <a:endParaRPr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5939" y="3268979"/>
            <a:ext cx="100203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4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270" dirty="0">
                <a:solidFill>
                  <a:srgbClr val="191919"/>
                </a:solidFill>
                <a:latin typeface="Cambria"/>
                <a:cs typeface="Cambria"/>
              </a:rPr>
              <a:t>4N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...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0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8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12</a:t>
            </a:r>
            <a:endParaRPr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4270" y="1494790"/>
            <a:ext cx="441452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00"/>
              </a:lnSpc>
              <a:spcBef>
                <a:spcPts val="100"/>
              </a:spcBef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$t0,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12(fp)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ts val="4200"/>
              </a:lnSpc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$t1,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16(fp)</a:t>
            </a:r>
            <a:endParaRPr sz="3600">
              <a:latin typeface="Courier New"/>
              <a:cs typeface="Courier New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4935221" y="2620383"/>
          <a:ext cx="4726939" cy="2329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1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3175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$t2,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$t1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3175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sw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$t2,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11480">
                        <a:lnSpc>
                          <a:spcPts val="3715"/>
                        </a:lnSpc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lw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gridSpan="2"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31750">
                        <a:lnSpc>
                          <a:spcPts val="3720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sw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20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7160">
                        <a:lnSpc>
                          <a:spcPts val="3720"/>
                        </a:lnSpc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1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20(fp)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031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807720">
              <a:spcBef>
                <a:spcPts val="100"/>
              </a:spcBef>
            </a:pPr>
            <a:r>
              <a:rPr sz="4000" spc="270" dirty="0"/>
              <a:t>Our</a:t>
            </a:r>
            <a:r>
              <a:rPr sz="4000" spc="300" dirty="0"/>
              <a:t> Register </a:t>
            </a:r>
            <a:r>
              <a:rPr sz="4000" spc="235" dirty="0"/>
              <a:t>Allocator</a:t>
            </a:r>
            <a:r>
              <a:rPr sz="4000" spc="300" dirty="0"/>
              <a:t> </a:t>
            </a:r>
            <a:r>
              <a:rPr sz="4000" spc="95" dirty="0"/>
              <a:t>In</a:t>
            </a:r>
            <a:r>
              <a:rPr sz="4000" spc="305" dirty="0"/>
              <a:t> </a:t>
            </a:r>
            <a:r>
              <a:rPr sz="4000" spc="215" dirty="0"/>
              <a:t>Action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9020" y="1548885"/>
          <a:ext cx="2501899" cy="138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d;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62000" y="3200400"/>
            <a:ext cx="2286000" cy="4114800"/>
            <a:chOff x="457200" y="3200400"/>
            <a:chExt cx="2286000" cy="4114800"/>
          </a:xfrm>
        </p:grpSpPr>
        <p:sp>
          <p:nvSpPr>
            <p:cNvPr id="5" name="object 5"/>
            <p:cNvSpPr/>
            <p:nvPr/>
          </p:nvSpPr>
          <p:spPr>
            <a:xfrm>
              <a:off x="457200" y="3200399"/>
              <a:ext cx="2286000" cy="1371600"/>
            </a:xfrm>
            <a:custGeom>
              <a:avLst/>
              <a:gdLst/>
              <a:ahLst/>
              <a:cxnLst/>
              <a:rect l="l" t="t" r="r" b="b"/>
              <a:pathLst>
                <a:path w="2286000" h="13716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1143000" y="13716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D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4571999"/>
              <a:ext cx="2286000" cy="914400"/>
            </a:xfrm>
            <a:custGeom>
              <a:avLst/>
              <a:gdLst/>
              <a:ahLst/>
              <a:cxnLst/>
              <a:rect l="l" t="t" r="r" b="b"/>
              <a:pathLst>
                <a:path w="2286000" h="9144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66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5486399"/>
              <a:ext cx="2286000" cy="1828800"/>
            </a:xfrm>
            <a:custGeom>
              <a:avLst/>
              <a:gdLst/>
              <a:ahLst/>
              <a:cxnLst/>
              <a:rect l="l" t="t" r="r" b="b"/>
              <a:pathLst>
                <a:path w="2286000" h="18288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0" y="1828800"/>
                  </a:lnTo>
                  <a:lnTo>
                    <a:pt x="1143000" y="1828800"/>
                  </a:lnTo>
                  <a:lnTo>
                    <a:pt x="2286000" y="18288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2000" y="3200400"/>
          <a:ext cx="22860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4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35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55" dirty="0">
                          <a:solidFill>
                            <a:srgbClr val="191919"/>
                          </a:solidFill>
                          <a:latin typeface="Georgia"/>
                          <a:cs typeface="Georgia"/>
                        </a:rPr>
                        <a:t>...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787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6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55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fp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5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ra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149601" y="6483333"/>
            <a:ext cx="854075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16</a:t>
            </a:r>
            <a:endParaRPr>
              <a:latin typeface="Cambria"/>
              <a:cs typeface="Cambria"/>
            </a:endParaRPr>
          </a:p>
          <a:p>
            <a:pPr marL="12700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20</a:t>
            </a:r>
            <a:endParaRPr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5939" y="3268979"/>
            <a:ext cx="100203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4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270" dirty="0">
                <a:solidFill>
                  <a:srgbClr val="191919"/>
                </a:solidFill>
                <a:latin typeface="Cambria"/>
                <a:cs typeface="Cambria"/>
              </a:rPr>
              <a:t>4N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...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0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8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12</a:t>
            </a:r>
            <a:endParaRPr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4270" y="1494790"/>
            <a:ext cx="441452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00"/>
              </a:lnSpc>
              <a:spcBef>
                <a:spcPts val="100"/>
              </a:spcBef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$t0,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12(fp)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ts val="4200"/>
              </a:lnSpc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$t1,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16(fp)</a:t>
            </a:r>
            <a:endParaRPr sz="3600">
              <a:latin typeface="Courier New"/>
              <a:cs typeface="Courier New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4935221" y="2620383"/>
          <a:ext cx="4726939" cy="3107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1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3175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$t2,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$t1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3175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sw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$t2,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11480">
                        <a:lnSpc>
                          <a:spcPts val="3715"/>
                        </a:lnSpc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lw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gridSpan="2"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31750">
                        <a:lnSpc>
                          <a:spcPts val="3720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sw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20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7160">
                        <a:lnSpc>
                          <a:spcPts val="3720"/>
                        </a:lnSpc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1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20(fp)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lw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gridSpan="2"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49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807720">
              <a:spcBef>
                <a:spcPts val="100"/>
              </a:spcBef>
            </a:pPr>
            <a:r>
              <a:rPr sz="4000" spc="270" dirty="0"/>
              <a:t>Our</a:t>
            </a:r>
            <a:r>
              <a:rPr sz="4000" spc="300" dirty="0"/>
              <a:t> Register </a:t>
            </a:r>
            <a:r>
              <a:rPr sz="4000" spc="235" dirty="0"/>
              <a:t>Allocator</a:t>
            </a:r>
            <a:r>
              <a:rPr sz="4000" spc="300" dirty="0"/>
              <a:t> </a:t>
            </a:r>
            <a:r>
              <a:rPr sz="4000" spc="95" dirty="0"/>
              <a:t>In</a:t>
            </a:r>
            <a:r>
              <a:rPr sz="4000" spc="305" dirty="0"/>
              <a:t> </a:t>
            </a:r>
            <a:r>
              <a:rPr sz="4000" spc="215" dirty="0"/>
              <a:t>Action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9020" y="1548885"/>
          <a:ext cx="2501899" cy="138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d;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62000" y="3200400"/>
            <a:ext cx="2286000" cy="4114800"/>
            <a:chOff x="457200" y="3200400"/>
            <a:chExt cx="2286000" cy="4114800"/>
          </a:xfrm>
        </p:grpSpPr>
        <p:sp>
          <p:nvSpPr>
            <p:cNvPr id="5" name="object 5"/>
            <p:cNvSpPr/>
            <p:nvPr/>
          </p:nvSpPr>
          <p:spPr>
            <a:xfrm>
              <a:off x="457200" y="3200399"/>
              <a:ext cx="2286000" cy="1371600"/>
            </a:xfrm>
            <a:custGeom>
              <a:avLst/>
              <a:gdLst/>
              <a:ahLst/>
              <a:cxnLst/>
              <a:rect l="l" t="t" r="r" b="b"/>
              <a:pathLst>
                <a:path w="2286000" h="13716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1143000" y="13716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D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4571999"/>
              <a:ext cx="2286000" cy="914400"/>
            </a:xfrm>
            <a:custGeom>
              <a:avLst/>
              <a:gdLst/>
              <a:ahLst/>
              <a:cxnLst/>
              <a:rect l="l" t="t" r="r" b="b"/>
              <a:pathLst>
                <a:path w="2286000" h="9144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66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5486399"/>
              <a:ext cx="2286000" cy="1828800"/>
            </a:xfrm>
            <a:custGeom>
              <a:avLst/>
              <a:gdLst/>
              <a:ahLst/>
              <a:cxnLst/>
              <a:rect l="l" t="t" r="r" b="b"/>
              <a:pathLst>
                <a:path w="2286000" h="18288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0" y="1828800"/>
                  </a:lnTo>
                  <a:lnTo>
                    <a:pt x="1143000" y="1828800"/>
                  </a:lnTo>
                  <a:lnTo>
                    <a:pt x="2286000" y="18288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2000" y="3200400"/>
          <a:ext cx="22860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4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35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55" dirty="0">
                          <a:solidFill>
                            <a:srgbClr val="191919"/>
                          </a:solidFill>
                          <a:latin typeface="Georgia"/>
                          <a:cs typeface="Georgia"/>
                        </a:rPr>
                        <a:t>...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787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6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55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fp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5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ra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149601" y="6483333"/>
            <a:ext cx="854075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16</a:t>
            </a:r>
            <a:endParaRPr>
              <a:latin typeface="Cambria"/>
              <a:cs typeface="Cambria"/>
            </a:endParaRPr>
          </a:p>
          <a:p>
            <a:pPr marL="12700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20</a:t>
            </a:r>
            <a:endParaRPr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5939" y="3268979"/>
            <a:ext cx="100203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4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270" dirty="0">
                <a:solidFill>
                  <a:srgbClr val="191919"/>
                </a:solidFill>
                <a:latin typeface="Cambria"/>
                <a:cs typeface="Cambria"/>
              </a:rPr>
              <a:t>4N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...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0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8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12</a:t>
            </a:r>
            <a:endParaRPr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4270" y="1494790"/>
            <a:ext cx="441452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00"/>
              </a:lnSpc>
              <a:spcBef>
                <a:spcPts val="100"/>
              </a:spcBef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$t0,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12(fp)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ts val="4200"/>
              </a:lnSpc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$t1,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16(fp)</a:t>
            </a:r>
            <a:endParaRPr sz="3600">
              <a:latin typeface="Courier New"/>
              <a:cs typeface="Courier New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4935221" y="2620383"/>
          <a:ext cx="4726939" cy="3625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1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3175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$t2,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$t1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3175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sw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$t2,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11480">
                        <a:lnSpc>
                          <a:spcPts val="3715"/>
                        </a:lnSpc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lw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gridSpan="2"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31750">
                        <a:lnSpc>
                          <a:spcPts val="3720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sw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20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7160">
                        <a:lnSpc>
                          <a:spcPts val="3720"/>
                        </a:lnSpc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1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20(fp)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lw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gridSpan="2"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31750">
                        <a:lnSpc>
                          <a:spcPts val="3720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lw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20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$t1,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7160">
                        <a:lnSpc>
                          <a:spcPts val="3720"/>
                        </a:lnSpc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1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20(fp)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84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807720">
              <a:spcBef>
                <a:spcPts val="100"/>
              </a:spcBef>
            </a:pPr>
            <a:r>
              <a:rPr sz="4000" spc="270" dirty="0"/>
              <a:t>Our</a:t>
            </a:r>
            <a:r>
              <a:rPr sz="4000" spc="300" dirty="0"/>
              <a:t> Register </a:t>
            </a:r>
            <a:r>
              <a:rPr sz="4000" spc="235" dirty="0"/>
              <a:t>Allocator</a:t>
            </a:r>
            <a:r>
              <a:rPr sz="4000" spc="300" dirty="0"/>
              <a:t> </a:t>
            </a:r>
            <a:r>
              <a:rPr sz="4000" spc="95" dirty="0"/>
              <a:t>In</a:t>
            </a:r>
            <a:r>
              <a:rPr sz="4000" spc="305" dirty="0"/>
              <a:t> </a:t>
            </a:r>
            <a:r>
              <a:rPr sz="4000" spc="215" dirty="0"/>
              <a:t>Action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9020" y="1548885"/>
          <a:ext cx="2501899" cy="138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d;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62000" y="3200400"/>
            <a:ext cx="2286000" cy="4114800"/>
            <a:chOff x="457200" y="3200400"/>
            <a:chExt cx="2286000" cy="4114800"/>
          </a:xfrm>
        </p:grpSpPr>
        <p:sp>
          <p:nvSpPr>
            <p:cNvPr id="5" name="object 5"/>
            <p:cNvSpPr/>
            <p:nvPr/>
          </p:nvSpPr>
          <p:spPr>
            <a:xfrm>
              <a:off x="457200" y="3200399"/>
              <a:ext cx="2286000" cy="1371600"/>
            </a:xfrm>
            <a:custGeom>
              <a:avLst/>
              <a:gdLst/>
              <a:ahLst/>
              <a:cxnLst/>
              <a:rect l="l" t="t" r="r" b="b"/>
              <a:pathLst>
                <a:path w="2286000" h="13716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1143000" y="13716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D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4571999"/>
              <a:ext cx="2286000" cy="914400"/>
            </a:xfrm>
            <a:custGeom>
              <a:avLst/>
              <a:gdLst/>
              <a:ahLst/>
              <a:cxnLst/>
              <a:rect l="l" t="t" r="r" b="b"/>
              <a:pathLst>
                <a:path w="2286000" h="9144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66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7200" y="5486399"/>
              <a:ext cx="2286000" cy="1828800"/>
            </a:xfrm>
            <a:custGeom>
              <a:avLst/>
              <a:gdLst/>
              <a:ahLst/>
              <a:cxnLst/>
              <a:rect l="l" t="t" r="r" b="b"/>
              <a:pathLst>
                <a:path w="2286000" h="18288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0" y="1828800"/>
                  </a:lnTo>
                  <a:lnTo>
                    <a:pt x="1143000" y="1828800"/>
                  </a:lnTo>
                  <a:lnTo>
                    <a:pt x="2286000" y="18288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2000" y="3200400"/>
          <a:ext cx="22860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4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35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55" dirty="0">
                          <a:solidFill>
                            <a:srgbClr val="191919"/>
                          </a:solidFill>
                          <a:latin typeface="Georgia"/>
                          <a:cs typeface="Georgia"/>
                        </a:rPr>
                        <a:t>...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787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6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55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fp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5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ra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954270" y="6234802"/>
            <a:ext cx="848360" cy="48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815"/>
              </a:lnSpc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add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1550" y="6234802"/>
            <a:ext cx="1122680" cy="48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815"/>
              </a:lnSpc>
            </a:pPr>
            <a:r>
              <a:rPr sz="3600" spc="-20" dirty="0">
                <a:solidFill>
                  <a:srgbClr val="191919"/>
                </a:solidFill>
                <a:latin typeface="Courier New"/>
                <a:cs typeface="Courier New"/>
              </a:rPr>
              <a:t>$t2,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23150" y="6234802"/>
            <a:ext cx="1122680" cy="48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815"/>
              </a:lnSpc>
            </a:pPr>
            <a:r>
              <a:rPr sz="3600" spc="-20" dirty="0">
                <a:solidFill>
                  <a:srgbClr val="191919"/>
                </a:solidFill>
                <a:latin typeface="Courier New"/>
                <a:cs typeface="Courier New"/>
              </a:rPr>
              <a:t>$t0,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94750" y="6234802"/>
            <a:ext cx="848360" cy="48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815"/>
              </a:lnSpc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$t1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49601" y="6483333"/>
            <a:ext cx="854075" cy="751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16</a:t>
            </a:r>
            <a:endParaRPr>
              <a:latin typeface="Cambria"/>
              <a:cs typeface="Cambria"/>
            </a:endParaRPr>
          </a:p>
          <a:p>
            <a:pPr marL="12700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20</a:t>
            </a:r>
            <a:endParaRPr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5939" y="3268979"/>
            <a:ext cx="1002030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4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270" dirty="0">
                <a:solidFill>
                  <a:srgbClr val="191919"/>
                </a:solidFill>
                <a:latin typeface="Cambria"/>
                <a:cs typeface="Cambria"/>
              </a:rPr>
              <a:t>4N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...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0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8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12</a:t>
            </a:r>
            <a:endParaRPr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4270" y="1494790"/>
            <a:ext cx="441452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00"/>
              </a:lnSpc>
              <a:spcBef>
                <a:spcPts val="100"/>
              </a:spcBef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$t0,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12(fp)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ts val="4200"/>
              </a:lnSpc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$t1,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16(fp)</a:t>
            </a:r>
            <a:endParaRPr sz="3600">
              <a:latin typeface="Courier New"/>
              <a:cs typeface="Courier New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4935221" y="2620383"/>
          <a:ext cx="4726939" cy="3625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1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3175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$t2,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$t1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3175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sw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$t2,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11480">
                        <a:lnSpc>
                          <a:spcPts val="3715"/>
                        </a:lnSpc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lw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gridSpan="2"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31750">
                        <a:lnSpc>
                          <a:spcPts val="3720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sw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20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7160">
                        <a:lnSpc>
                          <a:spcPts val="3720"/>
                        </a:lnSpc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1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20(fp)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lw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gridSpan="2"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31750">
                        <a:lnSpc>
                          <a:spcPts val="3720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lw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20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$t1,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7160">
                        <a:lnSpc>
                          <a:spcPts val="3720"/>
                        </a:lnSpc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1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20(fp)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229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04148"/>
          </a:xfrm>
          <a:prstGeom prst="rect">
            <a:avLst/>
          </a:prstGeom>
        </p:spPr>
        <p:txBody>
          <a:bodyPr vert="horz" wrap="square" lIns="0" tIns="483870" rIns="0" bIns="0" rtlCol="0">
            <a:spAutoFit/>
          </a:bodyPr>
          <a:lstStyle/>
          <a:p>
            <a:pPr marL="807720">
              <a:spcBef>
                <a:spcPts val="100"/>
              </a:spcBef>
            </a:pPr>
            <a:r>
              <a:rPr sz="4000" spc="270" dirty="0"/>
              <a:t>Our</a:t>
            </a:r>
            <a:r>
              <a:rPr sz="4000" spc="300" dirty="0"/>
              <a:t> Register </a:t>
            </a:r>
            <a:r>
              <a:rPr sz="4000" spc="235" dirty="0"/>
              <a:t>Allocator</a:t>
            </a:r>
            <a:r>
              <a:rPr sz="4000" spc="300" dirty="0"/>
              <a:t> </a:t>
            </a:r>
            <a:r>
              <a:rPr sz="4000" spc="95" dirty="0"/>
              <a:t>In</a:t>
            </a:r>
            <a:r>
              <a:rPr sz="4000" spc="305" dirty="0"/>
              <a:t> </a:t>
            </a:r>
            <a:r>
              <a:rPr sz="4000" spc="215" dirty="0"/>
              <a:t>Action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49020" y="1548885"/>
          <a:ext cx="2501899" cy="138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3304"/>
                        </a:lnSpc>
                      </a:pPr>
                      <a:r>
                        <a:rPr sz="3200" b="1" spc="-5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304"/>
                        </a:lnSpc>
                      </a:pPr>
                      <a:r>
                        <a:rPr sz="3200" b="1" spc="-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d;</a:t>
                      </a:r>
                      <a:endParaRPr sz="3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954270" y="1494790"/>
            <a:ext cx="441452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00"/>
              </a:lnSpc>
              <a:spcBef>
                <a:spcPts val="100"/>
              </a:spcBef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$t0,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12(fp)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ts val="4200"/>
              </a:lnSpc>
              <a:tabLst>
                <a:tab pos="1109345" algn="l"/>
              </a:tabLst>
            </a:pPr>
            <a:r>
              <a:rPr sz="3600" spc="-25" dirty="0">
                <a:solidFill>
                  <a:srgbClr val="191919"/>
                </a:solidFill>
                <a:latin typeface="Courier New"/>
                <a:cs typeface="Courier New"/>
              </a:rPr>
              <a:t>lw</a:t>
            </a:r>
            <a:r>
              <a:rPr sz="3600" dirty="0">
                <a:solidFill>
                  <a:srgbClr val="191919"/>
                </a:solidFill>
                <a:latin typeface="Courier New"/>
                <a:cs typeface="Courier New"/>
              </a:rPr>
              <a:t>	$t1,</a:t>
            </a:r>
            <a:r>
              <a:rPr sz="3600" spc="-100" dirty="0">
                <a:solidFill>
                  <a:srgbClr val="191919"/>
                </a:solidFill>
                <a:latin typeface="Courier New"/>
                <a:cs typeface="Courier New"/>
              </a:rPr>
              <a:t> </a:t>
            </a:r>
            <a:r>
              <a:rPr sz="3600" spc="-35" dirty="0">
                <a:solidFill>
                  <a:srgbClr val="191919"/>
                </a:solidFill>
                <a:latin typeface="Courier New"/>
                <a:cs typeface="Courier New"/>
              </a:rPr>
              <a:t>-</a:t>
            </a:r>
            <a:r>
              <a:rPr sz="3600" spc="-10" dirty="0">
                <a:solidFill>
                  <a:srgbClr val="191919"/>
                </a:solidFill>
                <a:latin typeface="Courier New"/>
                <a:cs typeface="Courier New"/>
              </a:rPr>
              <a:t>16(fp)</a:t>
            </a:r>
            <a:endParaRPr sz="3600">
              <a:latin typeface="Courier New"/>
              <a:cs typeface="Courier Ne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35221" y="2620382"/>
          <a:ext cx="4726939" cy="46596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1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3175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$t2,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$t1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3175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sw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$t2,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11480">
                        <a:lnSpc>
                          <a:spcPts val="3715"/>
                        </a:lnSpc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4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lw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gridSpan="2"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430">
                <a:tc>
                  <a:txBody>
                    <a:bodyPr/>
                    <a:lstStyle/>
                    <a:p>
                      <a:pPr marL="31750">
                        <a:lnSpc>
                          <a:spcPts val="3715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sw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5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7160">
                        <a:lnSpc>
                          <a:spcPts val="3715"/>
                        </a:lnSpc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1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20(fp)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lw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gridSpan="2"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8(fp)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527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1750">
                        <a:lnSpc>
                          <a:spcPts val="3720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lw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20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$t1,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7160">
                        <a:lnSpc>
                          <a:spcPts val="3720"/>
                        </a:lnSpc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1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20(fp)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31750">
                        <a:lnSpc>
                          <a:spcPts val="3720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add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20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$t2,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7160">
                        <a:lnSpc>
                          <a:spcPts val="3720"/>
                        </a:lnSpc>
                      </a:pPr>
                      <a:r>
                        <a:rPr sz="360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$t0,</a:t>
                      </a:r>
                      <a:r>
                        <a:rPr sz="3600" spc="-11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$t1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31750">
                        <a:lnSpc>
                          <a:spcPts val="3720"/>
                        </a:lnSpc>
                      </a:pPr>
                      <a:r>
                        <a:rPr sz="3600" spc="-2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sw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20"/>
                        </a:lnSpc>
                      </a:pPr>
                      <a:r>
                        <a:rPr sz="3600" spc="-2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$t2,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7160">
                        <a:lnSpc>
                          <a:spcPts val="3720"/>
                        </a:lnSpc>
                      </a:pPr>
                      <a:r>
                        <a:rPr sz="3600" spc="-35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3600" spc="-1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16(fp)</a:t>
                      </a:r>
                      <a:endParaRPr sz="3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62000" y="3200400"/>
            <a:ext cx="2286000" cy="4114800"/>
            <a:chOff x="457200" y="3200400"/>
            <a:chExt cx="2286000" cy="4114800"/>
          </a:xfrm>
        </p:grpSpPr>
        <p:sp>
          <p:nvSpPr>
            <p:cNvPr id="7" name="object 7"/>
            <p:cNvSpPr/>
            <p:nvPr/>
          </p:nvSpPr>
          <p:spPr>
            <a:xfrm>
              <a:off x="457200" y="3200399"/>
              <a:ext cx="2286000" cy="1371600"/>
            </a:xfrm>
            <a:custGeom>
              <a:avLst/>
              <a:gdLst/>
              <a:ahLst/>
              <a:cxnLst/>
              <a:rect l="l" t="t" r="r" b="b"/>
              <a:pathLst>
                <a:path w="2286000" h="13716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1143000" y="13716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D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4571999"/>
              <a:ext cx="2286000" cy="914400"/>
            </a:xfrm>
            <a:custGeom>
              <a:avLst/>
              <a:gdLst/>
              <a:ahLst/>
              <a:cxnLst/>
              <a:rect l="l" t="t" r="r" b="b"/>
              <a:pathLst>
                <a:path w="2286000" h="9144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1143000" y="9144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6600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5486399"/>
              <a:ext cx="2286000" cy="1828800"/>
            </a:xfrm>
            <a:custGeom>
              <a:avLst/>
              <a:gdLst/>
              <a:ahLst/>
              <a:cxnLst/>
              <a:rect l="l" t="t" r="r" b="b"/>
              <a:pathLst>
                <a:path w="2286000" h="1828800">
                  <a:moveTo>
                    <a:pt x="2286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14400"/>
                  </a:lnTo>
                  <a:lnTo>
                    <a:pt x="0" y="1371600"/>
                  </a:lnTo>
                  <a:lnTo>
                    <a:pt x="0" y="1828800"/>
                  </a:lnTo>
                  <a:lnTo>
                    <a:pt x="1143000" y="1828800"/>
                  </a:lnTo>
                  <a:lnTo>
                    <a:pt x="2286000" y="1828800"/>
                  </a:lnTo>
                  <a:lnTo>
                    <a:pt x="2286000" y="1371600"/>
                  </a:lnTo>
                  <a:lnTo>
                    <a:pt x="2286000" y="914400"/>
                  </a:lnTo>
                  <a:lnTo>
                    <a:pt x="2286000" y="457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62000" y="3200400"/>
          <a:ext cx="2286000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4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35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55" dirty="0">
                          <a:solidFill>
                            <a:srgbClr val="191919"/>
                          </a:solidFill>
                          <a:latin typeface="Georgia"/>
                          <a:cs typeface="Georgia"/>
                        </a:rPr>
                        <a:t>...</a:t>
                      </a:r>
                      <a:endParaRPr sz="1800">
                        <a:latin typeface="Georgia"/>
                        <a:cs typeface="Georgia"/>
                      </a:endParaRPr>
                    </a:p>
                  </a:txBody>
                  <a:tcPr marL="0" marR="0" marT="787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20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Param</a:t>
                      </a:r>
                      <a:r>
                        <a:rPr sz="1800" b="1" spc="235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191919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6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55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fp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800" b="1" spc="19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Stored</a:t>
                      </a:r>
                      <a:r>
                        <a:rPr sz="1800" b="1" spc="25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30" dirty="0">
                          <a:solidFill>
                            <a:srgbClr val="FFFF00"/>
                          </a:solidFill>
                          <a:latin typeface="Cambria"/>
                          <a:cs typeface="Cambria"/>
                        </a:rPr>
                        <a:t>ra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812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0" dirty="0">
                          <a:solidFill>
                            <a:srgbClr val="191919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3075939" y="3268979"/>
            <a:ext cx="1002030" cy="395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4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270" dirty="0">
                <a:solidFill>
                  <a:srgbClr val="191919"/>
                </a:solidFill>
                <a:latin typeface="Cambria"/>
                <a:cs typeface="Cambria"/>
              </a:rPr>
              <a:t>4N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...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434" dirty="0">
                <a:solidFill>
                  <a:srgbClr val="191919"/>
                </a:solidFill>
                <a:latin typeface="Cambria"/>
                <a:cs typeface="Cambria"/>
              </a:rPr>
              <a:t>+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0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4</a:t>
            </a:r>
            <a:endParaRPr>
              <a:latin typeface="Cambria"/>
              <a:cs typeface="Cambria"/>
            </a:endParaRPr>
          </a:p>
          <a:p>
            <a:pPr marL="635"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2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9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30" dirty="0">
                <a:solidFill>
                  <a:srgbClr val="191919"/>
                </a:solidFill>
                <a:latin typeface="Cambria"/>
                <a:cs typeface="Cambria"/>
              </a:rPr>
              <a:t>8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12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16</a:t>
            </a:r>
            <a:endParaRPr>
              <a:latin typeface="Cambria"/>
              <a:cs typeface="Cambria"/>
            </a:endParaRPr>
          </a:p>
          <a:p>
            <a:pPr algn="ctr">
              <a:spcBef>
                <a:spcPts val="1440"/>
              </a:spcBef>
            </a:pPr>
            <a:r>
              <a:rPr b="1" spc="180" dirty="0">
                <a:solidFill>
                  <a:srgbClr val="191919"/>
                </a:solidFill>
                <a:latin typeface="Cambria"/>
                <a:cs typeface="Cambria"/>
              </a:rPr>
              <a:t>fp</a:t>
            </a:r>
            <a:r>
              <a:rPr b="1" spc="235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25" dirty="0">
                <a:solidFill>
                  <a:srgbClr val="191919"/>
                </a:solidFill>
                <a:latin typeface="Cambria"/>
                <a:cs typeface="Cambria"/>
              </a:rPr>
              <a:t>-</a:t>
            </a:r>
            <a:r>
              <a:rPr b="1" spc="220" dirty="0">
                <a:solidFill>
                  <a:srgbClr val="191919"/>
                </a:solidFill>
                <a:latin typeface="Cambria"/>
                <a:cs typeface="Cambria"/>
              </a:rPr>
              <a:t> </a:t>
            </a:r>
            <a:r>
              <a:rPr b="1" spc="150" dirty="0">
                <a:solidFill>
                  <a:srgbClr val="191919"/>
                </a:solidFill>
                <a:latin typeface="Cambria"/>
                <a:cs typeface="Cambria"/>
              </a:rPr>
              <a:t>20</a:t>
            </a:r>
            <a:endParaRPr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37056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565" y="115569"/>
            <a:ext cx="10539868" cy="1133644"/>
          </a:xfrm>
          <a:prstGeom prst="rect">
            <a:avLst/>
          </a:prstGeom>
        </p:spPr>
        <p:txBody>
          <a:bodyPr vert="horz" wrap="square" lIns="0" tIns="452120" rIns="0" bIns="0" rtlCol="0">
            <a:spAutoFit/>
          </a:bodyPr>
          <a:lstStyle/>
          <a:p>
            <a:pPr marL="1488440">
              <a:spcBef>
                <a:spcPts val="100"/>
              </a:spcBef>
            </a:pPr>
            <a:r>
              <a:rPr spc="254" dirty="0"/>
              <a:t>Analysis</a:t>
            </a:r>
            <a:r>
              <a:rPr spc="345" dirty="0"/>
              <a:t> </a:t>
            </a:r>
            <a:r>
              <a:rPr spc="229" dirty="0"/>
              <a:t>of</a:t>
            </a:r>
            <a:r>
              <a:rPr spc="345" dirty="0"/>
              <a:t> </a:t>
            </a:r>
            <a:r>
              <a:rPr spc="270" dirty="0"/>
              <a:t>our</a:t>
            </a:r>
            <a:r>
              <a:rPr spc="350" dirty="0"/>
              <a:t> </a:t>
            </a:r>
            <a:r>
              <a:rPr spc="245" dirty="0"/>
              <a:t>Allocator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1666240"/>
            <a:ext cx="125730" cy="165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00" spc="135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1560" y="1570990"/>
            <a:ext cx="5132705" cy="367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250" spc="145" dirty="0">
                <a:solidFill>
                  <a:srgbClr val="191919"/>
                </a:solidFill>
                <a:latin typeface="Georgia"/>
                <a:cs typeface="Georgia"/>
              </a:rPr>
              <a:t>Disadvantage:</a:t>
            </a:r>
            <a:r>
              <a:rPr sz="2250" spc="21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250" b="1" spc="245" dirty="0">
                <a:solidFill>
                  <a:srgbClr val="0000FF"/>
                </a:solidFill>
                <a:latin typeface="Cambria"/>
                <a:cs typeface="Cambria"/>
              </a:rPr>
              <a:t>Gross</a:t>
            </a:r>
            <a:r>
              <a:rPr sz="2250" b="1" spc="32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250" b="1" spc="190" dirty="0">
                <a:solidFill>
                  <a:srgbClr val="0000FF"/>
                </a:solidFill>
                <a:latin typeface="Cambria"/>
                <a:cs typeface="Cambria"/>
              </a:rPr>
              <a:t>inefficiency</a:t>
            </a:r>
            <a:r>
              <a:rPr sz="2250" spc="190" dirty="0">
                <a:solidFill>
                  <a:srgbClr val="191919"/>
                </a:solidFill>
                <a:latin typeface="Georgia"/>
                <a:cs typeface="Georgia"/>
              </a:rPr>
              <a:t>.</a:t>
            </a:r>
            <a:endParaRPr sz="225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7760" y="2114550"/>
            <a:ext cx="113664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850" spc="12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3820" y="1939543"/>
            <a:ext cx="8074025" cy="157988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</a:pPr>
            <a:r>
              <a:rPr sz="1950" spc="140" dirty="0">
                <a:solidFill>
                  <a:srgbClr val="191919"/>
                </a:solidFill>
                <a:latin typeface="Georgia"/>
                <a:cs typeface="Georgia"/>
              </a:rPr>
              <a:t>Issues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unnecessary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20" dirty="0">
                <a:solidFill>
                  <a:srgbClr val="191919"/>
                </a:solidFill>
                <a:latin typeface="Georgia"/>
                <a:cs typeface="Georgia"/>
              </a:rPr>
              <a:t>loads</a:t>
            </a:r>
            <a:r>
              <a:rPr sz="1950" spc="16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30" dirty="0">
                <a:solidFill>
                  <a:srgbClr val="191919"/>
                </a:solidFill>
                <a:latin typeface="Georgia"/>
                <a:cs typeface="Georgia"/>
              </a:rPr>
              <a:t>and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stores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by </a:t>
            </a:r>
            <a:r>
              <a:rPr sz="1950" spc="140" dirty="0">
                <a:solidFill>
                  <a:srgbClr val="191919"/>
                </a:solidFill>
                <a:latin typeface="Georgia"/>
                <a:cs typeface="Georgia"/>
              </a:rPr>
              <a:t>the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20" dirty="0">
                <a:solidFill>
                  <a:srgbClr val="191919"/>
                </a:solidFill>
                <a:latin typeface="Georgia"/>
                <a:cs typeface="Georgia"/>
              </a:rPr>
              <a:t>dozen.</a:t>
            </a:r>
            <a:endParaRPr sz="1950">
              <a:latin typeface="Georgia"/>
              <a:cs typeface="Georgia"/>
            </a:endParaRPr>
          </a:p>
          <a:p>
            <a:pPr marL="12700" marR="5080">
              <a:lnSpc>
                <a:spcPct val="130800"/>
              </a:lnSpc>
            </a:pPr>
            <a:r>
              <a:rPr sz="1950" spc="125" dirty="0">
                <a:solidFill>
                  <a:srgbClr val="191919"/>
                </a:solidFill>
                <a:latin typeface="Georgia"/>
                <a:cs typeface="Georgia"/>
              </a:rPr>
              <a:t>Wastes</a:t>
            </a:r>
            <a:r>
              <a:rPr sz="1950" spc="16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70" dirty="0">
                <a:solidFill>
                  <a:srgbClr val="191919"/>
                </a:solidFill>
                <a:latin typeface="Georgia"/>
                <a:cs typeface="Georgia"/>
              </a:rPr>
              <a:t>space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05" dirty="0">
                <a:solidFill>
                  <a:srgbClr val="191919"/>
                </a:solidFill>
                <a:latin typeface="Georgia"/>
                <a:cs typeface="Georgia"/>
              </a:rPr>
              <a:t>on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40" dirty="0">
                <a:solidFill>
                  <a:srgbClr val="191919"/>
                </a:solidFill>
                <a:latin typeface="Georgia"/>
                <a:cs typeface="Georgia"/>
              </a:rPr>
              <a:t>values</a:t>
            </a:r>
            <a:r>
              <a:rPr sz="1950" spc="16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20" dirty="0">
                <a:solidFill>
                  <a:srgbClr val="191919"/>
                </a:solidFill>
                <a:latin typeface="Georgia"/>
                <a:cs typeface="Georgia"/>
              </a:rPr>
              <a:t>that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25" dirty="0">
                <a:solidFill>
                  <a:srgbClr val="191919"/>
                </a:solidFill>
                <a:latin typeface="Georgia"/>
                <a:cs typeface="Georgia"/>
              </a:rPr>
              <a:t>could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85" dirty="0">
                <a:solidFill>
                  <a:srgbClr val="191919"/>
                </a:solidFill>
                <a:latin typeface="Georgia"/>
                <a:cs typeface="Georgia"/>
              </a:rPr>
              <a:t>be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40" dirty="0">
                <a:solidFill>
                  <a:srgbClr val="191919"/>
                </a:solidFill>
                <a:latin typeface="Georgia"/>
                <a:cs typeface="Georgia"/>
              </a:rPr>
              <a:t>stored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30" dirty="0">
                <a:solidFill>
                  <a:srgbClr val="191919"/>
                </a:solidFill>
                <a:latin typeface="Georgia"/>
                <a:cs typeface="Georgia"/>
              </a:rPr>
              <a:t>purely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70" dirty="0">
                <a:solidFill>
                  <a:srgbClr val="191919"/>
                </a:solidFill>
                <a:latin typeface="Georgia"/>
                <a:cs typeface="Georgia"/>
              </a:rPr>
              <a:t>in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40" dirty="0">
                <a:solidFill>
                  <a:srgbClr val="191919"/>
                </a:solidFill>
                <a:latin typeface="Georgia"/>
                <a:cs typeface="Georgia"/>
              </a:rPr>
              <a:t>registers. </a:t>
            </a:r>
            <a:r>
              <a:rPr sz="1950" spc="114" dirty="0">
                <a:solidFill>
                  <a:srgbClr val="191919"/>
                </a:solidFill>
                <a:latin typeface="Georgia"/>
                <a:cs typeface="Georgia"/>
              </a:rPr>
              <a:t>Easily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35" dirty="0">
                <a:solidFill>
                  <a:srgbClr val="191919"/>
                </a:solidFill>
                <a:latin typeface="Georgia"/>
                <a:cs typeface="Georgia"/>
              </a:rPr>
              <a:t>an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40" dirty="0">
                <a:solidFill>
                  <a:srgbClr val="191919"/>
                </a:solidFill>
                <a:latin typeface="Georgia"/>
                <a:cs typeface="Georgia"/>
              </a:rPr>
              <a:t>order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95" dirty="0">
                <a:solidFill>
                  <a:srgbClr val="191919"/>
                </a:solidFill>
                <a:latin typeface="Georgia"/>
                <a:cs typeface="Georgia"/>
              </a:rPr>
              <a:t>of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40" dirty="0">
                <a:solidFill>
                  <a:srgbClr val="191919"/>
                </a:solidFill>
                <a:latin typeface="Georgia"/>
                <a:cs typeface="Georgia"/>
              </a:rPr>
              <a:t>magnitude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25" dirty="0">
                <a:solidFill>
                  <a:srgbClr val="191919"/>
                </a:solidFill>
                <a:latin typeface="Georgia"/>
                <a:cs typeface="Georgia"/>
              </a:rPr>
              <a:t>or</a:t>
            </a:r>
            <a:r>
              <a:rPr sz="1950" spc="16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two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slower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20" dirty="0">
                <a:solidFill>
                  <a:srgbClr val="191919"/>
                </a:solidFill>
                <a:latin typeface="Georgia"/>
                <a:cs typeface="Georgia"/>
              </a:rPr>
              <a:t>than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20" dirty="0">
                <a:solidFill>
                  <a:srgbClr val="191919"/>
                </a:solidFill>
                <a:latin typeface="Georgia"/>
                <a:cs typeface="Georgia"/>
              </a:rPr>
              <a:t>necessary.</a:t>
            </a:r>
            <a:endParaRPr sz="1950">
              <a:latin typeface="Georgia"/>
              <a:cs typeface="Georgia"/>
            </a:endParaRPr>
          </a:p>
          <a:p>
            <a:pPr marL="12700">
              <a:spcBef>
                <a:spcPts val="720"/>
              </a:spcBef>
            </a:pP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Unacceptable </a:t>
            </a:r>
            <a:r>
              <a:rPr sz="1950" spc="70" dirty="0">
                <a:solidFill>
                  <a:srgbClr val="191919"/>
                </a:solidFill>
                <a:latin typeface="Georgia"/>
                <a:cs typeface="Georgia"/>
              </a:rPr>
              <a:t>in</a:t>
            </a:r>
            <a:r>
              <a:rPr sz="1950" spc="16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35" dirty="0">
                <a:solidFill>
                  <a:srgbClr val="191919"/>
                </a:solidFill>
                <a:latin typeface="Georgia"/>
                <a:cs typeface="Georgia"/>
              </a:rPr>
              <a:t>any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14" dirty="0">
                <a:solidFill>
                  <a:srgbClr val="191919"/>
                </a:solidFill>
                <a:latin typeface="Georgia"/>
                <a:cs typeface="Georgia"/>
              </a:rPr>
              <a:t>production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90" dirty="0">
                <a:solidFill>
                  <a:srgbClr val="191919"/>
                </a:solidFill>
                <a:latin typeface="Georgia"/>
                <a:cs typeface="Georgia"/>
              </a:rPr>
              <a:t>compiler.</a:t>
            </a:r>
            <a:endParaRPr sz="195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7760" y="2503169"/>
            <a:ext cx="113664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850" spc="12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7760" y="2891789"/>
            <a:ext cx="113664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850" spc="12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7760" y="3280409"/>
            <a:ext cx="113664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850" spc="12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5500" y="3681729"/>
            <a:ext cx="125730" cy="165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000" spc="135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1560" y="3587750"/>
            <a:ext cx="3451225" cy="3670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250" spc="150" dirty="0">
                <a:solidFill>
                  <a:srgbClr val="191919"/>
                </a:solidFill>
                <a:latin typeface="Georgia"/>
                <a:cs typeface="Georgia"/>
              </a:rPr>
              <a:t>Advantage:</a:t>
            </a:r>
            <a:r>
              <a:rPr sz="2250" spc="19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2250" b="1" spc="195" dirty="0">
                <a:solidFill>
                  <a:srgbClr val="0000FF"/>
                </a:solidFill>
                <a:latin typeface="Cambria"/>
                <a:cs typeface="Cambria"/>
              </a:rPr>
              <a:t>Simplicity</a:t>
            </a:r>
            <a:r>
              <a:rPr sz="2250" spc="195" dirty="0">
                <a:solidFill>
                  <a:srgbClr val="191919"/>
                </a:solidFill>
                <a:latin typeface="Georgia"/>
                <a:cs typeface="Georgia"/>
              </a:rPr>
              <a:t>.</a:t>
            </a:r>
            <a:endParaRPr sz="225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7760" y="4130039"/>
            <a:ext cx="113664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850" spc="12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3820" y="3953764"/>
            <a:ext cx="7700645" cy="21962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1200"/>
              </a:lnSpc>
              <a:spcBef>
                <a:spcPts val="95"/>
              </a:spcBef>
            </a:pPr>
            <a:r>
              <a:rPr sz="1950" spc="175" dirty="0">
                <a:solidFill>
                  <a:srgbClr val="191919"/>
                </a:solidFill>
                <a:latin typeface="Georgia"/>
                <a:cs typeface="Georgia"/>
              </a:rPr>
              <a:t>Can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35" dirty="0">
                <a:solidFill>
                  <a:srgbClr val="191919"/>
                </a:solidFill>
                <a:latin typeface="Georgia"/>
                <a:cs typeface="Georgia"/>
              </a:rPr>
              <a:t>translate</a:t>
            </a:r>
            <a:r>
              <a:rPr sz="1950" spc="14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65" dirty="0">
                <a:solidFill>
                  <a:srgbClr val="191919"/>
                </a:solidFill>
                <a:latin typeface="Georgia"/>
                <a:cs typeface="Georgia"/>
              </a:rPr>
              <a:t>each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piece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95" dirty="0">
                <a:solidFill>
                  <a:srgbClr val="191919"/>
                </a:solidFill>
                <a:latin typeface="Georgia"/>
                <a:cs typeface="Georgia"/>
              </a:rPr>
              <a:t>of</a:t>
            </a:r>
            <a:r>
              <a:rPr sz="1950" spc="14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55" dirty="0">
                <a:solidFill>
                  <a:srgbClr val="191919"/>
                </a:solidFill>
                <a:latin typeface="Georgia"/>
                <a:cs typeface="Georgia"/>
              </a:rPr>
              <a:t>IR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25" dirty="0">
                <a:solidFill>
                  <a:srgbClr val="191919"/>
                </a:solidFill>
                <a:latin typeface="Georgia"/>
                <a:cs typeface="Georgia"/>
              </a:rPr>
              <a:t>directly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14" dirty="0">
                <a:solidFill>
                  <a:srgbClr val="191919"/>
                </a:solidFill>
                <a:latin typeface="Georgia"/>
                <a:cs typeface="Georgia"/>
              </a:rPr>
              <a:t>to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assembly </a:t>
            </a:r>
            <a:r>
              <a:rPr sz="1950" spc="165" dirty="0">
                <a:solidFill>
                  <a:srgbClr val="191919"/>
                </a:solidFill>
                <a:latin typeface="Georgia"/>
                <a:cs typeface="Georgia"/>
              </a:rPr>
              <a:t>as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220" dirty="0">
                <a:solidFill>
                  <a:srgbClr val="191919"/>
                </a:solidFill>
                <a:latin typeface="Georgia"/>
                <a:cs typeface="Georgia"/>
              </a:rPr>
              <a:t>we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20" dirty="0">
                <a:solidFill>
                  <a:srgbClr val="191919"/>
                </a:solidFill>
                <a:latin typeface="Georgia"/>
                <a:cs typeface="Georgia"/>
              </a:rPr>
              <a:t>go. </a:t>
            </a:r>
            <a:r>
              <a:rPr sz="1950" spc="175" dirty="0">
                <a:solidFill>
                  <a:srgbClr val="191919"/>
                </a:solidFill>
                <a:latin typeface="Georgia"/>
                <a:cs typeface="Georgia"/>
              </a:rPr>
              <a:t>Never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need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14" dirty="0">
                <a:solidFill>
                  <a:srgbClr val="191919"/>
                </a:solidFill>
                <a:latin typeface="Georgia"/>
                <a:cs typeface="Georgia"/>
              </a:rPr>
              <a:t>to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worry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35" dirty="0">
                <a:solidFill>
                  <a:srgbClr val="191919"/>
                </a:solidFill>
                <a:latin typeface="Georgia"/>
                <a:cs typeface="Georgia"/>
              </a:rPr>
              <a:t>about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20" dirty="0">
                <a:solidFill>
                  <a:srgbClr val="191919"/>
                </a:solidFill>
                <a:latin typeface="Georgia"/>
                <a:cs typeface="Georgia"/>
              </a:rPr>
              <a:t>running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14" dirty="0">
                <a:solidFill>
                  <a:srgbClr val="191919"/>
                </a:solidFill>
                <a:latin typeface="Georgia"/>
                <a:cs typeface="Georgia"/>
              </a:rPr>
              <a:t>out</a:t>
            </a:r>
            <a:r>
              <a:rPr sz="1950" spc="17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95" dirty="0">
                <a:solidFill>
                  <a:srgbClr val="191919"/>
                </a:solidFill>
                <a:latin typeface="Georgia"/>
                <a:cs typeface="Georgia"/>
              </a:rPr>
              <a:t>of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40" dirty="0">
                <a:solidFill>
                  <a:srgbClr val="191919"/>
                </a:solidFill>
                <a:latin typeface="Georgia"/>
                <a:cs typeface="Georgia"/>
              </a:rPr>
              <a:t>registers.</a:t>
            </a:r>
            <a:endParaRPr sz="1950">
              <a:latin typeface="Georgia"/>
              <a:cs typeface="Georgia"/>
            </a:endParaRPr>
          </a:p>
          <a:p>
            <a:pPr marL="12700" marR="100965">
              <a:lnSpc>
                <a:spcPts val="2260"/>
              </a:lnSpc>
              <a:spcBef>
                <a:spcPts val="865"/>
              </a:spcBef>
            </a:pPr>
            <a:r>
              <a:rPr sz="1950" spc="175" dirty="0">
                <a:solidFill>
                  <a:srgbClr val="191919"/>
                </a:solidFill>
                <a:latin typeface="Georgia"/>
                <a:cs typeface="Georgia"/>
              </a:rPr>
              <a:t>Never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need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14" dirty="0">
                <a:solidFill>
                  <a:srgbClr val="191919"/>
                </a:solidFill>
                <a:latin typeface="Georgia"/>
                <a:cs typeface="Georgia"/>
              </a:rPr>
              <a:t>to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worry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35" dirty="0">
                <a:solidFill>
                  <a:srgbClr val="191919"/>
                </a:solidFill>
                <a:latin typeface="Georgia"/>
                <a:cs typeface="Georgia"/>
              </a:rPr>
              <a:t>about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10" dirty="0">
                <a:solidFill>
                  <a:srgbClr val="191919"/>
                </a:solidFill>
                <a:latin typeface="Georgia"/>
                <a:cs typeface="Georgia"/>
              </a:rPr>
              <a:t>function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25" dirty="0">
                <a:solidFill>
                  <a:srgbClr val="191919"/>
                </a:solidFill>
                <a:latin typeface="Georgia"/>
                <a:cs typeface="Georgia"/>
              </a:rPr>
              <a:t>calls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25" dirty="0">
                <a:solidFill>
                  <a:srgbClr val="191919"/>
                </a:solidFill>
                <a:latin typeface="Georgia"/>
                <a:cs typeface="Georgia"/>
              </a:rPr>
              <a:t>or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25" dirty="0">
                <a:solidFill>
                  <a:srgbClr val="191919"/>
                </a:solidFill>
                <a:latin typeface="Georgia"/>
                <a:cs typeface="Georgia"/>
              </a:rPr>
              <a:t>special-</a:t>
            </a:r>
            <a:r>
              <a:rPr sz="1950" spc="120" dirty="0">
                <a:solidFill>
                  <a:srgbClr val="191919"/>
                </a:solidFill>
                <a:latin typeface="Georgia"/>
                <a:cs typeface="Georgia"/>
              </a:rPr>
              <a:t>purpose </a:t>
            </a:r>
            <a:r>
              <a:rPr sz="1950" spc="140" dirty="0">
                <a:solidFill>
                  <a:srgbClr val="191919"/>
                </a:solidFill>
                <a:latin typeface="Georgia"/>
                <a:cs typeface="Georgia"/>
              </a:rPr>
              <a:t>registers.</a:t>
            </a:r>
            <a:endParaRPr sz="1950">
              <a:latin typeface="Georgia"/>
              <a:cs typeface="Georgia"/>
            </a:endParaRPr>
          </a:p>
          <a:p>
            <a:pPr marL="12700" marR="237490">
              <a:lnSpc>
                <a:spcPts val="2260"/>
              </a:lnSpc>
              <a:spcBef>
                <a:spcPts val="810"/>
              </a:spcBef>
            </a:pPr>
            <a:r>
              <a:rPr sz="1950" spc="120" dirty="0">
                <a:solidFill>
                  <a:srgbClr val="191919"/>
                </a:solidFill>
                <a:latin typeface="Georgia"/>
                <a:cs typeface="Georgia"/>
              </a:rPr>
              <a:t>Good</a:t>
            </a:r>
            <a:r>
              <a:rPr sz="1950" spc="14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65" dirty="0">
                <a:solidFill>
                  <a:srgbClr val="191919"/>
                </a:solidFill>
                <a:latin typeface="Georgia"/>
                <a:cs typeface="Georgia"/>
              </a:rPr>
              <a:t>if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30" dirty="0">
                <a:solidFill>
                  <a:srgbClr val="191919"/>
                </a:solidFill>
                <a:latin typeface="Georgia"/>
                <a:cs typeface="Georgia"/>
              </a:rPr>
              <a:t>you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05" dirty="0">
                <a:solidFill>
                  <a:srgbClr val="191919"/>
                </a:solidFill>
                <a:latin typeface="Georgia"/>
                <a:cs typeface="Georgia"/>
              </a:rPr>
              <a:t>just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needed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14" dirty="0">
                <a:solidFill>
                  <a:srgbClr val="191919"/>
                </a:solidFill>
                <a:latin typeface="Georgia"/>
                <a:cs typeface="Georgia"/>
              </a:rPr>
              <a:t>to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90" dirty="0">
                <a:solidFill>
                  <a:srgbClr val="191919"/>
                </a:solidFill>
                <a:latin typeface="Georgia"/>
                <a:cs typeface="Georgia"/>
              </a:rPr>
              <a:t>get</a:t>
            </a:r>
            <a:r>
              <a:rPr sz="1950" spc="16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75" dirty="0">
                <a:solidFill>
                  <a:srgbClr val="191919"/>
                </a:solidFill>
                <a:latin typeface="Georgia"/>
                <a:cs typeface="Georgia"/>
              </a:rPr>
              <a:t>a</a:t>
            </a:r>
            <a:r>
              <a:rPr sz="1950" spc="155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30" dirty="0">
                <a:solidFill>
                  <a:srgbClr val="191919"/>
                </a:solidFill>
                <a:latin typeface="Georgia"/>
                <a:cs typeface="Georgia"/>
              </a:rPr>
              <a:t>prototype</a:t>
            </a:r>
            <a:r>
              <a:rPr sz="1950" spc="14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25" dirty="0">
                <a:solidFill>
                  <a:srgbClr val="191919"/>
                </a:solidFill>
                <a:latin typeface="Georgia"/>
                <a:cs typeface="Georgia"/>
              </a:rPr>
              <a:t>compiler</a:t>
            </a:r>
            <a:r>
              <a:rPr sz="1950" spc="16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30" dirty="0">
                <a:solidFill>
                  <a:srgbClr val="191919"/>
                </a:solidFill>
                <a:latin typeface="Georgia"/>
                <a:cs typeface="Georgia"/>
              </a:rPr>
              <a:t>up</a:t>
            </a:r>
            <a:r>
              <a:rPr sz="1950" spc="150" dirty="0">
                <a:solidFill>
                  <a:srgbClr val="191919"/>
                </a:solidFill>
                <a:latin typeface="Georgia"/>
                <a:cs typeface="Georgia"/>
              </a:rPr>
              <a:t> </a:t>
            </a:r>
            <a:r>
              <a:rPr sz="1950" spc="105" dirty="0">
                <a:solidFill>
                  <a:srgbClr val="191919"/>
                </a:solidFill>
                <a:latin typeface="Georgia"/>
                <a:cs typeface="Georgia"/>
              </a:rPr>
              <a:t>and running.</a:t>
            </a:r>
            <a:endParaRPr sz="195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27760" y="4519929"/>
            <a:ext cx="113664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850" spc="12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7760" y="4908550"/>
            <a:ext cx="113664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850" spc="12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27760" y="5585459"/>
            <a:ext cx="113664" cy="1461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850" spc="120" dirty="0">
                <a:solidFill>
                  <a:srgbClr val="191919"/>
                </a:solidFill>
                <a:latin typeface="Trebuchet MS"/>
                <a:cs typeface="Trebuchet MS"/>
              </a:rPr>
              <a:t>●</a:t>
            </a:r>
            <a:endParaRPr sz="85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29354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9579" y="665173"/>
            <a:ext cx="7416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6870" algn="l"/>
              </a:tabLst>
            </a:pPr>
            <a:r>
              <a:rPr spc="-20" dirty="0"/>
              <a:t>Data</a:t>
            </a:r>
            <a:r>
              <a:rPr dirty="0"/>
              <a:t>	Dependency</a:t>
            </a:r>
            <a:r>
              <a:rPr spc="-310" dirty="0"/>
              <a:t> </a:t>
            </a:r>
            <a:r>
              <a:rPr spc="-10" dirty="0"/>
              <a:t>Graph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360684" y="3836314"/>
          <a:ext cx="1798320" cy="2300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290">
                <a:tc>
                  <a:txBody>
                    <a:bodyPr/>
                    <a:lstStyle/>
                    <a:p>
                      <a:pPr marL="30480" algn="ctr">
                        <a:lnSpc>
                          <a:spcPts val="1814"/>
                        </a:lnSpc>
                        <a:spcBef>
                          <a:spcPts val="359"/>
                        </a:spcBef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(a)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L w="9525">
                      <a:solidFill>
                        <a:srgbClr val="929292"/>
                      </a:solidFill>
                      <a:prstDash val="solid"/>
                    </a:lnL>
                    <a:lnT w="9525">
                      <a:solidFill>
                        <a:srgbClr val="92929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814"/>
                        </a:lnSpc>
                        <a:spcBef>
                          <a:spcPts val="359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ld(x);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lnR w="9525">
                      <a:solidFill>
                        <a:srgbClr val="929292"/>
                      </a:solidFill>
                      <a:prstDash val="solid"/>
                    </a:lnR>
                    <a:lnT w="9525">
                      <a:solidFill>
                        <a:srgbClr val="929292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(b)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t2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4;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65">
                <a:tc>
                  <a:txBody>
                    <a:bodyPr/>
                    <a:lstStyle/>
                    <a:p>
                      <a:pPr marL="17780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(c)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t3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8;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(d)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t4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4;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31115" algn="ctr">
                        <a:lnSpc>
                          <a:spcPts val="185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(e)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85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t5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/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2;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35"/>
                        </a:spcBef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(f)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814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t6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t2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t3;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(g)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t7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t4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t5;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746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(h)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t8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t6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t7;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R="20955" algn="ctr">
                        <a:lnSpc>
                          <a:spcPts val="1905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(i)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  <a:lnB w="9525">
                      <a:solidFill>
                        <a:srgbClr val="9292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905"/>
                        </a:lnSpc>
                      </a:pPr>
                      <a:r>
                        <a:rPr sz="1600" spc="-10" dirty="0">
                          <a:latin typeface="Tahoma"/>
                          <a:cs typeface="Tahoma"/>
                        </a:rPr>
                        <a:t>st(y,t8);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03350" y="1799682"/>
            <a:ext cx="7680325" cy="11150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25"/>
              </a:spcBef>
            </a:pPr>
            <a:r>
              <a:rPr sz="2400" b="1" dirty="0">
                <a:latin typeface="Tahoma"/>
                <a:cs typeface="Tahoma"/>
              </a:rPr>
              <a:t>To</a:t>
            </a:r>
            <a:r>
              <a:rPr sz="2400" b="1" spc="-7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discover</a:t>
            </a:r>
            <a:r>
              <a:rPr sz="2400" b="1" spc="-7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data</a:t>
            </a:r>
            <a:r>
              <a:rPr sz="2400" b="1" spc="-7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dependencies</a:t>
            </a:r>
            <a:r>
              <a:rPr sz="2400" b="1" spc="-7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among</a:t>
            </a:r>
            <a:r>
              <a:rPr sz="2400" b="1" spc="-70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statements </a:t>
            </a:r>
            <a:r>
              <a:rPr sz="2400" b="1" dirty="0">
                <a:latin typeface="Tahoma"/>
                <a:cs typeface="Tahoma"/>
              </a:rPr>
              <a:t>(or</a:t>
            </a:r>
            <a:r>
              <a:rPr sz="2400" b="1" spc="-6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instructions)</a:t>
            </a:r>
            <a:r>
              <a:rPr sz="2400" b="1" spc="-6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</a:t>
            </a:r>
            <a:r>
              <a:rPr sz="2400" b="1" spc="-6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compiler</a:t>
            </a:r>
            <a:r>
              <a:rPr sz="2400" b="1" spc="-6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uses</a:t>
            </a:r>
            <a:r>
              <a:rPr sz="2400" b="1" spc="-6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</a:t>
            </a:r>
            <a:r>
              <a:rPr sz="2400" b="1" spc="-60" dirty="0">
                <a:latin typeface="Tahoma"/>
                <a:cs typeface="Tahoma"/>
              </a:rPr>
              <a:t> </a:t>
            </a:r>
            <a:r>
              <a:rPr sz="2400" b="1" spc="-20" dirty="0">
                <a:latin typeface="Tahoma"/>
                <a:cs typeface="Tahoma"/>
              </a:rPr>
              <a:t>data </a:t>
            </a:r>
            <a:r>
              <a:rPr sz="2400" b="1" dirty="0">
                <a:latin typeface="Tahoma"/>
                <a:cs typeface="Tahoma"/>
              </a:rPr>
              <a:t>dependency</a:t>
            </a:r>
            <a:r>
              <a:rPr sz="2400" b="1" spc="-120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graph.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72334" y="3239891"/>
            <a:ext cx="52781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ahoma"/>
                <a:cs typeface="Tahoma"/>
              </a:rPr>
              <a:t>Consider</a:t>
            </a:r>
            <a:r>
              <a:rPr sz="2000" b="1" spc="-3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the</a:t>
            </a:r>
            <a:r>
              <a:rPr sz="2000" b="1" spc="-2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following</a:t>
            </a:r>
            <a:r>
              <a:rPr sz="2000" b="1" spc="-2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set</a:t>
            </a:r>
            <a:r>
              <a:rPr sz="2000" b="1" spc="-3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of</a:t>
            </a:r>
            <a:r>
              <a:rPr sz="2000" b="1" spc="-25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instructions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1391" y="6415152"/>
            <a:ext cx="82042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ahoma"/>
                <a:cs typeface="Tahoma"/>
              </a:rPr>
              <a:t>The</a:t>
            </a:r>
            <a:r>
              <a:rPr sz="2000" b="1" spc="-3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data</a:t>
            </a:r>
            <a:r>
              <a:rPr sz="2000" b="1" spc="-3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dependency</a:t>
            </a:r>
            <a:r>
              <a:rPr sz="2000" b="1" spc="-3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graph</a:t>
            </a:r>
            <a:r>
              <a:rPr sz="2000" b="1" spc="-3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for</a:t>
            </a:r>
            <a:r>
              <a:rPr sz="2000" b="1" spc="-3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it</a:t>
            </a:r>
            <a:r>
              <a:rPr sz="2000" b="1" spc="-3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can</a:t>
            </a:r>
            <a:r>
              <a:rPr sz="2000" b="1" spc="-3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be</a:t>
            </a:r>
            <a:r>
              <a:rPr sz="2000" b="1" spc="-3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constructed</a:t>
            </a:r>
            <a:r>
              <a:rPr sz="2000" b="1" spc="-3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as</a:t>
            </a:r>
            <a:r>
              <a:rPr sz="2000" b="1" spc="-30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follows: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6748" y="3205870"/>
            <a:ext cx="1336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FF"/>
                </a:solidFill>
                <a:latin typeface="Tahoma"/>
                <a:cs typeface="Tahoma"/>
              </a:rPr>
              <a:t>Example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9579" y="665173"/>
            <a:ext cx="7416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6870" algn="l"/>
              </a:tabLst>
            </a:pPr>
            <a:r>
              <a:rPr spc="-20" dirty="0"/>
              <a:t>Data</a:t>
            </a:r>
            <a:r>
              <a:rPr dirty="0"/>
              <a:t>	Dependency</a:t>
            </a:r>
            <a:r>
              <a:rPr spc="-310" dirty="0"/>
              <a:t> </a:t>
            </a:r>
            <a:r>
              <a:rPr spc="-10" dirty="0"/>
              <a:t>Graph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31945" y="2362084"/>
          <a:ext cx="1798320" cy="230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290">
                <a:tc>
                  <a:txBody>
                    <a:bodyPr/>
                    <a:lstStyle/>
                    <a:p>
                      <a:pPr marL="30480" algn="ctr">
                        <a:lnSpc>
                          <a:spcPts val="1814"/>
                        </a:lnSpc>
                        <a:spcBef>
                          <a:spcPts val="360"/>
                        </a:spcBef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(a)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9525">
                      <a:solidFill>
                        <a:srgbClr val="929292"/>
                      </a:solidFill>
                      <a:prstDash val="solid"/>
                    </a:lnL>
                    <a:lnT w="9525">
                      <a:solidFill>
                        <a:srgbClr val="92929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814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ld(x);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R w="9525">
                      <a:solidFill>
                        <a:srgbClr val="929292"/>
                      </a:solidFill>
                      <a:prstDash val="solid"/>
                    </a:lnR>
                    <a:lnT w="9525">
                      <a:solidFill>
                        <a:srgbClr val="929292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(b)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t2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4;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17780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(c)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t3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8;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(d)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t4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4;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31115" algn="ctr">
                        <a:lnSpc>
                          <a:spcPts val="185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(e)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85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t5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/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2;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35"/>
                        </a:spcBef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(f)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ts val="1814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t6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t2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t3;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(g)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t7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t4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t5;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746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(h)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09855" algn="r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t8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t6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t7;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R="20955" algn="ctr">
                        <a:lnSpc>
                          <a:spcPts val="1905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(i)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  <a:lnB w="9525">
                      <a:solidFill>
                        <a:srgbClr val="9292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905"/>
                        </a:lnSpc>
                      </a:pPr>
                      <a:r>
                        <a:rPr sz="1600" spc="-10" dirty="0">
                          <a:latin typeface="Tahoma"/>
                          <a:cs typeface="Tahoma"/>
                        </a:rPr>
                        <a:t>st(y,t8);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5861020" y="2630372"/>
            <a:ext cx="441325" cy="301625"/>
            <a:chOff x="5861020" y="2630372"/>
            <a:chExt cx="441325" cy="301625"/>
          </a:xfrm>
        </p:grpSpPr>
        <p:sp>
          <p:nvSpPr>
            <p:cNvPr id="5" name="object 5"/>
            <p:cNvSpPr/>
            <p:nvPr/>
          </p:nvSpPr>
          <p:spPr>
            <a:xfrm>
              <a:off x="5865783" y="2635134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4"/>
                  </a:lnTo>
                  <a:lnTo>
                    <a:pt x="63235" y="249323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3"/>
                  </a:lnTo>
                  <a:lnTo>
                    <a:pt x="402323" y="219764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65783" y="2635134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50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50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099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5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07759" y="263132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4031" y="801254"/>
            <a:ext cx="7416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6870" algn="l"/>
              </a:tabLst>
            </a:pPr>
            <a:r>
              <a:rPr spc="-20" dirty="0"/>
              <a:t>Data</a:t>
            </a:r>
            <a:r>
              <a:rPr dirty="0"/>
              <a:t>	Dependency</a:t>
            </a:r>
            <a:r>
              <a:rPr spc="-310" dirty="0"/>
              <a:t> </a:t>
            </a:r>
            <a:r>
              <a:rPr spc="-10" dirty="0"/>
              <a:t>Graph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31945" y="2362084"/>
          <a:ext cx="1798320" cy="230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290">
                <a:tc>
                  <a:txBody>
                    <a:bodyPr/>
                    <a:lstStyle/>
                    <a:p>
                      <a:pPr marL="30480" algn="ctr">
                        <a:lnSpc>
                          <a:spcPts val="1814"/>
                        </a:lnSpc>
                        <a:spcBef>
                          <a:spcPts val="360"/>
                        </a:spcBef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(a)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9525">
                      <a:solidFill>
                        <a:srgbClr val="929292"/>
                      </a:solidFill>
                      <a:prstDash val="solid"/>
                    </a:lnL>
                    <a:lnT w="9525">
                      <a:solidFill>
                        <a:srgbClr val="92929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814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t1</a:t>
                      </a:r>
                      <a:r>
                        <a:rPr sz="1600" b="1" spc="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ld(x);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R w="9525">
                      <a:solidFill>
                        <a:srgbClr val="929292"/>
                      </a:solidFill>
                      <a:prstDash val="solid"/>
                    </a:lnR>
                    <a:lnT w="9525">
                      <a:solidFill>
                        <a:srgbClr val="929292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(b)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07314" algn="r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t2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t1</a:t>
                      </a:r>
                      <a:r>
                        <a:rPr sz="1600" b="1" spc="2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4;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17780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(c)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t3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t1</a:t>
                      </a:r>
                      <a:r>
                        <a:rPr sz="1600" b="1" spc="2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8;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(d)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t4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t1</a:t>
                      </a:r>
                      <a:r>
                        <a:rPr sz="1600" b="1" spc="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4;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31115" algn="ctr">
                        <a:lnSpc>
                          <a:spcPts val="185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(e)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85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t5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t1</a:t>
                      </a:r>
                      <a:r>
                        <a:rPr sz="1600" b="1" spc="2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/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2;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35"/>
                        </a:spcBef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(f)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ts val="1814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t6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t2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t3;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(g)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t7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t4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t5;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746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(h)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09855" algn="r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t8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t6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t7;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R="20955" algn="ctr">
                        <a:lnSpc>
                          <a:spcPts val="1905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(i)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  <a:lnB w="9525">
                      <a:solidFill>
                        <a:srgbClr val="9292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905"/>
                        </a:lnSpc>
                      </a:pPr>
                      <a:r>
                        <a:rPr sz="1600" spc="-10" dirty="0">
                          <a:latin typeface="Tahoma"/>
                          <a:cs typeface="Tahoma"/>
                        </a:rPr>
                        <a:t>st(y,t8);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5861020" y="2630372"/>
            <a:ext cx="441325" cy="301625"/>
            <a:chOff x="5861020" y="2630372"/>
            <a:chExt cx="441325" cy="301625"/>
          </a:xfrm>
        </p:grpSpPr>
        <p:sp>
          <p:nvSpPr>
            <p:cNvPr id="5" name="object 5"/>
            <p:cNvSpPr/>
            <p:nvPr/>
          </p:nvSpPr>
          <p:spPr>
            <a:xfrm>
              <a:off x="5865783" y="2635134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4"/>
                  </a:lnTo>
                  <a:lnTo>
                    <a:pt x="63235" y="249323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3"/>
                  </a:lnTo>
                  <a:lnTo>
                    <a:pt x="402323" y="219764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65783" y="2635134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50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50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099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5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07759" y="263132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70420" y="3235210"/>
            <a:ext cx="441325" cy="301625"/>
            <a:chOff x="4870420" y="3235210"/>
            <a:chExt cx="441325" cy="301625"/>
          </a:xfrm>
        </p:grpSpPr>
        <p:sp>
          <p:nvSpPr>
            <p:cNvPr id="9" name="object 9"/>
            <p:cNvSpPr/>
            <p:nvPr/>
          </p:nvSpPr>
          <p:spPr>
            <a:xfrm>
              <a:off x="48751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2"/>
                  </a:lnTo>
                  <a:lnTo>
                    <a:pt x="402323" y="219763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751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017159" y="323616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30820" y="3235210"/>
            <a:ext cx="441325" cy="301625"/>
            <a:chOff x="5530820" y="3235210"/>
            <a:chExt cx="441325" cy="301625"/>
          </a:xfrm>
        </p:grpSpPr>
        <p:sp>
          <p:nvSpPr>
            <p:cNvPr id="13" name="object 13"/>
            <p:cNvSpPr/>
            <p:nvPr/>
          </p:nvSpPr>
          <p:spPr>
            <a:xfrm>
              <a:off x="55355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2"/>
                  </a:lnTo>
                  <a:lnTo>
                    <a:pt x="402323" y="219763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355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677559" y="323616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c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91220" y="3235210"/>
            <a:ext cx="441325" cy="301625"/>
            <a:chOff x="6191220" y="3235210"/>
            <a:chExt cx="441325" cy="301625"/>
          </a:xfrm>
        </p:grpSpPr>
        <p:sp>
          <p:nvSpPr>
            <p:cNvPr id="17" name="object 17"/>
            <p:cNvSpPr/>
            <p:nvPr/>
          </p:nvSpPr>
          <p:spPr>
            <a:xfrm>
              <a:off x="61959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3" y="249322"/>
                  </a:lnTo>
                  <a:lnTo>
                    <a:pt x="402322" y="219763"/>
                  </a:lnTo>
                  <a:lnTo>
                    <a:pt x="424086" y="184875"/>
                  </a:lnTo>
                  <a:lnTo>
                    <a:pt x="431798" y="146050"/>
                  </a:lnTo>
                  <a:lnTo>
                    <a:pt x="424086" y="107224"/>
                  </a:lnTo>
                  <a:lnTo>
                    <a:pt x="402322" y="72335"/>
                  </a:lnTo>
                  <a:lnTo>
                    <a:pt x="368563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1959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2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2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37959" y="323616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d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851620" y="3235210"/>
            <a:ext cx="441325" cy="301625"/>
            <a:chOff x="6851620" y="3235210"/>
            <a:chExt cx="441325" cy="301625"/>
          </a:xfrm>
        </p:grpSpPr>
        <p:sp>
          <p:nvSpPr>
            <p:cNvPr id="21" name="object 21"/>
            <p:cNvSpPr/>
            <p:nvPr/>
          </p:nvSpPr>
          <p:spPr>
            <a:xfrm>
              <a:off x="6856382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2"/>
                  </a:lnTo>
                  <a:lnTo>
                    <a:pt x="402323" y="219763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563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998358" y="323616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091083" y="2870085"/>
            <a:ext cx="1981200" cy="375920"/>
            <a:chOff x="5091083" y="2870085"/>
            <a:chExt cx="1981200" cy="375920"/>
          </a:xfrm>
        </p:grpSpPr>
        <p:sp>
          <p:nvSpPr>
            <p:cNvPr id="25" name="object 25"/>
            <p:cNvSpPr/>
            <p:nvPr/>
          </p:nvSpPr>
          <p:spPr>
            <a:xfrm>
              <a:off x="5117389" y="2884373"/>
              <a:ext cx="812165" cy="344805"/>
            </a:xfrm>
            <a:custGeom>
              <a:avLst/>
              <a:gdLst/>
              <a:ahLst/>
              <a:cxnLst/>
              <a:rect l="l" t="t" r="r" b="b"/>
              <a:pathLst>
                <a:path w="812164" h="344805">
                  <a:moveTo>
                    <a:pt x="811894" y="0"/>
                  </a:moveTo>
                  <a:lnTo>
                    <a:pt x="0" y="34443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91083" y="3167034"/>
              <a:ext cx="95885" cy="79375"/>
            </a:xfrm>
            <a:custGeom>
              <a:avLst/>
              <a:gdLst/>
              <a:ahLst/>
              <a:cxnLst/>
              <a:rect l="l" t="t" r="r" b="b"/>
              <a:pathLst>
                <a:path w="95885" h="79375">
                  <a:moveTo>
                    <a:pt x="62176" y="0"/>
                  </a:moveTo>
                  <a:lnTo>
                    <a:pt x="0" y="72937"/>
                  </a:lnTo>
                  <a:lnTo>
                    <a:pt x="95656" y="78916"/>
                  </a:lnTo>
                  <a:lnTo>
                    <a:pt x="62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72230" y="2927234"/>
              <a:ext cx="309880" cy="293370"/>
            </a:xfrm>
            <a:custGeom>
              <a:avLst/>
              <a:gdLst/>
              <a:ahLst/>
              <a:cxnLst/>
              <a:rect l="l" t="t" r="r" b="b"/>
              <a:pathLst>
                <a:path w="309879" h="293369">
                  <a:moveTo>
                    <a:pt x="309453" y="0"/>
                  </a:moveTo>
                  <a:lnTo>
                    <a:pt x="0" y="29308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51483" y="3149904"/>
              <a:ext cx="92075" cy="90170"/>
            </a:xfrm>
            <a:custGeom>
              <a:avLst/>
              <a:gdLst/>
              <a:ahLst/>
              <a:cxnLst/>
              <a:rect l="l" t="t" r="r" b="b"/>
              <a:pathLst>
                <a:path w="92075" h="90169">
                  <a:moveTo>
                    <a:pt x="32764" y="0"/>
                  </a:moveTo>
                  <a:lnTo>
                    <a:pt x="0" y="90068"/>
                  </a:lnTo>
                  <a:lnTo>
                    <a:pt x="91714" y="62238"/>
                  </a:lnTo>
                  <a:lnTo>
                    <a:pt x="327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81683" y="2927234"/>
              <a:ext cx="309880" cy="293370"/>
            </a:xfrm>
            <a:custGeom>
              <a:avLst/>
              <a:gdLst/>
              <a:ahLst/>
              <a:cxnLst/>
              <a:rect l="l" t="t" r="r" b="b"/>
              <a:pathLst>
                <a:path w="309879" h="293369">
                  <a:moveTo>
                    <a:pt x="0" y="0"/>
                  </a:moveTo>
                  <a:lnTo>
                    <a:pt x="309453" y="293087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320167" y="3149903"/>
              <a:ext cx="92075" cy="90170"/>
            </a:xfrm>
            <a:custGeom>
              <a:avLst/>
              <a:gdLst/>
              <a:ahLst/>
              <a:cxnLst/>
              <a:rect l="l" t="t" r="r" b="b"/>
              <a:pathLst>
                <a:path w="92075" h="90169">
                  <a:moveTo>
                    <a:pt x="58949" y="0"/>
                  </a:moveTo>
                  <a:lnTo>
                    <a:pt x="0" y="62240"/>
                  </a:lnTo>
                  <a:lnTo>
                    <a:pt x="91715" y="90068"/>
                  </a:lnTo>
                  <a:lnTo>
                    <a:pt x="589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34083" y="2884373"/>
              <a:ext cx="812165" cy="344805"/>
            </a:xfrm>
            <a:custGeom>
              <a:avLst/>
              <a:gdLst/>
              <a:ahLst/>
              <a:cxnLst/>
              <a:rect l="l" t="t" r="r" b="b"/>
              <a:pathLst>
                <a:path w="812165" h="344805">
                  <a:moveTo>
                    <a:pt x="0" y="0"/>
                  </a:moveTo>
                  <a:lnTo>
                    <a:pt x="811894" y="34444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976627" y="3167034"/>
              <a:ext cx="95885" cy="79375"/>
            </a:xfrm>
            <a:custGeom>
              <a:avLst/>
              <a:gdLst/>
              <a:ahLst/>
              <a:cxnLst/>
              <a:rect l="l" t="t" r="r" b="b"/>
              <a:pathLst>
                <a:path w="95884" h="79375">
                  <a:moveTo>
                    <a:pt x="33479" y="0"/>
                  </a:moveTo>
                  <a:lnTo>
                    <a:pt x="0" y="78916"/>
                  </a:lnTo>
                  <a:lnTo>
                    <a:pt x="95656" y="72938"/>
                  </a:lnTo>
                  <a:lnTo>
                    <a:pt x="334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4031" y="801254"/>
            <a:ext cx="7416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6870" algn="l"/>
              </a:tabLst>
            </a:pPr>
            <a:r>
              <a:rPr spc="-20" dirty="0"/>
              <a:t>Data</a:t>
            </a:r>
            <a:r>
              <a:rPr dirty="0"/>
              <a:t>	Dependency</a:t>
            </a:r>
            <a:r>
              <a:rPr spc="-310" dirty="0"/>
              <a:t> </a:t>
            </a:r>
            <a:r>
              <a:rPr spc="-10" dirty="0"/>
              <a:t>Graph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61020" y="2630372"/>
            <a:ext cx="441325" cy="301625"/>
            <a:chOff x="5861020" y="2630372"/>
            <a:chExt cx="441325" cy="301625"/>
          </a:xfrm>
        </p:grpSpPr>
        <p:sp>
          <p:nvSpPr>
            <p:cNvPr id="4" name="object 4"/>
            <p:cNvSpPr/>
            <p:nvPr/>
          </p:nvSpPr>
          <p:spPr>
            <a:xfrm>
              <a:off x="5865783" y="2635134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4"/>
                  </a:lnTo>
                  <a:lnTo>
                    <a:pt x="63235" y="249323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3"/>
                  </a:lnTo>
                  <a:lnTo>
                    <a:pt x="402323" y="219764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65783" y="2635134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50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50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099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5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007759" y="263132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870420" y="3235210"/>
            <a:ext cx="441325" cy="301625"/>
            <a:chOff x="4870420" y="3235210"/>
            <a:chExt cx="441325" cy="301625"/>
          </a:xfrm>
        </p:grpSpPr>
        <p:sp>
          <p:nvSpPr>
            <p:cNvPr id="8" name="object 8"/>
            <p:cNvSpPr/>
            <p:nvPr/>
          </p:nvSpPr>
          <p:spPr>
            <a:xfrm>
              <a:off x="48751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2"/>
                  </a:lnTo>
                  <a:lnTo>
                    <a:pt x="402323" y="219763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751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17159" y="323616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530820" y="3235210"/>
            <a:ext cx="441325" cy="301625"/>
            <a:chOff x="5530820" y="3235210"/>
            <a:chExt cx="441325" cy="301625"/>
          </a:xfrm>
        </p:grpSpPr>
        <p:sp>
          <p:nvSpPr>
            <p:cNvPr id="12" name="object 12"/>
            <p:cNvSpPr/>
            <p:nvPr/>
          </p:nvSpPr>
          <p:spPr>
            <a:xfrm>
              <a:off x="55355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2"/>
                  </a:lnTo>
                  <a:lnTo>
                    <a:pt x="402323" y="219763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55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677559" y="323616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c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91220" y="3235210"/>
            <a:ext cx="441325" cy="301625"/>
            <a:chOff x="6191220" y="3235210"/>
            <a:chExt cx="441325" cy="301625"/>
          </a:xfrm>
        </p:grpSpPr>
        <p:sp>
          <p:nvSpPr>
            <p:cNvPr id="16" name="object 16"/>
            <p:cNvSpPr/>
            <p:nvPr/>
          </p:nvSpPr>
          <p:spPr>
            <a:xfrm>
              <a:off x="61959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3" y="249322"/>
                  </a:lnTo>
                  <a:lnTo>
                    <a:pt x="402322" y="219763"/>
                  </a:lnTo>
                  <a:lnTo>
                    <a:pt x="424086" y="184875"/>
                  </a:lnTo>
                  <a:lnTo>
                    <a:pt x="431798" y="146050"/>
                  </a:lnTo>
                  <a:lnTo>
                    <a:pt x="424086" y="107224"/>
                  </a:lnTo>
                  <a:lnTo>
                    <a:pt x="402322" y="72335"/>
                  </a:lnTo>
                  <a:lnTo>
                    <a:pt x="368563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959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2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2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337959" y="323616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d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51620" y="3235210"/>
            <a:ext cx="441325" cy="301625"/>
            <a:chOff x="6851620" y="3235210"/>
            <a:chExt cx="441325" cy="301625"/>
          </a:xfrm>
        </p:grpSpPr>
        <p:sp>
          <p:nvSpPr>
            <p:cNvPr id="20" name="object 20"/>
            <p:cNvSpPr/>
            <p:nvPr/>
          </p:nvSpPr>
          <p:spPr>
            <a:xfrm>
              <a:off x="6856382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2"/>
                  </a:lnTo>
                  <a:lnTo>
                    <a:pt x="402323" y="219763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563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998358" y="323616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091083" y="2870085"/>
            <a:ext cx="1981200" cy="1271905"/>
            <a:chOff x="5091083" y="2870085"/>
            <a:chExt cx="1981200" cy="1271905"/>
          </a:xfrm>
        </p:grpSpPr>
        <p:sp>
          <p:nvSpPr>
            <p:cNvPr id="24" name="object 24"/>
            <p:cNvSpPr/>
            <p:nvPr/>
          </p:nvSpPr>
          <p:spPr>
            <a:xfrm>
              <a:off x="5117389" y="2884373"/>
              <a:ext cx="812165" cy="344805"/>
            </a:xfrm>
            <a:custGeom>
              <a:avLst/>
              <a:gdLst/>
              <a:ahLst/>
              <a:cxnLst/>
              <a:rect l="l" t="t" r="r" b="b"/>
              <a:pathLst>
                <a:path w="812164" h="344805">
                  <a:moveTo>
                    <a:pt x="811894" y="0"/>
                  </a:moveTo>
                  <a:lnTo>
                    <a:pt x="0" y="34443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91083" y="3167034"/>
              <a:ext cx="95885" cy="79375"/>
            </a:xfrm>
            <a:custGeom>
              <a:avLst/>
              <a:gdLst/>
              <a:ahLst/>
              <a:cxnLst/>
              <a:rect l="l" t="t" r="r" b="b"/>
              <a:pathLst>
                <a:path w="95885" h="79375">
                  <a:moveTo>
                    <a:pt x="62176" y="0"/>
                  </a:moveTo>
                  <a:lnTo>
                    <a:pt x="0" y="72937"/>
                  </a:lnTo>
                  <a:lnTo>
                    <a:pt x="95656" y="78916"/>
                  </a:lnTo>
                  <a:lnTo>
                    <a:pt x="62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72230" y="2927234"/>
              <a:ext cx="309880" cy="293370"/>
            </a:xfrm>
            <a:custGeom>
              <a:avLst/>
              <a:gdLst/>
              <a:ahLst/>
              <a:cxnLst/>
              <a:rect l="l" t="t" r="r" b="b"/>
              <a:pathLst>
                <a:path w="309879" h="293369">
                  <a:moveTo>
                    <a:pt x="309453" y="0"/>
                  </a:moveTo>
                  <a:lnTo>
                    <a:pt x="0" y="29308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51483" y="3149904"/>
              <a:ext cx="92075" cy="90170"/>
            </a:xfrm>
            <a:custGeom>
              <a:avLst/>
              <a:gdLst/>
              <a:ahLst/>
              <a:cxnLst/>
              <a:rect l="l" t="t" r="r" b="b"/>
              <a:pathLst>
                <a:path w="92075" h="90169">
                  <a:moveTo>
                    <a:pt x="32764" y="0"/>
                  </a:moveTo>
                  <a:lnTo>
                    <a:pt x="0" y="90068"/>
                  </a:lnTo>
                  <a:lnTo>
                    <a:pt x="91714" y="62238"/>
                  </a:lnTo>
                  <a:lnTo>
                    <a:pt x="327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81683" y="2927234"/>
              <a:ext cx="309880" cy="293370"/>
            </a:xfrm>
            <a:custGeom>
              <a:avLst/>
              <a:gdLst/>
              <a:ahLst/>
              <a:cxnLst/>
              <a:rect l="l" t="t" r="r" b="b"/>
              <a:pathLst>
                <a:path w="309879" h="293369">
                  <a:moveTo>
                    <a:pt x="0" y="0"/>
                  </a:moveTo>
                  <a:lnTo>
                    <a:pt x="309453" y="293087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20167" y="3149903"/>
              <a:ext cx="92075" cy="90170"/>
            </a:xfrm>
            <a:custGeom>
              <a:avLst/>
              <a:gdLst/>
              <a:ahLst/>
              <a:cxnLst/>
              <a:rect l="l" t="t" r="r" b="b"/>
              <a:pathLst>
                <a:path w="92075" h="90169">
                  <a:moveTo>
                    <a:pt x="58949" y="0"/>
                  </a:moveTo>
                  <a:lnTo>
                    <a:pt x="0" y="62240"/>
                  </a:lnTo>
                  <a:lnTo>
                    <a:pt x="91715" y="90068"/>
                  </a:lnTo>
                  <a:lnTo>
                    <a:pt x="589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34083" y="2884373"/>
              <a:ext cx="812165" cy="344805"/>
            </a:xfrm>
            <a:custGeom>
              <a:avLst/>
              <a:gdLst/>
              <a:ahLst/>
              <a:cxnLst/>
              <a:rect l="l" t="t" r="r" b="b"/>
              <a:pathLst>
                <a:path w="812165" h="344805">
                  <a:moveTo>
                    <a:pt x="0" y="0"/>
                  </a:moveTo>
                  <a:lnTo>
                    <a:pt x="811894" y="34444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76627" y="3167034"/>
              <a:ext cx="95885" cy="79375"/>
            </a:xfrm>
            <a:custGeom>
              <a:avLst/>
              <a:gdLst/>
              <a:ahLst/>
              <a:cxnLst/>
              <a:rect l="l" t="t" r="r" b="b"/>
              <a:pathLst>
                <a:path w="95884" h="79375">
                  <a:moveTo>
                    <a:pt x="33479" y="0"/>
                  </a:moveTo>
                  <a:lnTo>
                    <a:pt x="0" y="78916"/>
                  </a:lnTo>
                  <a:lnTo>
                    <a:pt x="95656" y="72938"/>
                  </a:lnTo>
                  <a:lnTo>
                    <a:pt x="334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05383" y="3844809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4"/>
                  </a:lnTo>
                  <a:lnTo>
                    <a:pt x="63235" y="249323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3"/>
                  </a:lnTo>
                  <a:lnTo>
                    <a:pt x="402323" y="219764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205383" y="3844809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099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372759" y="3840999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f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076795" y="3517786"/>
            <a:ext cx="688975" cy="370205"/>
            <a:chOff x="5076795" y="3517786"/>
            <a:chExt cx="688975" cy="370205"/>
          </a:xfrm>
        </p:grpSpPr>
        <p:sp>
          <p:nvSpPr>
            <p:cNvPr id="36" name="object 36"/>
            <p:cNvSpPr/>
            <p:nvPr/>
          </p:nvSpPr>
          <p:spPr>
            <a:xfrm>
              <a:off x="5091083" y="3532073"/>
              <a:ext cx="165100" cy="330200"/>
            </a:xfrm>
            <a:custGeom>
              <a:avLst/>
              <a:gdLst/>
              <a:ahLst/>
              <a:cxnLst/>
              <a:rect l="l" t="t" r="r" b="b"/>
              <a:pathLst>
                <a:path w="165100" h="330200">
                  <a:moveTo>
                    <a:pt x="0" y="0"/>
                  </a:moveTo>
                  <a:lnTo>
                    <a:pt x="165020" y="3300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92208" y="3791829"/>
              <a:ext cx="76835" cy="95885"/>
            </a:xfrm>
            <a:custGeom>
              <a:avLst/>
              <a:gdLst/>
              <a:ahLst/>
              <a:cxnLst/>
              <a:rect l="l" t="t" r="r" b="b"/>
              <a:pathLst>
                <a:path w="76835" h="95885">
                  <a:moveTo>
                    <a:pt x="76674" y="0"/>
                  </a:moveTo>
                  <a:lnTo>
                    <a:pt x="0" y="38338"/>
                  </a:lnTo>
                  <a:lnTo>
                    <a:pt x="76674" y="95844"/>
                  </a:lnTo>
                  <a:lnTo>
                    <a:pt x="766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586462" y="3532073"/>
              <a:ext cx="165100" cy="330200"/>
            </a:xfrm>
            <a:custGeom>
              <a:avLst/>
              <a:gdLst/>
              <a:ahLst/>
              <a:cxnLst/>
              <a:rect l="l" t="t" r="r" b="b"/>
              <a:pathLst>
                <a:path w="165100" h="330200">
                  <a:moveTo>
                    <a:pt x="165020" y="0"/>
                  </a:moveTo>
                  <a:lnTo>
                    <a:pt x="0" y="3300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573683" y="3791829"/>
              <a:ext cx="76835" cy="95885"/>
            </a:xfrm>
            <a:custGeom>
              <a:avLst/>
              <a:gdLst/>
              <a:ahLst/>
              <a:cxnLst/>
              <a:rect l="l" t="t" r="r" b="b"/>
              <a:pathLst>
                <a:path w="76835" h="95885">
                  <a:moveTo>
                    <a:pt x="0" y="0"/>
                  </a:moveTo>
                  <a:lnTo>
                    <a:pt x="0" y="95844"/>
                  </a:lnTo>
                  <a:lnTo>
                    <a:pt x="76674" y="38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1831945" y="2362084"/>
          <a:ext cx="1868170" cy="230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290">
                <a:tc>
                  <a:txBody>
                    <a:bodyPr/>
                    <a:lstStyle/>
                    <a:p>
                      <a:pPr marL="30480" algn="ctr">
                        <a:lnSpc>
                          <a:spcPts val="1814"/>
                        </a:lnSpc>
                        <a:spcBef>
                          <a:spcPts val="360"/>
                        </a:spcBef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(a)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9525">
                      <a:solidFill>
                        <a:srgbClr val="929292"/>
                      </a:solidFill>
                      <a:prstDash val="solid"/>
                    </a:lnL>
                    <a:lnT w="9525">
                      <a:solidFill>
                        <a:srgbClr val="92929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814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ld(x);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R w="9525">
                      <a:solidFill>
                        <a:srgbClr val="929292"/>
                      </a:solidFill>
                      <a:prstDash val="solid"/>
                    </a:lnR>
                    <a:lnT w="9525">
                      <a:solidFill>
                        <a:srgbClr val="929292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(b)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00"/>
                        </a:lnSpc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t2</a:t>
                      </a:r>
                      <a:r>
                        <a:rPr sz="1600" b="1" spc="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4;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17780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(c)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800"/>
                        </a:lnSpc>
                      </a:pPr>
                      <a:r>
                        <a:rPr sz="1600" b="1" dirty="0">
                          <a:solidFill>
                            <a:srgbClr val="0033CC"/>
                          </a:solidFill>
                          <a:latin typeface="Tahoma"/>
                          <a:cs typeface="Tahoma"/>
                        </a:rPr>
                        <a:t>t3</a:t>
                      </a:r>
                      <a:r>
                        <a:rPr sz="1600" b="1" spc="15" dirty="0">
                          <a:solidFill>
                            <a:srgbClr val="0033C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8;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(d)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t4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4;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31115" algn="ctr">
                        <a:lnSpc>
                          <a:spcPts val="185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(e)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85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t5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/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2;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35"/>
                        </a:spcBef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(f)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1814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t6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t2</a:t>
                      </a:r>
                      <a:r>
                        <a:rPr sz="1600" b="1" spc="2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0033CC"/>
                          </a:solidFill>
                          <a:latin typeface="Tahoma"/>
                          <a:cs typeface="Tahoma"/>
                        </a:rPr>
                        <a:t>t3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(g)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t7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t4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t5;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746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(h)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t8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t6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t7;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R="20955" algn="ctr">
                        <a:lnSpc>
                          <a:spcPts val="1905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(i)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  <a:lnB w="9525">
                      <a:solidFill>
                        <a:srgbClr val="9292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905"/>
                        </a:lnSpc>
                      </a:pPr>
                      <a:r>
                        <a:rPr sz="1600" spc="-10" dirty="0">
                          <a:latin typeface="Tahoma"/>
                          <a:cs typeface="Tahoma"/>
                        </a:rPr>
                        <a:t>st(y,t8);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4031" y="801254"/>
            <a:ext cx="7416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6870" algn="l"/>
              </a:tabLst>
            </a:pPr>
            <a:r>
              <a:rPr spc="-20" dirty="0"/>
              <a:t>Data</a:t>
            </a:r>
            <a:r>
              <a:rPr dirty="0"/>
              <a:t>	Dependency</a:t>
            </a:r>
            <a:r>
              <a:rPr spc="-310" dirty="0"/>
              <a:t> </a:t>
            </a:r>
            <a:r>
              <a:rPr spc="-10" dirty="0"/>
              <a:t>Graph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61020" y="2630372"/>
            <a:ext cx="441325" cy="301625"/>
            <a:chOff x="5861020" y="2630372"/>
            <a:chExt cx="441325" cy="301625"/>
          </a:xfrm>
        </p:grpSpPr>
        <p:sp>
          <p:nvSpPr>
            <p:cNvPr id="4" name="object 4"/>
            <p:cNvSpPr/>
            <p:nvPr/>
          </p:nvSpPr>
          <p:spPr>
            <a:xfrm>
              <a:off x="5865783" y="2635134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4"/>
                  </a:lnTo>
                  <a:lnTo>
                    <a:pt x="63235" y="249323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3"/>
                  </a:lnTo>
                  <a:lnTo>
                    <a:pt x="402323" y="219764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65783" y="2635134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50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50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099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5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007759" y="263132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870420" y="3235210"/>
            <a:ext cx="441325" cy="301625"/>
            <a:chOff x="4870420" y="3235210"/>
            <a:chExt cx="441325" cy="301625"/>
          </a:xfrm>
        </p:grpSpPr>
        <p:sp>
          <p:nvSpPr>
            <p:cNvPr id="8" name="object 8"/>
            <p:cNvSpPr/>
            <p:nvPr/>
          </p:nvSpPr>
          <p:spPr>
            <a:xfrm>
              <a:off x="48751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2"/>
                  </a:lnTo>
                  <a:lnTo>
                    <a:pt x="402323" y="219763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751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17159" y="323616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530820" y="3235210"/>
            <a:ext cx="441325" cy="301625"/>
            <a:chOff x="5530820" y="3235210"/>
            <a:chExt cx="441325" cy="301625"/>
          </a:xfrm>
        </p:grpSpPr>
        <p:sp>
          <p:nvSpPr>
            <p:cNvPr id="12" name="object 12"/>
            <p:cNvSpPr/>
            <p:nvPr/>
          </p:nvSpPr>
          <p:spPr>
            <a:xfrm>
              <a:off x="55355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2"/>
                  </a:lnTo>
                  <a:lnTo>
                    <a:pt x="402323" y="219763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55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677559" y="323616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c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91220" y="3235210"/>
            <a:ext cx="441325" cy="301625"/>
            <a:chOff x="6191220" y="3235210"/>
            <a:chExt cx="441325" cy="301625"/>
          </a:xfrm>
        </p:grpSpPr>
        <p:sp>
          <p:nvSpPr>
            <p:cNvPr id="16" name="object 16"/>
            <p:cNvSpPr/>
            <p:nvPr/>
          </p:nvSpPr>
          <p:spPr>
            <a:xfrm>
              <a:off x="61959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3" y="249322"/>
                  </a:lnTo>
                  <a:lnTo>
                    <a:pt x="402322" y="219763"/>
                  </a:lnTo>
                  <a:lnTo>
                    <a:pt x="424086" y="184875"/>
                  </a:lnTo>
                  <a:lnTo>
                    <a:pt x="431798" y="146050"/>
                  </a:lnTo>
                  <a:lnTo>
                    <a:pt x="424086" y="107224"/>
                  </a:lnTo>
                  <a:lnTo>
                    <a:pt x="402322" y="72335"/>
                  </a:lnTo>
                  <a:lnTo>
                    <a:pt x="368563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959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2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2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337959" y="323616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d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51620" y="3235210"/>
            <a:ext cx="441325" cy="301625"/>
            <a:chOff x="6851620" y="3235210"/>
            <a:chExt cx="441325" cy="301625"/>
          </a:xfrm>
        </p:grpSpPr>
        <p:sp>
          <p:nvSpPr>
            <p:cNvPr id="20" name="object 20"/>
            <p:cNvSpPr/>
            <p:nvPr/>
          </p:nvSpPr>
          <p:spPr>
            <a:xfrm>
              <a:off x="6856382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2"/>
                  </a:lnTo>
                  <a:lnTo>
                    <a:pt x="402323" y="219763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563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998358" y="323616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091083" y="2870085"/>
            <a:ext cx="1981200" cy="1271905"/>
            <a:chOff x="5091083" y="2870085"/>
            <a:chExt cx="1981200" cy="1271905"/>
          </a:xfrm>
        </p:grpSpPr>
        <p:sp>
          <p:nvSpPr>
            <p:cNvPr id="24" name="object 24"/>
            <p:cNvSpPr/>
            <p:nvPr/>
          </p:nvSpPr>
          <p:spPr>
            <a:xfrm>
              <a:off x="5117389" y="2884373"/>
              <a:ext cx="812165" cy="344805"/>
            </a:xfrm>
            <a:custGeom>
              <a:avLst/>
              <a:gdLst/>
              <a:ahLst/>
              <a:cxnLst/>
              <a:rect l="l" t="t" r="r" b="b"/>
              <a:pathLst>
                <a:path w="812164" h="344805">
                  <a:moveTo>
                    <a:pt x="811894" y="0"/>
                  </a:moveTo>
                  <a:lnTo>
                    <a:pt x="0" y="34443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91083" y="3167034"/>
              <a:ext cx="95885" cy="79375"/>
            </a:xfrm>
            <a:custGeom>
              <a:avLst/>
              <a:gdLst/>
              <a:ahLst/>
              <a:cxnLst/>
              <a:rect l="l" t="t" r="r" b="b"/>
              <a:pathLst>
                <a:path w="95885" h="79375">
                  <a:moveTo>
                    <a:pt x="62176" y="0"/>
                  </a:moveTo>
                  <a:lnTo>
                    <a:pt x="0" y="72937"/>
                  </a:lnTo>
                  <a:lnTo>
                    <a:pt x="95656" y="78916"/>
                  </a:lnTo>
                  <a:lnTo>
                    <a:pt x="62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72230" y="2927234"/>
              <a:ext cx="309880" cy="293370"/>
            </a:xfrm>
            <a:custGeom>
              <a:avLst/>
              <a:gdLst/>
              <a:ahLst/>
              <a:cxnLst/>
              <a:rect l="l" t="t" r="r" b="b"/>
              <a:pathLst>
                <a:path w="309879" h="293369">
                  <a:moveTo>
                    <a:pt x="309453" y="0"/>
                  </a:moveTo>
                  <a:lnTo>
                    <a:pt x="0" y="29308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51483" y="3149904"/>
              <a:ext cx="92075" cy="90170"/>
            </a:xfrm>
            <a:custGeom>
              <a:avLst/>
              <a:gdLst/>
              <a:ahLst/>
              <a:cxnLst/>
              <a:rect l="l" t="t" r="r" b="b"/>
              <a:pathLst>
                <a:path w="92075" h="90169">
                  <a:moveTo>
                    <a:pt x="32764" y="0"/>
                  </a:moveTo>
                  <a:lnTo>
                    <a:pt x="0" y="90068"/>
                  </a:lnTo>
                  <a:lnTo>
                    <a:pt x="91714" y="62238"/>
                  </a:lnTo>
                  <a:lnTo>
                    <a:pt x="327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81683" y="2927234"/>
              <a:ext cx="309880" cy="293370"/>
            </a:xfrm>
            <a:custGeom>
              <a:avLst/>
              <a:gdLst/>
              <a:ahLst/>
              <a:cxnLst/>
              <a:rect l="l" t="t" r="r" b="b"/>
              <a:pathLst>
                <a:path w="309879" h="293369">
                  <a:moveTo>
                    <a:pt x="0" y="0"/>
                  </a:moveTo>
                  <a:lnTo>
                    <a:pt x="309453" y="293087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20167" y="3149903"/>
              <a:ext cx="92075" cy="90170"/>
            </a:xfrm>
            <a:custGeom>
              <a:avLst/>
              <a:gdLst/>
              <a:ahLst/>
              <a:cxnLst/>
              <a:rect l="l" t="t" r="r" b="b"/>
              <a:pathLst>
                <a:path w="92075" h="90169">
                  <a:moveTo>
                    <a:pt x="58949" y="0"/>
                  </a:moveTo>
                  <a:lnTo>
                    <a:pt x="0" y="62240"/>
                  </a:lnTo>
                  <a:lnTo>
                    <a:pt x="91715" y="90068"/>
                  </a:lnTo>
                  <a:lnTo>
                    <a:pt x="589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34083" y="2884373"/>
              <a:ext cx="812165" cy="344805"/>
            </a:xfrm>
            <a:custGeom>
              <a:avLst/>
              <a:gdLst/>
              <a:ahLst/>
              <a:cxnLst/>
              <a:rect l="l" t="t" r="r" b="b"/>
              <a:pathLst>
                <a:path w="812165" h="344805">
                  <a:moveTo>
                    <a:pt x="0" y="0"/>
                  </a:moveTo>
                  <a:lnTo>
                    <a:pt x="811894" y="34444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76627" y="3167034"/>
              <a:ext cx="95885" cy="79375"/>
            </a:xfrm>
            <a:custGeom>
              <a:avLst/>
              <a:gdLst/>
              <a:ahLst/>
              <a:cxnLst/>
              <a:rect l="l" t="t" r="r" b="b"/>
              <a:pathLst>
                <a:path w="95884" h="79375">
                  <a:moveTo>
                    <a:pt x="33479" y="0"/>
                  </a:moveTo>
                  <a:lnTo>
                    <a:pt x="0" y="78916"/>
                  </a:lnTo>
                  <a:lnTo>
                    <a:pt x="95656" y="72938"/>
                  </a:lnTo>
                  <a:lnTo>
                    <a:pt x="334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05383" y="3844809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4"/>
                  </a:lnTo>
                  <a:lnTo>
                    <a:pt x="63235" y="249323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3"/>
                  </a:lnTo>
                  <a:lnTo>
                    <a:pt x="402323" y="219764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205383" y="3844809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099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372759" y="3840999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f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521420" y="3840047"/>
            <a:ext cx="441325" cy="301625"/>
            <a:chOff x="6521420" y="3840047"/>
            <a:chExt cx="441325" cy="301625"/>
          </a:xfrm>
        </p:grpSpPr>
        <p:sp>
          <p:nvSpPr>
            <p:cNvPr id="36" name="object 36"/>
            <p:cNvSpPr/>
            <p:nvPr/>
          </p:nvSpPr>
          <p:spPr>
            <a:xfrm>
              <a:off x="6526182" y="3844809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4"/>
                  </a:lnTo>
                  <a:lnTo>
                    <a:pt x="63235" y="249323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3"/>
                  </a:lnTo>
                  <a:lnTo>
                    <a:pt x="402323" y="219764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526183" y="3844809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099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668158" y="384099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g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076795" y="3517786"/>
            <a:ext cx="2009775" cy="370205"/>
            <a:chOff x="5076795" y="3517786"/>
            <a:chExt cx="2009775" cy="370205"/>
          </a:xfrm>
        </p:grpSpPr>
        <p:sp>
          <p:nvSpPr>
            <p:cNvPr id="40" name="object 40"/>
            <p:cNvSpPr/>
            <p:nvPr/>
          </p:nvSpPr>
          <p:spPr>
            <a:xfrm>
              <a:off x="5091083" y="3532073"/>
              <a:ext cx="165100" cy="330200"/>
            </a:xfrm>
            <a:custGeom>
              <a:avLst/>
              <a:gdLst/>
              <a:ahLst/>
              <a:cxnLst/>
              <a:rect l="l" t="t" r="r" b="b"/>
              <a:pathLst>
                <a:path w="165100" h="330200">
                  <a:moveTo>
                    <a:pt x="0" y="0"/>
                  </a:moveTo>
                  <a:lnTo>
                    <a:pt x="165020" y="3300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92208" y="3791829"/>
              <a:ext cx="76835" cy="95885"/>
            </a:xfrm>
            <a:custGeom>
              <a:avLst/>
              <a:gdLst/>
              <a:ahLst/>
              <a:cxnLst/>
              <a:rect l="l" t="t" r="r" b="b"/>
              <a:pathLst>
                <a:path w="76835" h="95885">
                  <a:moveTo>
                    <a:pt x="76674" y="0"/>
                  </a:moveTo>
                  <a:lnTo>
                    <a:pt x="0" y="38338"/>
                  </a:lnTo>
                  <a:lnTo>
                    <a:pt x="76674" y="95844"/>
                  </a:lnTo>
                  <a:lnTo>
                    <a:pt x="766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586462" y="3532073"/>
              <a:ext cx="165100" cy="330200"/>
            </a:xfrm>
            <a:custGeom>
              <a:avLst/>
              <a:gdLst/>
              <a:ahLst/>
              <a:cxnLst/>
              <a:rect l="l" t="t" r="r" b="b"/>
              <a:pathLst>
                <a:path w="165100" h="330200">
                  <a:moveTo>
                    <a:pt x="165020" y="0"/>
                  </a:moveTo>
                  <a:lnTo>
                    <a:pt x="0" y="3300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573683" y="3791829"/>
              <a:ext cx="76835" cy="95885"/>
            </a:xfrm>
            <a:custGeom>
              <a:avLst/>
              <a:gdLst/>
              <a:ahLst/>
              <a:cxnLst/>
              <a:rect l="l" t="t" r="r" b="b"/>
              <a:pathLst>
                <a:path w="76835" h="95885">
                  <a:moveTo>
                    <a:pt x="0" y="0"/>
                  </a:moveTo>
                  <a:lnTo>
                    <a:pt x="0" y="95844"/>
                  </a:lnTo>
                  <a:lnTo>
                    <a:pt x="76674" y="38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411883" y="3532073"/>
              <a:ext cx="165100" cy="330200"/>
            </a:xfrm>
            <a:custGeom>
              <a:avLst/>
              <a:gdLst/>
              <a:ahLst/>
              <a:cxnLst/>
              <a:rect l="l" t="t" r="r" b="b"/>
              <a:pathLst>
                <a:path w="165100" h="330200">
                  <a:moveTo>
                    <a:pt x="0" y="0"/>
                  </a:moveTo>
                  <a:lnTo>
                    <a:pt x="165020" y="3300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513008" y="3791829"/>
              <a:ext cx="76835" cy="95885"/>
            </a:xfrm>
            <a:custGeom>
              <a:avLst/>
              <a:gdLst/>
              <a:ahLst/>
              <a:cxnLst/>
              <a:rect l="l" t="t" r="r" b="b"/>
              <a:pathLst>
                <a:path w="76834" h="95885">
                  <a:moveTo>
                    <a:pt x="76673" y="0"/>
                  </a:moveTo>
                  <a:lnTo>
                    <a:pt x="0" y="38338"/>
                  </a:lnTo>
                  <a:lnTo>
                    <a:pt x="76673" y="95844"/>
                  </a:lnTo>
                  <a:lnTo>
                    <a:pt x="766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907262" y="3532073"/>
              <a:ext cx="165100" cy="330200"/>
            </a:xfrm>
            <a:custGeom>
              <a:avLst/>
              <a:gdLst/>
              <a:ahLst/>
              <a:cxnLst/>
              <a:rect l="l" t="t" r="r" b="b"/>
              <a:pathLst>
                <a:path w="165100" h="330200">
                  <a:moveTo>
                    <a:pt x="165020" y="0"/>
                  </a:moveTo>
                  <a:lnTo>
                    <a:pt x="0" y="3300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894483" y="3791829"/>
              <a:ext cx="76835" cy="95885"/>
            </a:xfrm>
            <a:custGeom>
              <a:avLst/>
              <a:gdLst/>
              <a:ahLst/>
              <a:cxnLst/>
              <a:rect l="l" t="t" r="r" b="b"/>
              <a:pathLst>
                <a:path w="76834" h="95885">
                  <a:moveTo>
                    <a:pt x="0" y="0"/>
                  </a:moveTo>
                  <a:lnTo>
                    <a:pt x="0" y="95844"/>
                  </a:lnTo>
                  <a:lnTo>
                    <a:pt x="76673" y="38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836708" y="2362084"/>
            <a:ext cx="1814830" cy="2301875"/>
          </a:xfrm>
          <a:prstGeom prst="rect">
            <a:avLst/>
          </a:prstGeom>
          <a:ln w="9524">
            <a:solidFill>
              <a:srgbClr val="929292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544195" indent="-452755">
              <a:lnSpc>
                <a:spcPts val="1910"/>
              </a:lnSpc>
              <a:spcBef>
                <a:spcPts val="360"/>
              </a:spcBef>
              <a:buAutoNum type="alphaLcParenBoth"/>
              <a:tabLst>
                <a:tab pos="544195" algn="l"/>
              </a:tabLst>
            </a:pPr>
            <a:r>
              <a:rPr sz="1600" dirty="0">
                <a:latin typeface="Tahoma"/>
                <a:cs typeface="Tahoma"/>
              </a:rPr>
              <a:t>t1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:=</a:t>
            </a:r>
            <a:r>
              <a:rPr sz="1600" spc="-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ld(x);</a:t>
            </a:r>
            <a:endParaRPr sz="1600">
              <a:latin typeface="Tahoma"/>
              <a:cs typeface="Tahoma"/>
            </a:endParaRPr>
          </a:p>
          <a:p>
            <a:pPr marL="549910" indent="-458470">
              <a:lnSpc>
                <a:spcPts val="1900"/>
              </a:lnSpc>
              <a:buAutoNum type="alphaLcParenBoth"/>
              <a:tabLst>
                <a:tab pos="549910" algn="l"/>
              </a:tabLst>
            </a:pPr>
            <a:r>
              <a:rPr sz="1600" dirty="0">
                <a:latin typeface="Tahoma"/>
                <a:cs typeface="Tahoma"/>
              </a:rPr>
              <a:t>t2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:=</a:t>
            </a:r>
            <a:r>
              <a:rPr sz="1600" spc="-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t1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+</a:t>
            </a:r>
            <a:r>
              <a:rPr sz="1600" spc="-5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4;</a:t>
            </a:r>
            <a:endParaRPr sz="1600">
              <a:latin typeface="Tahoma"/>
              <a:cs typeface="Tahoma"/>
            </a:endParaRPr>
          </a:p>
          <a:p>
            <a:pPr marL="530860" indent="-439420">
              <a:lnSpc>
                <a:spcPts val="1900"/>
              </a:lnSpc>
              <a:buAutoNum type="alphaLcParenBoth"/>
              <a:tabLst>
                <a:tab pos="530860" algn="l"/>
              </a:tabLst>
            </a:pPr>
            <a:r>
              <a:rPr sz="1600" dirty="0">
                <a:latin typeface="Tahoma"/>
                <a:cs typeface="Tahoma"/>
              </a:rPr>
              <a:t>t3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:=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t1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*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8;</a:t>
            </a:r>
            <a:endParaRPr sz="1600">
              <a:latin typeface="Tahoma"/>
              <a:cs typeface="Tahoma"/>
            </a:endParaRPr>
          </a:p>
          <a:p>
            <a:pPr marL="549275" indent="-457834">
              <a:lnSpc>
                <a:spcPts val="1900"/>
              </a:lnSpc>
              <a:buClr>
                <a:srgbClr val="000000"/>
              </a:buClr>
              <a:buFont typeface="Tahoma"/>
              <a:buAutoNum type="alphaLcParenBoth"/>
              <a:tabLst>
                <a:tab pos="549275" algn="l"/>
              </a:tabLst>
            </a:pPr>
            <a:r>
              <a:rPr sz="1600" b="1" dirty="0">
                <a:solidFill>
                  <a:srgbClr val="FF0000"/>
                </a:solidFill>
                <a:latin typeface="Tahoma"/>
                <a:cs typeface="Tahoma"/>
              </a:rPr>
              <a:t>t4</a:t>
            </a:r>
            <a:r>
              <a:rPr sz="1600" b="1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:=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t1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-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4;</a:t>
            </a:r>
            <a:endParaRPr sz="1600">
              <a:latin typeface="Tahoma"/>
              <a:cs typeface="Tahoma"/>
            </a:endParaRPr>
          </a:p>
          <a:p>
            <a:pPr marL="544195" indent="-452755">
              <a:lnSpc>
                <a:spcPts val="1910"/>
              </a:lnSpc>
              <a:buClr>
                <a:srgbClr val="000000"/>
              </a:buClr>
              <a:buFont typeface="Tahoma"/>
              <a:buAutoNum type="alphaLcParenBoth"/>
              <a:tabLst>
                <a:tab pos="544195" algn="l"/>
              </a:tabLst>
            </a:pPr>
            <a:r>
              <a:rPr sz="1600" b="1" dirty="0">
                <a:solidFill>
                  <a:srgbClr val="3333CC"/>
                </a:solidFill>
                <a:latin typeface="Tahoma"/>
                <a:cs typeface="Tahoma"/>
              </a:rPr>
              <a:t>t5</a:t>
            </a:r>
            <a:r>
              <a:rPr sz="1600" b="1" spc="-15" dirty="0">
                <a:solidFill>
                  <a:srgbClr val="3333CC"/>
                </a:solidFill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:=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t1</a:t>
            </a:r>
            <a:r>
              <a:rPr sz="1600" spc="-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/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2;</a:t>
            </a:r>
            <a:endParaRPr sz="1600">
              <a:latin typeface="Tahoma"/>
              <a:cs typeface="Tahoma"/>
            </a:endParaRPr>
          </a:p>
          <a:p>
            <a:pPr marL="511809" indent="-420370">
              <a:lnSpc>
                <a:spcPts val="1910"/>
              </a:lnSpc>
              <a:spcBef>
                <a:spcPts val="80"/>
              </a:spcBef>
              <a:buAutoNum type="alphaLcParenBoth"/>
              <a:tabLst>
                <a:tab pos="511809" algn="l"/>
              </a:tabLst>
            </a:pPr>
            <a:r>
              <a:rPr sz="1600" dirty="0">
                <a:latin typeface="Tahoma"/>
                <a:cs typeface="Tahoma"/>
              </a:rPr>
              <a:t>t6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:=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t2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*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t3;</a:t>
            </a:r>
            <a:endParaRPr sz="1600">
              <a:latin typeface="Tahoma"/>
              <a:cs typeface="Tahoma"/>
            </a:endParaRPr>
          </a:p>
          <a:p>
            <a:pPr marL="485775" indent="-394335">
              <a:lnSpc>
                <a:spcPts val="1900"/>
              </a:lnSpc>
              <a:buAutoNum type="alphaLcParenBoth"/>
              <a:tabLst>
                <a:tab pos="485775" algn="l"/>
              </a:tabLst>
            </a:pPr>
            <a:r>
              <a:rPr sz="1600" dirty="0">
                <a:latin typeface="Tahoma"/>
                <a:cs typeface="Tahoma"/>
              </a:rPr>
              <a:t>t7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:=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Tahoma"/>
                <a:cs typeface="Tahoma"/>
              </a:rPr>
              <a:t>t4</a:t>
            </a:r>
            <a:r>
              <a:rPr sz="1600" b="1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-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b="1" spc="-25" dirty="0">
                <a:solidFill>
                  <a:srgbClr val="3333CC"/>
                </a:solidFill>
                <a:latin typeface="Tahoma"/>
                <a:cs typeface="Tahoma"/>
              </a:rPr>
              <a:t>t5</a:t>
            </a:r>
            <a:r>
              <a:rPr sz="1600" spc="-25" dirty="0">
                <a:latin typeface="Tahoma"/>
                <a:cs typeface="Tahoma"/>
              </a:rPr>
              <a:t>;</a:t>
            </a:r>
            <a:endParaRPr sz="1600">
              <a:latin typeface="Tahoma"/>
              <a:cs typeface="Tahoma"/>
            </a:endParaRPr>
          </a:p>
          <a:p>
            <a:pPr marL="487045" indent="-395605">
              <a:lnSpc>
                <a:spcPts val="1900"/>
              </a:lnSpc>
              <a:buAutoNum type="alphaLcParenBoth"/>
              <a:tabLst>
                <a:tab pos="487045" algn="l"/>
              </a:tabLst>
            </a:pPr>
            <a:r>
              <a:rPr sz="1600" dirty="0">
                <a:latin typeface="Tahoma"/>
                <a:cs typeface="Tahoma"/>
              </a:rPr>
              <a:t>t8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:=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t6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*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t7;</a:t>
            </a:r>
            <a:endParaRPr sz="1600">
              <a:latin typeface="Tahoma"/>
              <a:cs typeface="Tahoma"/>
            </a:endParaRPr>
          </a:p>
          <a:p>
            <a:pPr marL="483870" indent="-392430">
              <a:lnSpc>
                <a:spcPts val="1910"/>
              </a:lnSpc>
              <a:buAutoNum type="alphaLcParenBoth"/>
              <a:tabLst>
                <a:tab pos="483870" algn="l"/>
              </a:tabLst>
            </a:pPr>
            <a:r>
              <a:rPr sz="1600" spc="-10" dirty="0">
                <a:latin typeface="Tahoma"/>
                <a:cs typeface="Tahoma"/>
              </a:rPr>
              <a:t>st(y,t8);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4031" y="801254"/>
            <a:ext cx="7416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6870" algn="l"/>
              </a:tabLst>
            </a:pPr>
            <a:r>
              <a:rPr spc="-20" dirty="0"/>
              <a:t>Data</a:t>
            </a:r>
            <a:r>
              <a:rPr dirty="0"/>
              <a:t>	Dependency</a:t>
            </a:r>
            <a:r>
              <a:rPr spc="-310" dirty="0"/>
              <a:t> </a:t>
            </a:r>
            <a:r>
              <a:rPr spc="-10" dirty="0"/>
              <a:t>Graph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61020" y="2630372"/>
            <a:ext cx="441325" cy="301625"/>
            <a:chOff x="5861020" y="2630372"/>
            <a:chExt cx="441325" cy="301625"/>
          </a:xfrm>
        </p:grpSpPr>
        <p:sp>
          <p:nvSpPr>
            <p:cNvPr id="4" name="object 4"/>
            <p:cNvSpPr/>
            <p:nvPr/>
          </p:nvSpPr>
          <p:spPr>
            <a:xfrm>
              <a:off x="5865783" y="2635134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4"/>
                  </a:lnTo>
                  <a:lnTo>
                    <a:pt x="63235" y="249323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3"/>
                  </a:lnTo>
                  <a:lnTo>
                    <a:pt x="402323" y="219764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65783" y="2635134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50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50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099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5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007759" y="263132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870420" y="3235210"/>
            <a:ext cx="441325" cy="301625"/>
            <a:chOff x="4870420" y="3235210"/>
            <a:chExt cx="441325" cy="301625"/>
          </a:xfrm>
        </p:grpSpPr>
        <p:sp>
          <p:nvSpPr>
            <p:cNvPr id="8" name="object 8"/>
            <p:cNvSpPr/>
            <p:nvPr/>
          </p:nvSpPr>
          <p:spPr>
            <a:xfrm>
              <a:off x="48751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2"/>
                  </a:lnTo>
                  <a:lnTo>
                    <a:pt x="402323" y="219763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751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17159" y="323616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530820" y="3235210"/>
            <a:ext cx="441325" cy="301625"/>
            <a:chOff x="5530820" y="3235210"/>
            <a:chExt cx="441325" cy="301625"/>
          </a:xfrm>
        </p:grpSpPr>
        <p:sp>
          <p:nvSpPr>
            <p:cNvPr id="12" name="object 12"/>
            <p:cNvSpPr/>
            <p:nvPr/>
          </p:nvSpPr>
          <p:spPr>
            <a:xfrm>
              <a:off x="55355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2"/>
                  </a:lnTo>
                  <a:lnTo>
                    <a:pt x="402323" y="219763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55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677559" y="323616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c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91220" y="3235210"/>
            <a:ext cx="441325" cy="301625"/>
            <a:chOff x="6191220" y="3235210"/>
            <a:chExt cx="441325" cy="301625"/>
          </a:xfrm>
        </p:grpSpPr>
        <p:sp>
          <p:nvSpPr>
            <p:cNvPr id="16" name="object 16"/>
            <p:cNvSpPr/>
            <p:nvPr/>
          </p:nvSpPr>
          <p:spPr>
            <a:xfrm>
              <a:off x="61959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3" y="249322"/>
                  </a:lnTo>
                  <a:lnTo>
                    <a:pt x="402322" y="219763"/>
                  </a:lnTo>
                  <a:lnTo>
                    <a:pt x="424086" y="184875"/>
                  </a:lnTo>
                  <a:lnTo>
                    <a:pt x="431798" y="146050"/>
                  </a:lnTo>
                  <a:lnTo>
                    <a:pt x="424086" y="107224"/>
                  </a:lnTo>
                  <a:lnTo>
                    <a:pt x="402322" y="72335"/>
                  </a:lnTo>
                  <a:lnTo>
                    <a:pt x="368563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959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2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2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337959" y="323616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d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51620" y="3235210"/>
            <a:ext cx="441325" cy="301625"/>
            <a:chOff x="6851620" y="3235210"/>
            <a:chExt cx="441325" cy="301625"/>
          </a:xfrm>
        </p:grpSpPr>
        <p:sp>
          <p:nvSpPr>
            <p:cNvPr id="20" name="object 20"/>
            <p:cNvSpPr/>
            <p:nvPr/>
          </p:nvSpPr>
          <p:spPr>
            <a:xfrm>
              <a:off x="6856382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2"/>
                  </a:lnTo>
                  <a:lnTo>
                    <a:pt x="402323" y="219763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563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998358" y="323616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091083" y="2870085"/>
            <a:ext cx="1981200" cy="1271905"/>
            <a:chOff x="5091083" y="2870085"/>
            <a:chExt cx="1981200" cy="1271905"/>
          </a:xfrm>
        </p:grpSpPr>
        <p:sp>
          <p:nvSpPr>
            <p:cNvPr id="24" name="object 24"/>
            <p:cNvSpPr/>
            <p:nvPr/>
          </p:nvSpPr>
          <p:spPr>
            <a:xfrm>
              <a:off x="5117389" y="2884373"/>
              <a:ext cx="812165" cy="344805"/>
            </a:xfrm>
            <a:custGeom>
              <a:avLst/>
              <a:gdLst/>
              <a:ahLst/>
              <a:cxnLst/>
              <a:rect l="l" t="t" r="r" b="b"/>
              <a:pathLst>
                <a:path w="812164" h="344805">
                  <a:moveTo>
                    <a:pt x="811894" y="0"/>
                  </a:moveTo>
                  <a:lnTo>
                    <a:pt x="0" y="34443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91083" y="3167034"/>
              <a:ext cx="95885" cy="79375"/>
            </a:xfrm>
            <a:custGeom>
              <a:avLst/>
              <a:gdLst/>
              <a:ahLst/>
              <a:cxnLst/>
              <a:rect l="l" t="t" r="r" b="b"/>
              <a:pathLst>
                <a:path w="95885" h="79375">
                  <a:moveTo>
                    <a:pt x="62176" y="0"/>
                  </a:moveTo>
                  <a:lnTo>
                    <a:pt x="0" y="72937"/>
                  </a:lnTo>
                  <a:lnTo>
                    <a:pt x="95656" y="78916"/>
                  </a:lnTo>
                  <a:lnTo>
                    <a:pt x="62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72230" y="2927234"/>
              <a:ext cx="309880" cy="293370"/>
            </a:xfrm>
            <a:custGeom>
              <a:avLst/>
              <a:gdLst/>
              <a:ahLst/>
              <a:cxnLst/>
              <a:rect l="l" t="t" r="r" b="b"/>
              <a:pathLst>
                <a:path w="309879" h="293369">
                  <a:moveTo>
                    <a:pt x="309453" y="0"/>
                  </a:moveTo>
                  <a:lnTo>
                    <a:pt x="0" y="29308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51483" y="3149904"/>
              <a:ext cx="92075" cy="90170"/>
            </a:xfrm>
            <a:custGeom>
              <a:avLst/>
              <a:gdLst/>
              <a:ahLst/>
              <a:cxnLst/>
              <a:rect l="l" t="t" r="r" b="b"/>
              <a:pathLst>
                <a:path w="92075" h="90169">
                  <a:moveTo>
                    <a:pt x="32764" y="0"/>
                  </a:moveTo>
                  <a:lnTo>
                    <a:pt x="0" y="90068"/>
                  </a:lnTo>
                  <a:lnTo>
                    <a:pt x="91714" y="62238"/>
                  </a:lnTo>
                  <a:lnTo>
                    <a:pt x="327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81683" y="2927234"/>
              <a:ext cx="309880" cy="293370"/>
            </a:xfrm>
            <a:custGeom>
              <a:avLst/>
              <a:gdLst/>
              <a:ahLst/>
              <a:cxnLst/>
              <a:rect l="l" t="t" r="r" b="b"/>
              <a:pathLst>
                <a:path w="309879" h="293369">
                  <a:moveTo>
                    <a:pt x="0" y="0"/>
                  </a:moveTo>
                  <a:lnTo>
                    <a:pt x="309453" y="293087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20167" y="3149903"/>
              <a:ext cx="92075" cy="90170"/>
            </a:xfrm>
            <a:custGeom>
              <a:avLst/>
              <a:gdLst/>
              <a:ahLst/>
              <a:cxnLst/>
              <a:rect l="l" t="t" r="r" b="b"/>
              <a:pathLst>
                <a:path w="92075" h="90169">
                  <a:moveTo>
                    <a:pt x="58949" y="0"/>
                  </a:moveTo>
                  <a:lnTo>
                    <a:pt x="0" y="62240"/>
                  </a:lnTo>
                  <a:lnTo>
                    <a:pt x="91715" y="90068"/>
                  </a:lnTo>
                  <a:lnTo>
                    <a:pt x="589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34083" y="2884373"/>
              <a:ext cx="812165" cy="344805"/>
            </a:xfrm>
            <a:custGeom>
              <a:avLst/>
              <a:gdLst/>
              <a:ahLst/>
              <a:cxnLst/>
              <a:rect l="l" t="t" r="r" b="b"/>
              <a:pathLst>
                <a:path w="812165" h="344805">
                  <a:moveTo>
                    <a:pt x="0" y="0"/>
                  </a:moveTo>
                  <a:lnTo>
                    <a:pt x="811894" y="34444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76627" y="3167034"/>
              <a:ext cx="95885" cy="79375"/>
            </a:xfrm>
            <a:custGeom>
              <a:avLst/>
              <a:gdLst/>
              <a:ahLst/>
              <a:cxnLst/>
              <a:rect l="l" t="t" r="r" b="b"/>
              <a:pathLst>
                <a:path w="95884" h="79375">
                  <a:moveTo>
                    <a:pt x="33479" y="0"/>
                  </a:moveTo>
                  <a:lnTo>
                    <a:pt x="0" y="78916"/>
                  </a:lnTo>
                  <a:lnTo>
                    <a:pt x="95656" y="72938"/>
                  </a:lnTo>
                  <a:lnTo>
                    <a:pt x="334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05383" y="3844809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4"/>
                  </a:lnTo>
                  <a:lnTo>
                    <a:pt x="63235" y="249323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3"/>
                  </a:lnTo>
                  <a:lnTo>
                    <a:pt x="402323" y="219764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205383" y="3844809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099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372759" y="3840999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f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521420" y="3840047"/>
            <a:ext cx="441325" cy="301625"/>
            <a:chOff x="6521420" y="3840047"/>
            <a:chExt cx="441325" cy="301625"/>
          </a:xfrm>
        </p:grpSpPr>
        <p:sp>
          <p:nvSpPr>
            <p:cNvPr id="36" name="object 36"/>
            <p:cNvSpPr/>
            <p:nvPr/>
          </p:nvSpPr>
          <p:spPr>
            <a:xfrm>
              <a:off x="6526182" y="3844809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4"/>
                  </a:lnTo>
                  <a:lnTo>
                    <a:pt x="63235" y="249323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3"/>
                  </a:lnTo>
                  <a:lnTo>
                    <a:pt x="402323" y="219764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526183" y="3844809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099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668158" y="384099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g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861020" y="4444885"/>
            <a:ext cx="441325" cy="301625"/>
            <a:chOff x="5861020" y="4444885"/>
            <a:chExt cx="441325" cy="301625"/>
          </a:xfrm>
        </p:grpSpPr>
        <p:sp>
          <p:nvSpPr>
            <p:cNvPr id="40" name="object 40"/>
            <p:cNvSpPr/>
            <p:nvPr/>
          </p:nvSpPr>
          <p:spPr>
            <a:xfrm>
              <a:off x="5865783" y="4449648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2"/>
                  </a:lnTo>
                  <a:lnTo>
                    <a:pt x="402323" y="219763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65783" y="4449648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50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7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7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50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099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5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007759" y="444583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h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076795" y="3517786"/>
            <a:ext cx="2009775" cy="974725"/>
            <a:chOff x="5076795" y="3517786"/>
            <a:chExt cx="2009775" cy="974725"/>
          </a:xfrm>
        </p:grpSpPr>
        <p:sp>
          <p:nvSpPr>
            <p:cNvPr id="44" name="object 44"/>
            <p:cNvSpPr/>
            <p:nvPr/>
          </p:nvSpPr>
          <p:spPr>
            <a:xfrm>
              <a:off x="5091083" y="3532073"/>
              <a:ext cx="165100" cy="330200"/>
            </a:xfrm>
            <a:custGeom>
              <a:avLst/>
              <a:gdLst/>
              <a:ahLst/>
              <a:cxnLst/>
              <a:rect l="l" t="t" r="r" b="b"/>
              <a:pathLst>
                <a:path w="165100" h="330200">
                  <a:moveTo>
                    <a:pt x="0" y="0"/>
                  </a:moveTo>
                  <a:lnTo>
                    <a:pt x="165020" y="3300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192208" y="3791829"/>
              <a:ext cx="76835" cy="95885"/>
            </a:xfrm>
            <a:custGeom>
              <a:avLst/>
              <a:gdLst/>
              <a:ahLst/>
              <a:cxnLst/>
              <a:rect l="l" t="t" r="r" b="b"/>
              <a:pathLst>
                <a:path w="76835" h="95885">
                  <a:moveTo>
                    <a:pt x="76674" y="0"/>
                  </a:moveTo>
                  <a:lnTo>
                    <a:pt x="0" y="38338"/>
                  </a:lnTo>
                  <a:lnTo>
                    <a:pt x="76674" y="95844"/>
                  </a:lnTo>
                  <a:lnTo>
                    <a:pt x="766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586462" y="3532073"/>
              <a:ext cx="165100" cy="330200"/>
            </a:xfrm>
            <a:custGeom>
              <a:avLst/>
              <a:gdLst/>
              <a:ahLst/>
              <a:cxnLst/>
              <a:rect l="l" t="t" r="r" b="b"/>
              <a:pathLst>
                <a:path w="165100" h="330200">
                  <a:moveTo>
                    <a:pt x="165020" y="0"/>
                  </a:moveTo>
                  <a:lnTo>
                    <a:pt x="0" y="3300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573683" y="3791829"/>
              <a:ext cx="76835" cy="95885"/>
            </a:xfrm>
            <a:custGeom>
              <a:avLst/>
              <a:gdLst/>
              <a:ahLst/>
              <a:cxnLst/>
              <a:rect l="l" t="t" r="r" b="b"/>
              <a:pathLst>
                <a:path w="76835" h="95885">
                  <a:moveTo>
                    <a:pt x="0" y="0"/>
                  </a:moveTo>
                  <a:lnTo>
                    <a:pt x="0" y="95844"/>
                  </a:lnTo>
                  <a:lnTo>
                    <a:pt x="76674" y="38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411883" y="3532073"/>
              <a:ext cx="165100" cy="330200"/>
            </a:xfrm>
            <a:custGeom>
              <a:avLst/>
              <a:gdLst/>
              <a:ahLst/>
              <a:cxnLst/>
              <a:rect l="l" t="t" r="r" b="b"/>
              <a:pathLst>
                <a:path w="165100" h="330200">
                  <a:moveTo>
                    <a:pt x="0" y="0"/>
                  </a:moveTo>
                  <a:lnTo>
                    <a:pt x="165020" y="3300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513008" y="3791829"/>
              <a:ext cx="76835" cy="95885"/>
            </a:xfrm>
            <a:custGeom>
              <a:avLst/>
              <a:gdLst/>
              <a:ahLst/>
              <a:cxnLst/>
              <a:rect l="l" t="t" r="r" b="b"/>
              <a:pathLst>
                <a:path w="76834" h="95885">
                  <a:moveTo>
                    <a:pt x="76673" y="0"/>
                  </a:moveTo>
                  <a:lnTo>
                    <a:pt x="0" y="38338"/>
                  </a:lnTo>
                  <a:lnTo>
                    <a:pt x="76673" y="95844"/>
                  </a:lnTo>
                  <a:lnTo>
                    <a:pt x="766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907262" y="3532073"/>
              <a:ext cx="165100" cy="330200"/>
            </a:xfrm>
            <a:custGeom>
              <a:avLst/>
              <a:gdLst/>
              <a:ahLst/>
              <a:cxnLst/>
              <a:rect l="l" t="t" r="r" b="b"/>
              <a:pathLst>
                <a:path w="165100" h="330200">
                  <a:moveTo>
                    <a:pt x="165020" y="0"/>
                  </a:moveTo>
                  <a:lnTo>
                    <a:pt x="0" y="3300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894483" y="3791829"/>
              <a:ext cx="76835" cy="95885"/>
            </a:xfrm>
            <a:custGeom>
              <a:avLst/>
              <a:gdLst/>
              <a:ahLst/>
              <a:cxnLst/>
              <a:rect l="l" t="t" r="r" b="b"/>
              <a:pathLst>
                <a:path w="76834" h="95885">
                  <a:moveTo>
                    <a:pt x="0" y="0"/>
                  </a:moveTo>
                  <a:lnTo>
                    <a:pt x="0" y="95844"/>
                  </a:lnTo>
                  <a:lnTo>
                    <a:pt x="76673" y="38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421283" y="4136909"/>
              <a:ext cx="485140" cy="339725"/>
            </a:xfrm>
            <a:custGeom>
              <a:avLst/>
              <a:gdLst/>
              <a:ahLst/>
              <a:cxnLst/>
              <a:rect l="l" t="t" r="r" b="b"/>
              <a:pathLst>
                <a:path w="485139" h="339725">
                  <a:moveTo>
                    <a:pt x="0" y="0"/>
                  </a:moveTo>
                  <a:lnTo>
                    <a:pt x="484590" y="339213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834473" y="4408236"/>
              <a:ext cx="95250" cy="84455"/>
            </a:xfrm>
            <a:custGeom>
              <a:avLst/>
              <a:gdLst/>
              <a:ahLst/>
              <a:cxnLst/>
              <a:rect l="l" t="t" r="r" b="b"/>
              <a:pathLst>
                <a:path w="95250" h="84454">
                  <a:moveTo>
                    <a:pt x="49160" y="0"/>
                  </a:moveTo>
                  <a:lnTo>
                    <a:pt x="0" y="70228"/>
                  </a:lnTo>
                  <a:lnTo>
                    <a:pt x="94809" y="84273"/>
                  </a:lnTo>
                  <a:lnTo>
                    <a:pt x="491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57493" y="4136909"/>
              <a:ext cx="485140" cy="339725"/>
            </a:xfrm>
            <a:custGeom>
              <a:avLst/>
              <a:gdLst/>
              <a:ahLst/>
              <a:cxnLst/>
              <a:rect l="l" t="t" r="r" b="b"/>
              <a:pathLst>
                <a:path w="485140" h="339725">
                  <a:moveTo>
                    <a:pt x="484590" y="0"/>
                  </a:moveTo>
                  <a:lnTo>
                    <a:pt x="0" y="339213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234083" y="4408234"/>
              <a:ext cx="95250" cy="84455"/>
            </a:xfrm>
            <a:custGeom>
              <a:avLst/>
              <a:gdLst/>
              <a:ahLst/>
              <a:cxnLst/>
              <a:rect l="l" t="t" r="r" b="b"/>
              <a:pathLst>
                <a:path w="95250" h="84454">
                  <a:moveTo>
                    <a:pt x="45648" y="0"/>
                  </a:moveTo>
                  <a:lnTo>
                    <a:pt x="0" y="84274"/>
                  </a:lnTo>
                  <a:lnTo>
                    <a:pt x="94809" y="70229"/>
                  </a:lnTo>
                  <a:lnTo>
                    <a:pt x="456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6" name="object 56"/>
          <p:cNvGraphicFramePr>
            <a:graphicFrameLocks noGrp="1"/>
          </p:cNvGraphicFramePr>
          <p:nvPr/>
        </p:nvGraphicFramePr>
        <p:xfrm>
          <a:off x="1831945" y="2362084"/>
          <a:ext cx="1852295" cy="230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290">
                <a:tc>
                  <a:txBody>
                    <a:bodyPr/>
                    <a:lstStyle/>
                    <a:p>
                      <a:pPr marL="30480" algn="ctr">
                        <a:lnSpc>
                          <a:spcPts val="1814"/>
                        </a:lnSpc>
                        <a:spcBef>
                          <a:spcPts val="360"/>
                        </a:spcBef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(a)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9525">
                      <a:solidFill>
                        <a:srgbClr val="929292"/>
                      </a:solidFill>
                      <a:prstDash val="solid"/>
                    </a:lnL>
                    <a:lnT w="9525">
                      <a:solidFill>
                        <a:srgbClr val="92929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814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ld(x);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R w="9525">
                      <a:solidFill>
                        <a:srgbClr val="929292"/>
                      </a:solidFill>
                      <a:prstDash val="solid"/>
                    </a:lnR>
                    <a:lnT w="9525">
                      <a:solidFill>
                        <a:srgbClr val="929292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(b)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t2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4;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17780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(c)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t3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8;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(d)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t4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4;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31115" algn="ctr">
                        <a:lnSpc>
                          <a:spcPts val="185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(e)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85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t5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/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2;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35"/>
                        </a:spcBef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(f)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04775" algn="r">
                        <a:lnSpc>
                          <a:spcPts val="1814"/>
                        </a:lnSpc>
                        <a:spcBef>
                          <a:spcPts val="35"/>
                        </a:spcBef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t6</a:t>
                      </a:r>
                      <a:r>
                        <a:rPr sz="1600" b="1" spc="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t2</a:t>
                      </a:r>
                      <a:r>
                        <a:rPr sz="16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t3;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(g)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00"/>
                        </a:lnSpc>
                      </a:pPr>
                      <a:r>
                        <a:rPr sz="1600" b="1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t7</a:t>
                      </a:r>
                      <a:r>
                        <a:rPr sz="1600" b="1" spc="-15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t4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t5;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746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(h)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94615" algn="r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t8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t6</a:t>
                      </a:r>
                      <a:r>
                        <a:rPr sz="1600" b="1" spc="2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3333CC"/>
                          </a:solidFill>
                          <a:latin typeface="Tahoma"/>
                          <a:cs typeface="Tahoma"/>
                        </a:rPr>
                        <a:t>t7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R="20955" algn="ctr">
                        <a:lnSpc>
                          <a:spcPts val="1905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(i)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  <a:lnB w="9525">
                      <a:solidFill>
                        <a:srgbClr val="9292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905"/>
                        </a:lnSpc>
                      </a:pPr>
                      <a:r>
                        <a:rPr sz="1600" spc="-10" dirty="0">
                          <a:latin typeface="Tahoma"/>
                          <a:cs typeface="Tahoma"/>
                        </a:rPr>
                        <a:t>st(y,t8);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4031" y="801254"/>
            <a:ext cx="7416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6870" algn="l"/>
              </a:tabLst>
            </a:pPr>
            <a:r>
              <a:rPr spc="-20" dirty="0"/>
              <a:t>Data</a:t>
            </a:r>
            <a:r>
              <a:rPr dirty="0"/>
              <a:t>	Dependency</a:t>
            </a:r>
            <a:r>
              <a:rPr spc="-310" dirty="0"/>
              <a:t> </a:t>
            </a:r>
            <a:r>
              <a:rPr spc="-10" dirty="0"/>
              <a:t>Graph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61020" y="2630372"/>
            <a:ext cx="441325" cy="301625"/>
            <a:chOff x="5861020" y="2630372"/>
            <a:chExt cx="441325" cy="301625"/>
          </a:xfrm>
        </p:grpSpPr>
        <p:sp>
          <p:nvSpPr>
            <p:cNvPr id="4" name="object 4"/>
            <p:cNvSpPr/>
            <p:nvPr/>
          </p:nvSpPr>
          <p:spPr>
            <a:xfrm>
              <a:off x="5865783" y="2635134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4"/>
                  </a:lnTo>
                  <a:lnTo>
                    <a:pt x="63235" y="249323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3"/>
                  </a:lnTo>
                  <a:lnTo>
                    <a:pt x="402323" y="219764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65783" y="2635134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50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50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099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5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007759" y="2631324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a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870420" y="3235210"/>
            <a:ext cx="441325" cy="301625"/>
            <a:chOff x="4870420" y="3235210"/>
            <a:chExt cx="441325" cy="301625"/>
          </a:xfrm>
        </p:grpSpPr>
        <p:sp>
          <p:nvSpPr>
            <p:cNvPr id="8" name="object 8"/>
            <p:cNvSpPr/>
            <p:nvPr/>
          </p:nvSpPr>
          <p:spPr>
            <a:xfrm>
              <a:off x="48751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2"/>
                  </a:lnTo>
                  <a:lnTo>
                    <a:pt x="402323" y="219763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751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17159" y="323616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530820" y="3235210"/>
            <a:ext cx="441325" cy="301625"/>
            <a:chOff x="5530820" y="3235210"/>
            <a:chExt cx="441325" cy="301625"/>
          </a:xfrm>
        </p:grpSpPr>
        <p:sp>
          <p:nvSpPr>
            <p:cNvPr id="12" name="object 12"/>
            <p:cNvSpPr/>
            <p:nvPr/>
          </p:nvSpPr>
          <p:spPr>
            <a:xfrm>
              <a:off x="55355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2"/>
                  </a:lnTo>
                  <a:lnTo>
                    <a:pt x="402323" y="219763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55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677559" y="323616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c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91220" y="3235210"/>
            <a:ext cx="441325" cy="301625"/>
            <a:chOff x="6191220" y="3235210"/>
            <a:chExt cx="441325" cy="301625"/>
          </a:xfrm>
        </p:grpSpPr>
        <p:sp>
          <p:nvSpPr>
            <p:cNvPr id="16" name="object 16"/>
            <p:cNvSpPr/>
            <p:nvPr/>
          </p:nvSpPr>
          <p:spPr>
            <a:xfrm>
              <a:off x="61959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3" y="249322"/>
                  </a:lnTo>
                  <a:lnTo>
                    <a:pt x="402322" y="219763"/>
                  </a:lnTo>
                  <a:lnTo>
                    <a:pt x="424086" y="184875"/>
                  </a:lnTo>
                  <a:lnTo>
                    <a:pt x="431798" y="146050"/>
                  </a:lnTo>
                  <a:lnTo>
                    <a:pt x="424086" y="107224"/>
                  </a:lnTo>
                  <a:lnTo>
                    <a:pt x="402322" y="72335"/>
                  </a:lnTo>
                  <a:lnTo>
                    <a:pt x="368563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959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2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2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337959" y="323616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d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51620" y="3235210"/>
            <a:ext cx="441325" cy="301625"/>
            <a:chOff x="6851620" y="3235210"/>
            <a:chExt cx="441325" cy="301625"/>
          </a:xfrm>
        </p:grpSpPr>
        <p:sp>
          <p:nvSpPr>
            <p:cNvPr id="20" name="object 20"/>
            <p:cNvSpPr/>
            <p:nvPr/>
          </p:nvSpPr>
          <p:spPr>
            <a:xfrm>
              <a:off x="6856382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2"/>
                  </a:lnTo>
                  <a:lnTo>
                    <a:pt x="402323" y="219763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56383" y="3239973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998358" y="3236163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091083" y="2870085"/>
            <a:ext cx="1981200" cy="1271905"/>
            <a:chOff x="5091083" y="2870085"/>
            <a:chExt cx="1981200" cy="1271905"/>
          </a:xfrm>
        </p:grpSpPr>
        <p:sp>
          <p:nvSpPr>
            <p:cNvPr id="24" name="object 24"/>
            <p:cNvSpPr/>
            <p:nvPr/>
          </p:nvSpPr>
          <p:spPr>
            <a:xfrm>
              <a:off x="5117389" y="2884373"/>
              <a:ext cx="812165" cy="344805"/>
            </a:xfrm>
            <a:custGeom>
              <a:avLst/>
              <a:gdLst/>
              <a:ahLst/>
              <a:cxnLst/>
              <a:rect l="l" t="t" r="r" b="b"/>
              <a:pathLst>
                <a:path w="812164" h="344805">
                  <a:moveTo>
                    <a:pt x="811894" y="0"/>
                  </a:moveTo>
                  <a:lnTo>
                    <a:pt x="0" y="344439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91083" y="3167034"/>
              <a:ext cx="95885" cy="79375"/>
            </a:xfrm>
            <a:custGeom>
              <a:avLst/>
              <a:gdLst/>
              <a:ahLst/>
              <a:cxnLst/>
              <a:rect l="l" t="t" r="r" b="b"/>
              <a:pathLst>
                <a:path w="95885" h="79375">
                  <a:moveTo>
                    <a:pt x="62176" y="0"/>
                  </a:moveTo>
                  <a:lnTo>
                    <a:pt x="0" y="72937"/>
                  </a:lnTo>
                  <a:lnTo>
                    <a:pt x="95656" y="78916"/>
                  </a:lnTo>
                  <a:lnTo>
                    <a:pt x="62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72230" y="2927234"/>
              <a:ext cx="309880" cy="293370"/>
            </a:xfrm>
            <a:custGeom>
              <a:avLst/>
              <a:gdLst/>
              <a:ahLst/>
              <a:cxnLst/>
              <a:rect l="l" t="t" r="r" b="b"/>
              <a:pathLst>
                <a:path w="309879" h="293369">
                  <a:moveTo>
                    <a:pt x="309453" y="0"/>
                  </a:moveTo>
                  <a:lnTo>
                    <a:pt x="0" y="293088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51483" y="3149904"/>
              <a:ext cx="92075" cy="90170"/>
            </a:xfrm>
            <a:custGeom>
              <a:avLst/>
              <a:gdLst/>
              <a:ahLst/>
              <a:cxnLst/>
              <a:rect l="l" t="t" r="r" b="b"/>
              <a:pathLst>
                <a:path w="92075" h="90169">
                  <a:moveTo>
                    <a:pt x="32764" y="0"/>
                  </a:moveTo>
                  <a:lnTo>
                    <a:pt x="0" y="90068"/>
                  </a:lnTo>
                  <a:lnTo>
                    <a:pt x="91714" y="62238"/>
                  </a:lnTo>
                  <a:lnTo>
                    <a:pt x="327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81683" y="2927234"/>
              <a:ext cx="309880" cy="293370"/>
            </a:xfrm>
            <a:custGeom>
              <a:avLst/>
              <a:gdLst/>
              <a:ahLst/>
              <a:cxnLst/>
              <a:rect l="l" t="t" r="r" b="b"/>
              <a:pathLst>
                <a:path w="309879" h="293369">
                  <a:moveTo>
                    <a:pt x="0" y="0"/>
                  </a:moveTo>
                  <a:lnTo>
                    <a:pt x="309453" y="293087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20167" y="3149903"/>
              <a:ext cx="92075" cy="90170"/>
            </a:xfrm>
            <a:custGeom>
              <a:avLst/>
              <a:gdLst/>
              <a:ahLst/>
              <a:cxnLst/>
              <a:rect l="l" t="t" r="r" b="b"/>
              <a:pathLst>
                <a:path w="92075" h="90169">
                  <a:moveTo>
                    <a:pt x="58949" y="0"/>
                  </a:moveTo>
                  <a:lnTo>
                    <a:pt x="0" y="62240"/>
                  </a:lnTo>
                  <a:lnTo>
                    <a:pt x="91715" y="90068"/>
                  </a:lnTo>
                  <a:lnTo>
                    <a:pt x="589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34083" y="2884373"/>
              <a:ext cx="812165" cy="344805"/>
            </a:xfrm>
            <a:custGeom>
              <a:avLst/>
              <a:gdLst/>
              <a:ahLst/>
              <a:cxnLst/>
              <a:rect l="l" t="t" r="r" b="b"/>
              <a:pathLst>
                <a:path w="812165" h="344805">
                  <a:moveTo>
                    <a:pt x="0" y="0"/>
                  </a:moveTo>
                  <a:lnTo>
                    <a:pt x="811894" y="34444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76627" y="3167034"/>
              <a:ext cx="95885" cy="79375"/>
            </a:xfrm>
            <a:custGeom>
              <a:avLst/>
              <a:gdLst/>
              <a:ahLst/>
              <a:cxnLst/>
              <a:rect l="l" t="t" r="r" b="b"/>
              <a:pathLst>
                <a:path w="95884" h="79375">
                  <a:moveTo>
                    <a:pt x="33479" y="0"/>
                  </a:moveTo>
                  <a:lnTo>
                    <a:pt x="0" y="78916"/>
                  </a:lnTo>
                  <a:lnTo>
                    <a:pt x="95656" y="72938"/>
                  </a:lnTo>
                  <a:lnTo>
                    <a:pt x="334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205383" y="3844809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4"/>
                  </a:lnTo>
                  <a:lnTo>
                    <a:pt x="63235" y="249323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3"/>
                  </a:lnTo>
                  <a:lnTo>
                    <a:pt x="402323" y="219764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205383" y="3844809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099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372759" y="3840999"/>
            <a:ext cx="8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f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521420" y="3840047"/>
            <a:ext cx="441325" cy="301625"/>
            <a:chOff x="6521420" y="3840047"/>
            <a:chExt cx="441325" cy="301625"/>
          </a:xfrm>
        </p:grpSpPr>
        <p:sp>
          <p:nvSpPr>
            <p:cNvPr id="36" name="object 36"/>
            <p:cNvSpPr/>
            <p:nvPr/>
          </p:nvSpPr>
          <p:spPr>
            <a:xfrm>
              <a:off x="6526182" y="3844809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4"/>
                  </a:lnTo>
                  <a:lnTo>
                    <a:pt x="63235" y="249323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3"/>
                  </a:lnTo>
                  <a:lnTo>
                    <a:pt x="402323" y="219764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526183" y="3844809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6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6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099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668158" y="384099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g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861020" y="4444885"/>
            <a:ext cx="441325" cy="906780"/>
            <a:chOff x="5861020" y="4444885"/>
            <a:chExt cx="441325" cy="906780"/>
          </a:xfrm>
        </p:grpSpPr>
        <p:sp>
          <p:nvSpPr>
            <p:cNvPr id="40" name="object 40"/>
            <p:cNvSpPr/>
            <p:nvPr/>
          </p:nvSpPr>
          <p:spPr>
            <a:xfrm>
              <a:off x="5865783" y="4449648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6"/>
                  </a:lnTo>
                  <a:lnTo>
                    <a:pt x="29476" y="72335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3"/>
                  </a:lnTo>
                  <a:lnTo>
                    <a:pt x="63235" y="249322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2"/>
                  </a:lnTo>
                  <a:lnTo>
                    <a:pt x="402323" y="219763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5"/>
                  </a:lnTo>
                  <a:lnTo>
                    <a:pt x="368564" y="42776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65783" y="4449648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50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7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7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50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099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5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865783" y="5054484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215900" y="0"/>
                  </a:moveTo>
                  <a:lnTo>
                    <a:pt x="158504" y="5217"/>
                  </a:lnTo>
                  <a:lnTo>
                    <a:pt x="106930" y="19940"/>
                  </a:lnTo>
                  <a:lnTo>
                    <a:pt x="63235" y="42777"/>
                  </a:lnTo>
                  <a:lnTo>
                    <a:pt x="29476" y="72336"/>
                  </a:lnTo>
                  <a:lnTo>
                    <a:pt x="7712" y="107224"/>
                  </a:lnTo>
                  <a:lnTo>
                    <a:pt x="0" y="146050"/>
                  </a:lnTo>
                  <a:lnTo>
                    <a:pt x="7712" y="184875"/>
                  </a:lnTo>
                  <a:lnTo>
                    <a:pt x="29476" y="219764"/>
                  </a:lnTo>
                  <a:lnTo>
                    <a:pt x="63235" y="249323"/>
                  </a:lnTo>
                  <a:lnTo>
                    <a:pt x="106930" y="272159"/>
                  </a:lnTo>
                  <a:lnTo>
                    <a:pt x="158504" y="286882"/>
                  </a:lnTo>
                  <a:lnTo>
                    <a:pt x="215900" y="292100"/>
                  </a:lnTo>
                  <a:lnTo>
                    <a:pt x="273294" y="286882"/>
                  </a:lnTo>
                  <a:lnTo>
                    <a:pt x="324868" y="272159"/>
                  </a:lnTo>
                  <a:lnTo>
                    <a:pt x="368564" y="249323"/>
                  </a:lnTo>
                  <a:lnTo>
                    <a:pt x="402323" y="219764"/>
                  </a:lnTo>
                  <a:lnTo>
                    <a:pt x="424087" y="184875"/>
                  </a:lnTo>
                  <a:lnTo>
                    <a:pt x="431800" y="146050"/>
                  </a:lnTo>
                  <a:lnTo>
                    <a:pt x="424087" y="107224"/>
                  </a:lnTo>
                  <a:lnTo>
                    <a:pt x="402323" y="72336"/>
                  </a:lnTo>
                  <a:lnTo>
                    <a:pt x="368564" y="42777"/>
                  </a:lnTo>
                  <a:lnTo>
                    <a:pt x="324868" y="19940"/>
                  </a:lnTo>
                  <a:lnTo>
                    <a:pt x="273294" y="5217"/>
                  </a:lnTo>
                  <a:lnTo>
                    <a:pt x="21590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65783" y="5054484"/>
              <a:ext cx="431800" cy="292100"/>
            </a:xfrm>
            <a:custGeom>
              <a:avLst/>
              <a:gdLst/>
              <a:ahLst/>
              <a:cxnLst/>
              <a:rect l="l" t="t" r="r" b="b"/>
              <a:pathLst>
                <a:path w="431800" h="292100">
                  <a:moveTo>
                    <a:pt x="0" y="146049"/>
                  </a:moveTo>
                  <a:lnTo>
                    <a:pt x="7712" y="107224"/>
                  </a:lnTo>
                  <a:lnTo>
                    <a:pt x="29476" y="72335"/>
                  </a:lnTo>
                  <a:lnTo>
                    <a:pt x="63235" y="42777"/>
                  </a:lnTo>
                  <a:lnTo>
                    <a:pt x="106931" y="19940"/>
                  </a:lnTo>
                  <a:lnTo>
                    <a:pt x="158505" y="5217"/>
                  </a:lnTo>
                  <a:lnTo>
                    <a:pt x="215899" y="0"/>
                  </a:lnTo>
                  <a:lnTo>
                    <a:pt x="273294" y="5217"/>
                  </a:lnTo>
                  <a:lnTo>
                    <a:pt x="324868" y="19940"/>
                  </a:lnTo>
                  <a:lnTo>
                    <a:pt x="368564" y="42777"/>
                  </a:lnTo>
                  <a:lnTo>
                    <a:pt x="402323" y="72335"/>
                  </a:lnTo>
                  <a:lnTo>
                    <a:pt x="424087" y="107224"/>
                  </a:lnTo>
                  <a:lnTo>
                    <a:pt x="431799" y="146049"/>
                  </a:lnTo>
                  <a:lnTo>
                    <a:pt x="424087" y="184875"/>
                  </a:lnTo>
                  <a:lnTo>
                    <a:pt x="402323" y="219764"/>
                  </a:lnTo>
                  <a:lnTo>
                    <a:pt x="368564" y="249322"/>
                  </a:lnTo>
                  <a:lnTo>
                    <a:pt x="324868" y="272159"/>
                  </a:lnTo>
                  <a:lnTo>
                    <a:pt x="273294" y="286882"/>
                  </a:lnTo>
                  <a:lnTo>
                    <a:pt x="215899" y="292100"/>
                  </a:lnTo>
                  <a:lnTo>
                    <a:pt x="158505" y="286882"/>
                  </a:lnTo>
                  <a:lnTo>
                    <a:pt x="106931" y="272159"/>
                  </a:lnTo>
                  <a:lnTo>
                    <a:pt x="63235" y="249322"/>
                  </a:lnTo>
                  <a:lnTo>
                    <a:pt x="29476" y="219764"/>
                  </a:lnTo>
                  <a:lnTo>
                    <a:pt x="7712" y="184875"/>
                  </a:lnTo>
                  <a:lnTo>
                    <a:pt x="0" y="14604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007759" y="4445837"/>
            <a:ext cx="153035" cy="904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h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8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1800" spc="-50" dirty="0">
                <a:latin typeface="Arial MT"/>
                <a:cs typeface="Arial MT"/>
              </a:rPr>
              <a:t>i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076795" y="3517786"/>
            <a:ext cx="2009775" cy="1536700"/>
            <a:chOff x="5076795" y="3517786"/>
            <a:chExt cx="2009775" cy="1536700"/>
          </a:xfrm>
        </p:grpSpPr>
        <p:sp>
          <p:nvSpPr>
            <p:cNvPr id="46" name="object 46"/>
            <p:cNvSpPr/>
            <p:nvPr/>
          </p:nvSpPr>
          <p:spPr>
            <a:xfrm>
              <a:off x="5091083" y="3532073"/>
              <a:ext cx="165100" cy="330200"/>
            </a:xfrm>
            <a:custGeom>
              <a:avLst/>
              <a:gdLst/>
              <a:ahLst/>
              <a:cxnLst/>
              <a:rect l="l" t="t" r="r" b="b"/>
              <a:pathLst>
                <a:path w="165100" h="330200">
                  <a:moveTo>
                    <a:pt x="0" y="0"/>
                  </a:moveTo>
                  <a:lnTo>
                    <a:pt x="165020" y="3300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192208" y="3791829"/>
              <a:ext cx="76835" cy="95885"/>
            </a:xfrm>
            <a:custGeom>
              <a:avLst/>
              <a:gdLst/>
              <a:ahLst/>
              <a:cxnLst/>
              <a:rect l="l" t="t" r="r" b="b"/>
              <a:pathLst>
                <a:path w="76835" h="95885">
                  <a:moveTo>
                    <a:pt x="76674" y="0"/>
                  </a:moveTo>
                  <a:lnTo>
                    <a:pt x="0" y="38338"/>
                  </a:lnTo>
                  <a:lnTo>
                    <a:pt x="76674" y="95844"/>
                  </a:lnTo>
                  <a:lnTo>
                    <a:pt x="766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586462" y="3532073"/>
              <a:ext cx="165100" cy="330200"/>
            </a:xfrm>
            <a:custGeom>
              <a:avLst/>
              <a:gdLst/>
              <a:ahLst/>
              <a:cxnLst/>
              <a:rect l="l" t="t" r="r" b="b"/>
              <a:pathLst>
                <a:path w="165100" h="330200">
                  <a:moveTo>
                    <a:pt x="165020" y="0"/>
                  </a:moveTo>
                  <a:lnTo>
                    <a:pt x="0" y="3300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573683" y="3791829"/>
              <a:ext cx="76835" cy="95885"/>
            </a:xfrm>
            <a:custGeom>
              <a:avLst/>
              <a:gdLst/>
              <a:ahLst/>
              <a:cxnLst/>
              <a:rect l="l" t="t" r="r" b="b"/>
              <a:pathLst>
                <a:path w="76835" h="95885">
                  <a:moveTo>
                    <a:pt x="0" y="0"/>
                  </a:moveTo>
                  <a:lnTo>
                    <a:pt x="0" y="95844"/>
                  </a:lnTo>
                  <a:lnTo>
                    <a:pt x="76674" y="38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411883" y="3532073"/>
              <a:ext cx="165100" cy="330200"/>
            </a:xfrm>
            <a:custGeom>
              <a:avLst/>
              <a:gdLst/>
              <a:ahLst/>
              <a:cxnLst/>
              <a:rect l="l" t="t" r="r" b="b"/>
              <a:pathLst>
                <a:path w="165100" h="330200">
                  <a:moveTo>
                    <a:pt x="0" y="0"/>
                  </a:moveTo>
                  <a:lnTo>
                    <a:pt x="165020" y="3300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513008" y="3791829"/>
              <a:ext cx="76835" cy="95885"/>
            </a:xfrm>
            <a:custGeom>
              <a:avLst/>
              <a:gdLst/>
              <a:ahLst/>
              <a:cxnLst/>
              <a:rect l="l" t="t" r="r" b="b"/>
              <a:pathLst>
                <a:path w="76834" h="95885">
                  <a:moveTo>
                    <a:pt x="76673" y="0"/>
                  </a:moveTo>
                  <a:lnTo>
                    <a:pt x="0" y="38338"/>
                  </a:lnTo>
                  <a:lnTo>
                    <a:pt x="76673" y="95844"/>
                  </a:lnTo>
                  <a:lnTo>
                    <a:pt x="766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907262" y="3532073"/>
              <a:ext cx="165100" cy="330200"/>
            </a:xfrm>
            <a:custGeom>
              <a:avLst/>
              <a:gdLst/>
              <a:ahLst/>
              <a:cxnLst/>
              <a:rect l="l" t="t" r="r" b="b"/>
              <a:pathLst>
                <a:path w="165100" h="330200">
                  <a:moveTo>
                    <a:pt x="165020" y="0"/>
                  </a:moveTo>
                  <a:lnTo>
                    <a:pt x="0" y="330041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894483" y="3791829"/>
              <a:ext cx="76835" cy="95885"/>
            </a:xfrm>
            <a:custGeom>
              <a:avLst/>
              <a:gdLst/>
              <a:ahLst/>
              <a:cxnLst/>
              <a:rect l="l" t="t" r="r" b="b"/>
              <a:pathLst>
                <a:path w="76834" h="95885">
                  <a:moveTo>
                    <a:pt x="0" y="0"/>
                  </a:moveTo>
                  <a:lnTo>
                    <a:pt x="0" y="95844"/>
                  </a:lnTo>
                  <a:lnTo>
                    <a:pt x="76673" y="38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421283" y="4136909"/>
              <a:ext cx="485140" cy="339725"/>
            </a:xfrm>
            <a:custGeom>
              <a:avLst/>
              <a:gdLst/>
              <a:ahLst/>
              <a:cxnLst/>
              <a:rect l="l" t="t" r="r" b="b"/>
              <a:pathLst>
                <a:path w="485139" h="339725">
                  <a:moveTo>
                    <a:pt x="0" y="0"/>
                  </a:moveTo>
                  <a:lnTo>
                    <a:pt x="484590" y="339213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834473" y="4408236"/>
              <a:ext cx="95250" cy="84455"/>
            </a:xfrm>
            <a:custGeom>
              <a:avLst/>
              <a:gdLst/>
              <a:ahLst/>
              <a:cxnLst/>
              <a:rect l="l" t="t" r="r" b="b"/>
              <a:pathLst>
                <a:path w="95250" h="84454">
                  <a:moveTo>
                    <a:pt x="49160" y="0"/>
                  </a:moveTo>
                  <a:lnTo>
                    <a:pt x="0" y="70228"/>
                  </a:lnTo>
                  <a:lnTo>
                    <a:pt x="94809" y="84273"/>
                  </a:lnTo>
                  <a:lnTo>
                    <a:pt x="491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257493" y="4136909"/>
              <a:ext cx="485140" cy="339725"/>
            </a:xfrm>
            <a:custGeom>
              <a:avLst/>
              <a:gdLst/>
              <a:ahLst/>
              <a:cxnLst/>
              <a:rect l="l" t="t" r="r" b="b"/>
              <a:pathLst>
                <a:path w="485140" h="339725">
                  <a:moveTo>
                    <a:pt x="484590" y="0"/>
                  </a:moveTo>
                  <a:lnTo>
                    <a:pt x="0" y="339213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234083" y="4408234"/>
              <a:ext cx="95250" cy="84455"/>
            </a:xfrm>
            <a:custGeom>
              <a:avLst/>
              <a:gdLst/>
              <a:ahLst/>
              <a:cxnLst/>
              <a:rect l="l" t="t" r="r" b="b"/>
              <a:pathLst>
                <a:path w="95250" h="84454">
                  <a:moveTo>
                    <a:pt x="45648" y="0"/>
                  </a:moveTo>
                  <a:lnTo>
                    <a:pt x="0" y="84274"/>
                  </a:lnTo>
                  <a:lnTo>
                    <a:pt x="94809" y="70229"/>
                  </a:lnTo>
                  <a:lnTo>
                    <a:pt x="456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081683" y="4741748"/>
              <a:ext cx="0" cy="284480"/>
            </a:xfrm>
            <a:custGeom>
              <a:avLst/>
              <a:gdLst/>
              <a:ahLst/>
              <a:cxnLst/>
              <a:rect l="l" t="t" r="r" b="b"/>
              <a:pathLst>
                <a:path h="284479">
                  <a:moveTo>
                    <a:pt x="0" y="0"/>
                  </a:moveTo>
                  <a:lnTo>
                    <a:pt x="0" y="284162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038820" y="496876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0"/>
                  </a:moveTo>
                  <a:lnTo>
                    <a:pt x="0" y="0"/>
                  </a:lnTo>
                  <a:lnTo>
                    <a:pt x="42862" y="8572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0" name="object 60"/>
          <p:cNvGraphicFramePr>
            <a:graphicFrameLocks noGrp="1"/>
          </p:cNvGraphicFramePr>
          <p:nvPr/>
        </p:nvGraphicFramePr>
        <p:xfrm>
          <a:off x="1831945" y="2362084"/>
          <a:ext cx="1814195" cy="230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290">
                <a:tc>
                  <a:txBody>
                    <a:bodyPr/>
                    <a:lstStyle/>
                    <a:p>
                      <a:pPr marL="30480" algn="ctr">
                        <a:lnSpc>
                          <a:spcPts val="1814"/>
                        </a:lnSpc>
                        <a:spcBef>
                          <a:spcPts val="360"/>
                        </a:spcBef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(a)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L w="9525">
                      <a:solidFill>
                        <a:srgbClr val="929292"/>
                      </a:solidFill>
                      <a:prstDash val="solid"/>
                    </a:lnL>
                    <a:lnT w="9525">
                      <a:solidFill>
                        <a:srgbClr val="929292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814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ld(x);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lnR w="9525">
                      <a:solidFill>
                        <a:srgbClr val="929292"/>
                      </a:solidFill>
                      <a:prstDash val="solid"/>
                    </a:lnR>
                    <a:lnT w="9525">
                      <a:solidFill>
                        <a:srgbClr val="929292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(b)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t2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4;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17780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(c)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t3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8;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(d)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t4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4;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31115" algn="ctr">
                        <a:lnSpc>
                          <a:spcPts val="185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(e)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85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t5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t1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/</a:t>
                      </a:r>
                      <a:r>
                        <a:rPr sz="16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2;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  <a:spcBef>
                          <a:spcPts val="35"/>
                        </a:spcBef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(f)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00965" algn="r">
                        <a:lnSpc>
                          <a:spcPts val="1814"/>
                        </a:lnSpc>
                        <a:spcBef>
                          <a:spcPts val="35"/>
                        </a:spcBef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t6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t2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t3;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619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(g)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00"/>
                        </a:lnSpc>
                      </a:pPr>
                      <a:r>
                        <a:rPr sz="1600" dirty="0">
                          <a:latin typeface="Tahoma"/>
                          <a:cs typeface="Tahoma"/>
                        </a:rPr>
                        <a:t>t7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t4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t5;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37465" algn="ctr">
                        <a:lnSpc>
                          <a:spcPts val="1800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(h)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ts val="1800"/>
                        </a:lnSpc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t8</a:t>
                      </a:r>
                      <a:r>
                        <a:rPr sz="1600" b="1" spc="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:=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t6</a:t>
                      </a:r>
                      <a:r>
                        <a:rPr sz="16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dirty="0">
                          <a:latin typeface="Tahoma"/>
                          <a:cs typeface="Tahoma"/>
                        </a:rPr>
                        <a:t>*</a:t>
                      </a:r>
                      <a:r>
                        <a:rPr sz="16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600" spc="-25" dirty="0">
                          <a:latin typeface="Tahoma"/>
                          <a:cs typeface="Tahoma"/>
                        </a:rPr>
                        <a:t>t7;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R="20955" algn="ctr">
                        <a:lnSpc>
                          <a:spcPts val="1905"/>
                        </a:lnSpc>
                      </a:pPr>
                      <a:r>
                        <a:rPr sz="1600" spc="-25" dirty="0">
                          <a:latin typeface="Tahoma"/>
                          <a:cs typeface="Tahoma"/>
                        </a:rPr>
                        <a:t>(i)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929292"/>
                      </a:solidFill>
                      <a:prstDash val="solid"/>
                    </a:lnL>
                    <a:lnB w="9525">
                      <a:solidFill>
                        <a:srgbClr val="92929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905"/>
                        </a:lnSpc>
                      </a:pPr>
                      <a:r>
                        <a:rPr sz="1600" spc="-10" dirty="0">
                          <a:latin typeface="Tahoma"/>
                          <a:cs typeface="Tahoma"/>
                        </a:rPr>
                        <a:t>st(y,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t8</a:t>
                      </a:r>
                      <a:r>
                        <a:rPr sz="1600" spc="-10" dirty="0">
                          <a:latin typeface="Tahoma"/>
                          <a:cs typeface="Tahoma"/>
                        </a:rPr>
                        <a:t>);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9525">
                      <a:solidFill>
                        <a:srgbClr val="929292"/>
                      </a:solidFill>
                      <a:prstDash val="solid"/>
                    </a:lnR>
                    <a:lnB w="9525">
                      <a:solidFill>
                        <a:srgbClr val="9292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7593" y="801254"/>
            <a:ext cx="514921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1330" algn="l"/>
              </a:tabLst>
            </a:pPr>
            <a:r>
              <a:rPr spc="-20" dirty="0"/>
              <a:t>Code</a:t>
            </a:r>
            <a:r>
              <a:rPr dirty="0"/>
              <a:t>	</a:t>
            </a:r>
            <a:r>
              <a:rPr spc="-10" dirty="0"/>
              <a:t>Generation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0172" y="2455748"/>
            <a:ext cx="7286625" cy="831850"/>
          </a:xfrm>
          <a:prstGeom prst="rect">
            <a:avLst/>
          </a:prstGeom>
          <a:solidFill>
            <a:srgbClr val="D4FDD5"/>
          </a:solidFill>
          <a:ln w="9524">
            <a:solidFill>
              <a:srgbClr val="A9ADFF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1445895" marR="88900" indent="-1355090">
              <a:lnSpc>
                <a:spcPts val="2800"/>
              </a:lnSpc>
              <a:spcBef>
                <a:spcPts val="520"/>
              </a:spcBef>
            </a:pPr>
            <a:r>
              <a:rPr sz="2400" dirty="0">
                <a:latin typeface="Arial MT"/>
                <a:cs typeface="Arial MT"/>
              </a:rPr>
              <a:t>Problem: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generate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optimal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code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basic </a:t>
            </a:r>
            <a:r>
              <a:rPr sz="2400" dirty="0">
                <a:latin typeface="Arial MT"/>
                <a:cs typeface="Arial MT"/>
              </a:rPr>
              <a:t>block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specified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representation?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0596" y="4360748"/>
            <a:ext cx="8004175" cy="1196975"/>
          </a:xfrm>
          <a:prstGeom prst="rect">
            <a:avLst/>
          </a:prstGeom>
          <a:solidFill>
            <a:srgbClr val="FFD6D5"/>
          </a:solidFill>
          <a:ln w="9524">
            <a:solidFill>
              <a:srgbClr val="A9ADFF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marL="91440" marR="95250">
              <a:lnSpc>
                <a:spcPct val="99000"/>
              </a:lnSpc>
              <a:spcBef>
                <a:spcPts val="385"/>
              </a:spcBef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DAG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tree,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Sethi-</a:t>
            </a:r>
            <a:r>
              <a:rPr sz="2400" dirty="0">
                <a:latin typeface="Arial MT"/>
                <a:cs typeface="Arial MT"/>
              </a:rPr>
              <a:t>Ullman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algorithm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generate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optimal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terms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length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registers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986" y="425231"/>
            <a:ext cx="2665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07828" y="1894429"/>
            <a:ext cx="2097405" cy="1552575"/>
          </a:xfrm>
          <a:prstGeom prst="rect">
            <a:avLst/>
          </a:prstGeom>
          <a:solidFill>
            <a:srgbClr val="D4FDD5"/>
          </a:solidFill>
        </p:spPr>
        <p:txBody>
          <a:bodyPr vert="horz" wrap="square" lIns="0" tIns="47625" rIns="0" bIns="0" rtlCol="0">
            <a:spAutoFit/>
          </a:bodyPr>
          <a:lstStyle/>
          <a:p>
            <a:pPr marL="91440" marR="370840" algn="just">
              <a:lnSpc>
                <a:spcPct val="99500"/>
              </a:lnSpc>
              <a:spcBef>
                <a:spcPts val="375"/>
              </a:spcBef>
            </a:pPr>
            <a:r>
              <a:rPr sz="2400" dirty="0">
                <a:latin typeface="Tahoma"/>
                <a:cs typeface="Tahoma"/>
              </a:rPr>
              <a:t>t1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b </a:t>
            </a:r>
            <a:r>
              <a:rPr sz="2400" dirty="0">
                <a:latin typeface="Tahoma"/>
                <a:cs typeface="Tahoma"/>
              </a:rPr>
              <a:t>t2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 </a:t>
            </a:r>
            <a:r>
              <a:rPr sz="2400" dirty="0">
                <a:latin typeface="Tahoma"/>
                <a:cs typeface="Tahoma"/>
              </a:rPr>
              <a:t>t3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t2 </a:t>
            </a:r>
            <a:r>
              <a:rPr sz="2400" dirty="0">
                <a:latin typeface="Tahoma"/>
                <a:cs typeface="Tahoma"/>
              </a:rPr>
              <a:t>t4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t1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1514" y="3668298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t4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758212" y="5611715"/>
            <a:ext cx="771525" cy="695325"/>
            <a:chOff x="6758212" y="5611715"/>
            <a:chExt cx="771525" cy="695325"/>
          </a:xfrm>
        </p:grpSpPr>
        <p:sp>
          <p:nvSpPr>
            <p:cNvPr id="6" name="object 6"/>
            <p:cNvSpPr/>
            <p:nvPr/>
          </p:nvSpPr>
          <p:spPr>
            <a:xfrm>
              <a:off x="6762974" y="5616478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5" y="12248"/>
                  </a:lnTo>
                  <a:lnTo>
                    <a:pt x="232697" y="26946"/>
                  </a:lnTo>
                  <a:lnTo>
                    <a:pt x="188702" y="46815"/>
                  </a:lnTo>
                  <a:lnTo>
                    <a:pt x="148182" y="71447"/>
                  </a:lnTo>
                  <a:lnTo>
                    <a:pt x="111592" y="100433"/>
                  </a:lnTo>
                  <a:lnTo>
                    <a:pt x="79386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6" y="552436"/>
                  </a:lnTo>
                  <a:lnTo>
                    <a:pt x="111592" y="585367"/>
                  </a:lnTo>
                  <a:lnTo>
                    <a:pt x="148182" y="614352"/>
                  </a:lnTo>
                  <a:lnTo>
                    <a:pt x="188702" y="638984"/>
                  </a:lnTo>
                  <a:lnTo>
                    <a:pt x="232697" y="658853"/>
                  </a:lnTo>
                  <a:lnTo>
                    <a:pt x="279715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7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62974" y="5616478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2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1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2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1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04107" y="5763798"/>
            <a:ext cx="274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+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57912" y="3478115"/>
            <a:ext cx="771525" cy="695325"/>
            <a:chOff x="4357912" y="3478115"/>
            <a:chExt cx="771525" cy="695325"/>
          </a:xfrm>
        </p:grpSpPr>
        <p:sp>
          <p:nvSpPr>
            <p:cNvPr id="10" name="object 10"/>
            <p:cNvSpPr/>
            <p:nvPr/>
          </p:nvSpPr>
          <p:spPr>
            <a:xfrm>
              <a:off x="4362674" y="3482878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5" y="12248"/>
                  </a:lnTo>
                  <a:lnTo>
                    <a:pt x="232697" y="26946"/>
                  </a:lnTo>
                  <a:lnTo>
                    <a:pt x="188702" y="46815"/>
                  </a:lnTo>
                  <a:lnTo>
                    <a:pt x="148182" y="71447"/>
                  </a:lnTo>
                  <a:lnTo>
                    <a:pt x="111592" y="100433"/>
                  </a:lnTo>
                  <a:lnTo>
                    <a:pt x="79386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6" y="552436"/>
                  </a:lnTo>
                  <a:lnTo>
                    <a:pt x="111592" y="585366"/>
                  </a:lnTo>
                  <a:lnTo>
                    <a:pt x="148182" y="614352"/>
                  </a:lnTo>
                  <a:lnTo>
                    <a:pt x="188702" y="638984"/>
                  </a:lnTo>
                  <a:lnTo>
                    <a:pt x="232697" y="658853"/>
                  </a:lnTo>
                  <a:lnTo>
                    <a:pt x="279715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5" y="673551"/>
                  </a:lnTo>
                  <a:lnTo>
                    <a:pt x="529302" y="658853"/>
                  </a:lnTo>
                  <a:lnTo>
                    <a:pt x="573298" y="638984"/>
                  </a:lnTo>
                  <a:lnTo>
                    <a:pt x="613818" y="614352"/>
                  </a:lnTo>
                  <a:lnTo>
                    <a:pt x="650407" y="585366"/>
                  </a:lnTo>
                  <a:lnTo>
                    <a:pt x="682614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4" y="133363"/>
                  </a:lnTo>
                  <a:lnTo>
                    <a:pt x="650407" y="100433"/>
                  </a:lnTo>
                  <a:lnTo>
                    <a:pt x="613818" y="71447"/>
                  </a:lnTo>
                  <a:lnTo>
                    <a:pt x="573298" y="46815"/>
                  </a:lnTo>
                  <a:lnTo>
                    <a:pt x="529302" y="26946"/>
                  </a:lnTo>
                  <a:lnTo>
                    <a:pt x="482285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62674" y="3482878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900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4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4"/>
                  </a:lnTo>
                  <a:lnTo>
                    <a:pt x="709982" y="169831"/>
                  </a:lnTo>
                  <a:lnTo>
                    <a:pt x="732058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900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8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90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667306" y="3630198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-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719613" y="4063904"/>
            <a:ext cx="5114925" cy="2548255"/>
            <a:chOff x="2719613" y="4063904"/>
            <a:chExt cx="5114925" cy="2548255"/>
          </a:xfrm>
        </p:grpSpPr>
        <p:sp>
          <p:nvSpPr>
            <p:cNvPr id="14" name="object 14"/>
            <p:cNvSpPr/>
            <p:nvPr/>
          </p:nvSpPr>
          <p:spPr>
            <a:xfrm>
              <a:off x="5543774" y="4587778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5" y="12248"/>
                  </a:lnTo>
                  <a:lnTo>
                    <a:pt x="232697" y="26946"/>
                  </a:lnTo>
                  <a:lnTo>
                    <a:pt x="188702" y="46815"/>
                  </a:lnTo>
                  <a:lnTo>
                    <a:pt x="148182" y="71447"/>
                  </a:lnTo>
                  <a:lnTo>
                    <a:pt x="111592" y="100433"/>
                  </a:lnTo>
                  <a:lnTo>
                    <a:pt x="79386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6" y="552436"/>
                  </a:lnTo>
                  <a:lnTo>
                    <a:pt x="111592" y="585366"/>
                  </a:lnTo>
                  <a:lnTo>
                    <a:pt x="148182" y="614352"/>
                  </a:lnTo>
                  <a:lnTo>
                    <a:pt x="188702" y="638984"/>
                  </a:lnTo>
                  <a:lnTo>
                    <a:pt x="232697" y="658853"/>
                  </a:lnTo>
                  <a:lnTo>
                    <a:pt x="279715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5" y="673551"/>
                  </a:lnTo>
                  <a:lnTo>
                    <a:pt x="529302" y="658853"/>
                  </a:lnTo>
                  <a:lnTo>
                    <a:pt x="573298" y="638984"/>
                  </a:lnTo>
                  <a:lnTo>
                    <a:pt x="613818" y="614352"/>
                  </a:lnTo>
                  <a:lnTo>
                    <a:pt x="650407" y="585366"/>
                  </a:lnTo>
                  <a:lnTo>
                    <a:pt x="682614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4" y="133363"/>
                  </a:lnTo>
                  <a:lnTo>
                    <a:pt x="650407" y="100433"/>
                  </a:lnTo>
                  <a:lnTo>
                    <a:pt x="613818" y="71447"/>
                  </a:lnTo>
                  <a:lnTo>
                    <a:pt x="573298" y="46815"/>
                  </a:lnTo>
                  <a:lnTo>
                    <a:pt x="529302" y="26946"/>
                  </a:lnTo>
                  <a:lnTo>
                    <a:pt x="482285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43774" y="4587778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2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2"/>
                  </a:lnTo>
                  <a:lnTo>
                    <a:pt x="482284" y="673550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0"/>
                  </a:lnTo>
                  <a:lnTo>
                    <a:pt x="232697" y="658852"/>
                  </a:lnTo>
                  <a:lnTo>
                    <a:pt x="188702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81574" y="4587778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5" y="12248"/>
                  </a:lnTo>
                  <a:lnTo>
                    <a:pt x="232697" y="26946"/>
                  </a:lnTo>
                  <a:lnTo>
                    <a:pt x="188702" y="46815"/>
                  </a:lnTo>
                  <a:lnTo>
                    <a:pt x="148182" y="71447"/>
                  </a:lnTo>
                  <a:lnTo>
                    <a:pt x="111592" y="100433"/>
                  </a:lnTo>
                  <a:lnTo>
                    <a:pt x="79386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6" y="552436"/>
                  </a:lnTo>
                  <a:lnTo>
                    <a:pt x="111592" y="585366"/>
                  </a:lnTo>
                  <a:lnTo>
                    <a:pt x="148182" y="614352"/>
                  </a:lnTo>
                  <a:lnTo>
                    <a:pt x="188702" y="638984"/>
                  </a:lnTo>
                  <a:lnTo>
                    <a:pt x="232697" y="658853"/>
                  </a:lnTo>
                  <a:lnTo>
                    <a:pt x="279715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5" y="673551"/>
                  </a:lnTo>
                  <a:lnTo>
                    <a:pt x="529302" y="658853"/>
                  </a:lnTo>
                  <a:lnTo>
                    <a:pt x="573298" y="638984"/>
                  </a:lnTo>
                  <a:lnTo>
                    <a:pt x="613818" y="614352"/>
                  </a:lnTo>
                  <a:lnTo>
                    <a:pt x="650407" y="585366"/>
                  </a:lnTo>
                  <a:lnTo>
                    <a:pt x="682614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4" y="133363"/>
                  </a:lnTo>
                  <a:lnTo>
                    <a:pt x="650407" y="100433"/>
                  </a:lnTo>
                  <a:lnTo>
                    <a:pt x="613818" y="71447"/>
                  </a:lnTo>
                  <a:lnTo>
                    <a:pt x="573298" y="46815"/>
                  </a:lnTo>
                  <a:lnTo>
                    <a:pt x="529302" y="26946"/>
                  </a:lnTo>
                  <a:lnTo>
                    <a:pt x="482285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81574" y="4587778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2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2"/>
                  </a:lnTo>
                  <a:lnTo>
                    <a:pt x="482284" y="673550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0"/>
                  </a:lnTo>
                  <a:lnTo>
                    <a:pt x="232697" y="658852"/>
                  </a:lnTo>
                  <a:lnTo>
                    <a:pt x="188702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13549" y="4068667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0" y="0"/>
                  </a:moveTo>
                  <a:lnTo>
                    <a:pt x="641349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32449" y="4068667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641349" y="0"/>
                  </a:moveTo>
                  <a:lnTo>
                    <a:pt x="0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94649" y="5173567"/>
              <a:ext cx="679450" cy="542925"/>
            </a:xfrm>
            <a:custGeom>
              <a:avLst/>
              <a:gdLst/>
              <a:ahLst/>
              <a:cxnLst/>
              <a:rect l="l" t="t" r="r" b="b"/>
              <a:pathLst>
                <a:path w="679450" h="542925">
                  <a:moveTo>
                    <a:pt x="0" y="0"/>
                  </a:moveTo>
                  <a:lnTo>
                    <a:pt x="679449" y="5429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24375" y="5173567"/>
              <a:ext cx="568325" cy="519430"/>
            </a:xfrm>
            <a:custGeom>
              <a:avLst/>
              <a:gdLst/>
              <a:ahLst/>
              <a:cxnLst/>
              <a:rect l="l" t="t" r="r" b="b"/>
              <a:pathLst>
                <a:path w="568325" h="519429">
                  <a:moveTo>
                    <a:pt x="568324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32449" y="5173567"/>
              <a:ext cx="415925" cy="595630"/>
            </a:xfrm>
            <a:custGeom>
              <a:avLst/>
              <a:gdLst/>
              <a:ahLst/>
              <a:cxnLst/>
              <a:rect l="l" t="t" r="r" b="b"/>
              <a:pathLst>
                <a:path w="415925" h="595629">
                  <a:moveTo>
                    <a:pt x="0" y="0"/>
                  </a:moveTo>
                  <a:lnTo>
                    <a:pt x="415924" y="5953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15174" y="5173567"/>
              <a:ext cx="339725" cy="519430"/>
            </a:xfrm>
            <a:custGeom>
              <a:avLst/>
              <a:gdLst/>
              <a:ahLst/>
              <a:cxnLst/>
              <a:rect l="l" t="t" r="r" b="b"/>
              <a:pathLst>
                <a:path w="339725" h="519429">
                  <a:moveTo>
                    <a:pt x="339724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34374" y="6202265"/>
              <a:ext cx="339725" cy="405130"/>
            </a:xfrm>
            <a:custGeom>
              <a:avLst/>
              <a:gdLst/>
              <a:ahLst/>
              <a:cxnLst/>
              <a:rect l="l" t="t" r="r" b="b"/>
              <a:pathLst>
                <a:path w="339725" h="405129">
                  <a:moveTo>
                    <a:pt x="339724" y="0"/>
                  </a:moveTo>
                  <a:lnTo>
                    <a:pt x="0" y="4048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13849" y="6202265"/>
              <a:ext cx="415925" cy="328930"/>
            </a:xfrm>
            <a:custGeom>
              <a:avLst/>
              <a:gdLst/>
              <a:ahLst/>
              <a:cxnLst/>
              <a:rect l="l" t="t" r="r" b="b"/>
              <a:pathLst>
                <a:path w="415925" h="328929">
                  <a:moveTo>
                    <a:pt x="0" y="0"/>
                  </a:moveTo>
                  <a:lnTo>
                    <a:pt x="415924" y="3286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574514" y="5725698"/>
            <a:ext cx="18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74714" y="5725698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41514" y="5649498"/>
            <a:ext cx="186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60714" y="6563898"/>
            <a:ext cx="166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756114" y="6563898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48406" y="4735098"/>
            <a:ext cx="830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8640" algn="l"/>
              </a:tabLst>
            </a:pPr>
            <a:r>
              <a:rPr sz="2400" b="1" spc="-50" dirty="0">
                <a:latin typeface="Tahoma"/>
                <a:cs typeface="Tahoma"/>
              </a:rPr>
              <a:t>-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603714" y="5801898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22706" y="4735098"/>
            <a:ext cx="89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140" algn="l"/>
              </a:tabLst>
            </a:pPr>
            <a:r>
              <a:rPr sz="2400" b="1" spc="-50" dirty="0">
                <a:latin typeface="Tahoma"/>
                <a:cs typeface="Tahoma"/>
              </a:rPr>
              <a:t>+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26688" y="2365044"/>
            <a:ext cx="3127375" cy="1200785"/>
          </a:xfrm>
          <a:prstGeom prst="rect">
            <a:avLst/>
          </a:prstGeom>
          <a:solidFill>
            <a:srgbClr val="FFFDA9"/>
          </a:solidFill>
        </p:spPr>
        <p:txBody>
          <a:bodyPr vert="horz" wrap="square" lIns="0" tIns="48895" rIns="0" bIns="0" rtlCol="0">
            <a:spAutoFit/>
          </a:bodyPr>
          <a:lstStyle/>
          <a:p>
            <a:pPr marL="90805" marR="198120">
              <a:lnSpc>
                <a:spcPct val="99000"/>
              </a:lnSpc>
              <a:spcBef>
                <a:spcPts val="385"/>
              </a:spcBef>
            </a:pPr>
            <a:r>
              <a:rPr sz="2400" dirty="0">
                <a:latin typeface="Arial MT"/>
                <a:cs typeface="Arial MT"/>
              </a:rPr>
              <a:t>Generate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code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machine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two </a:t>
            </a:r>
            <a:r>
              <a:rPr sz="2400" dirty="0">
                <a:latin typeface="Arial MT"/>
                <a:cs typeface="Arial MT"/>
              </a:rPr>
              <a:t>Registers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R0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R1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55936" y="1289374"/>
            <a:ext cx="7165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ahoma"/>
                <a:cs typeface="Tahoma"/>
              </a:rPr>
              <a:t>Consider</a:t>
            </a:r>
            <a:r>
              <a:rPr sz="2400" b="1" spc="-2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</a:t>
            </a:r>
            <a:r>
              <a:rPr sz="2400" b="1" spc="-2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expression:</a:t>
            </a:r>
            <a:r>
              <a:rPr sz="2400" b="1" spc="-25" dirty="0"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(a</a:t>
            </a:r>
            <a:r>
              <a:rPr sz="2400" b="1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+</a:t>
            </a:r>
            <a:r>
              <a:rPr sz="2400" b="1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b)</a:t>
            </a:r>
            <a:r>
              <a:rPr sz="2400" b="1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000FF"/>
                </a:solidFill>
                <a:latin typeface="MS PGothic"/>
                <a:cs typeface="MS PGothic"/>
              </a:rPr>
              <a:t>–</a:t>
            </a:r>
            <a:r>
              <a:rPr sz="2400" spc="-55" dirty="0">
                <a:solidFill>
                  <a:srgbClr val="0000FF"/>
                </a:solidFill>
                <a:latin typeface="MS PGothic"/>
                <a:cs typeface="MS PGothic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(e</a:t>
            </a:r>
            <a:r>
              <a:rPr sz="2400" b="1" spc="-30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0000FF"/>
                </a:solidFill>
                <a:latin typeface="MS PGothic"/>
                <a:cs typeface="MS PGothic"/>
              </a:rPr>
              <a:t>–</a:t>
            </a:r>
            <a:r>
              <a:rPr sz="2400" spc="-55" dirty="0">
                <a:solidFill>
                  <a:srgbClr val="0000FF"/>
                </a:solidFill>
                <a:latin typeface="MS PGothic"/>
                <a:cs typeface="MS PGothic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(c</a:t>
            </a:r>
            <a:r>
              <a:rPr sz="2400" b="1" spc="-2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ahoma"/>
                <a:cs typeface="Tahoma"/>
              </a:rPr>
              <a:t>+</a:t>
            </a:r>
            <a:r>
              <a:rPr sz="2400" b="1" spc="-25" dirty="0">
                <a:solidFill>
                  <a:srgbClr val="0000FF"/>
                </a:solidFill>
                <a:latin typeface="Tahoma"/>
                <a:cs typeface="Tahoma"/>
              </a:rPr>
              <a:t> d))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89956" y="1799682"/>
            <a:ext cx="53752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7225" algn="l"/>
              </a:tabLst>
            </a:pPr>
            <a:r>
              <a:rPr sz="2000" b="1" spc="-25" dirty="0">
                <a:latin typeface="Tahoma"/>
                <a:cs typeface="Tahoma"/>
              </a:rPr>
              <a:t>And</a:t>
            </a:r>
            <a:r>
              <a:rPr sz="2000" b="1" dirty="0">
                <a:latin typeface="Tahoma"/>
                <a:cs typeface="Tahoma"/>
              </a:rPr>
              <a:t>	its</a:t>
            </a:r>
            <a:r>
              <a:rPr sz="2000" b="1" spc="-60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corresponding</a:t>
            </a:r>
            <a:r>
              <a:rPr sz="2000" b="1" spc="-5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intermediate</a:t>
            </a:r>
            <a:r>
              <a:rPr sz="2000" b="1" spc="-55" dirty="0">
                <a:latin typeface="Tahoma"/>
                <a:cs typeface="Tahoma"/>
              </a:rPr>
              <a:t> </a:t>
            </a:r>
            <a:r>
              <a:rPr sz="2000" b="1" spc="-10" dirty="0">
                <a:latin typeface="Tahoma"/>
                <a:cs typeface="Tahoma"/>
              </a:rPr>
              <a:t>code: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00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7883" y="2177934"/>
            <a:ext cx="2097405" cy="1552575"/>
          </a:xfrm>
          <a:prstGeom prst="rect">
            <a:avLst/>
          </a:prstGeom>
          <a:solidFill>
            <a:srgbClr val="D4FDD5"/>
          </a:solidFill>
        </p:spPr>
        <p:txBody>
          <a:bodyPr vert="horz" wrap="square" lIns="0" tIns="47625" rIns="0" bIns="0" rtlCol="0">
            <a:spAutoFit/>
          </a:bodyPr>
          <a:lstStyle/>
          <a:p>
            <a:pPr marL="90805" marR="370840" algn="just">
              <a:lnSpc>
                <a:spcPct val="99500"/>
              </a:lnSpc>
              <a:spcBef>
                <a:spcPts val="375"/>
              </a:spcBef>
            </a:pPr>
            <a:r>
              <a:rPr sz="2400" dirty="0">
                <a:latin typeface="Tahoma"/>
                <a:cs typeface="Tahoma"/>
              </a:rPr>
              <a:t>t1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b </a:t>
            </a:r>
            <a:r>
              <a:rPr sz="2400" dirty="0">
                <a:latin typeface="Tahoma"/>
                <a:cs typeface="Tahoma"/>
              </a:rPr>
              <a:t>t2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 </a:t>
            </a:r>
            <a:r>
              <a:rPr sz="2400" dirty="0">
                <a:latin typeface="Tahoma"/>
                <a:cs typeface="Tahoma"/>
              </a:rPr>
              <a:t>t3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t2 </a:t>
            </a:r>
            <a:r>
              <a:rPr sz="2400" dirty="0">
                <a:latin typeface="Tahoma"/>
                <a:cs typeface="Tahoma"/>
              </a:rPr>
              <a:t>t4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t1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57023" y="34301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t4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73720" y="5373572"/>
            <a:ext cx="771525" cy="695325"/>
            <a:chOff x="5873720" y="5373572"/>
            <a:chExt cx="771525" cy="695325"/>
          </a:xfrm>
        </p:grpSpPr>
        <p:sp>
          <p:nvSpPr>
            <p:cNvPr id="6" name="object 6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799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119614" y="5525654"/>
            <a:ext cx="274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+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73420" y="3239972"/>
            <a:ext cx="771525" cy="695325"/>
            <a:chOff x="3473420" y="3239972"/>
            <a:chExt cx="771525" cy="695325"/>
          </a:xfrm>
        </p:grpSpPr>
        <p:sp>
          <p:nvSpPr>
            <p:cNvPr id="10" name="object 10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6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4"/>
                  </a:lnTo>
                  <a:lnTo>
                    <a:pt x="52017" y="169832"/>
                  </a:lnTo>
                  <a:lnTo>
                    <a:pt x="29940" y="209428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8"/>
                  </a:lnTo>
                  <a:lnTo>
                    <a:pt x="709982" y="169832"/>
                  </a:lnTo>
                  <a:lnTo>
                    <a:pt x="682613" y="133364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6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4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2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4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2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82815" y="3392054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-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35120" y="3825760"/>
            <a:ext cx="5114925" cy="2548255"/>
            <a:chOff x="1835120" y="3825760"/>
            <a:chExt cx="5114925" cy="2548255"/>
          </a:xfrm>
        </p:grpSpPr>
        <p:sp>
          <p:nvSpPr>
            <p:cNvPr id="14" name="object 14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5" y="12248"/>
                  </a:lnTo>
                  <a:lnTo>
                    <a:pt x="232697" y="26946"/>
                  </a:lnTo>
                  <a:lnTo>
                    <a:pt x="188702" y="46815"/>
                  </a:lnTo>
                  <a:lnTo>
                    <a:pt x="148182" y="71447"/>
                  </a:lnTo>
                  <a:lnTo>
                    <a:pt x="111592" y="100433"/>
                  </a:lnTo>
                  <a:lnTo>
                    <a:pt x="79386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6" y="552436"/>
                  </a:lnTo>
                  <a:lnTo>
                    <a:pt x="111592" y="585366"/>
                  </a:lnTo>
                  <a:lnTo>
                    <a:pt x="148182" y="614352"/>
                  </a:lnTo>
                  <a:lnTo>
                    <a:pt x="188702" y="638984"/>
                  </a:lnTo>
                  <a:lnTo>
                    <a:pt x="232697" y="658853"/>
                  </a:lnTo>
                  <a:lnTo>
                    <a:pt x="279715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5" y="673551"/>
                  </a:lnTo>
                  <a:lnTo>
                    <a:pt x="529302" y="658853"/>
                  </a:lnTo>
                  <a:lnTo>
                    <a:pt x="573298" y="638984"/>
                  </a:lnTo>
                  <a:lnTo>
                    <a:pt x="613818" y="614352"/>
                  </a:lnTo>
                  <a:lnTo>
                    <a:pt x="650407" y="585366"/>
                  </a:lnTo>
                  <a:lnTo>
                    <a:pt x="682614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4" y="133363"/>
                  </a:lnTo>
                  <a:lnTo>
                    <a:pt x="650407" y="100433"/>
                  </a:lnTo>
                  <a:lnTo>
                    <a:pt x="613818" y="71447"/>
                  </a:lnTo>
                  <a:lnTo>
                    <a:pt x="573298" y="46815"/>
                  </a:lnTo>
                  <a:lnTo>
                    <a:pt x="529302" y="26946"/>
                  </a:lnTo>
                  <a:lnTo>
                    <a:pt x="482285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8" y="209427"/>
                  </a:lnTo>
                  <a:lnTo>
                    <a:pt x="748389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89" y="434056"/>
                  </a:lnTo>
                  <a:lnTo>
                    <a:pt x="732058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90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0" y="0"/>
                  </a:moveTo>
                  <a:lnTo>
                    <a:pt x="641349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479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641349" y="0"/>
                  </a:moveTo>
                  <a:lnTo>
                    <a:pt x="0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10158" y="4935423"/>
              <a:ext cx="679450" cy="542925"/>
            </a:xfrm>
            <a:custGeom>
              <a:avLst/>
              <a:gdLst/>
              <a:ahLst/>
              <a:cxnLst/>
              <a:rect l="l" t="t" r="r" b="b"/>
              <a:pathLst>
                <a:path w="679450" h="542925">
                  <a:moveTo>
                    <a:pt x="0" y="0"/>
                  </a:moveTo>
                  <a:lnTo>
                    <a:pt x="679449" y="5429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39883" y="4935423"/>
              <a:ext cx="568325" cy="519430"/>
            </a:xfrm>
            <a:custGeom>
              <a:avLst/>
              <a:gdLst/>
              <a:ahLst/>
              <a:cxnLst/>
              <a:rect l="l" t="t" r="r" b="b"/>
              <a:pathLst>
                <a:path w="568325" h="519429">
                  <a:moveTo>
                    <a:pt x="568325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47958" y="4935423"/>
              <a:ext cx="415925" cy="595630"/>
            </a:xfrm>
            <a:custGeom>
              <a:avLst/>
              <a:gdLst/>
              <a:ahLst/>
              <a:cxnLst/>
              <a:rect l="l" t="t" r="r" b="b"/>
              <a:pathLst>
                <a:path w="415925" h="595629">
                  <a:moveTo>
                    <a:pt x="0" y="0"/>
                  </a:moveTo>
                  <a:lnTo>
                    <a:pt x="415924" y="5953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30683" y="4935423"/>
              <a:ext cx="339725" cy="519430"/>
            </a:xfrm>
            <a:custGeom>
              <a:avLst/>
              <a:gdLst/>
              <a:ahLst/>
              <a:cxnLst/>
              <a:rect l="l" t="t" r="r" b="b"/>
              <a:pathLst>
                <a:path w="339725" h="519429">
                  <a:moveTo>
                    <a:pt x="339724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49883" y="5964122"/>
              <a:ext cx="339725" cy="405130"/>
            </a:xfrm>
            <a:custGeom>
              <a:avLst/>
              <a:gdLst/>
              <a:ahLst/>
              <a:cxnLst/>
              <a:rect l="l" t="t" r="r" b="b"/>
              <a:pathLst>
                <a:path w="339725" h="405129">
                  <a:moveTo>
                    <a:pt x="339724" y="0"/>
                  </a:moveTo>
                  <a:lnTo>
                    <a:pt x="0" y="4048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29358" y="5964122"/>
              <a:ext cx="415925" cy="328930"/>
            </a:xfrm>
            <a:custGeom>
              <a:avLst/>
              <a:gdLst/>
              <a:ahLst/>
              <a:cxnLst/>
              <a:rect l="l" t="t" r="r" b="b"/>
              <a:pathLst>
                <a:path w="415925" h="328929">
                  <a:moveTo>
                    <a:pt x="0" y="0"/>
                  </a:moveTo>
                  <a:lnTo>
                    <a:pt x="415924" y="3286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90023" y="5487554"/>
            <a:ext cx="18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90223" y="54875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57023" y="5411354"/>
            <a:ext cx="186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76223" y="6325754"/>
            <a:ext cx="166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71623" y="63257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63914" y="4496954"/>
            <a:ext cx="830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8640" algn="l"/>
              </a:tabLst>
            </a:pPr>
            <a:r>
              <a:rPr sz="2400" b="1" spc="-50" dirty="0">
                <a:latin typeface="Tahoma"/>
                <a:cs typeface="Tahoma"/>
              </a:rPr>
              <a:t>-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19221" y="55637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38215" y="4496954"/>
            <a:ext cx="89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140" algn="l"/>
              </a:tabLst>
            </a:pPr>
            <a:r>
              <a:rPr sz="2400" b="1" spc="-50" dirty="0">
                <a:latin typeface="Tahoma"/>
                <a:cs typeface="Tahoma"/>
              </a:rPr>
              <a:t>+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326282" y="2254134"/>
            <a:ext cx="1967230" cy="822325"/>
          </a:xfrm>
          <a:custGeom>
            <a:avLst/>
            <a:gdLst/>
            <a:ahLst/>
            <a:cxnLst/>
            <a:rect l="l" t="t" r="r" b="b"/>
            <a:pathLst>
              <a:path w="1967229" h="822325">
                <a:moveTo>
                  <a:pt x="1966912" y="0"/>
                </a:moveTo>
                <a:lnTo>
                  <a:pt x="0" y="0"/>
                </a:lnTo>
                <a:lnTo>
                  <a:pt x="0" y="822325"/>
                </a:lnTo>
                <a:lnTo>
                  <a:pt x="1966912" y="822325"/>
                </a:lnTo>
                <a:lnTo>
                  <a:pt x="1966912" y="0"/>
                </a:lnTo>
                <a:close/>
              </a:path>
            </a:pathLst>
          </a:custGeom>
          <a:solidFill>
            <a:srgbClr val="D4FD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417721" y="2287154"/>
            <a:ext cx="1792605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R="5080">
              <a:lnSpc>
                <a:spcPts val="2800"/>
              </a:lnSpc>
              <a:spcBef>
                <a:spcPts val="260"/>
              </a:spcBef>
              <a:tabLst>
                <a:tab pos="917575" algn="l"/>
                <a:tab pos="1072515" algn="l"/>
              </a:tabLst>
            </a:pP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MOV</a:t>
            </a:r>
            <a:r>
              <a:rPr sz="2400" dirty="0">
                <a:solidFill>
                  <a:srgbClr val="CC0000"/>
                </a:solidFill>
                <a:latin typeface="Tahoma"/>
                <a:cs typeface="Tahoma"/>
              </a:rPr>
              <a:t>	a,</a:t>
            </a:r>
            <a:r>
              <a:rPr sz="2400" spc="-3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R0 ADD</a:t>
            </a:r>
            <a:r>
              <a:rPr sz="2400" dirty="0">
                <a:solidFill>
                  <a:srgbClr val="CC0000"/>
                </a:solidFill>
                <a:latin typeface="Tahoma"/>
                <a:cs typeface="Tahoma"/>
              </a:rPr>
              <a:t>		b,</a:t>
            </a:r>
            <a:r>
              <a:rPr sz="2400" spc="-4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R0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00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7883" y="2177934"/>
            <a:ext cx="2097405" cy="1552575"/>
          </a:xfrm>
          <a:prstGeom prst="rect">
            <a:avLst/>
          </a:prstGeom>
          <a:solidFill>
            <a:srgbClr val="D4FDD5"/>
          </a:solidFill>
        </p:spPr>
        <p:txBody>
          <a:bodyPr vert="horz" wrap="square" lIns="0" tIns="47625" rIns="0" bIns="0" rtlCol="0">
            <a:spAutoFit/>
          </a:bodyPr>
          <a:lstStyle/>
          <a:p>
            <a:pPr marL="90805" marR="370840" algn="just">
              <a:lnSpc>
                <a:spcPct val="99500"/>
              </a:lnSpc>
              <a:spcBef>
                <a:spcPts val="375"/>
              </a:spcBef>
            </a:pPr>
            <a:r>
              <a:rPr sz="2400" dirty="0">
                <a:latin typeface="Tahoma"/>
                <a:cs typeface="Tahoma"/>
              </a:rPr>
              <a:t>t1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b </a:t>
            </a:r>
            <a:r>
              <a:rPr sz="2400" dirty="0">
                <a:latin typeface="Tahoma"/>
                <a:cs typeface="Tahoma"/>
              </a:rPr>
              <a:t>t2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 </a:t>
            </a:r>
            <a:r>
              <a:rPr sz="2400" dirty="0">
                <a:latin typeface="Tahoma"/>
                <a:cs typeface="Tahoma"/>
              </a:rPr>
              <a:t>t3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t2 </a:t>
            </a:r>
            <a:r>
              <a:rPr sz="2400" dirty="0">
                <a:latin typeface="Tahoma"/>
                <a:cs typeface="Tahoma"/>
              </a:rPr>
              <a:t>t4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t1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57023" y="34301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t4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73720" y="5373572"/>
            <a:ext cx="771525" cy="695325"/>
            <a:chOff x="5873720" y="5373572"/>
            <a:chExt cx="771525" cy="695325"/>
          </a:xfrm>
        </p:grpSpPr>
        <p:sp>
          <p:nvSpPr>
            <p:cNvPr id="6" name="object 6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799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119614" y="5525654"/>
            <a:ext cx="274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+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73420" y="3239972"/>
            <a:ext cx="771525" cy="695325"/>
            <a:chOff x="3473420" y="3239972"/>
            <a:chExt cx="771525" cy="695325"/>
          </a:xfrm>
        </p:grpSpPr>
        <p:sp>
          <p:nvSpPr>
            <p:cNvPr id="10" name="object 10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6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4"/>
                  </a:lnTo>
                  <a:lnTo>
                    <a:pt x="52017" y="169832"/>
                  </a:lnTo>
                  <a:lnTo>
                    <a:pt x="29940" y="209428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8"/>
                  </a:lnTo>
                  <a:lnTo>
                    <a:pt x="709982" y="169832"/>
                  </a:lnTo>
                  <a:lnTo>
                    <a:pt x="682613" y="133364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6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4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2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4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2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82815" y="3392054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-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35120" y="3825760"/>
            <a:ext cx="5114925" cy="2548255"/>
            <a:chOff x="1835120" y="3825760"/>
            <a:chExt cx="5114925" cy="2548255"/>
          </a:xfrm>
        </p:grpSpPr>
        <p:sp>
          <p:nvSpPr>
            <p:cNvPr id="14" name="object 14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5" y="12248"/>
                  </a:lnTo>
                  <a:lnTo>
                    <a:pt x="232697" y="26946"/>
                  </a:lnTo>
                  <a:lnTo>
                    <a:pt x="188702" y="46815"/>
                  </a:lnTo>
                  <a:lnTo>
                    <a:pt x="148182" y="71447"/>
                  </a:lnTo>
                  <a:lnTo>
                    <a:pt x="111592" y="100433"/>
                  </a:lnTo>
                  <a:lnTo>
                    <a:pt x="79386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6" y="552436"/>
                  </a:lnTo>
                  <a:lnTo>
                    <a:pt x="111592" y="585366"/>
                  </a:lnTo>
                  <a:lnTo>
                    <a:pt x="148182" y="614352"/>
                  </a:lnTo>
                  <a:lnTo>
                    <a:pt x="188702" y="638984"/>
                  </a:lnTo>
                  <a:lnTo>
                    <a:pt x="232697" y="658853"/>
                  </a:lnTo>
                  <a:lnTo>
                    <a:pt x="279715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5" y="673551"/>
                  </a:lnTo>
                  <a:lnTo>
                    <a:pt x="529302" y="658853"/>
                  </a:lnTo>
                  <a:lnTo>
                    <a:pt x="573298" y="638984"/>
                  </a:lnTo>
                  <a:lnTo>
                    <a:pt x="613818" y="614352"/>
                  </a:lnTo>
                  <a:lnTo>
                    <a:pt x="650407" y="585366"/>
                  </a:lnTo>
                  <a:lnTo>
                    <a:pt x="682614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4" y="133363"/>
                  </a:lnTo>
                  <a:lnTo>
                    <a:pt x="650407" y="100433"/>
                  </a:lnTo>
                  <a:lnTo>
                    <a:pt x="613818" y="71447"/>
                  </a:lnTo>
                  <a:lnTo>
                    <a:pt x="573298" y="46815"/>
                  </a:lnTo>
                  <a:lnTo>
                    <a:pt x="529302" y="26946"/>
                  </a:lnTo>
                  <a:lnTo>
                    <a:pt x="482285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8" y="209427"/>
                  </a:lnTo>
                  <a:lnTo>
                    <a:pt x="748389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89" y="434056"/>
                  </a:lnTo>
                  <a:lnTo>
                    <a:pt x="732058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90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0" y="0"/>
                  </a:moveTo>
                  <a:lnTo>
                    <a:pt x="641349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479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641349" y="0"/>
                  </a:moveTo>
                  <a:lnTo>
                    <a:pt x="0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10158" y="4935423"/>
              <a:ext cx="679450" cy="542925"/>
            </a:xfrm>
            <a:custGeom>
              <a:avLst/>
              <a:gdLst/>
              <a:ahLst/>
              <a:cxnLst/>
              <a:rect l="l" t="t" r="r" b="b"/>
              <a:pathLst>
                <a:path w="679450" h="542925">
                  <a:moveTo>
                    <a:pt x="0" y="0"/>
                  </a:moveTo>
                  <a:lnTo>
                    <a:pt x="679449" y="5429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39883" y="4935423"/>
              <a:ext cx="568325" cy="519430"/>
            </a:xfrm>
            <a:custGeom>
              <a:avLst/>
              <a:gdLst/>
              <a:ahLst/>
              <a:cxnLst/>
              <a:rect l="l" t="t" r="r" b="b"/>
              <a:pathLst>
                <a:path w="568325" h="519429">
                  <a:moveTo>
                    <a:pt x="568325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47958" y="4935423"/>
              <a:ext cx="415925" cy="595630"/>
            </a:xfrm>
            <a:custGeom>
              <a:avLst/>
              <a:gdLst/>
              <a:ahLst/>
              <a:cxnLst/>
              <a:rect l="l" t="t" r="r" b="b"/>
              <a:pathLst>
                <a:path w="415925" h="595629">
                  <a:moveTo>
                    <a:pt x="0" y="0"/>
                  </a:moveTo>
                  <a:lnTo>
                    <a:pt x="415924" y="5953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30683" y="4935423"/>
              <a:ext cx="339725" cy="519430"/>
            </a:xfrm>
            <a:custGeom>
              <a:avLst/>
              <a:gdLst/>
              <a:ahLst/>
              <a:cxnLst/>
              <a:rect l="l" t="t" r="r" b="b"/>
              <a:pathLst>
                <a:path w="339725" h="519429">
                  <a:moveTo>
                    <a:pt x="339724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49883" y="5964122"/>
              <a:ext cx="339725" cy="405130"/>
            </a:xfrm>
            <a:custGeom>
              <a:avLst/>
              <a:gdLst/>
              <a:ahLst/>
              <a:cxnLst/>
              <a:rect l="l" t="t" r="r" b="b"/>
              <a:pathLst>
                <a:path w="339725" h="405129">
                  <a:moveTo>
                    <a:pt x="339724" y="0"/>
                  </a:moveTo>
                  <a:lnTo>
                    <a:pt x="0" y="4048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29358" y="5964122"/>
              <a:ext cx="415925" cy="328930"/>
            </a:xfrm>
            <a:custGeom>
              <a:avLst/>
              <a:gdLst/>
              <a:ahLst/>
              <a:cxnLst/>
              <a:rect l="l" t="t" r="r" b="b"/>
              <a:pathLst>
                <a:path w="415925" h="328929">
                  <a:moveTo>
                    <a:pt x="0" y="0"/>
                  </a:moveTo>
                  <a:lnTo>
                    <a:pt x="415924" y="3286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90023" y="5487554"/>
            <a:ext cx="18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90223" y="54875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57023" y="5411354"/>
            <a:ext cx="186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76223" y="6325754"/>
            <a:ext cx="166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71623" y="63257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63914" y="4496954"/>
            <a:ext cx="830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8640" algn="l"/>
              </a:tabLst>
            </a:pPr>
            <a:r>
              <a:rPr sz="2400" b="1" spc="-50" dirty="0">
                <a:latin typeface="Tahoma"/>
                <a:cs typeface="Tahoma"/>
              </a:rPr>
              <a:t>-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19221" y="55637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38215" y="4496954"/>
            <a:ext cx="89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140" algn="l"/>
              </a:tabLst>
            </a:pPr>
            <a:r>
              <a:rPr sz="2400" b="1" spc="-50" dirty="0">
                <a:latin typeface="Tahoma"/>
                <a:cs typeface="Tahoma"/>
              </a:rPr>
              <a:t>+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7326282" y="2254134"/>
          <a:ext cx="1967230" cy="1551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034">
                <a:tc>
                  <a:txBody>
                    <a:bodyPr/>
                    <a:lstStyle/>
                    <a:p>
                      <a:pPr marL="90805">
                        <a:lnSpc>
                          <a:spcPts val="2745"/>
                        </a:lnSpc>
                        <a:spcBef>
                          <a:spcPts val="360"/>
                        </a:spcBef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2745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a,</a:t>
                      </a:r>
                      <a:r>
                        <a:rPr sz="24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90805">
                        <a:lnSpc>
                          <a:spcPts val="275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ADD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R="87630" algn="r">
                        <a:lnSpc>
                          <a:spcPts val="275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b,</a:t>
                      </a:r>
                      <a:r>
                        <a:rPr sz="24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marL="90805">
                        <a:lnSpc>
                          <a:spcPts val="2800"/>
                        </a:lnSpc>
                      </a:pPr>
                      <a:r>
                        <a:rPr sz="2400" spc="-2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2800"/>
                        </a:lnSpc>
                      </a:pPr>
                      <a:r>
                        <a:rPr sz="2400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c,</a:t>
                      </a:r>
                      <a:r>
                        <a:rPr sz="2400" spc="-20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R1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65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400" spc="-2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ADD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d,</a:t>
                      </a:r>
                      <a:r>
                        <a:rPr sz="2400" spc="-10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R1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00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7883" y="2177934"/>
            <a:ext cx="2097405" cy="1552575"/>
          </a:xfrm>
          <a:prstGeom prst="rect">
            <a:avLst/>
          </a:prstGeom>
          <a:solidFill>
            <a:srgbClr val="D4FDD5"/>
          </a:solidFill>
        </p:spPr>
        <p:txBody>
          <a:bodyPr vert="horz" wrap="square" lIns="0" tIns="47625" rIns="0" bIns="0" rtlCol="0">
            <a:spAutoFit/>
          </a:bodyPr>
          <a:lstStyle/>
          <a:p>
            <a:pPr marL="90805" marR="370840" algn="just">
              <a:lnSpc>
                <a:spcPct val="99500"/>
              </a:lnSpc>
              <a:spcBef>
                <a:spcPts val="375"/>
              </a:spcBef>
            </a:pPr>
            <a:r>
              <a:rPr sz="2400" dirty="0">
                <a:latin typeface="Tahoma"/>
                <a:cs typeface="Tahoma"/>
              </a:rPr>
              <a:t>t1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b </a:t>
            </a:r>
            <a:r>
              <a:rPr sz="2400" dirty="0">
                <a:latin typeface="Tahoma"/>
                <a:cs typeface="Tahoma"/>
              </a:rPr>
              <a:t>t2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 </a:t>
            </a:r>
            <a:r>
              <a:rPr sz="2400" dirty="0">
                <a:latin typeface="Tahoma"/>
                <a:cs typeface="Tahoma"/>
              </a:rPr>
              <a:t>t3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t2 </a:t>
            </a:r>
            <a:r>
              <a:rPr sz="2400" dirty="0">
                <a:latin typeface="Tahoma"/>
                <a:cs typeface="Tahoma"/>
              </a:rPr>
              <a:t>t4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t1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57023" y="34301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t4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73720" y="5373572"/>
            <a:ext cx="771525" cy="695325"/>
            <a:chOff x="5873720" y="5373572"/>
            <a:chExt cx="771525" cy="695325"/>
          </a:xfrm>
        </p:grpSpPr>
        <p:sp>
          <p:nvSpPr>
            <p:cNvPr id="6" name="object 6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799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119614" y="5525654"/>
            <a:ext cx="274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+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73420" y="3239972"/>
            <a:ext cx="771525" cy="695325"/>
            <a:chOff x="3473420" y="3239972"/>
            <a:chExt cx="771525" cy="695325"/>
          </a:xfrm>
        </p:grpSpPr>
        <p:sp>
          <p:nvSpPr>
            <p:cNvPr id="10" name="object 10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6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4"/>
                  </a:lnTo>
                  <a:lnTo>
                    <a:pt x="52017" y="169832"/>
                  </a:lnTo>
                  <a:lnTo>
                    <a:pt x="29940" y="209428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8"/>
                  </a:lnTo>
                  <a:lnTo>
                    <a:pt x="709982" y="169832"/>
                  </a:lnTo>
                  <a:lnTo>
                    <a:pt x="682613" y="133364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6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4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2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4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2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82815" y="3392054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-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35120" y="3825760"/>
            <a:ext cx="5114925" cy="2548255"/>
            <a:chOff x="1835120" y="3825760"/>
            <a:chExt cx="5114925" cy="2548255"/>
          </a:xfrm>
        </p:grpSpPr>
        <p:sp>
          <p:nvSpPr>
            <p:cNvPr id="14" name="object 14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5" y="12248"/>
                  </a:lnTo>
                  <a:lnTo>
                    <a:pt x="232697" y="26946"/>
                  </a:lnTo>
                  <a:lnTo>
                    <a:pt x="188702" y="46815"/>
                  </a:lnTo>
                  <a:lnTo>
                    <a:pt x="148182" y="71447"/>
                  </a:lnTo>
                  <a:lnTo>
                    <a:pt x="111592" y="100433"/>
                  </a:lnTo>
                  <a:lnTo>
                    <a:pt x="79386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6" y="552436"/>
                  </a:lnTo>
                  <a:lnTo>
                    <a:pt x="111592" y="585366"/>
                  </a:lnTo>
                  <a:lnTo>
                    <a:pt x="148182" y="614352"/>
                  </a:lnTo>
                  <a:lnTo>
                    <a:pt x="188702" y="638984"/>
                  </a:lnTo>
                  <a:lnTo>
                    <a:pt x="232697" y="658853"/>
                  </a:lnTo>
                  <a:lnTo>
                    <a:pt x="279715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5" y="673551"/>
                  </a:lnTo>
                  <a:lnTo>
                    <a:pt x="529302" y="658853"/>
                  </a:lnTo>
                  <a:lnTo>
                    <a:pt x="573298" y="638984"/>
                  </a:lnTo>
                  <a:lnTo>
                    <a:pt x="613818" y="614352"/>
                  </a:lnTo>
                  <a:lnTo>
                    <a:pt x="650407" y="585366"/>
                  </a:lnTo>
                  <a:lnTo>
                    <a:pt x="682614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4" y="133363"/>
                  </a:lnTo>
                  <a:lnTo>
                    <a:pt x="650407" y="100433"/>
                  </a:lnTo>
                  <a:lnTo>
                    <a:pt x="613818" y="71447"/>
                  </a:lnTo>
                  <a:lnTo>
                    <a:pt x="573298" y="46815"/>
                  </a:lnTo>
                  <a:lnTo>
                    <a:pt x="529302" y="26946"/>
                  </a:lnTo>
                  <a:lnTo>
                    <a:pt x="482285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8" y="209427"/>
                  </a:lnTo>
                  <a:lnTo>
                    <a:pt x="748389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89" y="434056"/>
                  </a:lnTo>
                  <a:lnTo>
                    <a:pt x="732058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90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0" y="0"/>
                  </a:moveTo>
                  <a:lnTo>
                    <a:pt x="641349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479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641349" y="0"/>
                  </a:moveTo>
                  <a:lnTo>
                    <a:pt x="0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10158" y="4935423"/>
              <a:ext cx="679450" cy="542925"/>
            </a:xfrm>
            <a:custGeom>
              <a:avLst/>
              <a:gdLst/>
              <a:ahLst/>
              <a:cxnLst/>
              <a:rect l="l" t="t" r="r" b="b"/>
              <a:pathLst>
                <a:path w="679450" h="542925">
                  <a:moveTo>
                    <a:pt x="0" y="0"/>
                  </a:moveTo>
                  <a:lnTo>
                    <a:pt x="679449" y="5429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39883" y="4935423"/>
              <a:ext cx="568325" cy="519430"/>
            </a:xfrm>
            <a:custGeom>
              <a:avLst/>
              <a:gdLst/>
              <a:ahLst/>
              <a:cxnLst/>
              <a:rect l="l" t="t" r="r" b="b"/>
              <a:pathLst>
                <a:path w="568325" h="519429">
                  <a:moveTo>
                    <a:pt x="568325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47958" y="4935423"/>
              <a:ext cx="415925" cy="595630"/>
            </a:xfrm>
            <a:custGeom>
              <a:avLst/>
              <a:gdLst/>
              <a:ahLst/>
              <a:cxnLst/>
              <a:rect l="l" t="t" r="r" b="b"/>
              <a:pathLst>
                <a:path w="415925" h="595629">
                  <a:moveTo>
                    <a:pt x="0" y="0"/>
                  </a:moveTo>
                  <a:lnTo>
                    <a:pt x="415924" y="5953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30683" y="4935423"/>
              <a:ext cx="339725" cy="519430"/>
            </a:xfrm>
            <a:custGeom>
              <a:avLst/>
              <a:gdLst/>
              <a:ahLst/>
              <a:cxnLst/>
              <a:rect l="l" t="t" r="r" b="b"/>
              <a:pathLst>
                <a:path w="339725" h="519429">
                  <a:moveTo>
                    <a:pt x="339724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49883" y="5964122"/>
              <a:ext cx="339725" cy="405130"/>
            </a:xfrm>
            <a:custGeom>
              <a:avLst/>
              <a:gdLst/>
              <a:ahLst/>
              <a:cxnLst/>
              <a:rect l="l" t="t" r="r" b="b"/>
              <a:pathLst>
                <a:path w="339725" h="405129">
                  <a:moveTo>
                    <a:pt x="339724" y="0"/>
                  </a:moveTo>
                  <a:lnTo>
                    <a:pt x="0" y="4048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29358" y="5964122"/>
              <a:ext cx="415925" cy="328930"/>
            </a:xfrm>
            <a:custGeom>
              <a:avLst/>
              <a:gdLst/>
              <a:ahLst/>
              <a:cxnLst/>
              <a:rect l="l" t="t" r="r" b="b"/>
              <a:pathLst>
                <a:path w="415925" h="328929">
                  <a:moveTo>
                    <a:pt x="0" y="0"/>
                  </a:moveTo>
                  <a:lnTo>
                    <a:pt x="415924" y="3286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90023" y="5487554"/>
            <a:ext cx="18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90223" y="54875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57023" y="5411354"/>
            <a:ext cx="186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76223" y="6325754"/>
            <a:ext cx="166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71623" y="63257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63914" y="4496954"/>
            <a:ext cx="830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8640" algn="l"/>
              </a:tabLst>
            </a:pPr>
            <a:r>
              <a:rPr sz="2400" b="1" spc="-50" dirty="0">
                <a:latin typeface="Tahoma"/>
                <a:cs typeface="Tahoma"/>
              </a:rPr>
              <a:t>-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19221" y="55637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38215" y="4496954"/>
            <a:ext cx="89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140" algn="l"/>
              </a:tabLst>
            </a:pPr>
            <a:r>
              <a:rPr sz="2400" b="1" spc="-50" dirty="0">
                <a:latin typeface="Tahoma"/>
                <a:cs typeface="Tahoma"/>
              </a:rPr>
              <a:t>+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326282" y="2254134"/>
            <a:ext cx="2298700" cy="2647950"/>
          </a:xfrm>
          <a:custGeom>
            <a:avLst/>
            <a:gdLst/>
            <a:ahLst/>
            <a:cxnLst/>
            <a:rect l="l" t="t" r="r" b="b"/>
            <a:pathLst>
              <a:path w="2298700" h="2647950">
                <a:moveTo>
                  <a:pt x="2298698" y="0"/>
                </a:moveTo>
                <a:lnTo>
                  <a:pt x="0" y="0"/>
                </a:lnTo>
                <a:lnTo>
                  <a:pt x="0" y="2647950"/>
                </a:lnTo>
                <a:lnTo>
                  <a:pt x="2298698" y="2647950"/>
                </a:lnTo>
                <a:lnTo>
                  <a:pt x="2298698" y="0"/>
                </a:lnTo>
                <a:close/>
              </a:path>
            </a:pathLst>
          </a:custGeom>
          <a:solidFill>
            <a:srgbClr val="D4FD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417721" y="2287154"/>
            <a:ext cx="2126615" cy="257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840"/>
              </a:lnSpc>
              <a:spcBef>
                <a:spcPts val="100"/>
              </a:spcBef>
              <a:tabLst>
                <a:tab pos="1199515" algn="l"/>
              </a:tabLst>
            </a:pPr>
            <a:r>
              <a:rPr sz="2400" spc="-25" dirty="0">
                <a:latin typeface="Tahoma"/>
                <a:cs typeface="Tahoma"/>
              </a:rPr>
              <a:t>MOV</a:t>
            </a:r>
            <a:r>
              <a:rPr sz="2400" dirty="0">
                <a:latin typeface="Tahoma"/>
                <a:cs typeface="Tahoma"/>
              </a:rPr>
              <a:t>	a,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R0</a:t>
            </a:r>
            <a:endParaRPr sz="2400">
              <a:latin typeface="Tahoma"/>
              <a:cs typeface="Tahoma"/>
            </a:endParaRPr>
          </a:p>
          <a:p>
            <a:pPr>
              <a:lnSpc>
                <a:spcPts val="2840"/>
              </a:lnSpc>
              <a:tabLst>
                <a:tab pos="1167765" algn="l"/>
              </a:tabLst>
            </a:pPr>
            <a:r>
              <a:rPr sz="2400" spc="-25" dirty="0">
                <a:latin typeface="Tahoma"/>
                <a:cs typeface="Tahoma"/>
              </a:rPr>
              <a:t>ADD</a:t>
            </a:r>
            <a:r>
              <a:rPr sz="2400" dirty="0">
                <a:latin typeface="Tahoma"/>
                <a:cs typeface="Tahoma"/>
              </a:rPr>
              <a:t>	b,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R0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tabLst>
                <a:tab pos="1108075" algn="l"/>
              </a:tabLst>
            </a:pPr>
            <a:r>
              <a:rPr sz="2400" spc="-25" dirty="0">
                <a:latin typeface="Tahoma"/>
                <a:cs typeface="Tahoma"/>
              </a:rPr>
              <a:t>MOV</a:t>
            </a:r>
            <a:r>
              <a:rPr sz="2400" dirty="0">
                <a:latin typeface="Tahoma"/>
                <a:cs typeface="Tahoma"/>
              </a:rPr>
              <a:t>	c,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R1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tabLst>
                <a:tab pos="1167765" algn="l"/>
              </a:tabLst>
            </a:pPr>
            <a:r>
              <a:rPr sz="2400" spc="-25" dirty="0">
                <a:latin typeface="Tahoma"/>
                <a:cs typeface="Tahoma"/>
              </a:rPr>
              <a:t>ADD</a:t>
            </a:r>
            <a:r>
              <a:rPr sz="2400" dirty="0">
                <a:latin typeface="Tahoma"/>
                <a:cs typeface="Tahoma"/>
              </a:rPr>
              <a:t>	d,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R1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tabLst>
                <a:tab pos="1108075" algn="l"/>
              </a:tabLst>
            </a:pP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MOV</a:t>
            </a:r>
            <a:r>
              <a:rPr sz="2400" dirty="0">
                <a:solidFill>
                  <a:srgbClr val="CC0000"/>
                </a:solidFill>
                <a:latin typeface="Tahoma"/>
                <a:cs typeface="Tahoma"/>
              </a:rPr>
              <a:t>	R0,</a:t>
            </a: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 t1</a:t>
            </a:r>
            <a:endParaRPr sz="2400">
              <a:latin typeface="Tahoma"/>
              <a:cs typeface="Tahoma"/>
            </a:endParaRPr>
          </a:p>
          <a:p>
            <a:pPr>
              <a:lnSpc>
                <a:spcPts val="2840"/>
              </a:lnSpc>
              <a:spcBef>
                <a:spcPts val="20"/>
              </a:spcBef>
              <a:tabLst>
                <a:tab pos="1108075" algn="l"/>
              </a:tabLst>
            </a:pP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MOV</a:t>
            </a:r>
            <a:r>
              <a:rPr sz="2400" dirty="0">
                <a:solidFill>
                  <a:srgbClr val="CC0000"/>
                </a:solidFill>
                <a:latin typeface="Tahoma"/>
                <a:cs typeface="Tahoma"/>
              </a:rPr>
              <a:t>	e,</a:t>
            </a:r>
            <a:r>
              <a:rPr sz="2400" spc="-1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R0</a:t>
            </a:r>
            <a:endParaRPr sz="2400">
              <a:latin typeface="Tahoma"/>
              <a:cs typeface="Tahoma"/>
            </a:endParaRPr>
          </a:p>
          <a:p>
            <a:pPr>
              <a:lnSpc>
                <a:spcPts val="2840"/>
              </a:lnSpc>
              <a:tabLst>
                <a:tab pos="1214755" algn="l"/>
              </a:tabLst>
            </a:pP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SUB</a:t>
            </a:r>
            <a:r>
              <a:rPr sz="2400" dirty="0">
                <a:solidFill>
                  <a:srgbClr val="CC0000"/>
                </a:solidFill>
                <a:latin typeface="Tahoma"/>
                <a:cs typeface="Tahoma"/>
              </a:rPr>
              <a:t>	R1,</a:t>
            </a:r>
            <a:r>
              <a:rPr sz="2400" spc="-3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R0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00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7883" y="2177934"/>
            <a:ext cx="2097405" cy="1552575"/>
          </a:xfrm>
          <a:prstGeom prst="rect">
            <a:avLst/>
          </a:prstGeom>
          <a:solidFill>
            <a:srgbClr val="D4FDD5"/>
          </a:solidFill>
        </p:spPr>
        <p:txBody>
          <a:bodyPr vert="horz" wrap="square" lIns="0" tIns="47625" rIns="0" bIns="0" rtlCol="0">
            <a:spAutoFit/>
          </a:bodyPr>
          <a:lstStyle/>
          <a:p>
            <a:pPr marL="90805" marR="370840" algn="just">
              <a:lnSpc>
                <a:spcPct val="99500"/>
              </a:lnSpc>
              <a:spcBef>
                <a:spcPts val="375"/>
              </a:spcBef>
            </a:pPr>
            <a:r>
              <a:rPr sz="2400" dirty="0">
                <a:latin typeface="Tahoma"/>
                <a:cs typeface="Tahoma"/>
              </a:rPr>
              <a:t>t1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b </a:t>
            </a:r>
            <a:r>
              <a:rPr sz="2400" dirty="0">
                <a:latin typeface="Tahoma"/>
                <a:cs typeface="Tahoma"/>
              </a:rPr>
              <a:t>t2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 </a:t>
            </a:r>
            <a:r>
              <a:rPr sz="2400" dirty="0">
                <a:latin typeface="Tahoma"/>
                <a:cs typeface="Tahoma"/>
              </a:rPr>
              <a:t>t3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t2 </a:t>
            </a:r>
            <a:r>
              <a:rPr sz="2400" dirty="0">
                <a:latin typeface="Tahoma"/>
                <a:cs typeface="Tahoma"/>
              </a:rPr>
              <a:t>t4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t1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57023" y="34301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t4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73720" y="5373572"/>
            <a:ext cx="771525" cy="695325"/>
            <a:chOff x="5873720" y="5373572"/>
            <a:chExt cx="771525" cy="695325"/>
          </a:xfrm>
        </p:grpSpPr>
        <p:sp>
          <p:nvSpPr>
            <p:cNvPr id="6" name="object 6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799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119614" y="5525654"/>
            <a:ext cx="274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+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73420" y="3239972"/>
            <a:ext cx="771525" cy="695325"/>
            <a:chOff x="3473420" y="3239972"/>
            <a:chExt cx="771525" cy="695325"/>
          </a:xfrm>
        </p:grpSpPr>
        <p:sp>
          <p:nvSpPr>
            <p:cNvPr id="10" name="object 10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6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4"/>
                  </a:lnTo>
                  <a:lnTo>
                    <a:pt x="52017" y="169832"/>
                  </a:lnTo>
                  <a:lnTo>
                    <a:pt x="29940" y="209428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8"/>
                  </a:lnTo>
                  <a:lnTo>
                    <a:pt x="709982" y="169832"/>
                  </a:lnTo>
                  <a:lnTo>
                    <a:pt x="682613" y="133364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6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4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2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4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2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82815" y="3392054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-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35120" y="3825760"/>
            <a:ext cx="5114925" cy="2548255"/>
            <a:chOff x="1835120" y="3825760"/>
            <a:chExt cx="5114925" cy="2548255"/>
          </a:xfrm>
        </p:grpSpPr>
        <p:sp>
          <p:nvSpPr>
            <p:cNvPr id="14" name="object 14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5" y="12248"/>
                  </a:lnTo>
                  <a:lnTo>
                    <a:pt x="232697" y="26946"/>
                  </a:lnTo>
                  <a:lnTo>
                    <a:pt x="188702" y="46815"/>
                  </a:lnTo>
                  <a:lnTo>
                    <a:pt x="148182" y="71447"/>
                  </a:lnTo>
                  <a:lnTo>
                    <a:pt x="111592" y="100433"/>
                  </a:lnTo>
                  <a:lnTo>
                    <a:pt x="79386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6" y="552436"/>
                  </a:lnTo>
                  <a:lnTo>
                    <a:pt x="111592" y="585366"/>
                  </a:lnTo>
                  <a:lnTo>
                    <a:pt x="148182" y="614352"/>
                  </a:lnTo>
                  <a:lnTo>
                    <a:pt x="188702" y="638984"/>
                  </a:lnTo>
                  <a:lnTo>
                    <a:pt x="232697" y="658853"/>
                  </a:lnTo>
                  <a:lnTo>
                    <a:pt x="279715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5" y="673551"/>
                  </a:lnTo>
                  <a:lnTo>
                    <a:pt x="529302" y="658853"/>
                  </a:lnTo>
                  <a:lnTo>
                    <a:pt x="573298" y="638984"/>
                  </a:lnTo>
                  <a:lnTo>
                    <a:pt x="613818" y="614352"/>
                  </a:lnTo>
                  <a:lnTo>
                    <a:pt x="650407" y="585366"/>
                  </a:lnTo>
                  <a:lnTo>
                    <a:pt x="682614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4" y="133363"/>
                  </a:lnTo>
                  <a:lnTo>
                    <a:pt x="650407" y="100433"/>
                  </a:lnTo>
                  <a:lnTo>
                    <a:pt x="613818" y="71447"/>
                  </a:lnTo>
                  <a:lnTo>
                    <a:pt x="573298" y="46815"/>
                  </a:lnTo>
                  <a:lnTo>
                    <a:pt x="529302" y="26946"/>
                  </a:lnTo>
                  <a:lnTo>
                    <a:pt x="482285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8" y="209427"/>
                  </a:lnTo>
                  <a:lnTo>
                    <a:pt x="748389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89" y="434056"/>
                  </a:lnTo>
                  <a:lnTo>
                    <a:pt x="732058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90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0" y="0"/>
                  </a:moveTo>
                  <a:lnTo>
                    <a:pt x="641349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479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641349" y="0"/>
                  </a:moveTo>
                  <a:lnTo>
                    <a:pt x="0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10158" y="4935423"/>
              <a:ext cx="679450" cy="542925"/>
            </a:xfrm>
            <a:custGeom>
              <a:avLst/>
              <a:gdLst/>
              <a:ahLst/>
              <a:cxnLst/>
              <a:rect l="l" t="t" r="r" b="b"/>
              <a:pathLst>
                <a:path w="679450" h="542925">
                  <a:moveTo>
                    <a:pt x="0" y="0"/>
                  </a:moveTo>
                  <a:lnTo>
                    <a:pt x="679449" y="5429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39883" y="4935423"/>
              <a:ext cx="568325" cy="519430"/>
            </a:xfrm>
            <a:custGeom>
              <a:avLst/>
              <a:gdLst/>
              <a:ahLst/>
              <a:cxnLst/>
              <a:rect l="l" t="t" r="r" b="b"/>
              <a:pathLst>
                <a:path w="568325" h="519429">
                  <a:moveTo>
                    <a:pt x="568325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47958" y="4935423"/>
              <a:ext cx="415925" cy="595630"/>
            </a:xfrm>
            <a:custGeom>
              <a:avLst/>
              <a:gdLst/>
              <a:ahLst/>
              <a:cxnLst/>
              <a:rect l="l" t="t" r="r" b="b"/>
              <a:pathLst>
                <a:path w="415925" h="595629">
                  <a:moveTo>
                    <a:pt x="0" y="0"/>
                  </a:moveTo>
                  <a:lnTo>
                    <a:pt x="415924" y="5953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30683" y="4935423"/>
              <a:ext cx="339725" cy="519430"/>
            </a:xfrm>
            <a:custGeom>
              <a:avLst/>
              <a:gdLst/>
              <a:ahLst/>
              <a:cxnLst/>
              <a:rect l="l" t="t" r="r" b="b"/>
              <a:pathLst>
                <a:path w="339725" h="519429">
                  <a:moveTo>
                    <a:pt x="339724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49883" y="5964122"/>
              <a:ext cx="339725" cy="405130"/>
            </a:xfrm>
            <a:custGeom>
              <a:avLst/>
              <a:gdLst/>
              <a:ahLst/>
              <a:cxnLst/>
              <a:rect l="l" t="t" r="r" b="b"/>
              <a:pathLst>
                <a:path w="339725" h="405129">
                  <a:moveTo>
                    <a:pt x="339724" y="0"/>
                  </a:moveTo>
                  <a:lnTo>
                    <a:pt x="0" y="4048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29358" y="5964122"/>
              <a:ext cx="415925" cy="328930"/>
            </a:xfrm>
            <a:custGeom>
              <a:avLst/>
              <a:gdLst/>
              <a:ahLst/>
              <a:cxnLst/>
              <a:rect l="l" t="t" r="r" b="b"/>
              <a:pathLst>
                <a:path w="415925" h="328929">
                  <a:moveTo>
                    <a:pt x="0" y="0"/>
                  </a:moveTo>
                  <a:lnTo>
                    <a:pt x="415924" y="3286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90023" y="5487554"/>
            <a:ext cx="18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90223" y="54875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57023" y="5411354"/>
            <a:ext cx="186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76223" y="6325754"/>
            <a:ext cx="166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71623" y="63257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63914" y="4496954"/>
            <a:ext cx="830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8640" algn="l"/>
              </a:tabLst>
            </a:pPr>
            <a:r>
              <a:rPr sz="2400" b="1" spc="-50" dirty="0">
                <a:latin typeface="Tahoma"/>
                <a:cs typeface="Tahoma"/>
              </a:rPr>
              <a:t>-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19221" y="55637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38215" y="4496954"/>
            <a:ext cx="89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140" algn="l"/>
              </a:tabLst>
            </a:pPr>
            <a:r>
              <a:rPr sz="2400" b="1" spc="-50" dirty="0">
                <a:latin typeface="Tahoma"/>
                <a:cs typeface="Tahoma"/>
              </a:rPr>
              <a:t>+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326282" y="2254135"/>
            <a:ext cx="2205355" cy="3743325"/>
          </a:xfrm>
          <a:custGeom>
            <a:avLst/>
            <a:gdLst/>
            <a:ahLst/>
            <a:cxnLst/>
            <a:rect l="l" t="t" r="r" b="b"/>
            <a:pathLst>
              <a:path w="2205354" h="3743325">
                <a:moveTo>
                  <a:pt x="2205037" y="0"/>
                </a:moveTo>
                <a:lnTo>
                  <a:pt x="0" y="0"/>
                </a:lnTo>
                <a:lnTo>
                  <a:pt x="0" y="3743323"/>
                </a:lnTo>
                <a:lnTo>
                  <a:pt x="2205037" y="3743323"/>
                </a:lnTo>
                <a:lnTo>
                  <a:pt x="2205037" y="0"/>
                </a:lnTo>
                <a:close/>
              </a:path>
            </a:pathLst>
          </a:custGeom>
          <a:solidFill>
            <a:srgbClr val="D4FD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417721" y="2287154"/>
            <a:ext cx="1892300" cy="14833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R="5080">
              <a:lnSpc>
                <a:spcPct val="99500"/>
              </a:lnSpc>
              <a:spcBef>
                <a:spcPts val="115"/>
              </a:spcBef>
              <a:tabLst>
                <a:tab pos="1012825" algn="l"/>
                <a:tab pos="1167765" algn="l"/>
              </a:tabLst>
            </a:pPr>
            <a:r>
              <a:rPr sz="2400" spc="-25" dirty="0">
                <a:latin typeface="Tahoma"/>
                <a:cs typeface="Tahoma"/>
              </a:rPr>
              <a:t>MOV</a:t>
            </a:r>
            <a:r>
              <a:rPr sz="2400" dirty="0">
                <a:latin typeface="Tahoma"/>
                <a:cs typeface="Tahoma"/>
              </a:rPr>
              <a:t>	a,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R0 ADD</a:t>
            </a:r>
            <a:r>
              <a:rPr sz="2400" dirty="0">
                <a:latin typeface="Tahoma"/>
                <a:cs typeface="Tahoma"/>
              </a:rPr>
              <a:t>		b,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R0 MOV</a:t>
            </a:r>
            <a:r>
              <a:rPr sz="2400" dirty="0">
                <a:latin typeface="Tahoma"/>
                <a:cs typeface="Tahoma"/>
              </a:rPr>
              <a:t>	c,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R1 ADD</a:t>
            </a:r>
            <a:r>
              <a:rPr sz="2400" dirty="0">
                <a:latin typeface="Tahoma"/>
                <a:cs typeface="Tahoma"/>
              </a:rPr>
              <a:t>		d,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R1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417721" y="3747654"/>
            <a:ext cx="2031364" cy="22199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R="306705">
              <a:lnSpc>
                <a:spcPct val="100699"/>
              </a:lnSpc>
              <a:spcBef>
                <a:spcPts val="80"/>
              </a:spcBef>
              <a:tabLst>
                <a:tab pos="822325" algn="l"/>
                <a:tab pos="1012825" algn="l"/>
              </a:tabLst>
            </a:pPr>
            <a:r>
              <a:rPr sz="2400" spc="-25" dirty="0">
                <a:latin typeface="Tahoma"/>
                <a:cs typeface="Tahoma"/>
              </a:rPr>
              <a:t>MOV</a:t>
            </a:r>
            <a:r>
              <a:rPr sz="2400" dirty="0">
                <a:latin typeface="Tahoma"/>
                <a:cs typeface="Tahoma"/>
              </a:rPr>
              <a:t>	R0,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t1 MOV</a:t>
            </a:r>
            <a:r>
              <a:rPr sz="2400" dirty="0">
                <a:latin typeface="Tahoma"/>
                <a:cs typeface="Tahoma"/>
              </a:rPr>
              <a:t>		e,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R0</a:t>
            </a:r>
            <a:endParaRPr sz="2400">
              <a:latin typeface="Tahoma"/>
              <a:cs typeface="Tahoma"/>
            </a:endParaRPr>
          </a:p>
          <a:p>
            <a:pPr>
              <a:lnSpc>
                <a:spcPts val="2800"/>
              </a:lnSpc>
              <a:tabLst>
                <a:tab pos="1119505" algn="l"/>
              </a:tabLst>
            </a:pPr>
            <a:r>
              <a:rPr sz="2400" spc="-25" dirty="0">
                <a:latin typeface="Tahoma"/>
                <a:cs typeface="Tahoma"/>
              </a:rPr>
              <a:t>SUB</a:t>
            </a:r>
            <a:r>
              <a:rPr sz="2400" dirty="0">
                <a:latin typeface="Tahoma"/>
                <a:cs typeface="Tahoma"/>
              </a:rPr>
              <a:t>	R1,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R0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tabLst>
                <a:tab pos="1012825" algn="l"/>
              </a:tabLst>
            </a:pP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MOV</a:t>
            </a:r>
            <a:r>
              <a:rPr sz="2400" dirty="0">
                <a:solidFill>
                  <a:srgbClr val="CC0000"/>
                </a:solidFill>
                <a:latin typeface="Tahoma"/>
                <a:cs typeface="Tahoma"/>
              </a:rPr>
              <a:t>	t1,</a:t>
            </a:r>
            <a:r>
              <a:rPr sz="2400" spc="-3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R1</a:t>
            </a:r>
            <a:endParaRPr sz="2400">
              <a:latin typeface="Tahoma"/>
              <a:cs typeface="Tahoma"/>
            </a:endParaRPr>
          </a:p>
          <a:p>
            <a:pPr marR="5080">
              <a:lnSpc>
                <a:spcPct val="100699"/>
              </a:lnSpc>
              <a:tabLst>
                <a:tab pos="822325" algn="l"/>
                <a:tab pos="1119505" algn="l"/>
              </a:tabLst>
            </a:pP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SUB</a:t>
            </a:r>
            <a:r>
              <a:rPr sz="2400" dirty="0">
                <a:solidFill>
                  <a:srgbClr val="CC0000"/>
                </a:solidFill>
                <a:latin typeface="Tahoma"/>
                <a:cs typeface="Tahoma"/>
              </a:rPr>
              <a:t>		R0,</a:t>
            </a:r>
            <a:r>
              <a:rPr sz="2400" spc="-3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R1 MOV</a:t>
            </a:r>
            <a:r>
              <a:rPr sz="2400" dirty="0">
                <a:solidFill>
                  <a:srgbClr val="CC0000"/>
                </a:solidFill>
                <a:latin typeface="Tahoma"/>
                <a:cs typeface="Tahoma"/>
              </a:rPr>
              <a:t>	R1,</a:t>
            </a:r>
            <a:r>
              <a:rPr sz="2400" spc="-1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t4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00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7883" y="2177934"/>
            <a:ext cx="2097405" cy="1552575"/>
          </a:xfrm>
          <a:prstGeom prst="rect">
            <a:avLst/>
          </a:prstGeom>
          <a:solidFill>
            <a:srgbClr val="D4FDD5"/>
          </a:solidFill>
        </p:spPr>
        <p:txBody>
          <a:bodyPr vert="horz" wrap="square" lIns="0" tIns="47625" rIns="0" bIns="0" rtlCol="0">
            <a:spAutoFit/>
          </a:bodyPr>
          <a:lstStyle/>
          <a:p>
            <a:pPr marL="90805" marR="370840" algn="just">
              <a:lnSpc>
                <a:spcPct val="99500"/>
              </a:lnSpc>
              <a:spcBef>
                <a:spcPts val="375"/>
              </a:spcBef>
            </a:pPr>
            <a:r>
              <a:rPr sz="2400" dirty="0">
                <a:latin typeface="Tahoma"/>
                <a:cs typeface="Tahoma"/>
              </a:rPr>
              <a:t>t1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b </a:t>
            </a:r>
            <a:r>
              <a:rPr sz="2400" dirty="0">
                <a:latin typeface="Tahoma"/>
                <a:cs typeface="Tahoma"/>
              </a:rPr>
              <a:t>t2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 </a:t>
            </a:r>
            <a:r>
              <a:rPr sz="2400" dirty="0">
                <a:latin typeface="Tahoma"/>
                <a:cs typeface="Tahoma"/>
              </a:rPr>
              <a:t>t3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t2 </a:t>
            </a:r>
            <a:r>
              <a:rPr sz="2400" dirty="0">
                <a:latin typeface="Tahoma"/>
                <a:cs typeface="Tahoma"/>
              </a:rPr>
              <a:t>t4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t1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57023" y="34301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t4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73720" y="5373572"/>
            <a:ext cx="771525" cy="695325"/>
            <a:chOff x="5873720" y="5373572"/>
            <a:chExt cx="771525" cy="695325"/>
          </a:xfrm>
        </p:grpSpPr>
        <p:sp>
          <p:nvSpPr>
            <p:cNvPr id="6" name="object 6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799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119614" y="5525654"/>
            <a:ext cx="274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+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73420" y="3239972"/>
            <a:ext cx="771525" cy="695325"/>
            <a:chOff x="3473420" y="3239972"/>
            <a:chExt cx="771525" cy="695325"/>
          </a:xfrm>
        </p:grpSpPr>
        <p:sp>
          <p:nvSpPr>
            <p:cNvPr id="10" name="object 10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6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4"/>
                  </a:lnTo>
                  <a:lnTo>
                    <a:pt x="52017" y="169832"/>
                  </a:lnTo>
                  <a:lnTo>
                    <a:pt x="29940" y="209428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8"/>
                  </a:lnTo>
                  <a:lnTo>
                    <a:pt x="709982" y="169832"/>
                  </a:lnTo>
                  <a:lnTo>
                    <a:pt x="682613" y="133364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6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4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2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4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2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82815" y="3392054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-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35120" y="3825760"/>
            <a:ext cx="5114925" cy="2548255"/>
            <a:chOff x="1835120" y="3825760"/>
            <a:chExt cx="5114925" cy="2548255"/>
          </a:xfrm>
        </p:grpSpPr>
        <p:sp>
          <p:nvSpPr>
            <p:cNvPr id="14" name="object 14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5" y="12248"/>
                  </a:lnTo>
                  <a:lnTo>
                    <a:pt x="232697" y="26946"/>
                  </a:lnTo>
                  <a:lnTo>
                    <a:pt x="188702" y="46815"/>
                  </a:lnTo>
                  <a:lnTo>
                    <a:pt x="148182" y="71447"/>
                  </a:lnTo>
                  <a:lnTo>
                    <a:pt x="111592" y="100433"/>
                  </a:lnTo>
                  <a:lnTo>
                    <a:pt x="79386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6" y="552436"/>
                  </a:lnTo>
                  <a:lnTo>
                    <a:pt x="111592" y="585366"/>
                  </a:lnTo>
                  <a:lnTo>
                    <a:pt x="148182" y="614352"/>
                  </a:lnTo>
                  <a:lnTo>
                    <a:pt x="188702" y="638984"/>
                  </a:lnTo>
                  <a:lnTo>
                    <a:pt x="232697" y="658853"/>
                  </a:lnTo>
                  <a:lnTo>
                    <a:pt x="279715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5" y="673551"/>
                  </a:lnTo>
                  <a:lnTo>
                    <a:pt x="529302" y="658853"/>
                  </a:lnTo>
                  <a:lnTo>
                    <a:pt x="573298" y="638984"/>
                  </a:lnTo>
                  <a:lnTo>
                    <a:pt x="613818" y="614352"/>
                  </a:lnTo>
                  <a:lnTo>
                    <a:pt x="650407" y="585366"/>
                  </a:lnTo>
                  <a:lnTo>
                    <a:pt x="682614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4" y="133363"/>
                  </a:lnTo>
                  <a:lnTo>
                    <a:pt x="650407" y="100433"/>
                  </a:lnTo>
                  <a:lnTo>
                    <a:pt x="613818" y="71447"/>
                  </a:lnTo>
                  <a:lnTo>
                    <a:pt x="573298" y="46815"/>
                  </a:lnTo>
                  <a:lnTo>
                    <a:pt x="529302" y="26946"/>
                  </a:lnTo>
                  <a:lnTo>
                    <a:pt x="482285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8" y="209427"/>
                  </a:lnTo>
                  <a:lnTo>
                    <a:pt x="748389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89" y="434056"/>
                  </a:lnTo>
                  <a:lnTo>
                    <a:pt x="732058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90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0" y="0"/>
                  </a:moveTo>
                  <a:lnTo>
                    <a:pt x="641349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479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641349" y="0"/>
                  </a:moveTo>
                  <a:lnTo>
                    <a:pt x="0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10158" y="4935423"/>
              <a:ext cx="679450" cy="542925"/>
            </a:xfrm>
            <a:custGeom>
              <a:avLst/>
              <a:gdLst/>
              <a:ahLst/>
              <a:cxnLst/>
              <a:rect l="l" t="t" r="r" b="b"/>
              <a:pathLst>
                <a:path w="679450" h="542925">
                  <a:moveTo>
                    <a:pt x="0" y="0"/>
                  </a:moveTo>
                  <a:lnTo>
                    <a:pt x="679449" y="5429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39883" y="4935423"/>
              <a:ext cx="568325" cy="519430"/>
            </a:xfrm>
            <a:custGeom>
              <a:avLst/>
              <a:gdLst/>
              <a:ahLst/>
              <a:cxnLst/>
              <a:rect l="l" t="t" r="r" b="b"/>
              <a:pathLst>
                <a:path w="568325" h="519429">
                  <a:moveTo>
                    <a:pt x="568325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47958" y="4935423"/>
              <a:ext cx="415925" cy="595630"/>
            </a:xfrm>
            <a:custGeom>
              <a:avLst/>
              <a:gdLst/>
              <a:ahLst/>
              <a:cxnLst/>
              <a:rect l="l" t="t" r="r" b="b"/>
              <a:pathLst>
                <a:path w="415925" h="595629">
                  <a:moveTo>
                    <a:pt x="0" y="0"/>
                  </a:moveTo>
                  <a:lnTo>
                    <a:pt x="415924" y="5953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30683" y="4935423"/>
              <a:ext cx="339725" cy="519430"/>
            </a:xfrm>
            <a:custGeom>
              <a:avLst/>
              <a:gdLst/>
              <a:ahLst/>
              <a:cxnLst/>
              <a:rect l="l" t="t" r="r" b="b"/>
              <a:pathLst>
                <a:path w="339725" h="519429">
                  <a:moveTo>
                    <a:pt x="339724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49883" y="5964122"/>
              <a:ext cx="339725" cy="405130"/>
            </a:xfrm>
            <a:custGeom>
              <a:avLst/>
              <a:gdLst/>
              <a:ahLst/>
              <a:cxnLst/>
              <a:rect l="l" t="t" r="r" b="b"/>
              <a:pathLst>
                <a:path w="339725" h="405129">
                  <a:moveTo>
                    <a:pt x="339724" y="0"/>
                  </a:moveTo>
                  <a:lnTo>
                    <a:pt x="0" y="4048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29358" y="5964122"/>
              <a:ext cx="415925" cy="328930"/>
            </a:xfrm>
            <a:custGeom>
              <a:avLst/>
              <a:gdLst/>
              <a:ahLst/>
              <a:cxnLst/>
              <a:rect l="l" t="t" r="r" b="b"/>
              <a:pathLst>
                <a:path w="415925" h="328929">
                  <a:moveTo>
                    <a:pt x="0" y="0"/>
                  </a:moveTo>
                  <a:lnTo>
                    <a:pt x="415924" y="3286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90023" y="5487554"/>
            <a:ext cx="18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90223" y="54875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57023" y="5411354"/>
            <a:ext cx="186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76223" y="6325754"/>
            <a:ext cx="166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71623" y="63257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19221" y="55637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38215" y="4496954"/>
            <a:ext cx="89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140" algn="l"/>
              </a:tabLst>
            </a:pPr>
            <a:r>
              <a:rPr sz="2400" b="1" spc="-50" dirty="0">
                <a:latin typeface="Tahoma"/>
                <a:cs typeface="Tahoma"/>
              </a:rPr>
              <a:t>+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63914" y="3384435"/>
            <a:ext cx="1995805" cy="1503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marR="5080" indent="-3048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Evaluation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Order: </a:t>
            </a:r>
            <a:r>
              <a:rPr sz="2000" dirty="0">
                <a:latin typeface="Tahoma"/>
                <a:cs typeface="Tahoma"/>
              </a:rPr>
              <a:t>t1,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t2,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t3,</a:t>
            </a:r>
            <a:r>
              <a:rPr sz="2000" spc="-25" dirty="0">
                <a:latin typeface="Tahoma"/>
                <a:cs typeface="Tahoma"/>
              </a:rPr>
              <a:t> t4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548640" algn="l"/>
              </a:tabLst>
            </a:pPr>
            <a:r>
              <a:rPr sz="2400" b="1" spc="-50" dirty="0">
                <a:latin typeface="Tahoma"/>
                <a:cs typeface="Tahoma"/>
              </a:rPr>
              <a:t>-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7326282" y="2254135"/>
          <a:ext cx="2205355" cy="37420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034">
                <a:tc>
                  <a:txBody>
                    <a:bodyPr/>
                    <a:lstStyle/>
                    <a:p>
                      <a:pPr marL="90805">
                        <a:lnSpc>
                          <a:spcPts val="2745"/>
                        </a:lnSpc>
                        <a:spcBef>
                          <a:spcPts val="359"/>
                        </a:spcBef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ts val="2745"/>
                        </a:lnSpc>
                        <a:spcBef>
                          <a:spcPts val="359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a,</a:t>
                      </a:r>
                      <a:r>
                        <a:rPr sz="24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5719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90805">
                        <a:lnSpc>
                          <a:spcPts val="275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ADD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275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b,</a:t>
                      </a:r>
                      <a:r>
                        <a:rPr sz="24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0805">
                        <a:lnSpc>
                          <a:spcPts val="280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ts val="280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c,</a:t>
                      </a:r>
                      <a:r>
                        <a:rPr sz="24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0805">
                        <a:lnSpc>
                          <a:spcPts val="280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ADD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280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d,</a:t>
                      </a:r>
                      <a:r>
                        <a:rPr sz="24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0805">
                        <a:lnSpc>
                          <a:spcPts val="2800"/>
                        </a:lnSpc>
                      </a:pPr>
                      <a:r>
                        <a:rPr sz="24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ts val="2800"/>
                        </a:lnSpc>
                      </a:pPr>
                      <a:r>
                        <a:rPr sz="24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R0,</a:t>
                      </a:r>
                      <a:r>
                        <a:rPr sz="2400" spc="-1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90805">
                        <a:lnSpc>
                          <a:spcPts val="2745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ts val="274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e,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90805">
                        <a:lnSpc>
                          <a:spcPts val="275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SUB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ts val="275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R1,</a:t>
                      </a:r>
                      <a:r>
                        <a:rPr sz="2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0805">
                        <a:lnSpc>
                          <a:spcPts val="2800"/>
                        </a:lnSpc>
                      </a:pPr>
                      <a:r>
                        <a:rPr sz="24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ts val="2800"/>
                        </a:lnSpc>
                      </a:pPr>
                      <a:r>
                        <a:rPr sz="24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t1,</a:t>
                      </a:r>
                      <a:r>
                        <a:rPr sz="2400" spc="-3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R1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0805">
                        <a:lnSpc>
                          <a:spcPts val="280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SUB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ts val="280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R0,</a:t>
                      </a:r>
                      <a:r>
                        <a:rPr sz="2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R1,</a:t>
                      </a:r>
                      <a:r>
                        <a:rPr sz="24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t4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5" name="object 35"/>
          <p:cNvSpPr txBox="1"/>
          <p:nvPr/>
        </p:nvSpPr>
        <p:spPr>
          <a:xfrm>
            <a:off x="7326282" y="6292734"/>
            <a:ext cx="2286000" cy="519430"/>
          </a:xfrm>
          <a:prstGeom prst="rect">
            <a:avLst/>
          </a:prstGeom>
          <a:solidFill>
            <a:srgbClr val="FFFB00"/>
          </a:solidFill>
        </p:spPr>
        <p:txBody>
          <a:bodyPr vert="horz" wrap="square" lIns="0" tIns="4571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59"/>
              </a:spcBef>
            </a:pPr>
            <a:r>
              <a:rPr sz="2800" dirty="0">
                <a:latin typeface="Times New Roman"/>
                <a:cs typeface="Times New Roman"/>
              </a:rPr>
              <a:t>10 </a:t>
            </a:r>
            <a:r>
              <a:rPr sz="2800" spc="-10" dirty="0">
                <a:latin typeface="Times New Roman"/>
                <a:cs typeface="Times New Roman"/>
              </a:rPr>
              <a:t>instructions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8493" y="465975"/>
            <a:ext cx="5987415" cy="135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240"/>
              </a:lnSpc>
              <a:spcBef>
                <a:spcPts val="100"/>
              </a:spcBef>
            </a:pPr>
            <a:r>
              <a:rPr spc="-10" dirty="0"/>
              <a:t>Example</a:t>
            </a:r>
          </a:p>
          <a:p>
            <a:pPr algn="ctr">
              <a:lnSpc>
                <a:spcPts val="5240"/>
              </a:lnSpc>
              <a:tabLst>
                <a:tab pos="1521460" algn="l"/>
                <a:tab pos="2607945" algn="l"/>
                <a:tab pos="3540125" algn="l"/>
              </a:tabLst>
            </a:pPr>
            <a:r>
              <a:rPr spc="-20" dirty="0"/>
              <a:t>(can</a:t>
            </a:r>
            <a:r>
              <a:rPr dirty="0"/>
              <a:t>	</a:t>
            </a:r>
            <a:r>
              <a:rPr spc="-25" dirty="0"/>
              <a:t>we</a:t>
            </a:r>
            <a:r>
              <a:rPr dirty="0"/>
              <a:t>	</a:t>
            </a:r>
            <a:r>
              <a:rPr spc="-25" dirty="0"/>
              <a:t>do</a:t>
            </a:r>
            <a:r>
              <a:rPr dirty="0"/>
              <a:t>	</a:t>
            </a:r>
            <a:r>
              <a:rPr spc="-10" dirty="0"/>
              <a:t>better?)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7883" y="2177934"/>
            <a:ext cx="2097405" cy="1552575"/>
          </a:xfrm>
          <a:prstGeom prst="rect">
            <a:avLst/>
          </a:prstGeom>
          <a:solidFill>
            <a:srgbClr val="D4FDD5"/>
          </a:solidFill>
        </p:spPr>
        <p:txBody>
          <a:bodyPr vert="horz" wrap="square" lIns="0" tIns="47625" rIns="0" bIns="0" rtlCol="0">
            <a:spAutoFit/>
          </a:bodyPr>
          <a:lstStyle/>
          <a:p>
            <a:pPr marL="90805" marR="370840" algn="just">
              <a:lnSpc>
                <a:spcPct val="99500"/>
              </a:lnSpc>
              <a:spcBef>
                <a:spcPts val="375"/>
              </a:spcBef>
            </a:pPr>
            <a:r>
              <a:rPr sz="2400" dirty="0">
                <a:latin typeface="Tahoma"/>
                <a:cs typeface="Tahoma"/>
              </a:rPr>
              <a:t>t1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b </a:t>
            </a:r>
            <a:r>
              <a:rPr sz="2400" dirty="0">
                <a:latin typeface="Tahoma"/>
                <a:cs typeface="Tahoma"/>
              </a:rPr>
              <a:t>t2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 </a:t>
            </a:r>
            <a:r>
              <a:rPr sz="2400" dirty="0">
                <a:latin typeface="Tahoma"/>
                <a:cs typeface="Tahoma"/>
              </a:rPr>
              <a:t>t3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t2 </a:t>
            </a:r>
            <a:r>
              <a:rPr sz="2400" dirty="0">
                <a:latin typeface="Tahoma"/>
                <a:cs typeface="Tahoma"/>
              </a:rPr>
              <a:t>t4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t1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57023" y="34301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t4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73720" y="5373572"/>
            <a:ext cx="771525" cy="695325"/>
            <a:chOff x="5873720" y="5373572"/>
            <a:chExt cx="771525" cy="695325"/>
          </a:xfrm>
        </p:grpSpPr>
        <p:sp>
          <p:nvSpPr>
            <p:cNvPr id="6" name="object 6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799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119614" y="5525654"/>
            <a:ext cx="274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+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73420" y="3239972"/>
            <a:ext cx="771525" cy="695325"/>
            <a:chOff x="3473420" y="3239972"/>
            <a:chExt cx="771525" cy="695325"/>
          </a:xfrm>
        </p:grpSpPr>
        <p:sp>
          <p:nvSpPr>
            <p:cNvPr id="10" name="object 10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6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4"/>
                  </a:lnTo>
                  <a:lnTo>
                    <a:pt x="52017" y="169832"/>
                  </a:lnTo>
                  <a:lnTo>
                    <a:pt x="29940" y="209428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8"/>
                  </a:lnTo>
                  <a:lnTo>
                    <a:pt x="709982" y="169832"/>
                  </a:lnTo>
                  <a:lnTo>
                    <a:pt x="682613" y="133364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6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4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2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4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2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82815" y="3392054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-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35120" y="3825760"/>
            <a:ext cx="5114925" cy="2548255"/>
            <a:chOff x="1835120" y="3825760"/>
            <a:chExt cx="5114925" cy="2548255"/>
          </a:xfrm>
        </p:grpSpPr>
        <p:sp>
          <p:nvSpPr>
            <p:cNvPr id="14" name="object 14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5" y="12248"/>
                  </a:lnTo>
                  <a:lnTo>
                    <a:pt x="232697" y="26946"/>
                  </a:lnTo>
                  <a:lnTo>
                    <a:pt x="188702" y="46815"/>
                  </a:lnTo>
                  <a:lnTo>
                    <a:pt x="148182" y="71447"/>
                  </a:lnTo>
                  <a:lnTo>
                    <a:pt x="111592" y="100433"/>
                  </a:lnTo>
                  <a:lnTo>
                    <a:pt x="79386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6" y="552436"/>
                  </a:lnTo>
                  <a:lnTo>
                    <a:pt x="111592" y="585366"/>
                  </a:lnTo>
                  <a:lnTo>
                    <a:pt x="148182" y="614352"/>
                  </a:lnTo>
                  <a:lnTo>
                    <a:pt x="188702" y="638984"/>
                  </a:lnTo>
                  <a:lnTo>
                    <a:pt x="232697" y="658853"/>
                  </a:lnTo>
                  <a:lnTo>
                    <a:pt x="279715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5" y="673551"/>
                  </a:lnTo>
                  <a:lnTo>
                    <a:pt x="529302" y="658853"/>
                  </a:lnTo>
                  <a:lnTo>
                    <a:pt x="573298" y="638984"/>
                  </a:lnTo>
                  <a:lnTo>
                    <a:pt x="613818" y="614352"/>
                  </a:lnTo>
                  <a:lnTo>
                    <a:pt x="650407" y="585366"/>
                  </a:lnTo>
                  <a:lnTo>
                    <a:pt x="682614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4" y="133363"/>
                  </a:lnTo>
                  <a:lnTo>
                    <a:pt x="650407" y="100433"/>
                  </a:lnTo>
                  <a:lnTo>
                    <a:pt x="613818" y="71447"/>
                  </a:lnTo>
                  <a:lnTo>
                    <a:pt x="573298" y="46815"/>
                  </a:lnTo>
                  <a:lnTo>
                    <a:pt x="529302" y="26946"/>
                  </a:lnTo>
                  <a:lnTo>
                    <a:pt x="482285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8" y="209427"/>
                  </a:lnTo>
                  <a:lnTo>
                    <a:pt x="748389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89" y="434056"/>
                  </a:lnTo>
                  <a:lnTo>
                    <a:pt x="732058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90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0" y="0"/>
                  </a:moveTo>
                  <a:lnTo>
                    <a:pt x="641349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479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641349" y="0"/>
                  </a:moveTo>
                  <a:lnTo>
                    <a:pt x="0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10158" y="4935423"/>
              <a:ext cx="679450" cy="542925"/>
            </a:xfrm>
            <a:custGeom>
              <a:avLst/>
              <a:gdLst/>
              <a:ahLst/>
              <a:cxnLst/>
              <a:rect l="l" t="t" r="r" b="b"/>
              <a:pathLst>
                <a:path w="679450" h="542925">
                  <a:moveTo>
                    <a:pt x="0" y="0"/>
                  </a:moveTo>
                  <a:lnTo>
                    <a:pt x="679449" y="5429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39883" y="4935423"/>
              <a:ext cx="568325" cy="519430"/>
            </a:xfrm>
            <a:custGeom>
              <a:avLst/>
              <a:gdLst/>
              <a:ahLst/>
              <a:cxnLst/>
              <a:rect l="l" t="t" r="r" b="b"/>
              <a:pathLst>
                <a:path w="568325" h="519429">
                  <a:moveTo>
                    <a:pt x="568325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47958" y="4935423"/>
              <a:ext cx="415925" cy="595630"/>
            </a:xfrm>
            <a:custGeom>
              <a:avLst/>
              <a:gdLst/>
              <a:ahLst/>
              <a:cxnLst/>
              <a:rect l="l" t="t" r="r" b="b"/>
              <a:pathLst>
                <a:path w="415925" h="595629">
                  <a:moveTo>
                    <a:pt x="0" y="0"/>
                  </a:moveTo>
                  <a:lnTo>
                    <a:pt x="415924" y="5953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30683" y="4935423"/>
              <a:ext cx="339725" cy="519430"/>
            </a:xfrm>
            <a:custGeom>
              <a:avLst/>
              <a:gdLst/>
              <a:ahLst/>
              <a:cxnLst/>
              <a:rect l="l" t="t" r="r" b="b"/>
              <a:pathLst>
                <a:path w="339725" h="519429">
                  <a:moveTo>
                    <a:pt x="339724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49883" y="5964122"/>
              <a:ext cx="339725" cy="405130"/>
            </a:xfrm>
            <a:custGeom>
              <a:avLst/>
              <a:gdLst/>
              <a:ahLst/>
              <a:cxnLst/>
              <a:rect l="l" t="t" r="r" b="b"/>
              <a:pathLst>
                <a:path w="339725" h="405129">
                  <a:moveTo>
                    <a:pt x="339724" y="0"/>
                  </a:moveTo>
                  <a:lnTo>
                    <a:pt x="0" y="4048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29358" y="5964122"/>
              <a:ext cx="415925" cy="328930"/>
            </a:xfrm>
            <a:custGeom>
              <a:avLst/>
              <a:gdLst/>
              <a:ahLst/>
              <a:cxnLst/>
              <a:rect l="l" t="t" r="r" b="b"/>
              <a:pathLst>
                <a:path w="415925" h="328929">
                  <a:moveTo>
                    <a:pt x="0" y="0"/>
                  </a:moveTo>
                  <a:lnTo>
                    <a:pt x="415924" y="3286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90023" y="5487554"/>
            <a:ext cx="18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90223" y="54875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57023" y="5411354"/>
            <a:ext cx="186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76223" y="6325754"/>
            <a:ext cx="166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71623" y="63257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63914" y="4496954"/>
            <a:ext cx="830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8640" algn="l"/>
              </a:tabLst>
            </a:pPr>
            <a:r>
              <a:rPr sz="2400" b="1" spc="-50" dirty="0">
                <a:latin typeface="Tahoma"/>
                <a:cs typeface="Tahoma"/>
              </a:rPr>
              <a:t>-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19221" y="55637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38215" y="4496954"/>
            <a:ext cx="89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140" algn="l"/>
              </a:tabLst>
            </a:pPr>
            <a:r>
              <a:rPr sz="2400" b="1" spc="-50" dirty="0">
                <a:latin typeface="Tahoma"/>
                <a:cs typeface="Tahoma"/>
              </a:rPr>
              <a:t>+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326282" y="2254134"/>
            <a:ext cx="1967230" cy="822325"/>
          </a:xfrm>
          <a:custGeom>
            <a:avLst/>
            <a:gdLst/>
            <a:ahLst/>
            <a:cxnLst/>
            <a:rect l="l" t="t" r="r" b="b"/>
            <a:pathLst>
              <a:path w="1967229" h="822325">
                <a:moveTo>
                  <a:pt x="1966912" y="0"/>
                </a:moveTo>
                <a:lnTo>
                  <a:pt x="0" y="0"/>
                </a:lnTo>
                <a:lnTo>
                  <a:pt x="0" y="822325"/>
                </a:lnTo>
                <a:lnTo>
                  <a:pt x="1966912" y="822325"/>
                </a:lnTo>
                <a:lnTo>
                  <a:pt x="1966912" y="0"/>
                </a:lnTo>
                <a:close/>
              </a:path>
            </a:pathLst>
          </a:custGeom>
          <a:solidFill>
            <a:srgbClr val="D4FD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417721" y="2287154"/>
            <a:ext cx="179705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840"/>
              </a:lnSpc>
              <a:spcBef>
                <a:spcPts val="100"/>
              </a:spcBef>
              <a:tabLst>
                <a:tab pos="1012825" algn="l"/>
              </a:tabLst>
            </a:pP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MOV</a:t>
            </a:r>
            <a:r>
              <a:rPr sz="2400" dirty="0">
                <a:solidFill>
                  <a:srgbClr val="CC0000"/>
                </a:solidFill>
                <a:latin typeface="Tahoma"/>
                <a:cs typeface="Tahoma"/>
              </a:rPr>
              <a:t>	c,</a:t>
            </a:r>
            <a:r>
              <a:rPr sz="2400" spc="-2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R0</a:t>
            </a:r>
            <a:endParaRPr sz="2400">
              <a:latin typeface="Tahoma"/>
              <a:cs typeface="Tahoma"/>
            </a:endParaRPr>
          </a:p>
          <a:p>
            <a:pPr>
              <a:lnSpc>
                <a:spcPts val="2840"/>
              </a:lnSpc>
              <a:tabLst>
                <a:tab pos="1072515" algn="l"/>
              </a:tabLst>
            </a:pP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ADD</a:t>
            </a:r>
            <a:r>
              <a:rPr sz="2400" dirty="0">
                <a:solidFill>
                  <a:srgbClr val="CC0000"/>
                </a:solidFill>
                <a:latin typeface="Tahoma"/>
                <a:cs typeface="Tahoma"/>
              </a:rPr>
              <a:t>	d,</a:t>
            </a:r>
            <a:r>
              <a:rPr sz="2400" spc="-2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CC0000"/>
                </a:solidFill>
                <a:latin typeface="Tahoma"/>
                <a:cs typeface="Tahoma"/>
              </a:rPr>
              <a:t>R0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8493" y="465975"/>
            <a:ext cx="5987415" cy="135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240"/>
              </a:lnSpc>
              <a:spcBef>
                <a:spcPts val="100"/>
              </a:spcBef>
            </a:pPr>
            <a:r>
              <a:rPr spc="-10" dirty="0"/>
              <a:t>Example</a:t>
            </a:r>
          </a:p>
          <a:p>
            <a:pPr algn="ctr">
              <a:lnSpc>
                <a:spcPts val="5240"/>
              </a:lnSpc>
              <a:tabLst>
                <a:tab pos="1521460" algn="l"/>
                <a:tab pos="2607945" algn="l"/>
                <a:tab pos="3540125" algn="l"/>
              </a:tabLst>
            </a:pPr>
            <a:r>
              <a:rPr spc="-20" dirty="0"/>
              <a:t>(can</a:t>
            </a:r>
            <a:r>
              <a:rPr dirty="0"/>
              <a:t>	</a:t>
            </a:r>
            <a:r>
              <a:rPr spc="-25" dirty="0"/>
              <a:t>we</a:t>
            </a:r>
            <a:r>
              <a:rPr dirty="0"/>
              <a:t>	</a:t>
            </a:r>
            <a:r>
              <a:rPr spc="-25" dirty="0"/>
              <a:t>do</a:t>
            </a:r>
            <a:r>
              <a:rPr dirty="0"/>
              <a:t>	</a:t>
            </a:r>
            <a:r>
              <a:rPr spc="-10" dirty="0"/>
              <a:t>better?)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7883" y="2177934"/>
            <a:ext cx="2097405" cy="1552575"/>
          </a:xfrm>
          <a:prstGeom prst="rect">
            <a:avLst/>
          </a:prstGeom>
          <a:solidFill>
            <a:srgbClr val="D4FDD5"/>
          </a:solidFill>
        </p:spPr>
        <p:txBody>
          <a:bodyPr vert="horz" wrap="square" lIns="0" tIns="47625" rIns="0" bIns="0" rtlCol="0">
            <a:spAutoFit/>
          </a:bodyPr>
          <a:lstStyle/>
          <a:p>
            <a:pPr marL="90805" marR="370840" algn="just">
              <a:lnSpc>
                <a:spcPct val="99500"/>
              </a:lnSpc>
              <a:spcBef>
                <a:spcPts val="375"/>
              </a:spcBef>
            </a:pPr>
            <a:r>
              <a:rPr sz="2400" dirty="0">
                <a:latin typeface="Tahoma"/>
                <a:cs typeface="Tahoma"/>
              </a:rPr>
              <a:t>t1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b </a:t>
            </a:r>
            <a:r>
              <a:rPr sz="2400" dirty="0">
                <a:latin typeface="Tahoma"/>
                <a:cs typeface="Tahoma"/>
              </a:rPr>
              <a:t>t2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 </a:t>
            </a:r>
            <a:r>
              <a:rPr sz="2400" dirty="0">
                <a:latin typeface="Tahoma"/>
                <a:cs typeface="Tahoma"/>
              </a:rPr>
              <a:t>t3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t2 </a:t>
            </a:r>
            <a:r>
              <a:rPr sz="2400" dirty="0">
                <a:latin typeface="Tahoma"/>
                <a:cs typeface="Tahoma"/>
              </a:rPr>
              <a:t>t4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t1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57023" y="34301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t4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73720" y="5373572"/>
            <a:ext cx="771525" cy="695325"/>
            <a:chOff x="5873720" y="5373572"/>
            <a:chExt cx="771525" cy="695325"/>
          </a:xfrm>
        </p:grpSpPr>
        <p:sp>
          <p:nvSpPr>
            <p:cNvPr id="6" name="object 6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799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119614" y="5525654"/>
            <a:ext cx="274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+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73420" y="3239972"/>
            <a:ext cx="771525" cy="695325"/>
            <a:chOff x="3473420" y="3239972"/>
            <a:chExt cx="771525" cy="695325"/>
          </a:xfrm>
        </p:grpSpPr>
        <p:sp>
          <p:nvSpPr>
            <p:cNvPr id="10" name="object 10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6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4"/>
                  </a:lnTo>
                  <a:lnTo>
                    <a:pt x="52017" y="169832"/>
                  </a:lnTo>
                  <a:lnTo>
                    <a:pt x="29940" y="209428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8"/>
                  </a:lnTo>
                  <a:lnTo>
                    <a:pt x="709982" y="169832"/>
                  </a:lnTo>
                  <a:lnTo>
                    <a:pt x="682613" y="133364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6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4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2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4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2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82815" y="3392054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-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35120" y="3825760"/>
            <a:ext cx="5114925" cy="2548255"/>
            <a:chOff x="1835120" y="3825760"/>
            <a:chExt cx="5114925" cy="2548255"/>
          </a:xfrm>
        </p:grpSpPr>
        <p:sp>
          <p:nvSpPr>
            <p:cNvPr id="14" name="object 14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5" y="12248"/>
                  </a:lnTo>
                  <a:lnTo>
                    <a:pt x="232697" y="26946"/>
                  </a:lnTo>
                  <a:lnTo>
                    <a:pt x="188702" y="46815"/>
                  </a:lnTo>
                  <a:lnTo>
                    <a:pt x="148182" y="71447"/>
                  </a:lnTo>
                  <a:lnTo>
                    <a:pt x="111592" y="100433"/>
                  </a:lnTo>
                  <a:lnTo>
                    <a:pt x="79386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6" y="552436"/>
                  </a:lnTo>
                  <a:lnTo>
                    <a:pt x="111592" y="585366"/>
                  </a:lnTo>
                  <a:lnTo>
                    <a:pt x="148182" y="614352"/>
                  </a:lnTo>
                  <a:lnTo>
                    <a:pt x="188702" y="638984"/>
                  </a:lnTo>
                  <a:lnTo>
                    <a:pt x="232697" y="658853"/>
                  </a:lnTo>
                  <a:lnTo>
                    <a:pt x="279715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5" y="673551"/>
                  </a:lnTo>
                  <a:lnTo>
                    <a:pt x="529302" y="658853"/>
                  </a:lnTo>
                  <a:lnTo>
                    <a:pt x="573298" y="638984"/>
                  </a:lnTo>
                  <a:lnTo>
                    <a:pt x="613818" y="614352"/>
                  </a:lnTo>
                  <a:lnTo>
                    <a:pt x="650407" y="585366"/>
                  </a:lnTo>
                  <a:lnTo>
                    <a:pt x="682614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4" y="133363"/>
                  </a:lnTo>
                  <a:lnTo>
                    <a:pt x="650407" y="100433"/>
                  </a:lnTo>
                  <a:lnTo>
                    <a:pt x="613818" y="71447"/>
                  </a:lnTo>
                  <a:lnTo>
                    <a:pt x="573298" y="46815"/>
                  </a:lnTo>
                  <a:lnTo>
                    <a:pt x="529302" y="26946"/>
                  </a:lnTo>
                  <a:lnTo>
                    <a:pt x="482285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8" y="209427"/>
                  </a:lnTo>
                  <a:lnTo>
                    <a:pt x="748389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89" y="434056"/>
                  </a:lnTo>
                  <a:lnTo>
                    <a:pt x="732058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90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0" y="0"/>
                  </a:moveTo>
                  <a:lnTo>
                    <a:pt x="641349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479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641349" y="0"/>
                  </a:moveTo>
                  <a:lnTo>
                    <a:pt x="0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10158" y="4935423"/>
              <a:ext cx="679450" cy="542925"/>
            </a:xfrm>
            <a:custGeom>
              <a:avLst/>
              <a:gdLst/>
              <a:ahLst/>
              <a:cxnLst/>
              <a:rect l="l" t="t" r="r" b="b"/>
              <a:pathLst>
                <a:path w="679450" h="542925">
                  <a:moveTo>
                    <a:pt x="0" y="0"/>
                  </a:moveTo>
                  <a:lnTo>
                    <a:pt x="679449" y="5429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39883" y="4935423"/>
              <a:ext cx="568325" cy="519430"/>
            </a:xfrm>
            <a:custGeom>
              <a:avLst/>
              <a:gdLst/>
              <a:ahLst/>
              <a:cxnLst/>
              <a:rect l="l" t="t" r="r" b="b"/>
              <a:pathLst>
                <a:path w="568325" h="519429">
                  <a:moveTo>
                    <a:pt x="568325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47958" y="4935423"/>
              <a:ext cx="415925" cy="595630"/>
            </a:xfrm>
            <a:custGeom>
              <a:avLst/>
              <a:gdLst/>
              <a:ahLst/>
              <a:cxnLst/>
              <a:rect l="l" t="t" r="r" b="b"/>
              <a:pathLst>
                <a:path w="415925" h="595629">
                  <a:moveTo>
                    <a:pt x="0" y="0"/>
                  </a:moveTo>
                  <a:lnTo>
                    <a:pt x="415924" y="5953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30683" y="4935423"/>
              <a:ext cx="339725" cy="519430"/>
            </a:xfrm>
            <a:custGeom>
              <a:avLst/>
              <a:gdLst/>
              <a:ahLst/>
              <a:cxnLst/>
              <a:rect l="l" t="t" r="r" b="b"/>
              <a:pathLst>
                <a:path w="339725" h="519429">
                  <a:moveTo>
                    <a:pt x="339724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49883" y="5964122"/>
              <a:ext cx="339725" cy="405130"/>
            </a:xfrm>
            <a:custGeom>
              <a:avLst/>
              <a:gdLst/>
              <a:ahLst/>
              <a:cxnLst/>
              <a:rect l="l" t="t" r="r" b="b"/>
              <a:pathLst>
                <a:path w="339725" h="405129">
                  <a:moveTo>
                    <a:pt x="339724" y="0"/>
                  </a:moveTo>
                  <a:lnTo>
                    <a:pt x="0" y="4048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29358" y="5964122"/>
              <a:ext cx="415925" cy="328930"/>
            </a:xfrm>
            <a:custGeom>
              <a:avLst/>
              <a:gdLst/>
              <a:ahLst/>
              <a:cxnLst/>
              <a:rect l="l" t="t" r="r" b="b"/>
              <a:pathLst>
                <a:path w="415925" h="328929">
                  <a:moveTo>
                    <a:pt x="0" y="0"/>
                  </a:moveTo>
                  <a:lnTo>
                    <a:pt x="415924" y="3286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90023" y="5487554"/>
            <a:ext cx="18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90223" y="54875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57023" y="5411354"/>
            <a:ext cx="186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76223" y="6325754"/>
            <a:ext cx="166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71623" y="63257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63914" y="4496954"/>
            <a:ext cx="830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8640" algn="l"/>
              </a:tabLst>
            </a:pPr>
            <a:r>
              <a:rPr sz="2400" b="1" spc="-50" dirty="0">
                <a:latin typeface="Tahoma"/>
                <a:cs typeface="Tahoma"/>
              </a:rPr>
              <a:t>-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19221" y="55637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38215" y="4496954"/>
            <a:ext cx="89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140" algn="l"/>
              </a:tabLst>
            </a:pPr>
            <a:r>
              <a:rPr sz="2400" b="1" spc="-50" dirty="0">
                <a:latin typeface="Tahoma"/>
                <a:cs typeface="Tahoma"/>
              </a:rPr>
              <a:t>+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7326282" y="2254134"/>
          <a:ext cx="2108835" cy="1551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034">
                <a:tc>
                  <a:txBody>
                    <a:bodyPr/>
                    <a:lstStyle/>
                    <a:p>
                      <a:pPr marL="90805">
                        <a:lnSpc>
                          <a:spcPts val="2745"/>
                        </a:lnSpc>
                        <a:spcBef>
                          <a:spcPts val="360"/>
                        </a:spcBef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ts val="2745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c,</a:t>
                      </a:r>
                      <a:r>
                        <a:rPr sz="24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90805">
                        <a:lnSpc>
                          <a:spcPts val="275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ADD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ts val="275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d,</a:t>
                      </a:r>
                      <a:r>
                        <a:rPr sz="24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marL="90805">
                        <a:lnSpc>
                          <a:spcPts val="2800"/>
                        </a:lnSpc>
                      </a:pPr>
                      <a:r>
                        <a:rPr sz="2400" spc="-2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ts val="2800"/>
                        </a:lnSpc>
                      </a:pPr>
                      <a:r>
                        <a:rPr sz="2400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e,</a:t>
                      </a:r>
                      <a:r>
                        <a:rPr sz="2400" spc="-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R1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65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400" spc="-2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SUB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R="85725" algn="r">
                        <a:lnSpc>
                          <a:spcPct val="100000"/>
                        </a:lnSpc>
                      </a:pPr>
                      <a:r>
                        <a:rPr sz="2400" spc="-10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R0,R1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8493" y="465975"/>
            <a:ext cx="5987415" cy="135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240"/>
              </a:lnSpc>
              <a:spcBef>
                <a:spcPts val="100"/>
              </a:spcBef>
            </a:pPr>
            <a:r>
              <a:rPr spc="-10" dirty="0"/>
              <a:t>Example</a:t>
            </a:r>
          </a:p>
          <a:p>
            <a:pPr algn="ctr">
              <a:lnSpc>
                <a:spcPts val="5240"/>
              </a:lnSpc>
              <a:tabLst>
                <a:tab pos="1521460" algn="l"/>
                <a:tab pos="2607945" algn="l"/>
                <a:tab pos="3540125" algn="l"/>
              </a:tabLst>
            </a:pPr>
            <a:r>
              <a:rPr spc="-20" dirty="0"/>
              <a:t>(can</a:t>
            </a:r>
            <a:r>
              <a:rPr dirty="0"/>
              <a:t>	</a:t>
            </a:r>
            <a:r>
              <a:rPr spc="-25" dirty="0"/>
              <a:t>we</a:t>
            </a:r>
            <a:r>
              <a:rPr dirty="0"/>
              <a:t>	</a:t>
            </a:r>
            <a:r>
              <a:rPr spc="-25" dirty="0"/>
              <a:t>do</a:t>
            </a:r>
            <a:r>
              <a:rPr dirty="0"/>
              <a:t>	</a:t>
            </a:r>
            <a:r>
              <a:rPr spc="-10" dirty="0"/>
              <a:t>better?)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7883" y="2177934"/>
            <a:ext cx="2097405" cy="1552575"/>
          </a:xfrm>
          <a:prstGeom prst="rect">
            <a:avLst/>
          </a:prstGeom>
          <a:solidFill>
            <a:srgbClr val="D4FDD5"/>
          </a:solidFill>
        </p:spPr>
        <p:txBody>
          <a:bodyPr vert="horz" wrap="square" lIns="0" tIns="47625" rIns="0" bIns="0" rtlCol="0">
            <a:spAutoFit/>
          </a:bodyPr>
          <a:lstStyle/>
          <a:p>
            <a:pPr marL="90805" marR="370840" algn="just">
              <a:lnSpc>
                <a:spcPct val="99500"/>
              </a:lnSpc>
              <a:spcBef>
                <a:spcPts val="375"/>
              </a:spcBef>
            </a:pPr>
            <a:r>
              <a:rPr sz="2400" dirty="0">
                <a:latin typeface="Tahoma"/>
                <a:cs typeface="Tahoma"/>
              </a:rPr>
              <a:t>t1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b </a:t>
            </a:r>
            <a:r>
              <a:rPr sz="2400" dirty="0">
                <a:latin typeface="Tahoma"/>
                <a:cs typeface="Tahoma"/>
              </a:rPr>
              <a:t>t2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 </a:t>
            </a:r>
            <a:r>
              <a:rPr sz="2400" dirty="0">
                <a:latin typeface="Tahoma"/>
                <a:cs typeface="Tahoma"/>
              </a:rPr>
              <a:t>t3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t2 </a:t>
            </a:r>
            <a:r>
              <a:rPr sz="2400" dirty="0">
                <a:latin typeface="Tahoma"/>
                <a:cs typeface="Tahoma"/>
              </a:rPr>
              <a:t>t4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t1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57023" y="34301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t4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73720" y="5373572"/>
            <a:ext cx="771525" cy="695325"/>
            <a:chOff x="5873720" y="5373572"/>
            <a:chExt cx="771525" cy="695325"/>
          </a:xfrm>
        </p:grpSpPr>
        <p:sp>
          <p:nvSpPr>
            <p:cNvPr id="6" name="object 6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799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119614" y="5525654"/>
            <a:ext cx="274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+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73420" y="3239972"/>
            <a:ext cx="771525" cy="695325"/>
            <a:chOff x="3473420" y="3239972"/>
            <a:chExt cx="771525" cy="695325"/>
          </a:xfrm>
        </p:grpSpPr>
        <p:sp>
          <p:nvSpPr>
            <p:cNvPr id="10" name="object 10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6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4"/>
                  </a:lnTo>
                  <a:lnTo>
                    <a:pt x="52017" y="169832"/>
                  </a:lnTo>
                  <a:lnTo>
                    <a:pt x="29940" y="209428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8"/>
                  </a:lnTo>
                  <a:lnTo>
                    <a:pt x="709982" y="169832"/>
                  </a:lnTo>
                  <a:lnTo>
                    <a:pt x="682613" y="133364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6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D6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4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2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4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2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82815" y="3392054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-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35120" y="3825760"/>
            <a:ext cx="5114925" cy="2548255"/>
            <a:chOff x="1835120" y="3825760"/>
            <a:chExt cx="5114925" cy="2548255"/>
          </a:xfrm>
        </p:grpSpPr>
        <p:sp>
          <p:nvSpPr>
            <p:cNvPr id="14" name="object 14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5" y="12248"/>
                  </a:lnTo>
                  <a:lnTo>
                    <a:pt x="232697" y="26946"/>
                  </a:lnTo>
                  <a:lnTo>
                    <a:pt x="188702" y="46815"/>
                  </a:lnTo>
                  <a:lnTo>
                    <a:pt x="148182" y="71447"/>
                  </a:lnTo>
                  <a:lnTo>
                    <a:pt x="111592" y="100433"/>
                  </a:lnTo>
                  <a:lnTo>
                    <a:pt x="79386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6" y="552436"/>
                  </a:lnTo>
                  <a:lnTo>
                    <a:pt x="111592" y="585366"/>
                  </a:lnTo>
                  <a:lnTo>
                    <a:pt x="148182" y="614352"/>
                  </a:lnTo>
                  <a:lnTo>
                    <a:pt x="188702" y="638984"/>
                  </a:lnTo>
                  <a:lnTo>
                    <a:pt x="232697" y="658853"/>
                  </a:lnTo>
                  <a:lnTo>
                    <a:pt x="279715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5" y="673551"/>
                  </a:lnTo>
                  <a:lnTo>
                    <a:pt x="529302" y="658853"/>
                  </a:lnTo>
                  <a:lnTo>
                    <a:pt x="573298" y="638984"/>
                  </a:lnTo>
                  <a:lnTo>
                    <a:pt x="613818" y="614352"/>
                  </a:lnTo>
                  <a:lnTo>
                    <a:pt x="650407" y="585366"/>
                  </a:lnTo>
                  <a:lnTo>
                    <a:pt x="682614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4" y="133363"/>
                  </a:lnTo>
                  <a:lnTo>
                    <a:pt x="650407" y="100433"/>
                  </a:lnTo>
                  <a:lnTo>
                    <a:pt x="613818" y="71447"/>
                  </a:lnTo>
                  <a:lnTo>
                    <a:pt x="573298" y="46815"/>
                  </a:lnTo>
                  <a:lnTo>
                    <a:pt x="529302" y="26946"/>
                  </a:lnTo>
                  <a:lnTo>
                    <a:pt x="482285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8" y="209427"/>
                  </a:lnTo>
                  <a:lnTo>
                    <a:pt x="748389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89" y="434056"/>
                  </a:lnTo>
                  <a:lnTo>
                    <a:pt x="732058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90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0" y="0"/>
                  </a:moveTo>
                  <a:lnTo>
                    <a:pt x="641349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479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641349" y="0"/>
                  </a:moveTo>
                  <a:lnTo>
                    <a:pt x="0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10158" y="4935423"/>
              <a:ext cx="679450" cy="542925"/>
            </a:xfrm>
            <a:custGeom>
              <a:avLst/>
              <a:gdLst/>
              <a:ahLst/>
              <a:cxnLst/>
              <a:rect l="l" t="t" r="r" b="b"/>
              <a:pathLst>
                <a:path w="679450" h="542925">
                  <a:moveTo>
                    <a:pt x="0" y="0"/>
                  </a:moveTo>
                  <a:lnTo>
                    <a:pt x="679449" y="5429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39883" y="4935423"/>
              <a:ext cx="568325" cy="519430"/>
            </a:xfrm>
            <a:custGeom>
              <a:avLst/>
              <a:gdLst/>
              <a:ahLst/>
              <a:cxnLst/>
              <a:rect l="l" t="t" r="r" b="b"/>
              <a:pathLst>
                <a:path w="568325" h="519429">
                  <a:moveTo>
                    <a:pt x="568325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47958" y="4935423"/>
              <a:ext cx="415925" cy="595630"/>
            </a:xfrm>
            <a:custGeom>
              <a:avLst/>
              <a:gdLst/>
              <a:ahLst/>
              <a:cxnLst/>
              <a:rect l="l" t="t" r="r" b="b"/>
              <a:pathLst>
                <a:path w="415925" h="595629">
                  <a:moveTo>
                    <a:pt x="0" y="0"/>
                  </a:moveTo>
                  <a:lnTo>
                    <a:pt x="415924" y="5953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30683" y="4935423"/>
              <a:ext cx="339725" cy="519430"/>
            </a:xfrm>
            <a:custGeom>
              <a:avLst/>
              <a:gdLst/>
              <a:ahLst/>
              <a:cxnLst/>
              <a:rect l="l" t="t" r="r" b="b"/>
              <a:pathLst>
                <a:path w="339725" h="519429">
                  <a:moveTo>
                    <a:pt x="339724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49883" y="5964122"/>
              <a:ext cx="339725" cy="405130"/>
            </a:xfrm>
            <a:custGeom>
              <a:avLst/>
              <a:gdLst/>
              <a:ahLst/>
              <a:cxnLst/>
              <a:rect l="l" t="t" r="r" b="b"/>
              <a:pathLst>
                <a:path w="339725" h="405129">
                  <a:moveTo>
                    <a:pt x="339724" y="0"/>
                  </a:moveTo>
                  <a:lnTo>
                    <a:pt x="0" y="4048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29358" y="5964122"/>
              <a:ext cx="415925" cy="328930"/>
            </a:xfrm>
            <a:custGeom>
              <a:avLst/>
              <a:gdLst/>
              <a:ahLst/>
              <a:cxnLst/>
              <a:rect l="l" t="t" r="r" b="b"/>
              <a:pathLst>
                <a:path w="415925" h="328929">
                  <a:moveTo>
                    <a:pt x="0" y="0"/>
                  </a:moveTo>
                  <a:lnTo>
                    <a:pt x="415924" y="3286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90023" y="5487554"/>
            <a:ext cx="18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90223" y="54875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57023" y="5411354"/>
            <a:ext cx="186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76223" y="6325754"/>
            <a:ext cx="166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71623" y="63257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63914" y="4496954"/>
            <a:ext cx="830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8640" algn="l"/>
              </a:tabLst>
            </a:pPr>
            <a:r>
              <a:rPr sz="2400" b="1" spc="-50" dirty="0">
                <a:latin typeface="Tahoma"/>
                <a:cs typeface="Tahoma"/>
              </a:rPr>
              <a:t>-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19221" y="55637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38215" y="4496954"/>
            <a:ext cx="89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140" algn="l"/>
              </a:tabLst>
            </a:pPr>
            <a:r>
              <a:rPr sz="2400" b="1" spc="-50" dirty="0">
                <a:latin typeface="Tahoma"/>
                <a:cs typeface="Tahoma"/>
              </a:rPr>
              <a:t>+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7326282" y="2254134"/>
          <a:ext cx="2202815" cy="22821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034">
                <a:tc>
                  <a:txBody>
                    <a:bodyPr/>
                    <a:lstStyle/>
                    <a:p>
                      <a:pPr marL="90805">
                        <a:lnSpc>
                          <a:spcPts val="2745"/>
                        </a:lnSpc>
                        <a:spcBef>
                          <a:spcPts val="360"/>
                        </a:spcBef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55904">
                        <a:lnSpc>
                          <a:spcPts val="2745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c,</a:t>
                      </a:r>
                      <a:r>
                        <a:rPr sz="24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90805">
                        <a:lnSpc>
                          <a:spcPts val="275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ADD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ts val="275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d,</a:t>
                      </a:r>
                      <a:r>
                        <a:rPr sz="24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0805">
                        <a:lnSpc>
                          <a:spcPts val="280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55904">
                        <a:lnSpc>
                          <a:spcPts val="280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e,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0805">
                        <a:lnSpc>
                          <a:spcPts val="280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SUB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ts val="280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R0,</a:t>
                      </a:r>
                      <a:r>
                        <a:rPr sz="2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0805">
                        <a:lnSpc>
                          <a:spcPts val="2800"/>
                        </a:lnSpc>
                      </a:pPr>
                      <a:r>
                        <a:rPr sz="2400" spc="-2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55904">
                        <a:lnSpc>
                          <a:spcPts val="2800"/>
                        </a:lnSpc>
                      </a:pPr>
                      <a:r>
                        <a:rPr sz="2400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a,</a:t>
                      </a:r>
                      <a:r>
                        <a:rPr sz="2400" spc="-30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400" spc="-2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ADD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31496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b,</a:t>
                      </a:r>
                      <a:r>
                        <a:rPr sz="2400" spc="-50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8493" y="465975"/>
            <a:ext cx="5987415" cy="135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240"/>
              </a:lnSpc>
              <a:spcBef>
                <a:spcPts val="100"/>
              </a:spcBef>
            </a:pPr>
            <a:r>
              <a:rPr spc="-10" dirty="0"/>
              <a:t>Example</a:t>
            </a:r>
          </a:p>
          <a:p>
            <a:pPr algn="ctr">
              <a:lnSpc>
                <a:spcPts val="5240"/>
              </a:lnSpc>
              <a:tabLst>
                <a:tab pos="1521460" algn="l"/>
                <a:tab pos="2607945" algn="l"/>
                <a:tab pos="3540125" algn="l"/>
              </a:tabLst>
            </a:pPr>
            <a:r>
              <a:rPr spc="-20" dirty="0"/>
              <a:t>(can</a:t>
            </a:r>
            <a:r>
              <a:rPr dirty="0"/>
              <a:t>	</a:t>
            </a:r>
            <a:r>
              <a:rPr spc="-25" dirty="0"/>
              <a:t>we</a:t>
            </a:r>
            <a:r>
              <a:rPr dirty="0"/>
              <a:t>	</a:t>
            </a:r>
            <a:r>
              <a:rPr spc="-25" dirty="0"/>
              <a:t>do</a:t>
            </a:r>
            <a:r>
              <a:rPr dirty="0"/>
              <a:t>	</a:t>
            </a:r>
            <a:r>
              <a:rPr spc="-10" dirty="0"/>
              <a:t>better?)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7883" y="2177934"/>
            <a:ext cx="2097405" cy="1552575"/>
          </a:xfrm>
          <a:prstGeom prst="rect">
            <a:avLst/>
          </a:prstGeom>
          <a:solidFill>
            <a:srgbClr val="D4FDD5"/>
          </a:solidFill>
        </p:spPr>
        <p:txBody>
          <a:bodyPr vert="horz" wrap="square" lIns="0" tIns="47625" rIns="0" bIns="0" rtlCol="0">
            <a:spAutoFit/>
          </a:bodyPr>
          <a:lstStyle/>
          <a:p>
            <a:pPr marL="90805" marR="370840" algn="just">
              <a:lnSpc>
                <a:spcPct val="99500"/>
              </a:lnSpc>
              <a:spcBef>
                <a:spcPts val="375"/>
              </a:spcBef>
            </a:pPr>
            <a:r>
              <a:rPr sz="2400" dirty="0">
                <a:latin typeface="Tahoma"/>
                <a:cs typeface="Tahoma"/>
              </a:rPr>
              <a:t>t1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b </a:t>
            </a:r>
            <a:r>
              <a:rPr sz="2400" dirty="0">
                <a:latin typeface="Tahoma"/>
                <a:cs typeface="Tahoma"/>
              </a:rPr>
              <a:t>t2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 </a:t>
            </a:r>
            <a:r>
              <a:rPr sz="2400" dirty="0">
                <a:latin typeface="Tahoma"/>
                <a:cs typeface="Tahoma"/>
              </a:rPr>
              <a:t>t3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t2 </a:t>
            </a:r>
            <a:r>
              <a:rPr sz="2400" dirty="0">
                <a:latin typeface="Tahoma"/>
                <a:cs typeface="Tahoma"/>
              </a:rPr>
              <a:t>t4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t1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57023" y="34301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t4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73720" y="5373572"/>
            <a:ext cx="771525" cy="695325"/>
            <a:chOff x="5873720" y="5373572"/>
            <a:chExt cx="771525" cy="695325"/>
          </a:xfrm>
        </p:grpSpPr>
        <p:sp>
          <p:nvSpPr>
            <p:cNvPr id="6" name="object 6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799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119614" y="5525654"/>
            <a:ext cx="274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+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73420" y="3239972"/>
            <a:ext cx="771525" cy="695325"/>
            <a:chOff x="3473420" y="3239972"/>
            <a:chExt cx="771525" cy="695325"/>
          </a:xfrm>
        </p:grpSpPr>
        <p:sp>
          <p:nvSpPr>
            <p:cNvPr id="10" name="object 10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6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4"/>
                  </a:lnTo>
                  <a:lnTo>
                    <a:pt x="52017" y="169832"/>
                  </a:lnTo>
                  <a:lnTo>
                    <a:pt x="29940" y="209428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8"/>
                  </a:lnTo>
                  <a:lnTo>
                    <a:pt x="709982" y="169832"/>
                  </a:lnTo>
                  <a:lnTo>
                    <a:pt x="682613" y="133364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6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4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2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4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2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82815" y="3392054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-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35120" y="3825760"/>
            <a:ext cx="5114925" cy="2548255"/>
            <a:chOff x="1835120" y="3825760"/>
            <a:chExt cx="5114925" cy="2548255"/>
          </a:xfrm>
        </p:grpSpPr>
        <p:sp>
          <p:nvSpPr>
            <p:cNvPr id="14" name="object 14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5" y="12248"/>
                  </a:lnTo>
                  <a:lnTo>
                    <a:pt x="232697" y="26946"/>
                  </a:lnTo>
                  <a:lnTo>
                    <a:pt x="188702" y="46815"/>
                  </a:lnTo>
                  <a:lnTo>
                    <a:pt x="148182" y="71447"/>
                  </a:lnTo>
                  <a:lnTo>
                    <a:pt x="111592" y="100433"/>
                  </a:lnTo>
                  <a:lnTo>
                    <a:pt x="79386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6" y="552436"/>
                  </a:lnTo>
                  <a:lnTo>
                    <a:pt x="111592" y="585366"/>
                  </a:lnTo>
                  <a:lnTo>
                    <a:pt x="148182" y="614352"/>
                  </a:lnTo>
                  <a:lnTo>
                    <a:pt x="188702" y="638984"/>
                  </a:lnTo>
                  <a:lnTo>
                    <a:pt x="232697" y="658853"/>
                  </a:lnTo>
                  <a:lnTo>
                    <a:pt x="279715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5" y="673551"/>
                  </a:lnTo>
                  <a:lnTo>
                    <a:pt x="529302" y="658853"/>
                  </a:lnTo>
                  <a:lnTo>
                    <a:pt x="573298" y="638984"/>
                  </a:lnTo>
                  <a:lnTo>
                    <a:pt x="613818" y="614352"/>
                  </a:lnTo>
                  <a:lnTo>
                    <a:pt x="650407" y="585366"/>
                  </a:lnTo>
                  <a:lnTo>
                    <a:pt x="682614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4" y="133363"/>
                  </a:lnTo>
                  <a:lnTo>
                    <a:pt x="650407" y="100433"/>
                  </a:lnTo>
                  <a:lnTo>
                    <a:pt x="613818" y="71447"/>
                  </a:lnTo>
                  <a:lnTo>
                    <a:pt x="573298" y="46815"/>
                  </a:lnTo>
                  <a:lnTo>
                    <a:pt x="529302" y="26946"/>
                  </a:lnTo>
                  <a:lnTo>
                    <a:pt x="482285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8" y="209427"/>
                  </a:lnTo>
                  <a:lnTo>
                    <a:pt x="748389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89" y="434056"/>
                  </a:lnTo>
                  <a:lnTo>
                    <a:pt x="732058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90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0" y="0"/>
                  </a:moveTo>
                  <a:lnTo>
                    <a:pt x="641349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479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641349" y="0"/>
                  </a:moveTo>
                  <a:lnTo>
                    <a:pt x="0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10158" y="4935423"/>
              <a:ext cx="679450" cy="542925"/>
            </a:xfrm>
            <a:custGeom>
              <a:avLst/>
              <a:gdLst/>
              <a:ahLst/>
              <a:cxnLst/>
              <a:rect l="l" t="t" r="r" b="b"/>
              <a:pathLst>
                <a:path w="679450" h="542925">
                  <a:moveTo>
                    <a:pt x="0" y="0"/>
                  </a:moveTo>
                  <a:lnTo>
                    <a:pt x="679449" y="5429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39883" y="4935423"/>
              <a:ext cx="568325" cy="519430"/>
            </a:xfrm>
            <a:custGeom>
              <a:avLst/>
              <a:gdLst/>
              <a:ahLst/>
              <a:cxnLst/>
              <a:rect l="l" t="t" r="r" b="b"/>
              <a:pathLst>
                <a:path w="568325" h="519429">
                  <a:moveTo>
                    <a:pt x="568325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47958" y="4935423"/>
              <a:ext cx="415925" cy="595630"/>
            </a:xfrm>
            <a:custGeom>
              <a:avLst/>
              <a:gdLst/>
              <a:ahLst/>
              <a:cxnLst/>
              <a:rect l="l" t="t" r="r" b="b"/>
              <a:pathLst>
                <a:path w="415925" h="595629">
                  <a:moveTo>
                    <a:pt x="0" y="0"/>
                  </a:moveTo>
                  <a:lnTo>
                    <a:pt x="415924" y="5953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30683" y="4935423"/>
              <a:ext cx="339725" cy="519430"/>
            </a:xfrm>
            <a:custGeom>
              <a:avLst/>
              <a:gdLst/>
              <a:ahLst/>
              <a:cxnLst/>
              <a:rect l="l" t="t" r="r" b="b"/>
              <a:pathLst>
                <a:path w="339725" h="519429">
                  <a:moveTo>
                    <a:pt x="339724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49883" y="5964122"/>
              <a:ext cx="339725" cy="405130"/>
            </a:xfrm>
            <a:custGeom>
              <a:avLst/>
              <a:gdLst/>
              <a:ahLst/>
              <a:cxnLst/>
              <a:rect l="l" t="t" r="r" b="b"/>
              <a:pathLst>
                <a:path w="339725" h="405129">
                  <a:moveTo>
                    <a:pt x="339724" y="0"/>
                  </a:moveTo>
                  <a:lnTo>
                    <a:pt x="0" y="4048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29358" y="5964122"/>
              <a:ext cx="415925" cy="328930"/>
            </a:xfrm>
            <a:custGeom>
              <a:avLst/>
              <a:gdLst/>
              <a:ahLst/>
              <a:cxnLst/>
              <a:rect l="l" t="t" r="r" b="b"/>
              <a:pathLst>
                <a:path w="415925" h="328929">
                  <a:moveTo>
                    <a:pt x="0" y="0"/>
                  </a:moveTo>
                  <a:lnTo>
                    <a:pt x="415924" y="3286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90023" y="5487554"/>
            <a:ext cx="18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90223" y="54875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57023" y="5411354"/>
            <a:ext cx="186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76223" y="6325754"/>
            <a:ext cx="166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71623" y="63257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63914" y="4496954"/>
            <a:ext cx="830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8640" algn="l"/>
              </a:tabLst>
            </a:pPr>
            <a:r>
              <a:rPr sz="2400" b="1" spc="-50" dirty="0">
                <a:latin typeface="Tahoma"/>
                <a:cs typeface="Tahoma"/>
              </a:rPr>
              <a:t>-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19221" y="55637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38215" y="4496954"/>
            <a:ext cx="89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140" algn="l"/>
              </a:tabLst>
            </a:pPr>
            <a:r>
              <a:rPr sz="2400" b="1" spc="-50" dirty="0">
                <a:latin typeface="Tahoma"/>
                <a:cs typeface="Tahoma"/>
              </a:rPr>
              <a:t>+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7326282" y="2254134"/>
          <a:ext cx="2204085" cy="30118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2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034">
                <a:tc>
                  <a:txBody>
                    <a:bodyPr/>
                    <a:lstStyle/>
                    <a:p>
                      <a:pPr marL="90805">
                        <a:lnSpc>
                          <a:spcPts val="2745"/>
                        </a:lnSpc>
                        <a:spcBef>
                          <a:spcPts val="360"/>
                        </a:spcBef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ts val="2745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c,</a:t>
                      </a:r>
                      <a:r>
                        <a:rPr sz="24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90805">
                        <a:lnSpc>
                          <a:spcPts val="275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ADD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275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d,</a:t>
                      </a:r>
                      <a:r>
                        <a:rPr sz="24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0805">
                        <a:lnSpc>
                          <a:spcPts val="280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ts val="280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e,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0805">
                        <a:lnSpc>
                          <a:spcPts val="280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SUB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ts val="280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R0,</a:t>
                      </a:r>
                      <a:r>
                        <a:rPr sz="2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0805">
                        <a:lnSpc>
                          <a:spcPts val="280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ts val="280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a,</a:t>
                      </a:r>
                      <a:r>
                        <a:rPr sz="24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90805">
                        <a:lnSpc>
                          <a:spcPts val="2745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ADD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274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b,</a:t>
                      </a:r>
                      <a:r>
                        <a:rPr sz="24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90805">
                        <a:lnSpc>
                          <a:spcPts val="2750"/>
                        </a:lnSpc>
                      </a:pPr>
                      <a:r>
                        <a:rPr sz="2400" spc="-2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SUB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ts val="2750"/>
                        </a:lnSpc>
                      </a:pPr>
                      <a:r>
                        <a:rPr sz="2400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R1,</a:t>
                      </a:r>
                      <a:r>
                        <a:rPr sz="2400" spc="-3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65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400" spc="-2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R0,</a:t>
                      </a:r>
                      <a:r>
                        <a:rPr sz="2400" spc="-1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solidFill>
                            <a:srgbClr val="CC0000"/>
                          </a:solidFill>
                          <a:latin typeface="Tahoma"/>
                          <a:cs typeface="Tahoma"/>
                        </a:rPr>
                        <a:t>t4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0146" y="465975"/>
            <a:ext cx="7880350" cy="135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240"/>
              </a:lnSpc>
              <a:spcBef>
                <a:spcPts val="100"/>
              </a:spcBef>
            </a:pPr>
            <a:r>
              <a:rPr spc="-10" dirty="0"/>
              <a:t>Example</a:t>
            </a:r>
          </a:p>
          <a:p>
            <a:pPr algn="ctr">
              <a:lnSpc>
                <a:spcPts val="5240"/>
              </a:lnSpc>
              <a:tabLst>
                <a:tab pos="1521460" algn="l"/>
                <a:tab pos="2607945" algn="l"/>
                <a:tab pos="3540125" algn="l"/>
              </a:tabLst>
            </a:pPr>
            <a:r>
              <a:rPr spc="-20" dirty="0"/>
              <a:t>(can</a:t>
            </a:r>
            <a:r>
              <a:rPr dirty="0"/>
              <a:t>	</a:t>
            </a:r>
            <a:r>
              <a:rPr spc="-25" dirty="0"/>
              <a:t>we</a:t>
            </a:r>
            <a:r>
              <a:rPr dirty="0"/>
              <a:t>	</a:t>
            </a:r>
            <a:r>
              <a:rPr spc="-25" dirty="0"/>
              <a:t>do</a:t>
            </a:r>
            <a:r>
              <a:rPr dirty="0"/>
              <a:t>	better?</a:t>
            </a:r>
            <a:r>
              <a:rPr spc="-100" dirty="0"/>
              <a:t> </a:t>
            </a:r>
            <a:r>
              <a:rPr spc="-10" dirty="0"/>
              <a:t>Yes!!!)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7883" y="2177934"/>
            <a:ext cx="2097405" cy="1552575"/>
          </a:xfrm>
          <a:prstGeom prst="rect">
            <a:avLst/>
          </a:prstGeom>
          <a:solidFill>
            <a:srgbClr val="D4FDD5"/>
          </a:solidFill>
        </p:spPr>
        <p:txBody>
          <a:bodyPr vert="horz" wrap="square" lIns="0" tIns="47625" rIns="0" bIns="0" rtlCol="0">
            <a:spAutoFit/>
          </a:bodyPr>
          <a:lstStyle/>
          <a:p>
            <a:pPr marL="90805" marR="370840" algn="just">
              <a:lnSpc>
                <a:spcPct val="99500"/>
              </a:lnSpc>
              <a:spcBef>
                <a:spcPts val="375"/>
              </a:spcBef>
            </a:pPr>
            <a:r>
              <a:rPr sz="2400" dirty="0">
                <a:latin typeface="Tahoma"/>
                <a:cs typeface="Tahoma"/>
              </a:rPr>
              <a:t>t1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b </a:t>
            </a:r>
            <a:r>
              <a:rPr sz="2400" dirty="0">
                <a:latin typeface="Tahoma"/>
                <a:cs typeface="Tahoma"/>
              </a:rPr>
              <a:t>t2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 </a:t>
            </a:r>
            <a:r>
              <a:rPr sz="2400" dirty="0">
                <a:latin typeface="Tahoma"/>
                <a:cs typeface="Tahoma"/>
              </a:rPr>
              <a:t>t3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t2 </a:t>
            </a:r>
            <a:r>
              <a:rPr sz="2400" dirty="0">
                <a:latin typeface="Tahoma"/>
                <a:cs typeface="Tahoma"/>
              </a:rPr>
              <a:t>t4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t1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57023" y="34301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t4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73720" y="5373572"/>
            <a:ext cx="771525" cy="695325"/>
            <a:chOff x="5873720" y="5373572"/>
            <a:chExt cx="771525" cy="695325"/>
          </a:xfrm>
        </p:grpSpPr>
        <p:sp>
          <p:nvSpPr>
            <p:cNvPr id="6" name="object 6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799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119614" y="5525654"/>
            <a:ext cx="274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+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73420" y="3239972"/>
            <a:ext cx="771525" cy="695325"/>
            <a:chOff x="3473420" y="3239972"/>
            <a:chExt cx="771525" cy="695325"/>
          </a:xfrm>
        </p:grpSpPr>
        <p:sp>
          <p:nvSpPr>
            <p:cNvPr id="10" name="object 10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6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4"/>
                  </a:lnTo>
                  <a:lnTo>
                    <a:pt x="52017" y="169832"/>
                  </a:lnTo>
                  <a:lnTo>
                    <a:pt x="29940" y="209428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8"/>
                  </a:lnTo>
                  <a:lnTo>
                    <a:pt x="709982" y="169832"/>
                  </a:lnTo>
                  <a:lnTo>
                    <a:pt x="682613" y="133364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6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4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2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4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2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82815" y="3392054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-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35120" y="3825760"/>
            <a:ext cx="5114925" cy="2548255"/>
            <a:chOff x="1835120" y="3825760"/>
            <a:chExt cx="5114925" cy="2548255"/>
          </a:xfrm>
        </p:grpSpPr>
        <p:sp>
          <p:nvSpPr>
            <p:cNvPr id="14" name="object 14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5" y="12248"/>
                  </a:lnTo>
                  <a:lnTo>
                    <a:pt x="232697" y="26946"/>
                  </a:lnTo>
                  <a:lnTo>
                    <a:pt x="188702" y="46815"/>
                  </a:lnTo>
                  <a:lnTo>
                    <a:pt x="148182" y="71447"/>
                  </a:lnTo>
                  <a:lnTo>
                    <a:pt x="111592" y="100433"/>
                  </a:lnTo>
                  <a:lnTo>
                    <a:pt x="79386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6" y="552436"/>
                  </a:lnTo>
                  <a:lnTo>
                    <a:pt x="111592" y="585366"/>
                  </a:lnTo>
                  <a:lnTo>
                    <a:pt x="148182" y="614352"/>
                  </a:lnTo>
                  <a:lnTo>
                    <a:pt x="188702" y="638984"/>
                  </a:lnTo>
                  <a:lnTo>
                    <a:pt x="232697" y="658853"/>
                  </a:lnTo>
                  <a:lnTo>
                    <a:pt x="279715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5" y="673551"/>
                  </a:lnTo>
                  <a:lnTo>
                    <a:pt x="529302" y="658853"/>
                  </a:lnTo>
                  <a:lnTo>
                    <a:pt x="573298" y="638984"/>
                  </a:lnTo>
                  <a:lnTo>
                    <a:pt x="613818" y="614352"/>
                  </a:lnTo>
                  <a:lnTo>
                    <a:pt x="650407" y="585366"/>
                  </a:lnTo>
                  <a:lnTo>
                    <a:pt x="682614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4" y="133363"/>
                  </a:lnTo>
                  <a:lnTo>
                    <a:pt x="650407" y="100433"/>
                  </a:lnTo>
                  <a:lnTo>
                    <a:pt x="613818" y="71447"/>
                  </a:lnTo>
                  <a:lnTo>
                    <a:pt x="573298" y="46815"/>
                  </a:lnTo>
                  <a:lnTo>
                    <a:pt x="529302" y="26946"/>
                  </a:lnTo>
                  <a:lnTo>
                    <a:pt x="482285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8" y="209427"/>
                  </a:lnTo>
                  <a:lnTo>
                    <a:pt x="748389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89" y="434056"/>
                  </a:lnTo>
                  <a:lnTo>
                    <a:pt x="732058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90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0" y="0"/>
                  </a:moveTo>
                  <a:lnTo>
                    <a:pt x="641349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479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641349" y="0"/>
                  </a:moveTo>
                  <a:lnTo>
                    <a:pt x="0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10158" y="4935423"/>
              <a:ext cx="679450" cy="542925"/>
            </a:xfrm>
            <a:custGeom>
              <a:avLst/>
              <a:gdLst/>
              <a:ahLst/>
              <a:cxnLst/>
              <a:rect l="l" t="t" r="r" b="b"/>
              <a:pathLst>
                <a:path w="679450" h="542925">
                  <a:moveTo>
                    <a:pt x="0" y="0"/>
                  </a:moveTo>
                  <a:lnTo>
                    <a:pt x="679449" y="5429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39883" y="4935423"/>
              <a:ext cx="568325" cy="519430"/>
            </a:xfrm>
            <a:custGeom>
              <a:avLst/>
              <a:gdLst/>
              <a:ahLst/>
              <a:cxnLst/>
              <a:rect l="l" t="t" r="r" b="b"/>
              <a:pathLst>
                <a:path w="568325" h="519429">
                  <a:moveTo>
                    <a:pt x="568325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47958" y="4935423"/>
              <a:ext cx="415925" cy="595630"/>
            </a:xfrm>
            <a:custGeom>
              <a:avLst/>
              <a:gdLst/>
              <a:ahLst/>
              <a:cxnLst/>
              <a:rect l="l" t="t" r="r" b="b"/>
              <a:pathLst>
                <a:path w="415925" h="595629">
                  <a:moveTo>
                    <a:pt x="0" y="0"/>
                  </a:moveTo>
                  <a:lnTo>
                    <a:pt x="415924" y="5953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30683" y="4935423"/>
              <a:ext cx="339725" cy="519430"/>
            </a:xfrm>
            <a:custGeom>
              <a:avLst/>
              <a:gdLst/>
              <a:ahLst/>
              <a:cxnLst/>
              <a:rect l="l" t="t" r="r" b="b"/>
              <a:pathLst>
                <a:path w="339725" h="519429">
                  <a:moveTo>
                    <a:pt x="339724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49883" y="5964122"/>
              <a:ext cx="339725" cy="405130"/>
            </a:xfrm>
            <a:custGeom>
              <a:avLst/>
              <a:gdLst/>
              <a:ahLst/>
              <a:cxnLst/>
              <a:rect l="l" t="t" r="r" b="b"/>
              <a:pathLst>
                <a:path w="339725" h="405129">
                  <a:moveTo>
                    <a:pt x="339724" y="0"/>
                  </a:moveTo>
                  <a:lnTo>
                    <a:pt x="0" y="4048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29358" y="5964122"/>
              <a:ext cx="415925" cy="328930"/>
            </a:xfrm>
            <a:custGeom>
              <a:avLst/>
              <a:gdLst/>
              <a:ahLst/>
              <a:cxnLst/>
              <a:rect l="l" t="t" r="r" b="b"/>
              <a:pathLst>
                <a:path w="415925" h="328929">
                  <a:moveTo>
                    <a:pt x="0" y="0"/>
                  </a:moveTo>
                  <a:lnTo>
                    <a:pt x="415924" y="3286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90023" y="5487554"/>
            <a:ext cx="18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90223" y="54875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57023" y="5411354"/>
            <a:ext cx="186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76223" y="6325754"/>
            <a:ext cx="166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71623" y="63257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19221" y="55637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38215" y="4496954"/>
            <a:ext cx="89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140" algn="l"/>
              </a:tabLst>
            </a:pPr>
            <a:r>
              <a:rPr sz="2400" b="1" spc="-50" dirty="0">
                <a:latin typeface="Tahoma"/>
                <a:cs typeface="Tahoma"/>
              </a:rPr>
              <a:t>+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63914" y="3384435"/>
            <a:ext cx="1995805" cy="1503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marR="5080" indent="-3048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ahoma"/>
                <a:cs typeface="Tahoma"/>
              </a:rPr>
              <a:t>Evaluation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Order: </a:t>
            </a:r>
            <a:r>
              <a:rPr sz="2000" dirty="0">
                <a:latin typeface="Tahoma"/>
                <a:cs typeface="Tahoma"/>
              </a:rPr>
              <a:t>t2,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t3,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t1,</a:t>
            </a:r>
            <a:r>
              <a:rPr sz="2000" spc="-25" dirty="0">
                <a:latin typeface="Tahoma"/>
                <a:cs typeface="Tahoma"/>
              </a:rPr>
              <a:t> t4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548640" algn="l"/>
              </a:tabLst>
            </a:pPr>
            <a:r>
              <a:rPr sz="2400" b="1" spc="-50" dirty="0">
                <a:latin typeface="Tahoma"/>
                <a:cs typeface="Tahoma"/>
              </a:rPr>
              <a:t>-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26282" y="5606934"/>
            <a:ext cx="2108200" cy="519430"/>
          </a:xfrm>
          <a:prstGeom prst="rect">
            <a:avLst/>
          </a:prstGeom>
          <a:solidFill>
            <a:srgbClr val="FFFB00"/>
          </a:solidFill>
        </p:spPr>
        <p:txBody>
          <a:bodyPr vert="horz" wrap="square" lIns="0" tIns="457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60"/>
              </a:spcBef>
            </a:pPr>
            <a:r>
              <a:rPr sz="2800" dirty="0">
                <a:latin typeface="Times New Roman"/>
                <a:cs typeface="Times New Roman"/>
              </a:rPr>
              <a:t>8 </a:t>
            </a:r>
            <a:r>
              <a:rPr sz="2800" spc="-10" dirty="0">
                <a:latin typeface="Times New Roman"/>
                <a:cs typeface="Times New Roman"/>
              </a:rPr>
              <a:t>instructions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7326282" y="2254134"/>
          <a:ext cx="2204085" cy="30118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2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034">
                <a:tc>
                  <a:txBody>
                    <a:bodyPr/>
                    <a:lstStyle/>
                    <a:p>
                      <a:pPr marL="90805">
                        <a:lnSpc>
                          <a:spcPts val="2745"/>
                        </a:lnSpc>
                        <a:spcBef>
                          <a:spcPts val="360"/>
                        </a:spcBef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ts val="2745"/>
                        </a:lnSpc>
                        <a:spcBef>
                          <a:spcPts val="36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c,</a:t>
                      </a:r>
                      <a:r>
                        <a:rPr sz="24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90805">
                        <a:lnSpc>
                          <a:spcPts val="275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ADD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275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d,</a:t>
                      </a:r>
                      <a:r>
                        <a:rPr sz="24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0805">
                        <a:lnSpc>
                          <a:spcPts val="280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ts val="280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e,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0805">
                        <a:lnSpc>
                          <a:spcPts val="280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SUB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ts val="280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R0,</a:t>
                      </a:r>
                      <a:r>
                        <a:rPr sz="2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0805">
                        <a:lnSpc>
                          <a:spcPts val="280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ts val="280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a,</a:t>
                      </a:r>
                      <a:r>
                        <a:rPr sz="24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marL="90805">
                        <a:lnSpc>
                          <a:spcPts val="2745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ADD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ts val="2745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b,</a:t>
                      </a:r>
                      <a:r>
                        <a:rPr sz="2400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90805">
                        <a:lnSpc>
                          <a:spcPts val="275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SUB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ts val="275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R1,</a:t>
                      </a:r>
                      <a:r>
                        <a:rPr sz="2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R0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65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Tahoma"/>
                          <a:cs typeface="Tahoma"/>
                        </a:rPr>
                        <a:t>MOV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R0,</a:t>
                      </a:r>
                      <a:r>
                        <a:rPr sz="24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25" dirty="0">
                          <a:latin typeface="Tahoma"/>
                          <a:cs typeface="Tahoma"/>
                        </a:rPr>
                        <a:t>t4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D4F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3444" y="465975"/>
            <a:ext cx="7011670" cy="135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 algn="ctr">
              <a:lnSpc>
                <a:spcPts val="5240"/>
              </a:lnSpc>
              <a:spcBef>
                <a:spcPts val="100"/>
              </a:spcBef>
            </a:pPr>
            <a:r>
              <a:rPr spc="-10" dirty="0"/>
              <a:t>Example:</a:t>
            </a:r>
          </a:p>
          <a:p>
            <a:pPr algn="ctr">
              <a:lnSpc>
                <a:spcPts val="5240"/>
              </a:lnSpc>
              <a:tabLst>
                <a:tab pos="2639060" algn="l"/>
              </a:tabLst>
            </a:pPr>
            <a:r>
              <a:rPr dirty="0"/>
              <a:t>Why</a:t>
            </a:r>
            <a:r>
              <a:rPr spc="-110" dirty="0"/>
              <a:t> </a:t>
            </a: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improvement?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7883" y="2177934"/>
            <a:ext cx="2097405" cy="1552575"/>
          </a:xfrm>
          <a:prstGeom prst="rect">
            <a:avLst/>
          </a:prstGeom>
          <a:solidFill>
            <a:srgbClr val="D4FDD5"/>
          </a:solidFill>
        </p:spPr>
        <p:txBody>
          <a:bodyPr vert="horz" wrap="square" lIns="0" tIns="47625" rIns="0" bIns="0" rtlCol="0">
            <a:spAutoFit/>
          </a:bodyPr>
          <a:lstStyle/>
          <a:p>
            <a:pPr marL="90805" marR="370840" algn="just">
              <a:lnSpc>
                <a:spcPct val="99500"/>
              </a:lnSpc>
              <a:spcBef>
                <a:spcPts val="375"/>
              </a:spcBef>
            </a:pPr>
            <a:r>
              <a:rPr sz="2400" dirty="0">
                <a:latin typeface="Tahoma"/>
                <a:cs typeface="Tahoma"/>
              </a:rPr>
              <a:t>t1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b </a:t>
            </a:r>
            <a:r>
              <a:rPr sz="2400" dirty="0">
                <a:latin typeface="Tahoma"/>
                <a:cs typeface="Tahoma"/>
              </a:rPr>
              <a:t>t2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d </a:t>
            </a:r>
            <a:r>
              <a:rPr sz="2400" dirty="0">
                <a:latin typeface="Tahoma"/>
                <a:cs typeface="Tahoma"/>
              </a:rPr>
              <a:t>t3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t2 </a:t>
            </a:r>
            <a:r>
              <a:rPr sz="2400" dirty="0">
                <a:latin typeface="Tahoma"/>
                <a:cs typeface="Tahoma"/>
              </a:rPr>
              <a:t>t4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t1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57023" y="34301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t4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73720" y="5373572"/>
            <a:ext cx="771525" cy="695325"/>
            <a:chOff x="5873720" y="5373572"/>
            <a:chExt cx="771525" cy="695325"/>
          </a:xfrm>
        </p:grpSpPr>
        <p:sp>
          <p:nvSpPr>
            <p:cNvPr id="6" name="object 6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799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78483" y="53783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119614" y="5525654"/>
            <a:ext cx="274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+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73420" y="3239972"/>
            <a:ext cx="771525" cy="695325"/>
            <a:chOff x="3473420" y="3239972"/>
            <a:chExt cx="771525" cy="695325"/>
          </a:xfrm>
        </p:grpSpPr>
        <p:sp>
          <p:nvSpPr>
            <p:cNvPr id="10" name="object 10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6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4"/>
                  </a:lnTo>
                  <a:lnTo>
                    <a:pt x="52017" y="169832"/>
                  </a:lnTo>
                  <a:lnTo>
                    <a:pt x="29940" y="209428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8"/>
                  </a:lnTo>
                  <a:lnTo>
                    <a:pt x="709982" y="169832"/>
                  </a:lnTo>
                  <a:lnTo>
                    <a:pt x="682613" y="133364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6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78183" y="32447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4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2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4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2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82815" y="3392054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ahoma"/>
                <a:cs typeface="Tahoma"/>
              </a:rPr>
              <a:t>-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35120" y="3825760"/>
            <a:ext cx="5114925" cy="2548255"/>
            <a:chOff x="1835120" y="3825760"/>
            <a:chExt cx="5114925" cy="2548255"/>
          </a:xfrm>
        </p:grpSpPr>
        <p:sp>
          <p:nvSpPr>
            <p:cNvPr id="14" name="object 14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4" y="12248"/>
                  </a:lnTo>
                  <a:lnTo>
                    <a:pt x="232697" y="26946"/>
                  </a:lnTo>
                  <a:lnTo>
                    <a:pt x="188701" y="46815"/>
                  </a:lnTo>
                  <a:lnTo>
                    <a:pt x="148181" y="71447"/>
                  </a:lnTo>
                  <a:lnTo>
                    <a:pt x="111592" y="100433"/>
                  </a:lnTo>
                  <a:lnTo>
                    <a:pt x="79385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5" y="552436"/>
                  </a:lnTo>
                  <a:lnTo>
                    <a:pt x="111592" y="585366"/>
                  </a:lnTo>
                  <a:lnTo>
                    <a:pt x="148181" y="614352"/>
                  </a:lnTo>
                  <a:lnTo>
                    <a:pt x="188701" y="638984"/>
                  </a:lnTo>
                  <a:lnTo>
                    <a:pt x="232697" y="658853"/>
                  </a:lnTo>
                  <a:lnTo>
                    <a:pt x="279714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4" y="673551"/>
                  </a:lnTo>
                  <a:lnTo>
                    <a:pt x="529302" y="658853"/>
                  </a:lnTo>
                  <a:lnTo>
                    <a:pt x="573297" y="638984"/>
                  </a:lnTo>
                  <a:lnTo>
                    <a:pt x="613817" y="614352"/>
                  </a:lnTo>
                  <a:lnTo>
                    <a:pt x="650407" y="585366"/>
                  </a:lnTo>
                  <a:lnTo>
                    <a:pt x="682613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3" y="133363"/>
                  </a:lnTo>
                  <a:lnTo>
                    <a:pt x="650407" y="100433"/>
                  </a:lnTo>
                  <a:lnTo>
                    <a:pt x="613817" y="71447"/>
                  </a:lnTo>
                  <a:lnTo>
                    <a:pt x="573297" y="46815"/>
                  </a:lnTo>
                  <a:lnTo>
                    <a:pt x="529302" y="26946"/>
                  </a:lnTo>
                  <a:lnTo>
                    <a:pt x="482284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592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9" y="209427"/>
                  </a:lnTo>
                  <a:lnTo>
                    <a:pt x="748390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90" y="434056"/>
                  </a:lnTo>
                  <a:lnTo>
                    <a:pt x="732059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381000" y="0"/>
                  </a:moveTo>
                  <a:lnTo>
                    <a:pt x="329300" y="3130"/>
                  </a:lnTo>
                  <a:lnTo>
                    <a:pt x="279715" y="12248"/>
                  </a:lnTo>
                  <a:lnTo>
                    <a:pt x="232697" y="26946"/>
                  </a:lnTo>
                  <a:lnTo>
                    <a:pt x="188702" y="46815"/>
                  </a:lnTo>
                  <a:lnTo>
                    <a:pt x="148182" y="71447"/>
                  </a:lnTo>
                  <a:lnTo>
                    <a:pt x="111592" y="100433"/>
                  </a:lnTo>
                  <a:lnTo>
                    <a:pt x="79386" y="133363"/>
                  </a:lnTo>
                  <a:lnTo>
                    <a:pt x="52017" y="169831"/>
                  </a:lnTo>
                  <a:lnTo>
                    <a:pt x="29940" y="209427"/>
                  </a:lnTo>
                  <a:lnTo>
                    <a:pt x="13609" y="251743"/>
                  </a:lnTo>
                  <a:lnTo>
                    <a:pt x="3478" y="296370"/>
                  </a:lnTo>
                  <a:lnTo>
                    <a:pt x="0" y="342900"/>
                  </a:lnTo>
                  <a:lnTo>
                    <a:pt x="3478" y="389429"/>
                  </a:lnTo>
                  <a:lnTo>
                    <a:pt x="13609" y="434056"/>
                  </a:lnTo>
                  <a:lnTo>
                    <a:pt x="29940" y="476372"/>
                  </a:lnTo>
                  <a:lnTo>
                    <a:pt x="52017" y="515968"/>
                  </a:lnTo>
                  <a:lnTo>
                    <a:pt x="79386" y="552436"/>
                  </a:lnTo>
                  <a:lnTo>
                    <a:pt x="111592" y="585366"/>
                  </a:lnTo>
                  <a:lnTo>
                    <a:pt x="148182" y="614352"/>
                  </a:lnTo>
                  <a:lnTo>
                    <a:pt x="188702" y="638984"/>
                  </a:lnTo>
                  <a:lnTo>
                    <a:pt x="232697" y="658853"/>
                  </a:lnTo>
                  <a:lnTo>
                    <a:pt x="279715" y="673551"/>
                  </a:lnTo>
                  <a:lnTo>
                    <a:pt x="329300" y="682669"/>
                  </a:lnTo>
                  <a:lnTo>
                    <a:pt x="381000" y="685800"/>
                  </a:lnTo>
                  <a:lnTo>
                    <a:pt x="432699" y="682669"/>
                  </a:lnTo>
                  <a:lnTo>
                    <a:pt x="482285" y="673551"/>
                  </a:lnTo>
                  <a:lnTo>
                    <a:pt x="529302" y="658853"/>
                  </a:lnTo>
                  <a:lnTo>
                    <a:pt x="573298" y="638984"/>
                  </a:lnTo>
                  <a:lnTo>
                    <a:pt x="613818" y="614352"/>
                  </a:lnTo>
                  <a:lnTo>
                    <a:pt x="650407" y="585366"/>
                  </a:lnTo>
                  <a:lnTo>
                    <a:pt x="682614" y="552436"/>
                  </a:lnTo>
                  <a:lnTo>
                    <a:pt x="709982" y="515968"/>
                  </a:lnTo>
                  <a:lnTo>
                    <a:pt x="732059" y="476372"/>
                  </a:lnTo>
                  <a:lnTo>
                    <a:pt x="748390" y="434056"/>
                  </a:lnTo>
                  <a:lnTo>
                    <a:pt x="758521" y="389429"/>
                  </a:lnTo>
                  <a:lnTo>
                    <a:pt x="762000" y="342900"/>
                  </a:lnTo>
                  <a:lnTo>
                    <a:pt x="758521" y="296370"/>
                  </a:lnTo>
                  <a:lnTo>
                    <a:pt x="748390" y="251743"/>
                  </a:lnTo>
                  <a:lnTo>
                    <a:pt x="732059" y="209427"/>
                  </a:lnTo>
                  <a:lnTo>
                    <a:pt x="709982" y="169831"/>
                  </a:lnTo>
                  <a:lnTo>
                    <a:pt x="682614" y="133363"/>
                  </a:lnTo>
                  <a:lnTo>
                    <a:pt x="650407" y="100433"/>
                  </a:lnTo>
                  <a:lnTo>
                    <a:pt x="613818" y="71447"/>
                  </a:lnTo>
                  <a:lnTo>
                    <a:pt x="573298" y="46815"/>
                  </a:lnTo>
                  <a:lnTo>
                    <a:pt x="529302" y="26946"/>
                  </a:lnTo>
                  <a:lnTo>
                    <a:pt x="482285" y="12248"/>
                  </a:lnTo>
                  <a:lnTo>
                    <a:pt x="432699" y="313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D4FD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97083" y="4349634"/>
              <a:ext cx="762000" cy="685800"/>
            </a:xfrm>
            <a:custGeom>
              <a:avLst/>
              <a:gdLst/>
              <a:ahLst/>
              <a:cxnLst/>
              <a:rect l="l" t="t" r="r" b="b"/>
              <a:pathLst>
                <a:path w="762000" h="685800">
                  <a:moveTo>
                    <a:pt x="0" y="342899"/>
                  </a:moveTo>
                  <a:lnTo>
                    <a:pt x="3478" y="296370"/>
                  </a:lnTo>
                  <a:lnTo>
                    <a:pt x="13609" y="251743"/>
                  </a:lnTo>
                  <a:lnTo>
                    <a:pt x="29940" y="209427"/>
                  </a:lnTo>
                  <a:lnTo>
                    <a:pt x="52017" y="169831"/>
                  </a:lnTo>
                  <a:lnTo>
                    <a:pt x="79386" y="133363"/>
                  </a:lnTo>
                  <a:lnTo>
                    <a:pt x="111592" y="100433"/>
                  </a:lnTo>
                  <a:lnTo>
                    <a:pt x="148182" y="71447"/>
                  </a:lnTo>
                  <a:lnTo>
                    <a:pt x="188701" y="46815"/>
                  </a:lnTo>
                  <a:lnTo>
                    <a:pt x="232697" y="26946"/>
                  </a:lnTo>
                  <a:lnTo>
                    <a:pt x="279715" y="12248"/>
                  </a:lnTo>
                  <a:lnTo>
                    <a:pt x="329300" y="3130"/>
                  </a:lnTo>
                  <a:lnTo>
                    <a:pt x="380999" y="0"/>
                  </a:lnTo>
                  <a:lnTo>
                    <a:pt x="432699" y="3130"/>
                  </a:lnTo>
                  <a:lnTo>
                    <a:pt x="482284" y="12248"/>
                  </a:lnTo>
                  <a:lnTo>
                    <a:pt x="529302" y="26946"/>
                  </a:lnTo>
                  <a:lnTo>
                    <a:pt x="573297" y="46815"/>
                  </a:lnTo>
                  <a:lnTo>
                    <a:pt x="613817" y="71447"/>
                  </a:lnTo>
                  <a:lnTo>
                    <a:pt x="650407" y="100433"/>
                  </a:lnTo>
                  <a:lnTo>
                    <a:pt x="682613" y="133363"/>
                  </a:lnTo>
                  <a:lnTo>
                    <a:pt x="709982" y="169831"/>
                  </a:lnTo>
                  <a:lnTo>
                    <a:pt x="732058" y="209427"/>
                  </a:lnTo>
                  <a:lnTo>
                    <a:pt x="748389" y="251743"/>
                  </a:lnTo>
                  <a:lnTo>
                    <a:pt x="758521" y="296370"/>
                  </a:lnTo>
                  <a:lnTo>
                    <a:pt x="761999" y="342899"/>
                  </a:lnTo>
                  <a:lnTo>
                    <a:pt x="758521" y="389429"/>
                  </a:lnTo>
                  <a:lnTo>
                    <a:pt x="748389" y="434056"/>
                  </a:lnTo>
                  <a:lnTo>
                    <a:pt x="732058" y="476372"/>
                  </a:lnTo>
                  <a:lnTo>
                    <a:pt x="709982" y="515968"/>
                  </a:lnTo>
                  <a:lnTo>
                    <a:pt x="682613" y="552435"/>
                  </a:lnTo>
                  <a:lnTo>
                    <a:pt x="650407" y="585366"/>
                  </a:lnTo>
                  <a:lnTo>
                    <a:pt x="613817" y="614352"/>
                  </a:lnTo>
                  <a:lnTo>
                    <a:pt x="573297" y="638983"/>
                  </a:lnTo>
                  <a:lnTo>
                    <a:pt x="529302" y="658853"/>
                  </a:lnTo>
                  <a:lnTo>
                    <a:pt x="482284" y="673551"/>
                  </a:lnTo>
                  <a:lnTo>
                    <a:pt x="432699" y="682669"/>
                  </a:lnTo>
                  <a:lnTo>
                    <a:pt x="380999" y="685799"/>
                  </a:lnTo>
                  <a:lnTo>
                    <a:pt x="329300" y="682669"/>
                  </a:lnTo>
                  <a:lnTo>
                    <a:pt x="279715" y="673551"/>
                  </a:lnTo>
                  <a:lnTo>
                    <a:pt x="232697" y="658853"/>
                  </a:lnTo>
                  <a:lnTo>
                    <a:pt x="188701" y="638983"/>
                  </a:lnTo>
                  <a:lnTo>
                    <a:pt x="148182" y="614352"/>
                  </a:lnTo>
                  <a:lnTo>
                    <a:pt x="111592" y="585366"/>
                  </a:lnTo>
                  <a:lnTo>
                    <a:pt x="79386" y="552435"/>
                  </a:lnTo>
                  <a:lnTo>
                    <a:pt x="52017" y="515968"/>
                  </a:lnTo>
                  <a:lnTo>
                    <a:pt x="29940" y="476372"/>
                  </a:lnTo>
                  <a:lnTo>
                    <a:pt x="13609" y="434056"/>
                  </a:lnTo>
                  <a:lnTo>
                    <a:pt x="3478" y="389429"/>
                  </a:lnTo>
                  <a:lnTo>
                    <a:pt x="0" y="3428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290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0" y="0"/>
                  </a:moveTo>
                  <a:lnTo>
                    <a:pt x="641349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47958" y="3830523"/>
              <a:ext cx="641350" cy="619125"/>
            </a:xfrm>
            <a:custGeom>
              <a:avLst/>
              <a:gdLst/>
              <a:ahLst/>
              <a:cxnLst/>
              <a:rect l="l" t="t" r="r" b="b"/>
              <a:pathLst>
                <a:path w="641350" h="619125">
                  <a:moveTo>
                    <a:pt x="641349" y="0"/>
                  </a:moveTo>
                  <a:lnTo>
                    <a:pt x="0" y="6191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10158" y="4935423"/>
              <a:ext cx="679450" cy="542925"/>
            </a:xfrm>
            <a:custGeom>
              <a:avLst/>
              <a:gdLst/>
              <a:ahLst/>
              <a:cxnLst/>
              <a:rect l="l" t="t" r="r" b="b"/>
              <a:pathLst>
                <a:path w="679450" h="542925">
                  <a:moveTo>
                    <a:pt x="0" y="0"/>
                  </a:moveTo>
                  <a:lnTo>
                    <a:pt x="679449" y="542924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39883" y="4935423"/>
              <a:ext cx="568325" cy="519430"/>
            </a:xfrm>
            <a:custGeom>
              <a:avLst/>
              <a:gdLst/>
              <a:ahLst/>
              <a:cxnLst/>
              <a:rect l="l" t="t" r="r" b="b"/>
              <a:pathLst>
                <a:path w="568325" h="519429">
                  <a:moveTo>
                    <a:pt x="568325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47958" y="4935423"/>
              <a:ext cx="415925" cy="595630"/>
            </a:xfrm>
            <a:custGeom>
              <a:avLst/>
              <a:gdLst/>
              <a:ahLst/>
              <a:cxnLst/>
              <a:rect l="l" t="t" r="r" b="b"/>
              <a:pathLst>
                <a:path w="415925" h="595629">
                  <a:moveTo>
                    <a:pt x="0" y="0"/>
                  </a:moveTo>
                  <a:lnTo>
                    <a:pt x="415924" y="5953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30683" y="4935423"/>
              <a:ext cx="339725" cy="519430"/>
            </a:xfrm>
            <a:custGeom>
              <a:avLst/>
              <a:gdLst/>
              <a:ahLst/>
              <a:cxnLst/>
              <a:rect l="l" t="t" r="r" b="b"/>
              <a:pathLst>
                <a:path w="339725" h="519429">
                  <a:moveTo>
                    <a:pt x="339724" y="0"/>
                  </a:moveTo>
                  <a:lnTo>
                    <a:pt x="0" y="5191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49883" y="5964122"/>
              <a:ext cx="339725" cy="405130"/>
            </a:xfrm>
            <a:custGeom>
              <a:avLst/>
              <a:gdLst/>
              <a:ahLst/>
              <a:cxnLst/>
              <a:rect l="l" t="t" r="r" b="b"/>
              <a:pathLst>
                <a:path w="339725" h="405129">
                  <a:moveTo>
                    <a:pt x="339724" y="0"/>
                  </a:moveTo>
                  <a:lnTo>
                    <a:pt x="0" y="4048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29358" y="5964122"/>
              <a:ext cx="415925" cy="328930"/>
            </a:xfrm>
            <a:custGeom>
              <a:avLst/>
              <a:gdLst/>
              <a:ahLst/>
              <a:cxnLst/>
              <a:rect l="l" t="t" r="r" b="b"/>
              <a:pathLst>
                <a:path w="415925" h="328929">
                  <a:moveTo>
                    <a:pt x="0" y="0"/>
                  </a:moveTo>
                  <a:lnTo>
                    <a:pt x="415924" y="32861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690023" y="5487554"/>
            <a:ext cx="185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a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90223" y="54875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57023" y="5411354"/>
            <a:ext cx="186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76223" y="6325754"/>
            <a:ext cx="166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c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71623" y="632575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63914" y="4496954"/>
            <a:ext cx="830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8640" algn="l"/>
              </a:tabLst>
            </a:pPr>
            <a:r>
              <a:rPr sz="2400" b="1" spc="-50" dirty="0">
                <a:latin typeface="Tahoma"/>
                <a:cs typeface="Tahoma"/>
              </a:rPr>
              <a:t>-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19221" y="5563754"/>
            <a:ext cx="294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t2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38215" y="4496954"/>
            <a:ext cx="89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140" algn="l"/>
              </a:tabLst>
            </a:pPr>
            <a:r>
              <a:rPr sz="2400" b="1" spc="-50" dirty="0">
                <a:latin typeface="Tahoma"/>
                <a:cs typeface="Tahoma"/>
              </a:rPr>
              <a:t>+</a:t>
            </a:r>
            <a:r>
              <a:rPr sz="2400" b="1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t1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11683" y="2169998"/>
            <a:ext cx="4670425" cy="946150"/>
          </a:xfrm>
          <a:prstGeom prst="rect">
            <a:avLst/>
          </a:prstGeom>
          <a:solidFill>
            <a:srgbClr val="FFD6D5"/>
          </a:solidFill>
        </p:spPr>
        <p:txBody>
          <a:bodyPr vert="horz" wrap="square" lIns="0" tIns="66040" rIns="0" bIns="0" rtlCol="0">
            <a:spAutoFit/>
          </a:bodyPr>
          <a:lstStyle/>
          <a:p>
            <a:pPr marL="90805" marR="87630">
              <a:lnSpc>
                <a:spcPts val="3300"/>
              </a:lnSpc>
              <a:spcBef>
                <a:spcPts val="520"/>
              </a:spcBef>
            </a:pPr>
            <a:r>
              <a:rPr sz="2800" spc="-60" dirty="0">
                <a:latin typeface="Times New Roman"/>
                <a:cs typeface="Times New Roman"/>
              </a:rPr>
              <a:t>We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evaluated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ahoma"/>
                <a:cs typeface="Tahoma"/>
              </a:rPr>
              <a:t>t4</a:t>
            </a:r>
            <a:r>
              <a:rPr sz="2800" spc="-215" dirty="0">
                <a:latin typeface="Tahoma"/>
                <a:cs typeface="Tahoma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immediately </a:t>
            </a:r>
            <a:r>
              <a:rPr sz="2800" dirty="0">
                <a:latin typeface="Times New Roman"/>
                <a:cs typeface="Times New Roman"/>
              </a:rPr>
              <a:t>after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ahoma"/>
                <a:cs typeface="Tahoma"/>
              </a:rPr>
              <a:t>t1</a:t>
            </a:r>
            <a:r>
              <a:rPr sz="2800" spc="-210" dirty="0">
                <a:latin typeface="Tahoma"/>
                <a:cs typeface="Tahoma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(its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leftmost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argument).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</TotalTime>
  <Words>4903</Words>
  <Application>Microsoft Office PowerPoint</Application>
  <PresentationFormat>Custom</PresentationFormat>
  <Paragraphs>1431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64</vt:i4>
      </vt:variant>
    </vt:vector>
  </HeadingPairs>
  <TitlesOfParts>
    <vt:vector size="78" baseType="lpstr">
      <vt:lpstr>MS PGothic</vt:lpstr>
      <vt:lpstr>Arial Black</vt:lpstr>
      <vt:lpstr>Arial MT</vt:lpstr>
      <vt:lpstr>Calibri</vt:lpstr>
      <vt:lpstr>Cambria</vt:lpstr>
      <vt:lpstr>Cambria Math</vt:lpstr>
      <vt:lpstr>Courier New</vt:lpstr>
      <vt:lpstr>Georgia</vt:lpstr>
      <vt:lpstr>Tahoma</vt:lpstr>
      <vt:lpstr>Times New Roman</vt:lpstr>
      <vt:lpstr>Trebuchet MS</vt:lpstr>
      <vt:lpstr>Office Theme</vt:lpstr>
      <vt:lpstr>1_Office Theme</vt:lpstr>
      <vt:lpstr>2_Office Theme</vt:lpstr>
      <vt:lpstr>Code Generation</vt:lpstr>
      <vt:lpstr>Compiler Architecture</vt:lpstr>
      <vt:lpstr>An Overview of Compilation</vt:lpstr>
      <vt:lpstr>IR Optimization</vt:lpstr>
      <vt:lpstr>Optimizations from IR Generation</vt:lpstr>
      <vt:lpstr>Optimizations from IR Generation</vt:lpstr>
      <vt:lpstr>Optimizations from IR Generation</vt:lpstr>
      <vt:lpstr>while (x &lt; y + z) { x = x – y; }</vt:lpstr>
      <vt:lpstr>Optimizations from Lazy Coders</vt:lpstr>
      <vt:lpstr>Optimizations from Lazy Coders</vt:lpstr>
      <vt:lpstr>Optimizations from Lazy Coders</vt:lpstr>
      <vt:lpstr>Optimizations from Lazy Coders</vt:lpstr>
      <vt:lpstr>Code Generation</vt:lpstr>
      <vt:lpstr>Code Generation at a Glance</vt:lpstr>
      <vt:lpstr>Code Generation</vt:lpstr>
      <vt:lpstr>Code Generation</vt:lpstr>
      <vt:lpstr>Steps in Code Generation</vt:lpstr>
      <vt:lpstr>Register Allocation</vt:lpstr>
      <vt:lpstr>Target Machine</vt:lpstr>
      <vt:lpstr>Target Machine</vt:lpstr>
      <vt:lpstr>Target Machine</vt:lpstr>
      <vt:lpstr>Target Machine</vt:lpstr>
      <vt:lpstr>Addressing Modes</vt:lpstr>
      <vt:lpstr>Few Examples</vt:lpstr>
      <vt:lpstr>Stack Allocation</vt:lpstr>
      <vt:lpstr>The Challenges of Code Generation</vt:lpstr>
      <vt:lpstr>Register Allocation</vt:lpstr>
      <vt:lpstr>Challenges in Register Allocation</vt:lpstr>
      <vt:lpstr>Our Register Allocator In Action</vt:lpstr>
      <vt:lpstr>Our Register Allocator In Action</vt:lpstr>
      <vt:lpstr>Our Register Allocator In Action</vt:lpstr>
      <vt:lpstr>Our Register Allocator In Action</vt:lpstr>
      <vt:lpstr>Our Register Allocator In Action</vt:lpstr>
      <vt:lpstr>Our Register Allocator In Action</vt:lpstr>
      <vt:lpstr>Our Register Allocator In Action</vt:lpstr>
      <vt:lpstr>Our Register Allocator In Action</vt:lpstr>
      <vt:lpstr>Our Register Allocator In Action</vt:lpstr>
      <vt:lpstr>Our Register Allocator In Action</vt:lpstr>
      <vt:lpstr>Our Register Allocator In Action</vt:lpstr>
      <vt:lpstr>Our Register Allocator In Action</vt:lpstr>
      <vt:lpstr>Our Register Allocator In Action</vt:lpstr>
      <vt:lpstr>Our Register Allocator In Action</vt:lpstr>
      <vt:lpstr>Our Register Allocator In Action</vt:lpstr>
      <vt:lpstr>Analysis of our Allocator</vt:lpstr>
      <vt:lpstr>Data Dependency Graph</vt:lpstr>
      <vt:lpstr>Data Dependency Graph</vt:lpstr>
      <vt:lpstr>Data Dependency Graph</vt:lpstr>
      <vt:lpstr>Data Dependency Graph</vt:lpstr>
      <vt:lpstr>Data Dependency Graph</vt:lpstr>
      <vt:lpstr>Data Dependency Graph</vt:lpstr>
      <vt:lpstr>Data Dependency Graph</vt:lpstr>
      <vt:lpstr>Code Generation</vt:lpstr>
      <vt:lpstr>Example</vt:lpstr>
      <vt:lpstr>Example</vt:lpstr>
      <vt:lpstr>Example</vt:lpstr>
      <vt:lpstr>Example</vt:lpstr>
      <vt:lpstr>Example</vt:lpstr>
      <vt:lpstr>Example</vt:lpstr>
      <vt:lpstr>Example (can we do better?)</vt:lpstr>
      <vt:lpstr>Example (can we do better?)</vt:lpstr>
      <vt:lpstr>Example (can we do better?)</vt:lpstr>
      <vt:lpstr>Example (can we do better?)</vt:lpstr>
      <vt:lpstr>Example (can we do better? Yes!!!)</vt:lpstr>
      <vt:lpstr>Example: Why the improvement?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Processing Systems</dc:title>
  <dc:creator>Lenovo</dc:creator>
  <cp:lastModifiedBy>Lenovo</cp:lastModifiedBy>
  <cp:revision>61</cp:revision>
  <dcterms:created xsi:type="dcterms:W3CDTF">2025-05-02T12:49:02Z</dcterms:created>
  <dcterms:modified xsi:type="dcterms:W3CDTF">2025-05-06T09:12:18Z</dcterms:modified>
</cp:coreProperties>
</file>